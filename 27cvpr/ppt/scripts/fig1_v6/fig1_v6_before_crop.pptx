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173200" cy="6172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840" y="9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rrent observations lane"/>
          <p:cNvSpPr/>
          <p:nvPr/>
        </p:nvSpPr>
        <p:spPr>
          <a:xfrm>
            <a:off x="15240" y="510540"/>
            <a:ext cx="14142720" cy="2697480"/>
          </a:xfrm>
          <a:prstGeom prst="roundRect">
            <a:avLst>
              <a:gd name="adj" fmla="val 4500"/>
            </a:avLst>
          </a:prstGeom>
          <a:solidFill>
            <a:srgbClr val="F0F9EF"/>
          </a:solidFill>
          <a:ln w="11430">
            <a:solidFill>
              <a:srgbClr val="398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bserved future lane"/>
          <p:cNvSpPr/>
          <p:nvPr/>
        </p:nvSpPr>
        <p:spPr>
          <a:xfrm>
            <a:off x="15240" y="3604260"/>
            <a:ext cx="9464040" cy="2499360"/>
          </a:xfrm>
          <a:prstGeom prst="roundRect">
            <a:avLst>
              <a:gd name="adj" fmla="val 5500"/>
            </a:avLst>
          </a:prstGeom>
          <a:solidFill>
            <a:srgbClr val="EDF7FE"/>
          </a:solidFill>
          <a:ln w="11430">
            <a:solidFill>
              <a:srgbClr val="65A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Future prediction stage"/>
          <p:cNvSpPr/>
          <p:nvPr/>
        </p:nvSpPr>
        <p:spPr>
          <a:xfrm>
            <a:off x="9525000" y="3634740"/>
            <a:ext cx="4632960" cy="2446020"/>
          </a:xfrm>
          <a:prstGeom prst="roundRect">
            <a:avLst>
              <a:gd name="adj" fmla="val 5500"/>
            </a:avLst>
          </a:prstGeom>
          <a:solidFill>
            <a:srgbClr val="FDEAE0"/>
          </a:solidFill>
          <a:ln w="11430">
            <a:solidFill>
              <a:srgbClr val="FF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tage 1 heading"/>
          <p:cNvSpPr/>
          <p:nvPr/>
        </p:nvSpPr>
        <p:spPr>
          <a:xfrm>
            <a:off x="9944100" y="558800"/>
            <a:ext cx="4198620" cy="373380"/>
          </a:xfrm>
          <a:prstGeom prst="roundRect">
            <a:avLst>
              <a:gd name="adj" fmla="val 25000"/>
            </a:avLst>
          </a:prstGeom>
          <a:solidFill>
            <a:srgbClr val="E1F3D9"/>
          </a:solidFill>
          <a:ln w="10160">
            <a:solidFill>
              <a:srgbClr val="D1ED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abel: Stage 1: Task-supervised state pretraining"/>
          <p:cNvSpPr txBox="1"/>
          <p:nvPr/>
        </p:nvSpPr>
        <p:spPr>
          <a:xfrm>
            <a:off x="10035540" y="589280"/>
            <a:ext cx="4038600" cy="2819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1717"/>
                </a:solidFill>
                <a:latin typeface="Comic Sans MS"/>
              </a:rPr>
              <a:t>Stage 1: Task-supervised state pretraining</a:t>
            </a:r>
          </a:p>
        </p:txBody>
      </p:sp>
      <p:sp>
        <p:nvSpPr>
          <p:cNvPr id="7" name="Stage 2 heading"/>
          <p:cNvSpPr/>
          <p:nvPr/>
        </p:nvSpPr>
        <p:spPr>
          <a:xfrm>
            <a:off x="10218420" y="3246120"/>
            <a:ext cx="3939540" cy="342900"/>
          </a:xfrm>
          <a:prstGeom prst="roundRect">
            <a:avLst>
              <a:gd name="adj" fmla="val 23000"/>
            </a:avLst>
          </a:prstGeom>
          <a:solidFill>
            <a:srgbClr val="FEE6DD"/>
          </a:solidFill>
          <a:ln w="10160">
            <a:solidFill>
              <a:srgbClr val="FFB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abel: Stage 2: Future-state prediction fine-tuning"/>
          <p:cNvSpPr txBox="1"/>
          <p:nvPr/>
        </p:nvSpPr>
        <p:spPr>
          <a:xfrm>
            <a:off x="10287000" y="3268980"/>
            <a:ext cx="3810000" cy="2743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D200B"/>
                </a:solidFill>
                <a:latin typeface="Comic Sans MS"/>
              </a:rPr>
              <a:t>Stage 2: Future-state prediction fine-tuning</a:t>
            </a:r>
          </a:p>
        </p:txBody>
      </p:sp>
      <p:sp>
        <p:nvSpPr>
          <p:cNvPr id="9" name="Label: Same encoding pipeline at both times"/>
          <p:cNvSpPr txBox="1"/>
          <p:nvPr/>
        </p:nvSpPr>
        <p:spPr>
          <a:xfrm>
            <a:off x="5539740" y="3284220"/>
            <a:ext cx="284988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606773"/>
                </a:solidFill>
                <a:latin typeface="Comic Sans MS"/>
              </a:rPr>
              <a:t>Same encoding pipeline at both times</a:t>
            </a:r>
          </a:p>
        </p:txBody>
      </p:sp>
      <p:sp>
        <p:nvSpPr>
          <p:cNvPr id="10" name="Label: Current observations, t"/>
          <p:cNvSpPr txBox="1"/>
          <p:nvPr/>
        </p:nvSpPr>
        <p:spPr>
          <a:xfrm>
            <a:off x="167640" y="579120"/>
            <a:ext cx="2453640" cy="2667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71717"/>
                </a:solidFill>
                <a:latin typeface="Comic Sans MS"/>
              </a:rPr>
              <a:t>Current observations, t</a:t>
            </a:r>
          </a:p>
        </p:txBody>
      </p:sp>
      <p:sp>
        <p:nvSpPr>
          <p:cNvPr id="11" name="Label: Image"/>
          <p:cNvSpPr txBox="1"/>
          <p:nvPr/>
        </p:nvSpPr>
        <p:spPr>
          <a:xfrm>
            <a:off x="411480" y="929640"/>
            <a:ext cx="73152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Image</a:t>
            </a:r>
          </a:p>
        </p:txBody>
      </p:sp>
      <p:pic>
        <p:nvPicPr>
          <p:cNvPr id="12" name="Current chest radiograph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" y="1181100"/>
            <a:ext cx="1059180" cy="960120"/>
          </a:xfrm>
          <a:prstGeom prst="rect">
            <a:avLst/>
          </a:prstGeom>
          <a:effectLst/>
        </p:spPr>
      </p:pic>
      <p:sp>
        <p:nvSpPr>
          <p:cNvPr id="13" name="Current V-JEPA encoder"/>
          <p:cNvSpPr/>
          <p:nvPr/>
        </p:nvSpPr>
        <p:spPr>
          <a:xfrm>
            <a:off x="1417320" y="1074420"/>
            <a:ext cx="876300" cy="1097280"/>
          </a:xfrm>
          <a:custGeom>
            <a:avLst/>
            <a:gdLst/>
            <a:ahLst/>
            <a:cxnLst/>
            <a:rect l="l" t="t" r="r" b="b"/>
            <a:pathLst>
              <a:path w="115" h="144">
                <a:moveTo>
                  <a:pt x="0" y="0"/>
                </a:moveTo>
                <a:lnTo>
                  <a:pt x="115" y="38"/>
                </a:lnTo>
                <a:lnTo>
                  <a:pt x="115" y="109"/>
                </a:lnTo>
                <a:lnTo>
                  <a:pt x="0" y="144"/>
                </a:lnTo>
                <a:close/>
              </a:path>
            </a:pathLst>
          </a:custGeom>
          <a:solidFill>
            <a:srgbClr val="BFDFF9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abel: V-JEPA / encoder"/>
          <p:cNvSpPr txBox="1"/>
          <p:nvPr/>
        </p:nvSpPr>
        <p:spPr>
          <a:xfrm>
            <a:off x="1485900" y="1432560"/>
            <a:ext cx="762000" cy="4648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1717"/>
                </a:solidFill>
                <a:latin typeface="Comic Sans MS"/>
              </a:rPr>
              <a:t>V-JEPA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1717"/>
                </a:solidFill>
                <a:latin typeface="Comic Sans MS"/>
              </a:rPr>
              <a:t>encoder</a:t>
            </a:r>
          </a:p>
        </p:txBody>
      </p:sp>
      <p:sp>
        <p:nvSpPr>
          <p:cNvPr id="15" name="Current D feature"/>
          <p:cNvSpPr/>
          <p:nvPr/>
        </p:nvSpPr>
        <p:spPr>
          <a:xfrm>
            <a:off x="2514600" y="14325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urrent D feature"/>
          <p:cNvSpPr/>
          <p:nvPr/>
        </p:nvSpPr>
        <p:spPr>
          <a:xfrm>
            <a:off x="2667000" y="14325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urrent D feature"/>
          <p:cNvSpPr/>
          <p:nvPr/>
        </p:nvSpPr>
        <p:spPr>
          <a:xfrm>
            <a:off x="2819400" y="14325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urrent D feature"/>
          <p:cNvSpPr/>
          <p:nvPr/>
        </p:nvSpPr>
        <p:spPr>
          <a:xfrm>
            <a:off x="2514600" y="15849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urrent D feature"/>
          <p:cNvSpPr/>
          <p:nvPr/>
        </p:nvSpPr>
        <p:spPr>
          <a:xfrm>
            <a:off x="2667000" y="15849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urrent D feature"/>
          <p:cNvSpPr/>
          <p:nvPr/>
        </p:nvSpPr>
        <p:spPr>
          <a:xfrm>
            <a:off x="2819400" y="15849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urrent D feature"/>
          <p:cNvSpPr/>
          <p:nvPr/>
        </p:nvSpPr>
        <p:spPr>
          <a:xfrm>
            <a:off x="2514600" y="17373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urrent D feature"/>
          <p:cNvSpPr/>
          <p:nvPr/>
        </p:nvSpPr>
        <p:spPr>
          <a:xfrm>
            <a:off x="2667000" y="17373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urrent D feature"/>
          <p:cNvSpPr/>
          <p:nvPr/>
        </p:nvSpPr>
        <p:spPr>
          <a:xfrm>
            <a:off x="2819400" y="17373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Equation: Dt"/>
          <p:cNvSpPr txBox="1"/>
          <p:nvPr/>
        </p:nvSpPr>
        <p:spPr>
          <a:xfrm>
            <a:off x="2583180" y="1089660"/>
            <a:ext cx="533400" cy="3048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D</a:t>
            </a:r>
            <a:r>
              <a:rPr sz="1739" i="1" baseline="-25000">
                <a:solidFill>
                  <a:srgbClr val="171717"/>
                </a:solidFill>
                <a:latin typeface="Times New Roman"/>
              </a:rPr>
              <a:t>t</a:t>
            </a:r>
          </a:p>
        </p:txBody>
      </p:sp>
      <p:sp>
        <p:nvSpPr>
          <p:cNvPr id="25" name="Visual adapter"/>
          <p:cNvSpPr/>
          <p:nvPr/>
        </p:nvSpPr>
        <p:spPr>
          <a:xfrm>
            <a:off x="3169920" y="1402080"/>
            <a:ext cx="807720" cy="556260"/>
          </a:xfrm>
          <a:prstGeom prst="roundRect">
            <a:avLst>
              <a:gd name="adj" fmla="val 17000"/>
            </a:avLst>
          </a:prstGeom>
          <a:solidFill>
            <a:srgbClr val="FEFAD1"/>
          </a:solidFill>
          <a:ln w="11430">
            <a:solidFill>
              <a:srgbClr val="66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Label: Visual / adapter"/>
          <p:cNvSpPr txBox="1"/>
          <p:nvPr/>
        </p:nvSpPr>
        <p:spPr>
          <a:xfrm>
            <a:off x="3276600" y="1478280"/>
            <a:ext cx="601980" cy="3962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Visual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adapter</a:t>
            </a:r>
          </a:p>
        </p:txBody>
      </p:sp>
      <p:sp>
        <p:nvSpPr>
          <p:cNvPr id="27" name="Report"/>
          <p:cNvSpPr/>
          <p:nvPr/>
        </p:nvSpPr>
        <p:spPr>
          <a:xfrm>
            <a:off x="160020" y="2286000"/>
            <a:ext cx="1440180" cy="746760"/>
          </a:xfrm>
          <a:prstGeom prst="roundRect">
            <a:avLst>
              <a:gd name="adj" fmla="val 11000"/>
            </a:avLst>
          </a:prstGeom>
          <a:solidFill>
            <a:srgbClr val="FFF6E8"/>
          </a:solidFill>
          <a:ln w="11430">
            <a:solidFill>
              <a:srgbClr val="845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Label: Report"/>
          <p:cNvSpPr txBox="1"/>
          <p:nvPr/>
        </p:nvSpPr>
        <p:spPr>
          <a:xfrm>
            <a:off x="266700" y="2316480"/>
            <a:ext cx="128016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Report</a:t>
            </a:r>
          </a:p>
        </p:txBody>
      </p:sp>
      <p:sp>
        <p:nvSpPr>
          <p:cNvPr id="29" name="Report document"/>
          <p:cNvSpPr/>
          <p:nvPr/>
        </p:nvSpPr>
        <p:spPr>
          <a:xfrm>
            <a:off x="297180" y="2583180"/>
            <a:ext cx="259080" cy="365760"/>
          </a:xfrm>
          <a:custGeom>
            <a:avLst/>
            <a:gdLst/>
            <a:ahLst/>
            <a:cxnLst/>
            <a:rect l="l" t="t" r="r" b="b"/>
            <a:pathLst>
              <a:path w="34" h="48">
                <a:moveTo>
                  <a:pt x="0" y="0"/>
                </a:moveTo>
                <a:lnTo>
                  <a:pt x="23" y="0"/>
                </a:lnTo>
                <a:lnTo>
                  <a:pt x="34" y="11"/>
                </a:lnTo>
                <a:lnTo>
                  <a:pt x="34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FFBF0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ion"/>
          <p:cNvCxnSpPr/>
          <p:nvPr/>
        </p:nvCxnSpPr>
        <p:spPr>
          <a:xfrm>
            <a:off x="472440" y="2583180"/>
            <a:ext cx="0" cy="8382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ion"/>
          <p:cNvCxnSpPr/>
          <p:nvPr/>
        </p:nvCxnSpPr>
        <p:spPr>
          <a:xfrm>
            <a:off x="472440" y="2667000"/>
            <a:ext cx="83820" cy="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ion"/>
          <p:cNvCxnSpPr/>
          <p:nvPr/>
        </p:nvCxnSpPr>
        <p:spPr>
          <a:xfrm>
            <a:off x="350520" y="272034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ion"/>
          <p:cNvCxnSpPr/>
          <p:nvPr/>
        </p:nvCxnSpPr>
        <p:spPr>
          <a:xfrm>
            <a:off x="350520" y="278130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ion"/>
          <p:cNvCxnSpPr/>
          <p:nvPr/>
        </p:nvCxnSpPr>
        <p:spPr>
          <a:xfrm>
            <a:off x="350520" y="284988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Label: Findings: ... / Impression: ..."/>
          <p:cNvSpPr txBox="1"/>
          <p:nvPr/>
        </p:nvSpPr>
        <p:spPr>
          <a:xfrm>
            <a:off x="708660" y="2567940"/>
            <a:ext cx="845820" cy="3581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717"/>
                </a:solidFill>
                <a:latin typeface="Arial"/>
              </a:rPr>
              <a:t>Findings: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717"/>
                </a:solidFill>
                <a:latin typeface="Arial"/>
              </a:rPr>
              <a:t>Impression: ...</a:t>
            </a:r>
          </a:p>
        </p:txBody>
      </p:sp>
      <p:sp>
        <p:nvSpPr>
          <p:cNvPr id="36" name="Tokenizer and embedding"/>
          <p:cNvSpPr/>
          <p:nvPr/>
        </p:nvSpPr>
        <p:spPr>
          <a:xfrm>
            <a:off x="1882139" y="2438400"/>
            <a:ext cx="1036320" cy="495299"/>
          </a:xfrm>
          <a:prstGeom prst="roundRect">
            <a:avLst>
              <a:gd name="adj" fmla="val 17000"/>
            </a:avLst>
          </a:prstGeom>
          <a:solidFill>
            <a:srgbClr val="FEFAD1"/>
          </a:solidFill>
          <a:ln w="11430">
            <a:solidFill>
              <a:srgbClr val="66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Label: Tokenizer + / embedding"/>
          <p:cNvSpPr txBox="1"/>
          <p:nvPr/>
        </p:nvSpPr>
        <p:spPr>
          <a:xfrm>
            <a:off x="1950720" y="2476500"/>
            <a:ext cx="891540" cy="4038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Tokenizer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embedding</a:t>
            </a:r>
          </a:p>
        </p:txBody>
      </p:sp>
      <p:sp>
        <p:nvSpPr>
          <p:cNvPr id="38" name="Report text token"/>
          <p:cNvSpPr/>
          <p:nvPr/>
        </p:nvSpPr>
        <p:spPr>
          <a:xfrm>
            <a:off x="3177540" y="257556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port text token"/>
          <p:cNvSpPr/>
          <p:nvPr/>
        </p:nvSpPr>
        <p:spPr>
          <a:xfrm>
            <a:off x="3390900" y="257556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port text token"/>
          <p:cNvSpPr/>
          <p:nvPr/>
        </p:nvSpPr>
        <p:spPr>
          <a:xfrm>
            <a:off x="3604260" y="257556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Label: Text tokens"/>
          <p:cNvSpPr txBox="1"/>
          <p:nvPr/>
        </p:nvSpPr>
        <p:spPr>
          <a:xfrm>
            <a:off x="3131820" y="2796540"/>
            <a:ext cx="84582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Text tokens</a:t>
            </a:r>
          </a:p>
        </p:txBody>
      </p:sp>
      <p:sp>
        <p:nvSpPr>
          <p:cNvPr id="42" name="Current VLM"/>
          <p:cNvSpPr/>
          <p:nvPr/>
        </p:nvSpPr>
        <p:spPr>
          <a:xfrm>
            <a:off x="4236720" y="1135380"/>
            <a:ext cx="3337560" cy="1783080"/>
          </a:xfrm>
          <a:prstGeom prst="roundRect">
            <a:avLst>
              <a:gd name="adj" fmla="val 7500"/>
            </a:avLst>
          </a:prstGeom>
          <a:gradFill rotWithShape="1">
            <a:gsLst>
              <a:gs pos="0">
                <a:srgbClr val="EDD0EE"/>
              </a:gs>
              <a:gs pos="100000">
                <a:srgbClr val="E5BEE9"/>
              </a:gs>
            </a:gsLst>
            <a:lin ang="16200000" scaled="0"/>
          </a:gradFill>
          <a:ln w="16510">
            <a:solidFill>
              <a:srgbClr val="7623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Label: VLM"/>
          <p:cNvSpPr txBox="1"/>
          <p:nvPr/>
        </p:nvSpPr>
        <p:spPr>
          <a:xfrm>
            <a:off x="5440680" y="1181100"/>
            <a:ext cx="868680" cy="3048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71717"/>
                </a:solidFill>
                <a:latin typeface="Comic Sans MS"/>
              </a:rPr>
              <a:t>VLM</a:t>
            </a:r>
          </a:p>
        </p:txBody>
      </p:sp>
      <p:sp>
        <p:nvSpPr>
          <p:cNvPr id="44" name="Label: LoRA"/>
          <p:cNvSpPr txBox="1"/>
          <p:nvPr/>
        </p:nvSpPr>
        <p:spPr>
          <a:xfrm>
            <a:off x="7040880" y="1226820"/>
            <a:ext cx="44958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LoRA</a:t>
            </a:r>
          </a:p>
        </p:txBody>
      </p:sp>
      <p:sp>
        <p:nvSpPr>
          <p:cNvPr id="45" name="Current VLM input strip"/>
          <p:cNvSpPr/>
          <p:nvPr/>
        </p:nvSpPr>
        <p:spPr>
          <a:xfrm>
            <a:off x="4305300" y="1546860"/>
            <a:ext cx="3192780" cy="693420"/>
          </a:xfrm>
          <a:prstGeom prst="roundRect">
            <a:avLst>
              <a:gd name="adj" fmla="val 14000"/>
            </a:avLst>
          </a:prstGeom>
          <a:solidFill>
            <a:srgbClr val="FFFCF3"/>
          </a:solidFill>
          <a:ln w="11430">
            <a:solidFill>
              <a:srgbClr val="A42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Label: Visual tokens"/>
          <p:cNvSpPr txBox="1"/>
          <p:nvPr/>
        </p:nvSpPr>
        <p:spPr>
          <a:xfrm>
            <a:off x="4404360" y="1600200"/>
            <a:ext cx="77724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Visual tokens</a:t>
            </a:r>
          </a:p>
        </p:txBody>
      </p:sp>
      <p:sp>
        <p:nvSpPr>
          <p:cNvPr id="47" name="Label: Text tokens"/>
          <p:cNvSpPr txBox="1"/>
          <p:nvPr/>
        </p:nvSpPr>
        <p:spPr>
          <a:xfrm>
            <a:off x="5349240" y="1600200"/>
            <a:ext cx="80010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Text tokens</a:t>
            </a:r>
          </a:p>
        </p:txBody>
      </p:sp>
      <p:sp>
        <p:nvSpPr>
          <p:cNvPr id="48" name="Label: Learned slots U"/>
          <p:cNvSpPr txBox="1"/>
          <p:nvPr/>
        </p:nvSpPr>
        <p:spPr>
          <a:xfrm>
            <a:off x="6362700" y="1600200"/>
            <a:ext cx="107442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Learned slots U</a:t>
            </a:r>
          </a:p>
        </p:txBody>
      </p:sp>
      <p:sp>
        <p:nvSpPr>
          <p:cNvPr id="49" name="Current VLM visual token"/>
          <p:cNvSpPr/>
          <p:nvPr/>
        </p:nvSpPr>
        <p:spPr>
          <a:xfrm>
            <a:off x="4411980" y="18516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Current VLM text token"/>
          <p:cNvSpPr/>
          <p:nvPr/>
        </p:nvSpPr>
        <p:spPr>
          <a:xfrm>
            <a:off x="5326380" y="18516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Current VLM visual token"/>
          <p:cNvSpPr/>
          <p:nvPr/>
        </p:nvSpPr>
        <p:spPr>
          <a:xfrm>
            <a:off x="4625340" y="18516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Current VLM text token"/>
          <p:cNvSpPr/>
          <p:nvPr/>
        </p:nvSpPr>
        <p:spPr>
          <a:xfrm>
            <a:off x="5539740" y="18516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Current VLM visual token"/>
          <p:cNvSpPr/>
          <p:nvPr/>
        </p:nvSpPr>
        <p:spPr>
          <a:xfrm>
            <a:off x="4838700" y="18516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Current VLM text token"/>
          <p:cNvSpPr/>
          <p:nvPr/>
        </p:nvSpPr>
        <p:spPr>
          <a:xfrm>
            <a:off x="5753100" y="185166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Label: ..."/>
          <p:cNvSpPr txBox="1"/>
          <p:nvPr/>
        </p:nvSpPr>
        <p:spPr>
          <a:xfrm>
            <a:off x="5090160" y="1813560"/>
            <a:ext cx="16764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56" name="Label: ..."/>
          <p:cNvSpPr txBox="1"/>
          <p:nvPr/>
        </p:nvSpPr>
        <p:spPr>
          <a:xfrm>
            <a:off x="5989320" y="1813560"/>
            <a:ext cx="16002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57" name="Current VLM input slot 1/8"/>
          <p:cNvSpPr/>
          <p:nvPr/>
        </p:nvSpPr>
        <p:spPr>
          <a:xfrm>
            <a:off x="6217920" y="18516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Current VLM input slot 2/8"/>
          <p:cNvSpPr/>
          <p:nvPr/>
        </p:nvSpPr>
        <p:spPr>
          <a:xfrm>
            <a:off x="6370320" y="18516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Current VLM input slot 3/8"/>
          <p:cNvSpPr/>
          <p:nvPr/>
        </p:nvSpPr>
        <p:spPr>
          <a:xfrm>
            <a:off x="6522720" y="18516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Current VLM input slot 4/8"/>
          <p:cNvSpPr/>
          <p:nvPr/>
        </p:nvSpPr>
        <p:spPr>
          <a:xfrm>
            <a:off x="6675120" y="18516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Current VLM input slot 5/8"/>
          <p:cNvSpPr/>
          <p:nvPr/>
        </p:nvSpPr>
        <p:spPr>
          <a:xfrm>
            <a:off x="6827520" y="18516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Current VLM input slot 6/8"/>
          <p:cNvSpPr/>
          <p:nvPr/>
        </p:nvSpPr>
        <p:spPr>
          <a:xfrm>
            <a:off x="6979920" y="18516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Current VLM input slot 7/8"/>
          <p:cNvSpPr/>
          <p:nvPr/>
        </p:nvSpPr>
        <p:spPr>
          <a:xfrm>
            <a:off x="7132320" y="18516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Current VLM input slot 8/8"/>
          <p:cNvSpPr/>
          <p:nvPr/>
        </p:nvSpPr>
        <p:spPr>
          <a:xfrm>
            <a:off x="7284720" y="185166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Equation: 8 × d"/>
          <p:cNvSpPr txBox="1"/>
          <p:nvPr/>
        </p:nvSpPr>
        <p:spPr>
          <a:xfrm>
            <a:off x="6614160" y="2057400"/>
            <a:ext cx="68580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66" name="Connection"/>
          <p:cNvCxnSpPr/>
          <p:nvPr/>
        </p:nvCxnSpPr>
        <p:spPr>
          <a:xfrm>
            <a:off x="5905500" y="2240280"/>
            <a:ext cx="0" cy="160020"/>
          </a:xfrm>
          <a:prstGeom prst="line">
            <a:avLst/>
          </a:prstGeom>
          <a:ln w="1270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urrent VLM transformer block"/>
          <p:cNvSpPr/>
          <p:nvPr/>
        </p:nvSpPr>
        <p:spPr>
          <a:xfrm>
            <a:off x="5135880" y="2362200"/>
            <a:ext cx="175260" cy="46482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Current VLM transformer block"/>
          <p:cNvSpPr/>
          <p:nvPr/>
        </p:nvSpPr>
        <p:spPr>
          <a:xfrm>
            <a:off x="5410200" y="2362200"/>
            <a:ext cx="175260" cy="46482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Label: ..."/>
          <p:cNvSpPr txBox="1"/>
          <p:nvPr/>
        </p:nvSpPr>
        <p:spPr>
          <a:xfrm>
            <a:off x="5768340" y="2484120"/>
            <a:ext cx="24384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70" name="Label: Transformer"/>
          <p:cNvSpPr txBox="1"/>
          <p:nvPr/>
        </p:nvSpPr>
        <p:spPr>
          <a:xfrm>
            <a:off x="6134100" y="2514600"/>
            <a:ext cx="113538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Transformer</a:t>
            </a:r>
          </a:p>
        </p:txBody>
      </p:sp>
      <p:sp>
        <p:nvSpPr>
          <p:cNvPr id="71" name="Current state"/>
          <p:cNvSpPr/>
          <p:nvPr/>
        </p:nvSpPr>
        <p:spPr>
          <a:xfrm>
            <a:off x="8107680" y="1668780"/>
            <a:ext cx="1371600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4FA"/>
              </a:gs>
              <a:gs pos="100000">
                <a:srgbClr val="FADDED"/>
              </a:gs>
            </a:gsLst>
            <a:lin ang="16200000" scaled="0"/>
          </a:gradFill>
          <a:ln w="11430">
            <a:solidFill>
              <a:srgbClr val="DD4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Label: Current state"/>
          <p:cNvSpPr txBox="1"/>
          <p:nvPr/>
        </p:nvSpPr>
        <p:spPr>
          <a:xfrm>
            <a:off x="8168640" y="1760220"/>
            <a:ext cx="106680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Current state</a:t>
            </a:r>
          </a:p>
        </p:txBody>
      </p:sp>
      <p:sp>
        <p:nvSpPr>
          <p:cNvPr id="73" name="Equation: St"/>
          <p:cNvSpPr txBox="1"/>
          <p:nvPr/>
        </p:nvSpPr>
        <p:spPr>
          <a:xfrm>
            <a:off x="9197340" y="1729740"/>
            <a:ext cx="396240" cy="2895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i="1">
                <a:solidFill>
                  <a:srgbClr val="171717"/>
                </a:solidFill>
                <a:latin typeface="Times New Roman"/>
              </a:rPr>
              <a:t>S</a:t>
            </a:r>
            <a:r>
              <a:rPr sz="1560" i="1" baseline="-25000">
                <a:solidFill>
                  <a:srgbClr val="171717"/>
                </a:solidFill>
                <a:latin typeface="Times New Roman"/>
              </a:rPr>
              <a:t>t</a:t>
            </a:r>
          </a:p>
        </p:txBody>
      </p:sp>
      <p:sp>
        <p:nvSpPr>
          <p:cNvPr id="74" name="Current state output token 1/8"/>
          <p:cNvSpPr/>
          <p:nvPr/>
        </p:nvSpPr>
        <p:spPr>
          <a:xfrm>
            <a:off x="8199120" y="2072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Current state output token 2/8"/>
          <p:cNvSpPr/>
          <p:nvPr/>
        </p:nvSpPr>
        <p:spPr>
          <a:xfrm>
            <a:off x="8351520" y="2072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Current state output token 3/8"/>
          <p:cNvSpPr/>
          <p:nvPr/>
        </p:nvSpPr>
        <p:spPr>
          <a:xfrm>
            <a:off x="8503920" y="2072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Current state output token 4/8"/>
          <p:cNvSpPr/>
          <p:nvPr/>
        </p:nvSpPr>
        <p:spPr>
          <a:xfrm>
            <a:off x="8656320" y="2072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Current state output token 5/8"/>
          <p:cNvSpPr/>
          <p:nvPr/>
        </p:nvSpPr>
        <p:spPr>
          <a:xfrm>
            <a:off x="8808720" y="2072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Current state output token 6/8"/>
          <p:cNvSpPr/>
          <p:nvPr/>
        </p:nvSpPr>
        <p:spPr>
          <a:xfrm>
            <a:off x="8961120" y="2072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Current state output token 7/8"/>
          <p:cNvSpPr/>
          <p:nvPr/>
        </p:nvSpPr>
        <p:spPr>
          <a:xfrm>
            <a:off x="9113520" y="2072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Current state output token 8/8"/>
          <p:cNvSpPr/>
          <p:nvPr/>
        </p:nvSpPr>
        <p:spPr>
          <a:xfrm>
            <a:off x="9265920" y="2072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Equation: 8 × d"/>
          <p:cNvSpPr txBox="1"/>
          <p:nvPr/>
        </p:nvSpPr>
        <p:spPr>
          <a:xfrm>
            <a:off x="8610600" y="2331720"/>
            <a:ext cx="69342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83" name="Image to encoder"/>
          <p:cNvCxnSpPr/>
          <p:nvPr/>
        </p:nvCxnSpPr>
        <p:spPr>
          <a:xfrm>
            <a:off x="1219200" y="1645920"/>
            <a:ext cx="19812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ncoder to spatial features"/>
          <p:cNvCxnSpPr/>
          <p:nvPr/>
        </p:nvCxnSpPr>
        <p:spPr>
          <a:xfrm>
            <a:off x="2293620" y="1668780"/>
            <a:ext cx="2057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patial features to visual adapter"/>
          <p:cNvCxnSpPr/>
          <p:nvPr/>
        </p:nvCxnSpPr>
        <p:spPr>
          <a:xfrm>
            <a:off x="2948940" y="1668780"/>
            <a:ext cx="2209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Visual adapter to VLM"/>
          <p:cNvCxnSpPr/>
          <p:nvPr/>
        </p:nvCxnSpPr>
        <p:spPr>
          <a:xfrm>
            <a:off x="3977639" y="1668780"/>
            <a:ext cx="259081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Report to tokenizer"/>
          <p:cNvCxnSpPr/>
          <p:nvPr/>
        </p:nvCxnSpPr>
        <p:spPr>
          <a:xfrm>
            <a:off x="1600200" y="2682240"/>
            <a:ext cx="281939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Tokenizer to report tokens"/>
          <p:cNvCxnSpPr/>
          <p:nvPr/>
        </p:nvCxnSpPr>
        <p:spPr>
          <a:xfrm>
            <a:off x="2918460" y="2682240"/>
            <a:ext cx="2438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Report tokens to VLM"/>
          <p:cNvCxnSpPr/>
          <p:nvPr/>
        </p:nvCxnSpPr>
        <p:spPr>
          <a:xfrm>
            <a:off x="3779520" y="2682240"/>
            <a:ext cx="236220" cy="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Report tokens to VLM"/>
          <p:cNvCxnSpPr/>
          <p:nvPr/>
        </p:nvCxnSpPr>
        <p:spPr>
          <a:xfrm flipV="1">
            <a:off x="4015740" y="2415540"/>
            <a:ext cx="0" cy="26670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Report tokens to VLM"/>
          <p:cNvCxnSpPr/>
          <p:nvPr/>
        </p:nvCxnSpPr>
        <p:spPr>
          <a:xfrm>
            <a:off x="4015740" y="2415540"/>
            <a:ext cx="2209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lot hidden states to state readout"/>
          <p:cNvCxnSpPr/>
          <p:nvPr/>
        </p:nvCxnSpPr>
        <p:spPr>
          <a:xfrm>
            <a:off x="7574280" y="2240280"/>
            <a:ext cx="53340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Label: Slot hidden / states"/>
          <p:cNvSpPr txBox="1"/>
          <p:nvPr/>
        </p:nvSpPr>
        <p:spPr>
          <a:xfrm>
            <a:off x="7597140" y="1874519"/>
            <a:ext cx="510540" cy="3124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1717"/>
                </a:solidFill>
                <a:latin typeface="Arial"/>
              </a:rPr>
              <a:t>Slot hidden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1717"/>
                </a:solidFill>
                <a:latin typeface="Arial"/>
              </a:rPr>
              <a:t>states</a:t>
            </a:r>
          </a:p>
        </p:txBody>
      </p:sp>
      <p:sp>
        <p:nvSpPr>
          <p:cNvPr id="94" name="Label: Observed future, t⁺"/>
          <p:cNvSpPr txBox="1"/>
          <p:nvPr/>
        </p:nvSpPr>
        <p:spPr>
          <a:xfrm>
            <a:off x="167640" y="3642360"/>
            <a:ext cx="1905000" cy="2667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71717"/>
                </a:solidFill>
                <a:latin typeface="Comic Sans MS"/>
              </a:rPr>
              <a:t>Observed future, t⁺</a:t>
            </a:r>
          </a:p>
        </p:txBody>
      </p:sp>
      <p:sp>
        <p:nvSpPr>
          <p:cNvPr id="95" name="Label: (Training target)"/>
          <p:cNvSpPr txBox="1"/>
          <p:nvPr/>
        </p:nvSpPr>
        <p:spPr>
          <a:xfrm>
            <a:off x="2156460" y="3657600"/>
            <a:ext cx="129540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1717"/>
                </a:solidFill>
                <a:latin typeface="Comic Sans MS"/>
              </a:rPr>
              <a:t>(Training target)</a:t>
            </a:r>
          </a:p>
        </p:txBody>
      </p:sp>
      <p:sp>
        <p:nvSpPr>
          <p:cNvPr id="96" name="Label: Follow-up image"/>
          <p:cNvSpPr txBox="1"/>
          <p:nvPr/>
        </p:nvSpPr>
        <p:spPr>
          <a:xfrm>
            <a:off x="182880" y="3977639"/>
            <a:ext cx="130302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Follow-up image</a:t>
            </a:r>
          </a:p>
        </p:txBody>
      </p:sp>
      <p:pic>
        <p:nvPicPr>
          <p:cNvPr id="97" name="Follow-up chest radi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" y="4221480"/>
            <a:ext cx="1028700" cy="861060"/>
          </a:xfrm>
          <a:prstGeom prst="rect">
            <a:avLst/>
          </a:prstGeom>
          <a:effectLst/>
        </p:spPr>
      </p:pic>
      <p:sp>
        <p:nvSpPr>
          <p:cNvPr id="98" name="Future V-JEPA encoder"/>
          <p:cNvSpPr/>
          <p:nvPr/>
        </p:nvSpPr>
        <p:spPr>
          <a:xfrm>
            <a:off x="1417320" y="4046220"/>
            <a:ext cx="876300" cy="1097280"/>
          </a:xfrm>
          <a:custGeom>
            <a:avLst/>
            <a:gdLst/>
            <a:ahLst/>
            <a:cxnLst/>
            <a:rect l="l" t="t" r="r" b="b"/>
            <a:pathLst>
              <a:path w="115" h="144">
                <a:moveTo>
                  <a:pt x="0" y="0"/>
                </a:moveTo>
                <a:lnTo>
                  <a:pt x="115" y="38"/>
                </a:lnTo>
                <a:lnTo>
                  <a:pt x="115" y="109"/>
                </a:lnTo>
                <a:lnTo>
                  <a:pt x="0" y="144"/>
                </a:lnTo>
                <a:close/>
              </a:path>
            </a:pathLst>
          </a:custGeom>
          <a:solidFill>
            <a:srgbClr val="BFDFF9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Label: V-JEPA / encoder"/>
          <p:cNvSpPr txBox="1"/>
          <p:nvPr/>
        </p:nvSpPr>
        <p:spPr>
          <a:xfrm>
            <a:off x="1485900" y="4404360"/>
            <a:ext cx="762000" cy="4648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1717"/>
                </a:solidFill>
                <a:latin typeface="Comic Sans MS"/>
              </a:rPr>
              <a:t>V-JEPA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>
                <a:solidFill>
                  <a:srgbClr val="171717"/>
                </a:solidFill>
                <a:latin typeface="Comic Sans MS"/>
              </a:rPr>
              <a:t>encoder</a:t>
            </a:r>
          </a:p>
        </p:txBody>
      </p:sp>
      <p:sp>
        <p:nvSpPr>
          <p:cNvPr id="100" name="Future D feature"/>
          <p:cNvSpPr/>
          <p:nvPr/>
        </p:nvSpPr>
        <p:spPr>
          <a:xfrm>
            <a:off x="2514600" y="44043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Future D feature"/>
          <p:cNvSpPr/>
          <p:nvPr/>
        </p:nvSpPr>
        <p:spPr>
          <a:xfrm>
            <a:off x="2667000" y="44043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Future D feature"/>
          <p:cNvSpPr/>
          <p:nvPr/>
        </p:nvSpPr>
        <p:spPr>
          <a:xfrm>
            <a:off x="2819400" y="44043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Future D feature"/>
          <p:cNvSpPr/>
          <p:nvPr/>
        </p:nvSpPr>
        <p:spPr>
          <a:xfrm>
            <a:off x="2514600" y="45567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Future D feature"/>
          <p:cNvSpPr/>
          <p:nvPr/>
        </p:nvSpPr>
        <p:spPr>
          <a:xfrm>
            <a:off x="2667000" y="45567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Future D feature"/>
          <p:cNvSpPr/>
          <p:nvPr/>
        </p:nvSpPr>
        <p:spPr>
          <a:xfrm>
            <a:off x="2819400" y="45567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Future D feature"/>
          <p:cNvSpPr/>
          <p:nvPr/>
        </p:nvSpPr>
        <p:spPr>
          <a:xfrm>
            <a:off x="2514600" y="47091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Future D feature"/>
          <p:cNvSpPr/>
          <p:nvPr/>
        </p:nvSpPr>
        <p:spPr>
          <a:xfrm>
            <a:off x="2667000" y="47091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Future D feature"/>
          <p:cNvSpPr/>
          <p:nvPr/>
        </p:nvSpPr>
        <p:spPr>
          <a:xfrm>
            <a:off x="2819400" y="4709160"/>
            <a:ext cx="129540" cy="12954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Equation: D*t⁺"/>
          <p:cNvSpPr txBox="1"/>
          <p:nvPr/>
        </p:nvSpPr>
        <p:spPr>
          <a:xfrm>
            <a:off x="2583180" y="4061460"/>
            <a:ext cx="533400" cy="3048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D</a:t>
            </a:r>
            <a:r>
              <a:rPr sz="1739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739" i="1" baseline="-25000">
                <a:solidFill>
                  <a:srgbClr val="171717"/>
                </a:solidFill>
                <a:latin typeface="Times New Roman"/>
              </a:rPr>
              <a:t>t⁺</a:t>
            </a:r>
          </a:p>
        </p:txBody>
      </p:sp>
      <p:sp>
        <p:nvSpPr>
          <p:cNvPr id="110" name="Visual adapter"/>
          <p:cNvSpPr/>
          <p:nvPr/>
        </p:nvSpPr>
        <p:spPr>
          <a:xfrm>
            <a:off x="3169920" y="4373880"/>
            <a:ext cx="807720" cy="556260"/>
          </a:xfrm>
          <a:prstGeom prst="roundRect">
            <a:avLst>
              <a:gd name="adj" fmla="val 17000"/>
            </a:avLst>
          </a:prstGeom>
          <a:solidFill>
            <a:srgbClr val="FEFAD1"/>
          </a:solidFill>
          <a:ln w="11430">
            <a:solidFill>
              <a:srgbClr val="66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Label: Visual / adapter"/>
          <p:cNvSpPr txBox="1"/>
          <p:nvPr/>
        </p:nvSpPr>
        <p:spPr>
          <a:xfrm>
            <a:off x="3276600" y="4450080"/>
            <a:ext cx="601980" cy="3962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Visual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adapter</a:t>
            </a:r>
          </a:p>
        </p:txBody>
      </p:sp>
      <p:sp>
        <p:nvSpPr>
          <p:cNvPr id="112" name="Follow-up report"/>
          <p:cNvSpPr/>
          <p:nvPr/>
        </p:nvSpPr>
        <p:spPr>
          <a:xfrm>
            <a:off x="160020" y="5227320"/>
            <a:ext cx="1440180" cy="746760"/>
          </a:xfrm>
          <a:prstGeom prst="roundRect">
            <a:avLst>
              <a:gd name="adj" fmla="val 11000"/>
            </a:avLst>
          </a:prstGeom>
          <a:solidFill>
            <a:srgbClr val="FFF6E8"/>
          </a:solidFill>
          <a:ln w="11430">
            <a:solidFill>
              <a:srgbClr val="8450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Label: Follow-up report"/>
          <p:cNvSpPr txBox="1"/>
          <p:nvPr/>
        </p:nvSpPr>
        <p:spPr>
          <a:xfrm>
            <a:off x="266700" y="5257800"/>
            <a:ext cx="128016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Follow-up report</a:t>
            </a:r>
          </a:p>
        </p:txBody>
      </p:sp>
      <p:sp>
        <p:nvSpPr>
          <p:cNvPr id="114" name="Report document"/>
          <p:cNvSpPr/>
          <p:nvPr/>
        </p:nvSpPr>
        <p:spPr>
          <a:xfrm>
            <a:off x="297180" y="5524500"/>
            <a:ext cx="259080" cy="365760"/>
          </a:xfrm>
          <a:custGeom>
            <a:avLst/>
            <a:gdLst/>
            <a:ahLst/>
            <a:cxnLst/>
            <a:rect l="l" t="t" r="r" b="b"/>
            <a:pathLst>
              <a:path w="34" h="48">
                <a:moveTo>
                  <a:pt x="0" y="0"/>
                </a:moveTo>
                <a:lnTo>
                  <a:pt x="23" y="0"/>
                </a:lnTo>
                <a:lnTo>
                  <a:pt x="34" y="11"/>
                </a:lnTo>
                <a:lnTo>
                  <a:pt x="34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FFBF0"/>
          </a:solidFill>
          <a:ln w="1270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5" name="Connection"/>
          <p:cNvCxnSpPr/>
          <p:nvPr/>
        </p:nvCxnSpPr>
        <p:spPr>
          <a:xfrm>
            <a:off x="472440" y="5524500"/>
            <a:ext cx="0" cy="8382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ion"/>
          <p:cNvCxnSpPr/>
          <p:nvPr/>
        </p:nvCxnSpPr>
        <p:spPr>
          <a:xfrm>
            <a:off x="472440" y="5608320"/>
            <a:ext cx="83820" cy="0"/>
          </a:xfrm>
          <a:prstGeom prst="line">
            <a:avLst/>
          </a:prstGeom>
          <a:ln w="1143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ion"/>
          <p:cNvCxnSpPr/>
          <p:nvPr/>
        </p:nvCxnSpPr>
        <p:spPr>
          <a:xfrm>
            <a:off x="350520" y="566166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ion"/>
          <p:cNvCxnSpPr/>
          <p:nvPr/>
        </p:nvCxnSpPr>
        <p:spPr>
          <a:xfrm>
            <a:off x="350520" y="572262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ion"/>
          <p:cNvCxnSpPr/>
          <p:nvPr/>
        </p:nvCxnSpPr>
        <p:spPr>
          <a:xfrm>
            <a:off x="350520" y="5791200"/>
            <a:ext cx="152400" cy="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Label: Findings: ... / Impression: ..."/>
          <p:cNvSpPr txBox="1"/>
          <p:nvPr/>
        </p:nvSpPr>
        <p:spPr>
          <a:xfrm>
            <a:off x="708660" y="5509260"/>
            <a:ext cx="845820" cy="3581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717"/>
                </a:solidFill>
                <a:latin typeface="Arial"/>
              </a:rPr>
              <a:t>Findings: 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717"/>
                </a:solidFill>
                <a:latin typeface="Arial"/>
              </a:rPr>
              <a:t>Impression: ...</a:t>
            </a:r>
          </a:p>
        </p:txBody>
      </p:sp>
      <p:sp>
        <p:nvSpPr>
          <p:cNvPr id="121" name="Tokenizer and embedding"/>
          <p:cNvSpPr/>
          <p:nvPr/>
        </p:nvSpPr>
        <p:spPr>
          <a:xfrm>
            <a:off x="1882139" y="5394960"/>
            <a:ext cx="1036320" cy="495299"/>
          </a:xfrm>
          <a:prstGeom prst="roundRect">
            <a:avLst>
              <a:gd name="adj" fmla="val 17000"/>
            </a:avLst>
          </a:prstGeom>
          <a:solidFill>
            <a:srgbClr val="FEFAD1"/>
          </a:solidFill>
          <a:ln w="11430">
            <a:solidFill>
              <a:srgbClr val="665D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Label: Tokenizer + / embedding"/>
          <p:cNvSpPr txBox="1"/>
          <p:nvPr/>
        </p:nvSpPr>
        <p:spPr>
          <a:xfrm>
            <a:off x="1950720" y="5433060"/>
            <a:ext cx="891540" cy="4038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Tokenizer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embedding</a:t>
            </a:r>
          </a:p>
        </p:txBody>
      </p:sp>
      <p:sp>
        <p:nvSpPr>
          <p:cNvPr id="123" name="Report text token"/>
          <p:cNvSpPr/>
          <p:nvPr/>
        </p:nvSpPr>
        <p:spPr>
          <a:xfrm>
            <a:off x="3177540" y="553212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port text token"/>
          <p:cNvSpPr/>
          <p:nvPr/>
        </p:nvSpPr>
        <p:spPr>
          <a:xfrm>
            <a:off x="3390900" y="553212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port text token"/>
          <p:cNvSpPr/>
          <p:nvPr/>
        </p:nvSpPr>
        <p:spPr>
          <a:xfrm>
            <a:off x="3604260" y="5532120"/>
            <a:ext cx="1752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Label: Text tokens"/>
          <p:cNvSpPr txBox="1"/>
          <p:nvPr/>
        </p:nvSpPr>
        <p:spPr>
          <a:xfrm>
            <a:off x="3131820" y="5753100"/>
            <a:ext cx="84582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Text tokens</a:t>
            </a:r>
          </a:p>
        </p:txBody>
      </p:sp>
      <p:sp>
        <p:nvSpPr>
          <p:cNvPr id="127" name="Future VLM"/>
          <p:cNvSpPr/>
          <p:nvPr/>
        </p:nvSpPr>
        <p:spPr>
          <a:xfrm>
            <a:off x="4236720" y="4061460"/>
            <a:ext cx="3337560" cy="1783080"/>
          </a:xfrm>
          <a:prstGeom prst="roundRect">
            <a:avLst>
              <a:gd name="adj" fmla="val 7500"/>
            </a:avLst>
          </a:prstGeom>
          <a:gradFill rotWithShape="1">
            <a:gsLst>
              <a:gs pos="0">
                <a:srgbClr val="EDD0EE"/>
              </a:gs>
              <a:gs pos="100000">
                <a:srgbClr val="E5BEE9"/>
              </a:gs>
            </a:gsLst>
            <a:lin ang="16200000" scaled="0"/>
          </a:gradFill>
          <a:ln w="16510">
            <a:solidFill>
              <a:srgbClr val="7623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Label: VLM"/>
          <p:cNvSpPr txBox="1"/>
          <p:nvPr/>
        </p:nvSpPr>
        <p:spPr>
          <a:xfrm>
            <a:off x="5440680" y="4107179"/>
            <a:ext cx="868680" cy="3048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1" i="0">
                <a:solidFill>
                  <a:srgbClr val="171717"/>
                </a:solidFill>
                <a:latin typeface="Comic Sans MS"/>
              </a:rPr>
              <a:t>VLM</a:t>
            </a:r>
          </a:p>
        </p:txBody>
      </p:sp>
      <p:sp>
        <p:nvSpPr>
          <p:cNvPr id="129" name="Label: LoRA"/>
          <p:cNvSpPr txBox="1"/>
          <p:nvPr/>
        </p:nvSpPr>
        <p:spPr>
          <a:xfrm>
            <a:off x="7040880" y="4152900"/>
            <a:ext cx="44958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LoRA</a:t>
            </a:r>
          </a:p>
        </p:txBody>
      </p:sp>
      <p:sp>
        <p:nvSpPr>
          <p:cNvPr id="130" name="Future VLM input strip"/>
          <p:cNvSpPr/>
          <p:nvPr/>
        </p:nvSpPr>
        <p:spPr>
          <a:xfrm>
            <a:off x="4305300" y="4472940"/>
            <a:ext cx="3192780" cy="693420"/>
          </a:xfrm>
          <a:prstGeom prst="roundRect">
            <a:avLst>
              <a:gd name="adj" fmla="val 14000"/>
            </a:avLst>
          </a:prstGeom>
          <a:solidFill>
            <a:srgbClr val="FFFCF3"/>
          </a:solidFill>
          <a:ln w="11430">
            <a:solidFill>
              <a:srgbClr val="A42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Label: Visual tokens"/>
          <p:cNvSpPr txBox="1"/>
          <p:nvPr/>
        </p:nvSpPr>
        <p:spPr>
          <a:xfrm>
            <a:off x="4404360" y="4526280"/>
            <a:ext cx="77724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Visual tokens</a:t>
            </a:r>
          </a:p>
        </p:txBody>
      </p:sp>
      <p:sp>
        <p:nvSpPr>
          <p:cNvPr id="132" name="Label: Text tokens"/>
          <p:cNvSpPr txBox="1"/>
          <p:nvPr/>
        </p:nvSpPr>
        <p:spPr>
          <a:xfrm>
            <a:off x="5349240" y="4526280"/>
            <a:ext cx="80010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Text tokens</a:t>
            </a:r>
          </a:p>
        </p:txBody>
      </p:sp>
      <p:sp>
        <p:nvSpPr>
          <p:cNvPr id="133" name="Label: Learned slots U"/>
          <p:cNvSpPr txBox="1"/>
          <p:nvPr/>
        </p:nvSpPr>
        <p:spPr>
          <a:xfrm>
            <a:off x="6362700" y="4526280"/>
            <a:ext cx="1074420" cy="1828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71717"/>
                </a:solidFill>
                <a:latin typeface="Arial"/>
              </a:rPr>
              <a:t>Learned slots U</a:t>
            </a:r>
          </a:p>
        </p:txBody>
      </p:sp>
      <p:sp>
        <p:nvSpPr>
          <p:cNvPr id="134" name="Future VLM visual token"/>
          <p:cNvSpPr/>
          <p:nvPr/>
        </p:nvSpPr>
        <p:spPr>
          <a:xfrm>
            <a:off x="4411980" y="477774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Future VLM text token"/>
          <p:cNvSpPr/>
          <p:nvPr/>
        </p:nvSpPr>
        <p:spPr>
          <a:xfrm>
            <a:off x="5326380" y="477774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Future VLM visual token"/>
          <p:cNvSpPr/>
          <p:nvPr/>
        </p:nvSpPr>
        <p:spPr>
          <a:xfrm>
            <a:off x="4625340" y="477774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Future VLM text token"/>
          <p:cNvSpPr/>
          <p:nvPr/>
        </p:nvSpPr>
        <p:spPr>
          <a:xfrm>
            <a:off x="5539740" y="477774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Future VLM visual token"/>
          <p:cNvSpPr/>
          <p:nvPr/>
        </p:nvSpPr>
        <p:spPr>
          <a:xfrm>
            <a:off x="4838700" y="477774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Future VLM text token"/>
          <p:cNvSpPr/>
          <p:nvPr/>
        </p:nvSpPr>
        <p:spPr>
          <a:xfrm>
            <a:off x="5753100" y="4777740"/>
            <a:ext cx="17526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Label: ..."/>
          <p:cNvSpPr txBox="1"/>
          <p:nvPr/>
        </p:nvSpPr>
        <p:spPr>
          <a:xfrm>
            <a:off x="5090160" y="4739640"/>
            <a:ext cx="16764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141" name="Label: ..."/>
          <p:cNvSpPr txBox="1"/>
          <p:nvPr/>
        </p:nvSpPr>
        <p:spPr>
          <a:xfrm>
            <a:off x="5989320" y="4739640"/>
            <a:ext cx="16002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142" name="Future VLM input slot 1/8"/>
          <p:cNvSpPr/>
          <p:nvPr/>
        </p:nvSpPr>
        <p:spPr>
          <a:xfrm>
            <a:off x="6217920" y="477774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Future VLM input slot 2/8"/>
          <p:cNvSpPr/>
          <p:nvPr/>
        </p:nvSpPr>
        <p:spPr>
          <a:xfrm>
            <a:off x="6370320" y="477774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Future VLM input slot 3/8"/>
          <p:cNvSpPr/>
          <p:nvPr/>
        </p:nvSpPr>
        <p:spPr>
          <a:xfrm>
            <a:off x="6522720" y="477774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Future VLM input slot 4/8"/>
          <p:cNvSpPr/>
          <p:nvPr/>
        </p:nvSpPr>
        <p:spPr>
          <a:xfrm>
            <a:off x="6675120" y="477774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Future VLM input slot 5/8"/>
          <p:cNvSpPr/>
          <p:nvPr/>
        </p:nvSpPr>
        <p:spPr>
          <a:xfrm>
            <a:off x="6827520" y="477774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Future VLM input slot 6/8"/>
          <p:cNvSpPr/>
          <p:nvPr/>
        </p:nvSpPr>
        <p:spPr>
          <a:xfrm>
            <a:off x="6979920" y="477774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Future VLM input slot 7/8"/>
          <p:cNvSpPr/>
          <p:nvPr/>
        </p:nvSpPr>
        <p:spPr>
          <a:xfrm>
            <a:off x="7132320" y="477774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Future VLM input slot 8/8"/>
          <p:cNvSpPr/>
          <p:nvPr/>
        </p:nvSpPr>
        <p:spPr>
          <a:xfrm>
            <a:off x="7284720" y="4777740"/>
            <a:ext cx="129540" cy="2133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Equation: 8 × d"/>
          <p:cNvSpPr txBox="1"/>
          <p:nvPr/>
        </p:nvSpPr>
        <p:spPr>
          <a:xfrm>
            <a:off x="6614160" y="4983480"/>
            <a:ext cx="68580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151" name="Connection"/>
          <p:cNvCxnSpPr/>
          <p:nvPr/>
        </p:nvCxnSpPr>
        <p:spPr>
          <a:xfrm>
            <a:off x="5905500" y="5166360"/>
            <a:ext cx="0" cy="160020"/>
          </a:xfrm>
          <a:prstGeom prst="line">
            <a:avLst/>
          </a:prstGeom>
          <a:ln w="1270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Future VLM transformer block"/>
          <p:cNvSpPr/>
          <p:nvPr/>
        </p:nvSpPr>
        <p:spPr>
          <a:xfrm>
            <a:off x="5135880" y="5288280"/>
            <a:ext cx="175260" cy="46482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Future VLM transformer block"/>
          <p:cNvSpPr/>
          <p:nvPr/>
        </p:nvSpPr>
        <p:spPr>
          <a:xfrm>
            <a:off x="5410200" y="5288280"/>
            <a:ext cx="175260" cy="46482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Label: ..."/>
          <p:cNvSpPr txBox="1"/>
          <p:nvPr/>
        </p:nvSpPr>
        <p:spPr>
          <a:xfrm>
            <a:off x="5768340" y="5410200"/>
            <a:ext cx="24384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155" name="Label: Transformer"/>
          <p:cNvSpPr txBox="1"/>
          <p:nvPr/>
        </p:nvSpPr>
        <p:spPr>
          <a:xfrm>
            <a:off x="6134100" y="5440680"/>
            <a:ext cx="113538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Transformer</a:t>
            </a:r>
          </a:p>
        </p:txBody>
      </p:sp>
      <p:sp>
        <p:nvSpPr>
          <p:cNvPr id="156" name="Future target"/>
          <p:cNvSpPr/>
          <p:nvPr/>
        </p:nvSpPr>
        <p:spPr>
          <a:xfrm>
            <a:off x="8107680" y="4663440"/>
            <a:ext cx="1341120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4FA"/>
              </a:gs>
              <a:gs pos="100000">
                <a:srgbClr val="FADDED"/>
              </a:gs>
            </a:gsLst>
            <a:lin ang="16200000" scaled="0"/>
          </a:gradFill>
          <a:ln w="11430">
            <a:solidFill>
              <a:srgbClr val="DD4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Label: Future target"/>
          <p:cNvSpPr txBox="1"/>
          <p:nvPr/>
        </p:nvSpPr>
        <p:spPr>
          <a:xfrm>
            <a:off x="8168640" y="4754880"/>
            <a:ext cx="1066800" cy="2286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Future target</a:t>
            </a:r>
          </a:p>
        </p:txBody>
      </p:sp>
      <p:sp>
        <p:nvSpPr>
          <p:cNvPr id="158" name="Equation: S*t⁺"/>
          <p:cNvSpPr txBox="1"/>
          <p:nvPr/>
        </p:nvSpPr>
        <p:spPr>
          <a:xfrm>
            <a:off x="9121140" y="4724400"/>
            <a:ext cx="396240" cy="2895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i="1">
                <a:solidFill>
                  <a:srgbClr val="171717"/>
                </a:solidFill>
                <a:latin typeface="Times New Roman"/>
              </a:rPr>
              <a:t>S</a:t>
            </a:r>
            <a:r>
              <a:rPr sz="1560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560" i="1" baseline="-25000">
                <a:solidFill>
                  <a:srgbClr val="171717"/>
                </a:solidFill>
                <a:latin typeface="Times New Roman"/>
              </a:rPr>
              <a:t>t⁺</a:t>
            </a:r>
          </a:p>
        </p:txBody>
      </p:sp>
      <p:sp>
        <p:nvSpPr>
          <p:cNvPr id="159" name="Future target output token 1/8"/>
          <p:cNvSpPr/>
          <p:nvPr/>
        </p:nvSpPr>
        <p:spPr>
          <a:xfrm>
            <a:off x="8199120" y="5120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Future target output token 2/8"/>
          <p:cNvSpPr/>
          <p:nvPr/>
        </p:nvSpPr>
        <p:spPr>
          <a:xfrm>
            <a:off x="8351520" y="5120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Future target output token 3/8"/>
          <p:cNvSpPr/>
          <p:nvPr/>
        </p:nvSpPr>
        <p:spPr>
          <a:xfrm>
            <a:off x="8503920" y="5120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Future target output token 4/8"/>
          <p:cNvSpPr/>
          <p:nvPr/>
        </p:nvSpPr>
        <p:spPr>
          <a:xfrm>
            <a:off x="8656320" y="5120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Future target output token 5/8"/>
          <p:cNvSpPr/>
          <p:nvPr/>
        </p:nvSpPr>
        <p:spPr>
          <a:xfrm>
            <a:off x="8808720" y="5120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Future target output token 6/8"/>
          <p:cNvSpPr/>
          <p:nvPr/>
        </p:nvSpPr>
        <p:spPr>
          <a:xfrm>
            <a:off x="8961120" y="5120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Future target output token 7/8"/>
          <p:cNvSpPr/>
          <p:nvPr/>
        </p:nvSpPr>
        <p:spPr>
          <a:xfrm>
            <a:off x="9113520" y="5120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Future target output token 8/8"/>
          <p:cNvSpPr/>
          <p:nvPr/>
        </p:nvSpPr>
        <p:spPr>
          <a:xfrm>
            <a:off x="9265920" y="5120640"/>
            <a:ext cx="13716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Equation: 8 × d"/>
          <p:cNvSpPr txBox="1"/>
          <p:nvPr/>
        </p:nvSpPr>
        <p:spPr>
          <a:xfrm>
            <a:off x="8610600" y="5379720"/>
            <a:ext cx="69342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168" name="Image to encoder"/>
          <p:cNvCxnSpPr/>
          <p:nvPr/>
        </p:nvCxnSpPr>
        <p:spPr>
          <a:xfrm>
            <a:off x="1203960" y="4617720"/>
            <a:ext cx="21336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Encoder to spatial features"/>
          <p:cNvCxnSpPr/>
          <p:nvPr/>
        </p:nvCxnSpPr>
        <p:spPr>
          <a:xfrm>
            <a:off x="2293620" y="4640580"/>
            <a:ext cx="2057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patial features to visual adapter"/>
          <p:cNvCxnSpPr/>
          <p:nvPr/>
        </p:nvCxnSpPr>
        <p:spPr>
          <a:xfrm>
            <a:off x="2948940" y="4640580"/>
            <a:ext cx="2209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Visual adapter to VLM"/>
          <p:cNvCxnSpPr/>
          <p:nvPr/>
        </p:nvCxnSpPr>
        <p:spPr>
          <a:xfrm>
            <a:off x="3977639" y="4640580"/>
            <a:ext cx="259081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Report to tokenizer"/>
          <p:cNvCxnSpPr/>
          <p:nvPr/>
        </p:nvCxnSpPr>
        <p:spPr>
          <a:xfrm>
            <a:off x="1600200" y="5638800"/>
            <a:ext cx="281939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Tokenizer to report tokens"/>
          <p:cNvCxnSpPr/>
          <p:nvPr/>
        </p:nvCxnSpPr>
        <p:spPr>
          <a:xfrm>
            <a:off x="2918460" y="5638800"/>
            <a:ext cx="2438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Report tokens to VLM"/>
          <p:cNvCxnSpPr/>
          <p:nvPr/>
        </p:nvCxnSpPr>
        <p:spPr>
          <a:xfrm>
            <a:off x="3779520" y="5638800"/>
            <a:ext cx="236220" cy="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Report tokens to VLM"/>
          <p:cNvCxnSpPr/>
          <p:nvPr/>
        </p:nvCxnSpPr>
        <p:spPr>
          <a:xfrm flipV="1">
            <a:off x="4015740" y="5341620"/>
            <a:ext cx="0" cy="29718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Report tokens to VLM"/>
          <p:cNvCxnSpPr/>
          <p:nvPr/>
        </p:nvCxnSpPr>
        <p:spPr>
          <a:xfrm>
            <a:off x="4015740" y="5341620"/>
            <a:ext cx="2209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lot hidden states to state readout"/>
          <p:cNvCxnSpPr/>
          <p:nvPr/>
        </p:nvCxnSpPr>
        <p:spPr>
          <a:xfrm>
            <a:off x="7574280" y="5166360"/>
            <a:ext cx="53340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Label: Slot hidden / states"/>
          <p:cNvSpPr txBox="1"/>
          <p:nvPr/>
        </p:nvSpPr>
        <p:spPr>
          <a:xfrm>
            <a:off x="7597140" y="4800600"/>
            <a:ext cx="510540" cy="3124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1717"/>
                </a:solidFill>
                <a:latin typeface="Arial"/>
              </a:rPr>
              <a:t>Slot hidden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71717"/>
                </a:solidFill>
                <a:latin typeface="Arial"/>
              </a:rPr>
              <a:t>states</a:t>
            </a:r>
          </a:p>
        </p:txBody>
      </p:sp>
      <p:cxnSp>
        <p:nvCxnSpPr>
          <p:cNvPr id="179" name="Current spatial features to spatial task decoder"/>
          <p:cNvCxnSpPr/>
          <p:nvPr/>
        </p:nvCxnSpPr>
        <p:spPr>
          <a:xfrm>
            <a:off x="2948940" y="1531620"/>
            <a:ext cx="53340" cy="0"/>
          </a:xfrm>
          <a:prstGeom prst="line">
            <a:avLst/>
          </a:prstGeom>
          <a:ln w="17780">
            <a:solidFill>
              <a:srgbClr val="0086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urrent spatial features to spatial task decoder"/>
          <p:cNvCxnSpPr/>
          <p:nvPr/>
        </p:nvCxnSpPr>
        <p:spPr>
          <a:xfrm flipV="1">
            <a:off x="3002280" y="853440"/>
            <a:ext cx="0" cy="678180"/>
          </a:xfrm>
          <a:prstGeom prst="line">
            <a:avLst/>
          </a:prstGeom>
          <a:ln w="17780">
            <a:solidFill>
              <a:srgbClr val="0086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urrent spatial features to spatial task decoder"/>
          <p:cNvCxnSpPr/>
          <p:nvPr/>
        </p:nvCxnSpPr>
        <p:spPr>
          <a:xfrm>
            <a:off x="3002280" y="853440"/>
            <a:ext cx="6858000" cy="0"/>
          </a:xfrm>
          <a:prstGeom prst="line">
            <a:avLst/>
          </a:prstGeom>
          <a:ln w="17780">
            <a:solidFill>
              <a:srgbClr val="0086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urrent spatial features to spatial task decoder"/>
          <p:cNvCxnSpPr/>
          <p:nvPr/>
        </p:nvCxnSpPr>
        <p:spPr>
          <a:xfrm>
            <a:off x="9860280" y="853440"/>
            <a:ext cx="0" cy="1059180"/>
          </a:xfrm>
          <a:prstGeom prst="line">
            <a:avLst/>
          </a:prstGeom>
          <a:ln w="17780">
            <a:solidFill>
              <a:srgbClr val="0086D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Equation: Dt"/>
          <p:cNvSpPr txBox="1"/>
          <p:nvPr/>
        </p:nvSpPr>
        <p:spPr>
          <a:xfrm>
            <a:off x="4701540" y="579120"/>
            <a:ext cx="33528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i="1">
                <a:solidFill>
                  <a:srgbClr val="0086DC"/>
                </a:solidFill>
                <a:latin typeface="Times New Roman"/>
              </a:rPr>
              <a:t>D</a:t>
            </a:r>
            <a:r>
              <a:rPr sz="1440" i="1" baseline="-25000">
                <a:solidFill>
                  <a:srgbClr val="0086DC"/>
                </a:solidFill>
                <a:latin typeface="Times New Roman"/>
              </a:rPr>
              <a:t>t</a:t>
            </a:r>
          </a:p>
        </p:txBody>
      </p:sp>
      <p:sp>
        <p:nvSpPr>
          <p:cNvPr id="184" name="Label: : spatial tasks (for segmentation / super-resolution)"/>
          <p:cNvSpPr txBox="1"/>
          <p:nvPr/>
        </p:nvSpPr>
        <p:spPr>
          <a:xfrm>
            <a:off x="4922520" y="594360"/>
            <a:ext cx="3314700" cy="2362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86DC"/>
                </a:solidFill>
                <a:latin typeface="Comic Sans MS"/>
              </a:rPr>
              <a:t>: spatial tasks (for segmentation / super-resolution)</a:t>
            </a:r>
          </a:p>
        </p:txBody>
      </p:sp>
      <p:sp>
        <p:nvSpPr>
          <p:cNvPr id="185" name="Task decoder"/>
          <p:cNvSpPr/>
          <p:nvPr/>
        </p:nvSpPr>
        <p:spPr>
          <a:xfrm>
            <a:off x="9662160" y="1912620"/>
            <a:ext cx="1638300" cy="1165860"/>
          </a:xfrm>
          <a:prstGeom prst="roundRect">
            <a:avLst>
              <a:gd name="adj" fmla="val 12000"/>
            </a:avLst>
          </a:prstGeom>
          <a:solidFill>
            <a:srgbClr val="CFE7B5"/>
          </a:solidFill>
          <a:ln w="13970">
            <a:solidFill>
              <a:srgbClr val="3E65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Label: Task decoder"/>
          <p:cNvSpPr txBox="1"/>
          <p:nvPr/>
        </p:nvSpPr>
        <p:spPr>
          <a:xfrm>
            <a:off x="9799320" y="2011680"/>
            <a:ext cx="1371600" cy="2667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71717"/>
                </a:solidFill>
                <a:latin typeface="Comic Sans MS"/>
              </a:rPr>
              <a:t>Task decoder</a:t>
            </a:r>
          </a:p>
        </p:txBody>
      </p:sp>
      <p:sp>
        <p:nvSpPr>
          <p:cNvPr id="187" name="Task transformer block"/>
          <p:cNvSpPr/>
          <p:nvPr/>
        </p:nvSpPr>
        <p:spPr>
          <a:xfrm>
            <a:off x="10058400" y="2316480"/>
            <a:ext cx="175260" cy="45720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ask transformer block"/>
          <p:cNvSpPr/>
          <p:nvPr/>
        </p:nvSpPr>
        <p:spPr>
          <a:xfrm>
            <a:off x="10713720" y="2316480"/>
            <a:ext cx="175260" cy="45720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Label: ..."/>
          <p:cNvSpPr txBox="1"/>
          <p:nvPr/>
        </p:nvSpPr>
        <p:spPr>
          <a:xfrm>
            <a:off x="10347960" y="2377440"/>
            <a:ext cx="236220" cy="2819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190" name="Label: Transformer"/>
          <p:cNvSpPr txBox="1"/>
          <p:nvPr/>
        </p:nvSpPr>
        <p:spPr>
          <a:xfrm>
            <a:off x="9959340" y="2804160"/>
            <a:ext cx="1150620" cy="2362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Transformer</a:t>
            </a:r>
          </a:p>
        </p:txBody>
      </p:sp>
      <p:sp>
        <p:nvSpPr>
          <p:cNvPr id="191" name="Label: Task query"/>
          <p:cNvSpPr txBox="1"/>
          <p:nvPr/>
        </p:nvSpPr>
        <p:spPr>
          <a:xfrm>
            <a:off x="10073640" y="1143000"/>
            <a:ext cx="838200" cy="2362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Task query</a:t>
            </a:r>
          </a:p>
        </p:txBody>
      </p:sp>
      <p:sp>
        <p:nvSpPr>
          <p:cNvPr id="192" name="Equation: q"/>
          <p:cNvSpPr txBox="1"/>
          <p:nvPr/>
        </p:nvSpPr>
        <p:spPr>
          <a:xfrm>
            <a:off x="10949940" y="1143000"/>
            <a:ext cx="22860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i="1">
                <a:solidFill>
                  <a:srgbClr val="171717"/>
                </a:solidFill>
                <a:latin typeface="Times New Roman"/>
              </a:rPr>
              <a:t>q</a:t>
            </a:r>
          </a:p>
        </p:txBody>
      </p:sp>
      <p:sp>
        <p:nvSpPr>
          <p:cNvPr id="193" name="Task query token"/>
          <p:cNvSpPr/>
          <p:nvPr/>
        </p:nvSpPr>
        <p:spPr>
          <a:xfrm>
            <a:off x="10447020" y="1394460"/>
            <a:ext cx="213360" cy="22098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BDDDF8"/>
              </a:gs>
              <a:gs pos="100000">
                <a:srgbClr val="9BCAE9"/>
              </a:gs>
            </a:gsLst>
            <a:lin ang="16200000" scaled="0"/>
          </a:gradFill>
          <a:ln w="10160">
            <a:solidFill>
              <a:srgbClr val="168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4" name="Task query to task decoder"/>
          <p:cNvCxnSpPr/>
          <p:nvPr/>
        </p:nvCxnSpPr>
        <p:spPr>
          <a:xfrm>
            <a:off x="10553700" y="1615440"/>
            <a:ext cx="0" cy="29718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urrent state to task decoder"/>
          <p:cNvCxnSpPr/>
          <p:nvPr/>
        </p:nvCxnSpPr>
        <p:spPr>
          <a:xfrm>
            <a:off x="9479280" y="2125980"/>
            <a:ext cx="18288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urrent state to latent world model"/>
          <p:cNvCxnSpPr/>
          <p:nvPr/>
        </p:nvCxnSpPr>
        <p:spPr>
          <a:xfrm>
            <a:off x="9547860" y="2125980"/>
            <a:ext cx="0" cy="128778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urrent state to latent world model"/>
          <p:cNvCxnSpPr/>
          <p:nvPr/>
        </p:nvCxnSpPr>
        <p:spPr>
          <a:xfrm>
            <a:off x="9547860" y="3413760"/>
            <a:ext cx="601980" cy="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urrent state to latent world model"/>
          <p:cNvCxnSpPr/>
          <p:nvPr/>
        </p:nvCxnSpPr>
        <p:spPr>
          <a:xfrm>
            <a:off x="10149840" y="3413760"/>
            <a:ext cx="0" cy="45720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urrent state to latent world model"/>
          <p:cNvCxnSpPr/>
          <p:nvPr/>
        </p:nvCxnSpPr>
        <p:spPr>
          <a:xfrm>
            <a:off x="10149840" y="3870960"/>
            <a:ext cx="2819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ask loss panel"/>
          <p:cNvSpPr/>
          <p:nvPr/>
        </p:nvSpPr>
        <p:spPr>
          <a:xfrm>
            <a:off x="11518900" y="960120"/>
            <a:ext cx="2598420" cy="2183130"/>
          </a:xfrm>
          <a:prstGeom prst="roundRect">
            <a:avLst>
              <a:gd name="adj" fmla="val 5500"/>
            </a:avLst>
          </a:prstGeom>
          <a:solidFill>
            <a:srgbClr val="E8F5FF"/>
          </a:solidFill>
          <a:ln w="11430">
            <a:solidFill>
              <a:srgbClr val="59A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Label: Task loss (Stage 1)"/>
          <p:cNvSpPr txBox="1"/>
          <p:nvPr/>
        </p:nvSpPr>
        <p:spPr>
          <a:xfrm>
            <a:off x="11838940" y="965200"/>
            <a:ext cx="1958340" cy="2819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 dirty="0">
                <a:solidFill>
                  <a:srgbClr val="171717"/>
                </a:solidFill>
                <a:latin typeface="Comic Sans MS"/>
              </a:rPr>
              <a:t>Task loss (Stage 1)</a:t>
            </a:r>
          </a:p>
        </p:txBody>
      </p:sp>
      <p:sp>
        <p:nvSpPr>
          <p:cNvPr id="202" name="Classification card"/>
          <p:cNvSpPr/>
          <p:nvPr/>
        </p:nvSpPr>
        <p:spPr>
          <a:xfrm>
            <a:off x="11587480" y="1272540"/>
            <a:ext cx="1234440" cy="906780"/>
          </a:xfrm>
          <a:prstGeom prst="roundRect">
            <a:avLst>
              <a:gd name="adj" fmla="val 9500"/>
            </a:avLst>
          </a:prstGeom>
          <a:solidFill>
            <a:srgbClr val="F3FAFE"/>
          </a:solidFill>
          <a:ln w="9525">
            <a:solidFill>
              <a:srgbClr val="67B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Label: Classification"/>
          <p:cNvSpPr txBox="1"/>
          <p:nvPr/>
        </p:nvSpPr>
        <p:spPr>
          <a:xfrm>
            <a:off x="11610340" y="1310640"/>
            <a:ext cx="118872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Classification</a:t>
            </a:r>
          </a:p>
        </p:txBody>
      </p:sp>
      <p:sp>
        <p:nvSpPr>
          <p:cNvPr id="204" name="Segmentation card"/>
          <p:cNvSpPr/>
          <p:nvPr/>
        </p:nvSpPr>
        <p:spPr>
          <a:xfrm>
            <a:off x="12867640" y="1272540"/>
            <a:ext cx="1165860" cy="906780"/>
          </a:xfrm>
          <a:prstGeom prst="roundRect">
            <a:avLst>
              <a:gd name="adj" fmla="val 9500"/>
            </a:avLst>
          </a:prstGeom>
          <a:solidFill>
            <a:srgbClr val="F3FAFE"/>
          </a:solidFill>
          <a:ln w="9525">
            <a:solidFill>
              <a:srgbClr val="67B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Label: Segmentation"/>
          <p:cNvSpPr txBox="1"/>
          <p:nvPr/>
        </p:nvSpPr>
        <p:spPr>
          <a:xfrm>
            <a:off x="12890500" y="1310640"/>
            <a:ext cx="112014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Segmentation</a:t>
            </a:r>
          </a:p>
        </p:txBody>
      </p:sp>
      <p:sp>
        <p:nvSpPr>
          <p:cNvPr id="206" name="Disease recognition card"/>
          <p:cNvSpPr/>
          <p:nvPr/>
        </p:nvSpPr>
        <p:spPr>
          <a:xfrm>
            <a:off x="11587480" y="2270760"/>
            <a:ext cx="1234440" cy="807720"/>
          </a:xfrm>
          <a:prstGeom prst="roundRect">
            <a:avLst>
              <a:gd name="adj" fmla="val 9500"/>
            </a:avLst>
          </a:prstGeom>
          <a:solidFill>
            <a:srgbClr val="F3FAFE"/>
          </a:solidFill>
          <a:ln w="9525">
            <a:solidFill>
              <a:srgbClr val="67B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Label: Disease recognition"/>
          <p:cNvSpPr txBox="1"/>
          <p:nvPr/>
        </p:nvSpPr>
        <p:spPr>
          <a:xfrm>
            <a:off x="11610340" y="2308859"/>
            <a:ext cx="118872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71717"/>
                </a:solidFill>
                <a:latin typeface="Comic Sans MS"/>
              </a:rPr>
              <a:t>Disease recognition</a:t>
            </a:r>
          </a:p>
        </p:txBody>
      </p:sp>
      <p:sp>
        <p:nvSpPr>
          <p:cNvPr id="208" name="Super-resolution card"/>
          <p:cNvSpPr/>
          <p:nvPr/>
        </p:nvSpPr>
        <p:spPr>
          <a:xfrm>
            <a:off x="12867640" y="2270760"/>
            <a:ext cx="1165860" cy="807720"/>
          </a:xfrm>
          <a:prstGeom prst="roundRect">
            <a:avLst>
              <a:gd name="adj" fmla="val 9500"/>
            </a:avLst>
          </a:prstGeom>
          <a:solidFill>
            <a:srgbClr val="F3FAFE"/>
          </a:solidFill>
          <a:ln w="9525">
            <a:solidFill>
              <a:srgbClr val="67B1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Label: Super-resolution"/>
          <p:cNvSpPr txBox="1"/>
          <p:nvPr/>
        </p:nvSpPr>
        <p:spPr>
          <a:xfrm>
            <a:off x="12890500" y="2308859"/>
            <a:ext cx="112014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1717"/>
                </a:solidFill>
                <a:latin typeface="Comic Sans MS"/>
              </a:rPr>
              <a:t>Super-resolution</a:t>
            </a:r>
          </a:p>
        </p:txBody>
      </p:sp>
      <p:cxnSp>
        <p:nvCxnSpPr>
          <p:cNvPr id="210" name="Task decoder to top task outputs"/>
          <p:cNvCxnSpPr/>
          <p:nvPr/>
        </p:nvCxnSpPr>
        <p:spPr>
          <a:xfrm>
            <a:off x="11300460" y="2392680"/>
            <a:ext cx="106680" cy="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Task decoder to top task outputs"/>
          <p:cNvCxnSpPr/>
          <p:nvPr/>
        </p:nvCxnSpPr>
        <p:spPr>
          <a:xfrm flipV="1">
            <a:off x="11407140" y="1737360"/>
            <a:ext cx="0" cy="655320"/>
          </a:xfrm>
          <a:prstGeom prst="line">
            <a:avLst/>
          </a:prstGeom>
          <a:ln w="1524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Task decoder to top task outputs"/>
          <p:cNvCxnSpPr/>
          <p:nvPr/>
        </p:nvCxnSpPr>
        <p:spPr>
          <a:xfrm>
            <a:off x="11407140" y="1737360"/>
            <a:ext cx="11176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Task decoder to lower task outputs"/>
          <p:cNvCxnSpPr/>
          <p:nvPr/>
        </p:nvCxnSpPr>
        <p:spPr>
          <a:xfrm>
            <a:off x="11300460" y="2560320"/>
            <a:ext cx="2184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lassification axes"/>
          <p:cNvCxnSpPr/>
          <p:nvPr/>
        </p:nvCxnSpPr>
        <p:spPr>
          <a:xfrm>
            <a:off x="11922760" y="1607820"/>
            <a:ext cx="0" cy="449580"/>
          </a:xfrm>
          <a:prstGeom prst="line">
            <a:avLst/>
          </a:prstGeom>
          <a:ln w="11430">
            <a:solidFill>
              <a:srgbClr val="278F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lassification axes"/>
          <p:cNvCxnSpPr/>
          <p:nvPr/>
        </p:nvCxnSpPr>
        <p:spPr>
          <a:xfrm>
            <a:off x="11922760" y="2057400"/>
            <a:ext cx="571500" cy="0"/>
          </a:xfrm>
          <a:prstGeom prst="line">
            <a:avLst/>
          </a:prstGeom>
          <a:ln w="11430">
            <a:solidFill>
              <a:srgbClr val="278F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Classification bar"/>
          <p:cNvSpPr/>
          <p:nvPr/>
        </p:nvSpPr>
        <p:spPr>
          <a:xfrm>
            <a:off x="11968480" y="1882140"/>
            <a:ext cx="99060" cy="175260"/>
          </a:xfrm>
          <a:prstGeom prst="rect">
            <a:avLst/>
          </a:prstGeom>
          <a:solidFill>
            <a:srgbClr val="9BCAE9"/>
          </a:solidFill>
          <a:ln w="7620">
            <a:solidFill>
              <a:srgbClr val="278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Classification bar"/>
          <p:cNvSpPr/>
          <p:nvPr/>
        </p:nvSpPr>
        <p:spPr>
          <a:xfrm>
            <a:off x="12120880" y="1760220"/>
            <a:ext cx="99060" cy="297180"/>
          </a:xfrm>
          <a:prstGeom prst="rect">
            <a:avLst/>
          </a:prstGeom>
          <a:solidFill>
            <a:srgbClr val="9BCAE9"/>
          </a:solidFill>
          <a:ln w="7620">
            <a:solidFill>
              <a:srgbClr val="278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Classification bar"/>
          <p:cNvSpPr/>
          <p:nvPr/>
        </p:nvSpPr>
        <p:spPr>
          <a:xfrm>
            <a:off x="12273280" y="1607820"/>
            <a:ext cx="99060" cy="449580"/>
          </a:xfrm>
          <a:prstGeom prst="rect">
            <a:avLst/>
          </a:prstGeom>
          <a:solidFill>
            <a:srgbClr val="9BCAE9"/>
          </a:solidFill>
          <a:ln w="7620">
            <a:solidFill>
              <a:srgbClr val="278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9" name="Segmentation chest radiograph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2900" y="1584960"/>
            <a:ext cx="792480" cy="541020"/>
          </a:xfrm>
          <a:prstGeom prst="rect">
            <a:avLst/>
          </a:prstGeom>
          <a:effectLst/>
        </p:spPr>
      </p:pic>
      <p:sp>
        <p:nvSpPr>
          <p:cNvPr id="220" name="Disease text box"/>
          <p:cNvSpPr/>
          <p:nvPr/>
        </p:nvSpPr>
        <p:spPr>
          <a:xfrm>
            <a:off x="11694160" y="2590800"/>
            <a:ext cx="1021080" cy="327660"/>
          </a:xfrm>
          <a:prstGeom prst="roundRect">
            <a:avLst>
              <a:gd name="adj" fmla="val 16000"/>
            </a:avLst>
          </a:prstGeom>
          <a:solidFill>
            <a:srgbClr val="F8FCFF"/>
          </a:solidFill>
          <a:ln w="10160">
            <a:solidFill>
              <a:srgbClr val="456D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Label: Disease: ..."/>
          <p:cNvSpPr txBox="1"/>
          <p:nvPr/>
        </p:nvSpPr>
        <p:spPr>
          <a:xfrm>
            <a:off x="11739880" y="2621280"/>
            <a:ext cx="952500" cy="2514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Disease: ...</a:t>
            </a:r>
          </a:p>
        </p:txBody>
      </p:sp>
      <p:pic>
        <p:nvPicPr>
          <p:cNvPr id="222" name="Low-resolution image detail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4320" y="2583180"/>
            <a:ext cx="335280" cy="312420"/>
          </a:xfrm>
          <a:prstGeom prst="rect">
            <a:avLst/>
          </a:prstGeom>
          <a:effectLst/>
        </p:spPr>
      </p:pic>
      <p:pic>
        <p:nvPicPr>
          <p:cNvPr id="223" name="High-resolution image detai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68680" y="2560320"/>
            <a:ext cx="342900" cy="327660"/>
          </a:xfrm>
          <a:prstGeom prst="rect">
            <a:avLst/>
          </a:prstGeom>
          <a:effectLst/>
        </p:spPr>
      </p:pic>
      <p:sp>
        <p:nvSpPr>
          <p:cNvPr id="224" name="Low-resolution outline"/>
          <p:cNvSpPr/>
          <p:nvPr/>
        </p:nvSpPr>
        <p:spPr>
          <a:xfrm>
            <a:off x="12974320" y="2575560"/>
            <a:ext cx="335280" cy="327660"/>
          </a:xfrm>
          <a:prstGeom prst="rect">
            <a:avLst/>
          </a:prstGeom>
          <a:noFill/>
          <a:ln w="10160">
            <a:solidFill>
              <a:srgbClr val="A5C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High-resolution outline"/>
          <p:cNvSpPr/>
          <p:nvPr/>
        </p:nvSpPr>
        <p:spPr>
          <a:xfrm>
            <a:off x="13561060" y="2552700"/>
            <a:ext cx="358140" cy="342900"/>
          </a:xfrm>
          <a:prstGeom prst="rect">
            <a:avLst/>
          </a:prstGeom>
          <a:noFill/>
          <a:ln w="10160">
            <a:solidFill>
              <a:srgbClr val="587B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6" name="Super-resolution comparison"/>
          <p:cNvCxnSpPr/>
          <p:nvPr/>
        </p:nvCxnSpPr>
        <p:spPr>
          <a:xfrm>
            <a:off x="13332460" y="2743200"/>
            <a:ext cx="220980" cy="0"/>
          </a:xfrm>
          <a:prstGeom prst="line">
            <a:avLst/>
          </a:prstGeom>
          <a:ln w="1143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ion"/>
          <p:cNvCxnSpPr/>
          <p:nvPr/>
        </p:nvCxnSpPr>
        <p:spPr>
          <a:xfrm flipV="1">
            <a:off x="13347700" y="2613660"/>
            <a:ext cx="60960" cy="68580"/>
          </a:xfrm>
          <a:prstGeom prst="line">
            <a:avLst/>
          </a:prstGeom>
          <a:ln w="10160">
            <a:solidFill>
              <a:srgbClr val="17171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ion"/>
          <p:cNvCxnSpPr/>
          <p:nvPr/>
        </p:nvCxnSpPr>
        <p:spPr>
          <a:xfrm flipV="1">
            <a:off x="13408660" y="2552700"/>
            <a:ext cx="129540" cy="60960"/>
          </a:xfrm>
          <a:prstGeom prst="line">
            <a:avLst/>
          </a:prstGeom>
          <a:ln w="1016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Label: MSE"/>
          <p:cNvSpPr txBox="1"/>
          <p:nvPr/>
        </p:nvSpPr>
        <p:spPr>
          <a:xfrm>
            <a:off x="13248640" y="2895600"/>
            <a:ext cx="388620" cy="1752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171717"/>
                </a:solidFill>
                <a:latin typeface="Arial"/>
              </a:rPr>
              <a:t>MSE</a:t>
            </a:r>
          </a:p>
        </p:txBody>
      </p:sp>
      <p:sp>
        <p:nvSpPr>
          <p:cNvPr id="230" name="Latent World Model"/>
          <p:cNvSpPr/>
          <p:nvPr/>
        </p:nvSpPr>
        <p:spPr>
          <a:xfrm>
            <a:off x="10431780" y="3710940"/>
            <a:ext cx="1844040" cy="1112520"/>
          </a:xfrm>
          <a:prstGeom prst="roundRect">
            <a:avLst>
              <a:gd name="adj" fmla="val 13000"/>
            </a:avLst>
          </a:prstGeom>
          <a:solidFill>
            <a:srgbClr val="F3D8BF"/>
          </a:solidFill>
          <a:ln w="15240">
            <a:solidFill>
              <a:srgbClr val="794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Label: Latent World Model"/>
          <p:cNvSpPr txBox="1"/>
          <p:nvPr/>
        </p:nvSpPr>
        <p:spPr>
          <a:xfrm>
            <a:off x="10492740" y="3794760"/>
            <a:ext cx="1722120" cy="2667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171717"/>
                </a:solidFill>
                <a:latin typeface="Comic Sans MS"/>
              </a:rPr>
              <a:t>Latent World Model</a:t>
            </a:r>
          </a:p>
        </p:txBody>
      </p:sp>
      <p:sp>
        <p:nvSpPr>
          <p:cNvPr id="232" name="Predictor block"/>
          <p:cNvSpPr/>
          <p:nvPr/>
        </p:nvSpPr>
        <p:spPr>
          <a:xfrm>
            <a:off x="10858500" y="4122420"/>
            <a:ext cx="175260" cy="43434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Predictor block"/>
          <p:cNvSpPr/>
          <p:nvPr/>
        </p:nvSpPr>
        <p:spPr>
          <a:xfrm>
            <a:off x="11650980" y="4122420"/>
            <a:ext cx="175260" cy="434340"/>
          </a:xfrm>
          <a:prstGeom prst="roundRect">
            <a:avLst>
              <a:gd name="adj" fmla="val 14000"/>
            </a:avLst>
          </a:prstGeom>
          <a:solidFill>
            <a:srgbClr val="FEFAD1"/>
          </a:solidFill>
          <a:ln w="1397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Label: ..."/>
          <p:cNvSpPr txBox="1"/>
          <p:nvPr/>
        </p:nvSpPr>
        <p:spPr>
          <a:xfrm>
            <a:off x="11209020" y="4190999"/>
            <a:ext cx="274320" cy="2438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71717"/>
                </a:solidFill>
                <a:latin typeface="Comic Sans MS"/>
              </a:rPr>
              <a:t>...</a:t>
            </a:r>
          </a:p>
        </p:txBody>
      </p:sp>
      <p:sp>
        <p:nvSpPr>
          <p:cNvPr id="235" name="Label: Predictor block"/>
          <p:cNvSpPr txBox="1"/>
          <p:nvPr/>
        </p:nvSpPr>
        <p:spPr>
          <a:xfrm>
            <a:off x="10728960" y="4572000"/>
            <a:ext cx="131826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717"/>
                </a:solidFill>
                <a:latin typeface="Comic Sans MS"/>
              </a:rPr>
              <a:t>Predictor block</a:t>
            </a:r>
          </a:p>
        </p:txBody>
      </p:sp>
      <p:sp>
        <p:nvSpPr>
          <p:cNvPr id="236" name="Label: Horizon h"/>
          <p:cNvSpPr txBox="1"/>
          <p:nvPr/>
        </p:nvSpPr>
        <p:spPr>
          <a:xfrm>
            <a:off x="9616440" y="4000500"/>
            <a:ext cx="853440" cy="2362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1717"/>
                </a:solidFill>
                <a:latin typeface="Comic Sans MS"/>
              </a:rPr>
              <a:t>Horizon h</a:t>
            </a:r>
          </a:p>
        </p:txBody>
      </p:sp>
      <p:sp>
        <p:nvSpPr>
          <p:cNvPr id="237" name="Horizon token"/>
          <p:cNvSpPr/>
          <p:nvPr/>
        </p:nvSpPr>
        <p:spPr>
          <a:xfrm>
            <a:off x="9829800" y="4251960"/>
            <a:ext cx="236220" cy="228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0D0D0"/>
              </a:gs>
              <a:gs pos="100000">
                <a:srgbClr val="BEBEBE"/>
              </a:gs>
            </a:gsLst>
            <a:lin ang="16200000" scaled="0"/>
          </a:gradFill>
          <a:ln w="1016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8" name="Horizon to latent world model"/>
          <p:cNvCxnSpPr/>
          <p:nvPr/>
        </p:nvCxnSpPr>
        <p:spPr>
          <a:xfrm>
            <a:off x="10066020" y="4366260"/>
            <a:ext cx="36576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Predicted future"/>
          <p:cNvSpPr/>
          <p:nvPr/>
        </p:nvSpPr>
        <p:spPr>
          <a:xfrm>
            <a:off x="12633960" y="3810000"/>
            <a:ext cx="1409700" cy="100584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F4FA"/>
              </a:gs>
              <a:gs pos="100000">
                <a:srgbClr val="FADDED"/>
              </a:gs>
            </a:gsLst>
            <a:lin ang="16200000" scaled="0"/>
          </a:gradFill>
          <a:ln w="11430">
            <a:solidFill>
              <a:srgbClr val="DD42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Label: Predicted future"/>
          <p:cNvSpPr txBox="1"/>
          <p:nvPr/>
        </p:nvSpPr>
        <p:spPr>
          <a:xfrm>
            <a:off x="12694920" y="3848099"/>
            <a:ext cx="1287780" cy="2133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1717"/>
                </a:solidFill>
                <a:latin typeface="Comic Sans MS"/>
              </a:rPr>
              <a:t>Predicted future</a:t>
            </a:r>
          </a:p>
        </p:txBody>
      </p:sp>
      <p:sp>
        <p:nvSpPr>
          <p:cNvPr id="241" name="Equation: Ŝt,h"/>
          <p:cNvSpPr txBox="1"/>
          <p:nvPr/>
        </p:nvSpPr>
        <p:spPr>
          <a:xfrm>
            <a:off x="13228320" y="4030980"/>
            <a:ext cx="640080" cy="28194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39" i="1">
                <a:solidFill>
                  <a:srgbClr val="171717"/>
                </a:solidFill>
                <a:latin typeface="Times New Roman"/>
              </a:rPr>
              <a:t>Ŝ</a:t>
            </a:r>
            <a:r>
              <a:rPr sz="1739" i="1" baseline="-25000">
                <a:solidFill>
                  <a:srgbClr val="171717"/>
                </a:solidFill>
                <a:latin typeface="Times New Roman"/>
              </a:rPr>
              <a:t>t,h</a:t>
            </a:r>
          </a:p>
        </p:txBody>
      </p:sp>
      <p:sp>
        <p:nvSpPr>
          <p:cNvPr id="242" name="Predicted future output token 1/8"/>
          <p:cNvSpPr/>
          <p:nvPr/>
        </p:nvSpPr>
        <p:spPr>
          <a:xfrm>
            <a:off x="12725400" y="436626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Predicted future output token 2/8"/>
          <p:cNvSpPr/>
          <p:nvPr/>
        </p:nvSpPr>
        <p:spPr>
          <a:xfrm>
            <a:off x="12877800" y="436626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Predicted future output token 3/8"/>
          <p:cNvSpPr/>
          <p:nvPr/>
        </p:nvSpPr>
        <p:spPr>
          <a:xfrm>
            <a:off x="13030200" y="436626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Predicted future output token 4/8"/>
          <p:cNvSpPr/>
          <p:nvPr/>
        </p:nvSpPr>
        <p:spPr>
          <a:xfrm>
            <a:off x="13182600" y="436626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Predicted future output token 5/8"/>
          <p:cNvSpPr/>
          <p:nvPr/>
        </p:nvSpPr>
        <p:spPr>
          <a:xfrm>
            <a:off x="13335000" y="436626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Predicted future output token 6/8"/>
          <p:cNvSpPr/>
          <p:nvPr/>
        </p:nvSpPr>
        <p:spPr>
          <a:xfrm>
            <a:off x="13487400" y="436626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Predicted future output token 7/8"/>
          <p:cNvSpPr/>
          <p:nvPr/>
        </p:nvSpPr>
        <p:spPr>
          <a:xfrm>
            <a:off x="13639800" y="436626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Predicted future output token 8/8"/>
          <p:cNvSpPr/>
          <p:nvPr/>
        </p:nvSpPr>
        <p:spPr>
          <a:xfrm>
            <a:off x="13792200" y="4366260"/>
            <a:ext cx="137160" cy="19812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F2C5E4"/>
              </a:gs>
              <a:gs pos="100000">
                <a:srgbClr val="E89EBA"/>
              </a:gs>
            </a:gsLst>
            <a:lin ang="16200000" scaled="0"/>
          </a:gradFill>
          <a:ln w="10160">
            <a:solidFill>
              <a:srgbClr val="CC3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Equation: 8 × d"/>
          <p:cNvSpPr txBox="1"/>
          <p:nvPr/>
        </p:nvSpPr>
        <p:spPr>
          <a:xfrm>
            <a:off x="13136880" y="4572000"/>
            <a:ext cx="693420" cy="1905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i="1">
                <a:solidFill>
                  <a:srgbClr val="171717"/>
                </a:solidFill>
                <a:latin typeface="Times New Roman"/>
              </a:rPr>
              <a:t>8 × d</a:t>
            </a:r>
          </a:p>
        </p:txBody>
      </p:sp>
      <p:cxnSp>
        <p:nvCxnSpPr>
          <p:cNvPr id="251" name="Latent world model to predicted future state"/>
          <p:cNvCxnSpPr/>
          <p:nvPr/>
        </p:nvCxnSpPr>
        <p:spPr>
          <a:xfrm>
            <a:off x="12275820" y="4297680"/>
            <a:ext cx="358140" cy="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Latent prediction loss"/>
          <p:cNvSpPr/>
          <p:nvPr/>
        </p:nvSpPr>
        <p:spPr>
          <a:xfrm>
            <a:off x="12138660" y="5113020"/>
            <a:ext cx="1927860" cy="739140"/>
          </a:xfrm>
          <a:prstGeom prst="roundRect">
            <a:avLst>
              <a:gd name="adj" fmla="val 13000"/>
            </a:avLst>
          </a:prstGeom>
          <a:solidFill>
            <a:srgbClr val="FAD9C8"/>
          </a:solidFill>
          <a:ln w="12700">
            <a:solidFill>
              <a:srgbClr val="8747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Label: Latent prediction loss"/>
          <p:cNvSpPr txBox="1"/>
          <p:nvPr/>
        </p:nvSpPr>
        <p:spPr>
          <a:xfrm>
            <a:off x="12207240" y="5189220"/>
            <a:ext cx="1790700" cy="25146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1717"/>
                </a:solidFill>
                <a:latin typeface="Comic Sans MS"/>
              </a:rPr>
              <a:t>Latent prediction loss</a:t>
            </a:r>
          </a:p>
        </p:txBody>
      </p:sp>
      <p:sp>
        <p:nvSpPr>
          <p:cNvPr id="254" name="Equation: (Ŝt,h ↔ S*t⁺)"/>
          <p:cNvSpPr txBox="1"/>
          <p:nvPr/>
        </p:nvSpPr>
        <p:spPr>
          <a:xfrm>
            <a:off x="12435840" y="5471160"/>
            <a:ext cx="1623060" cy="31242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60" i="1">
                <a:solidFill>
                  <a:srgbClr val="171717"/>
                </a:solidFill>
                <a:latin typeface="Times New Roman"/>
              </a:rPr>
              <a:t>(Ŝ</a:t>
            </a:r>
            <a:r>
              <a:rPr sz="1860" i="1" baseline="-25000">
                <a:solidFill>
                  <a:srgbClr val="171717"/>
                </a:solidFill>
                <a:latin typeface="Times New Roman"/>
              </a:rPr>
              <a:t>t,h</a:t>
            </a:r>
            <a:r>
              <a:rPr sz="1860" i="1">
                <a:solidFill>
                  <a:srgbClr val="171717"/>
                </a:solidFill>
                <a:latin typeface="Times New Roman"/>
              </a:rPr>
              <a:t> ↔ S</a:t>
            </a:r>
            <a:r>
              <a:rPr sz="1860" i="1" baseline="40000">
                <a:solidFill>
                  <a:srgbClr val="171717"/>
                </a:solidFill>
                <a:latin typeface="Times New Roman"/>
              </a:rPr>
              <a:t>*</a:t>
            </a:r>
            <a:r>
              <a:rPr sz="1860" i="1" baseline="-25000">
                <a:solidFill>
                  <a:srgbClr val="171717"/>
                </a:solidFill>
                <a:latin typeface="Times New Roman"/>
              </a:rPr>
              <a:t>t⁺</a:t>
            </a:r>
            <a:r>
              <a:rPr sz="1860" i="1">
                <a:solidFill>
                  <a:srgbClr val="171717"/>
                </a:solidFill>
                <a:latin typeface="Times New Roman"/>
              </a:rPr>
              <a:t>)</a:t>
            </a:r>
          </a:p>
        </p:txBody>
      </p:sp>
      <p:cxnSp>
        <p:nvCxnSpPr>
          <p:cNvPr id="255" name="Predicted future state to latent loss"/>
          <p:cNvCxnSpPr/>
          <p:nvPr/>
        </p:nvCxnSpPr>
        <p:spPr>
          <a:xfrm>
            <a:off x="13304520" y="4815840"/>
            <a:ext cx="0" cy="297180"/>
          </a:xfrm>
          <a:prstGeom prst="line">
            <a:avLst/>
          </a:prstGeom>
          <a:ln w="15240">
            <a:solidFill>
              <a:srgbClr val="17171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Observed future target to latent loss (stop-grad)"/>
          <p:cNvCxnSpPr/>
          <p:nvPr/>
        </p:nvCxnSpPr>
        <p:spPr>
          <a:xfrm>
            <a:off x="9448800" y="5448300"/>
            <a:ext cx="2689860" cy="0"/>
          </a:xfrm>
          <a:prstGeom prst="line">
            <a:avLst/>
          </a:prstGeom>
          <a:ln w="12700">
            <a:solidFill>
              <a:srgbClr val="171717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Label: stop-grad"/>
          <p:cNvSpPr txBox="1"/>
          <p:nvPr/>
        </p:nvSpPr>
        <p:spPr>
          <a:xfrm>
            <a:off x="10340340" y="5196840"/>
            <a:ext cx="822960" cy="22098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171717"/>
                </a:solidFill>
                <a:latin typeface="Comic Sans MS"/>
              </a:rPr>
              <a:t>stop-grad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187</Words>
  <Application>Microsoft Office PowerPoint</Application>
  <PresentationFormat>自定义</PresentationFormat>
  <Paragraphs>84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Comic Sans MS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MedWorld-JEPA — fig1_v6</dc:title>
  <dc:subject/>
  <dc:creator/>
  <cp:keywords/>
  <dc:description>generated using python-pptx</dc:description>
  <cp:lastModifiedBy>mu song</cp:lastModifiedBy>
  <cp:revision>2</cp:revision>
  <dcterms:created xsi:type="dcterms:W3CDTF">2013-01-27T09:14:16Z</dcterms:created>
  <dcterms:modified xsi:type="dcterms:W3CDTF">2026-09-07T03:07:40Z</dcterms:modified>
  <cp:category/>
</cp:coreProperties>
</file>