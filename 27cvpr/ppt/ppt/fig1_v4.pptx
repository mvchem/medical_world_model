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3190538" cy="487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224" y="1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port / history / timing card"/>
          <p:cNvSpPr/>
          <p:nvPr/>
        </p:nvSpPr>
        <p:spPr>
          <a:xfrm>
            <a:off x="91440" y="2362200"/>
            <a:ext cx="2072640" cy="1798320"/>
          </a:xfrm>
          <a:prstGeom prst="roundRect">
            <a:avLst>
              <a:gd name="adj" fmla="val 7000"/>
            </a:avLst>
          </a:prstGeom>
          <a:solidFill>
            <a:srgbClr val="FFF6E8"/>
          </a:solidFill>
          <a:ln w="1143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VLM — no transformer blocks"/>
          <p:cNvSpPr/>
          <p:nvPr/>
        </p:nvSpPr>
        <p:spPr>
          <a:xfrm>
            <a:off x="4396740" y="1059180"/>
            <a:ext cx="3025140" cy="1684019"/>
          </a:xfrm>
          <a:prstGeom prst="roundRect">
            <a:avLst>
              <a:gd name="adj" fmla="val 7000"/>
            </a:avLst>
          </a:prstGeom>
          <a:solidFill>
            <a:srgbClr val="E7BCE7"/>
          </a:solidFill>
          <a:ln w="16510">
            <a:solidFill>
              <a:srgbClr val="6825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ntegrated VLM input strip"/>
          <p:cNvSpPr/>
          <p:nvPr/>
        </p:nvSpPr>
        <p:spPr>
          <a:xfrm>
            <a:off x="4533900" y="1699260"/>
            <a:ext cx="2743200" cy="883920"/>
          </a:xfrm>
          <a:prstGeom prst="roundRect">
            <a:avLst>
              <a:gd name="adj" fmla="val 12000"/>
            </a:avLst>
          </a:prstGeom>
          <a:solidFill>
            <a:srgbClr val="FFF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ask decoder"/>
          <p:cNvSpPr/>
          <p:nvPr/>
        </p:nvSpPr>
        <p:spPr>
          <a:xfrm>
            <a:off x="8747760" y="144780"/>
            <a:ext cx="1958340" cy="1569720"/>
          </a:xfrm>
          <a:prstGeom prst="roundRect">
            <a:avLst>
              <a:gd name="adj" fmla="val 10000"/>
            </a:avLst>
          </a:prstGeom>
          <a:solidFill>
            <a:srgbClr val="C7E6A9"/>
          </a:solidFill>
          <a:ln w="12700">
            <a:solidFill>
              <a:srgbClr val="557C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orld model"/>
          <p:cNvSpPr/>
          <p:nvPr/>
        </p:nvSpPr>
        <p:spPr>
          <a:xfrm>
            <a:off x="8747760" y="2369820"/>
            <a:ext cx="1958340" cy="1889760"/>
          </a:xfrm>
          <a:prstGeom prst="roundRect">
            <a:avLst>
              <a:gd name="adj" fmla="val 9000"/>
            </a:avLst>
          </a:prstGeom>
          <a:solidFill>
            <a:srgbClr val="EBD9C6"/>
          </a:solidFill>
          <a:ln w="12700">
            <a:solidFill>
              <a:srgbClr val="8C6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ask outputs"/>
          <p:cNvSpPr/>
          <p:nvPr/>
        </p:nvSpPr>
        <p:spPr>
          <a:xfrm>
            <a:off x="11551920" y="144780"/>
            <a:ext cx="1478280" cy="1851660"/>
          </a:xfrm>
          <a:prstGeom prst="roundRect">
            <a:avLst>
              <a:gd name="adj" fmla="val 6000"/>
            </a:avLst>
          </a:prstGeom>
          <a:solidFill>
            <a:srgbClr val="EDF6FB"/>
          </a:solidFill>
          <a:ln w="7620">
            <a:solidFill>
              <a:srgbClr val="B7BE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Studies to V-JEPA"/>
          <p:cNvCxnSpPr/>
          <p:nvPr/>
        </p:nvCxnSpPr>
        <p:spPr>
          <a:xfrm>
            <a:off x="1912620" y="1348740"/>
            <a:ext cx="25908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ncoder to resampler"/>
          <p:cNvCxnSpPr/>
          <p:nvPr/>
        </p:nvCxnSpPr>
        <p:spPr>
          <a:xfrm>
            <a:off x="2956560" y="1402080"/>
            <a:ext cx="4419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ncoder feature port"/>
          <p:cNvCxnSpPr/>
          <p:nvPr/>
        </p:nvCxnSpPr>
        <p:spPr>
          <a:xfrm>
            <a:off x="3169920" y="1402080"/>
            <a:ext cx="0" cy="16764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port to tokenizer"/>
          <p:cNvCxnSpPr/>
          <p:nvPr/>
        </p:nvCxnSpPr>
        <p:spPr>
          <a:xfrm>
            <a:off x="2164080" y="3200400"/>
            <a:ext cx="4800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VLM to patient state"/>
          <p:cNvCxnSpPr/>
          <p:nvPr/>
        </p:nvCxnSpPr>
        <p:spPr>
          <a:xfrm>
            <a:off x="7421880" y="2133600"/>
            <a:ext cx="1524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hared patient state"/>
          <p:cNvCxnSpPr/>
          <p:nvPr/>
        </p:nvCxnSpPr>
        <p:spPr>
          <a:xfrm>
            <a:off x="7879080" y="2133600"/>
            <a:ext cx="121920" cy="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atient state to task decoder"/>
          <p:cNvCxnSpPr/>
          <p:nvPr/>
        </p:nvCxnSpPr>
        <p:spPr>
          <a:xfrm flipV="1">
            <a:off x="8001000" y="502920"/>
            <a:ext cx="0" cy="163068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atient state to task decoder"/>
          <p:cNvCxnSpPr/>
          <p:nvPr/>
        </p:nvCxnSpPr>
        <p:spPr>
          <a:xfrm>
            <a:off x="8001000" y="502920"/>
            <a:ext cx="7467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Patient state to world model"/>
          <p:cNvCxnSpPr/>
          <p:nvPr/>
        </p:nvCxnSpPr>
        <p:spPr>
          <a:xfrm>
            <a:off x="8001000" y="2133600"/>
            <a:ext cx="0" cy="457200"/>
          </a:xfrm>
          <a:prstGeom prst="line">
            <a:avLst/>
          </a:prstGeom>
          <a:ln w="1905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Patient state to world model"/>
          <p:cNvCxnSpPr/>
          <p:nvPr/>
        </p:nvCxnSpPr>
        <p:spPr>
          <a:xfrm>
            <a:off x="8001000" y="2590800"/>
            <a:ext cx="7467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ask query to decoder"/>
          <p:cNvCxnSpPr/>
          <p:nvPr/>
        </p:nvCxnSpPr>
        <p:spPr>
          <a:xfrm>
            <a:off x="8496300" y="853440"/>
            <a:ext cx="2514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hared features to task decoder"/>
          <p:cNvCxnSpPr/>
          <p:nvPr/>
        </p:nvCxnSpPr>
        <p:spPr>
          <a:xfrm flipV="1">
            <a:off x="9281160" y="1539240"/>
            <a:ext cx="0" cy="22098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ecoder to task head"/>
          <p:cNvCxnSpPr/>
          <p:nvPr/>
        </p:nvCxnSpPr>
        <p:spPr>
          <a:xfrm>
            <a:off x="10706100" y="1059180"/>
            <a:ext cx="1371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ask head to outputs"/>
          <p:cNvCxnSpPr/>
          <p:nvPr/>
        </p:nvCxnSpPr>
        <p:spPr>
          <a:xfrm>
            <a:off x="11361420" y="1059180"/>
            <a:ext cx="19050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Forecast query to world model"/>
          <p:cNvCxnSpPr/>
          <p:nvPr/>
        </p:nvCxnSpPr>
        <p:spPr>
          <a:xfrm>
            <a:off x="8381999" y="2994660"/>
            <a:ext cx="365761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Horizon to world model"/>
          <p:cNvCxnSpPr/>
          <p:nvPr/>
        </p:nvCxnSpPr>
        <p:spPr>
          <a:xfrm>
            <a:off x="8381999" y="3604260"/>
            <a:ext cx="365761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hared features to world model"/>
          <p:cNvCxnSpPr/>
          <p:nvPr/>
        </p:nvCxnSpPr>
        <p:spPr>
          <a:xfrm flipV="1">
            <a:off x="9197340" y="4038600"/>
            <a:ext cx="0" cy="29718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World model to predicted tokens"/>
          <p:cNvCxnSpPr/>
          <p:nvPr/>
        </p:nvCxnSpPr>
        <p:spPr>
          <a:xfrm>
            <a:off x="10706100" y="3528060"/>
            <a:ext cx="175260" cy="0"/>
          </a:xfrm>
          <a:prstGeom prst="line">
            <a:avLst/>
          </a:prstGeom>
          <a:ln w="1905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Predicted tokens to prediction loss"/>
          <p:cNvCxnSpPr/>
          <p:nvPr/>
        </p:nvCxnSpPr>
        <p:spPr>
          <a:xfrm>
            <a:off x="11178540" y="3520440"/>
            <a:ext cx="228600" cy="0"/>
          </a:xfrm>
          <a:prstGeom prst="line">
            <a:avLst/>
          </a:prstGeom>
          <a:ln w="13970">
            <a:solidFill>
              <a:srgbClr val="6666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Future targets to prediction loss"/>
          <p:cNvCxnSpPr/>
          <p:nvPr/>
        </p:nvCxnSpPr>
        <p:spPr>
          <a:xfrm flipH="1">
            <a:off x="12268200" y="3520440"/>
            <a:ext cx="243840" cy="0"/>
          </a:xfrm>
          <a:prstGeom prst="line">
            <a:avLst/>
          </a:prstGeom>
          <a:ln w="13970">
            <a:solidFill>
              <a:srgbClr val="66666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Future loss note"/>
          <p:cNvCxnSpPr/>
          <p:nvPr/>
        </p:nvCxnSpPr>
        <p:spPr>
          <a:xfrm flipV="1">
            <a:off x="11833860" y="3787140"/>
            <a:ext cx="0" cy="15240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abel: Current / prior studies / (at or before t)"/>
          <p:cNvSpPr txBox="1"/>
          <p:nvPr/>
        </p:nvSpPr>
        <p:spPr>
          <a:xfrm>
            <a:off x="137160" y="243840"/>
            <a:ext cx="1889760" cy="472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71717"/>
                </a:solidFill>
                <a:latin typeface="Comic Sans MS"/>
              </a:rPr>
              <a:t>Current / prior studies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71717"/>
                </a:solidFill>
                <a:latin typeface="Comic Sans MS"/>
              </a:rPr>
              <a:t>(at or before t)</a:t>
            </a:r>
          </a:p>
        </p:txBody>
      </p:sp>
      <p:pic>
        <p:nvPicPr>
          <p:cNvPr id="36" name="Current chest radiograp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845820"/>
            <a:ext cx="830580" cy="1005840"/>
          </a:xfrm>
          <a:prstGeom prst="rect">
            <a:avLst/>
          </a:prstGeom>
        </p:spPr>
      </p:pic>
      <p:pic>
        <p:nvPicPr>
          <p:cNvPr id="37" name="Prior chest C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845820"/>
            <a:ext cx="830580" cy="1005840"/>
          </a:xfrm>
          <a:prstGeom prst="rect">
            <a:avLst/>
          </a:prstGeom>
        </p:spPr>
      </p:pic>
      <p:sp>
        <p:nvSpPr>
          <p:cNvPr id="38" name="V-JEPA encoder trapezoid"/>
          <p:cNvSpPr/>
          <p:nvPr/>
        </p:nvSpPr>
        <p:spPr>
          <a:xfrm rot="5400000">
            <a:off x="1920240" y="967740"/>
            <a:ext cx="1287780" cy="784860"/>
          </a:xfrm>
          <a:prstGeom prst="trapezoid">
            <a:avLst>
              <a:gd name="adj" fmla="val 46000"/>
            </a:avLst>
          </a:prstGeom>
          <a:solidFill>
            <a:srgbClr val="BFDFF9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Label: V-JEPA / encoder"/>
          <p:cNvSpPr txBox="1"/>
          <p:nvPr/>
        </p:nvSpPr>
        <p:spPr>
          <a:xfrm>
            <a:off x="2240280" y="1120140"/>
            <a:ext cx="670560" cy="495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40" name="Shared image features D_t"/>
          <p:cNvSpPr/>
          <p:nvPr/>
        </p:nvSpPr>
        <p:spPr>
          <a:xfrm>
            <a:off x="3009900" y="1531620"/>
            <a:ext cx="327660" cy="327660"/>
          </a:xfrm>
          <a:prstGeom prst="ellipse">
            <a:avLst/>
          </a:prstGeom>
          <a:solidFill>
            <a:srgbClr val="9BCAE9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Label: Dₜ"/>
          <p:cNvSpPr txBox="1"/>
          <p:nvPr/>
        </p:nvSpPr>
        <p:spPr>
          <a:xfrm>
            <a:off x="3009900" y="1539240"/>
            <a:ext cx="327660" cy="2971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1">
                <a:solidFill>
                  <a:srgbClr val="171717"/>
                </a:solidFill>
                <a:latin typeface="Comic Sans MS"/>
              </a:rPr>
              <a:t>Dₜ</a:t>
            </a:r>
          </a:p>
        </p:txBody>
      </p:sp>
      <p:sp>
        <p:nvSpPr>
          <p:cNvPr id="42" name="Label: Shared / image features"/>
          <p:cNvSpPr txBox="1"/>
          <p:nvPr/>
        </p:nvSpPr>
        <p:spPr>
          <a:xfrm>
            <a:off x="2910840" y="1859280"/>
            <a:ext cx="1066800" cy="3733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Shared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image features</a:t>
            </a:r>
          </a:p>
        </p:txBody>
      </p:sp>
      <p:sp>
        <p:nvSpPr>
          <p:cNvPr id="43" name="Resampler + projector"/>
          <p:cNvSpPr/>
          <p:nvPr/>
        </p:nvSpPr>
        <p:spPr>
          <a:xfrm>
            <a:off x="3398520" y="1066800"/>
            <a:ext cx="876300" cy="678180"/>
          </a:xfrm>
          <a:prstGeom prst="roundRect">
            <a:avLst>
              <a:gd name="adj" fmla="val 12000"/>
            </a:avLst>
          </a:prstGeom>
          <a:solidFill>
            <a:srgbClr val="FEFAD1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Label: Resampler / + projector"/>
          <p:cNvSpPr txBox="1"/>
          <p:nvPr/>
        </p:nvSpPr>
        <p:spPr>
          <a:xfrm>
            <a:off x="3429000" y="1112520"/>
            <a:ext cx="815340" cy="5867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Resampler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+ projector</a:t>
            </a:r>
          </a:p>
        </p:txBody>
      </p:sp>
      <p:sp>
        <p:nvSpPr>
          <p:cNvPr id="45" name="Label: Report / history / / timing / clinical context / (at or before t)"/>
          <p:cNvSpPr txBox="1"/>
          <p:nvPr/>
        </p:nvSpPr>
        <p:spPr>
          <a:xfrm>
            <a:off x="160020" y="2430780"/>
            <a:ext cx="1927860" cy="6248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Report / history /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timing / clinical context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(at or before t)</a:t>
            </a:r>
          </a:p>
        </p:txBody>
      </p:sp>
      <p:sp>
        <p:nvSpPr>
          <p:cNvPr id="46" name="Native report document"/>
          <p:cNvSpPr/>
          <p:nvPr/>
        </p:nvSpPr>
        <p:spPr>
          <a:xfrm>
            <a:off x="297180" y="3284220"/>
            <a:ext cx="396240" cy="556260"/>
          </a:xfrm>
          <a:custGeom>
            <a:avLst/>
            <a:gdLst/>
            <a:ahLst/>
            <a:cxnLst/>
            <a:rect l="l" t="t" r="r" b="b"/>
            <a:pathLst>
              <a:path w="52" h="73">
                <a:moveTo>
                  <a:pt x="0" y="0"/>
                </a:moveTo>
                <a:lnTo>
                  <a:pt x="38" y="0"/>
                </a:lnTo>
                <a:lnTo>
                  <a:pt x="52" y="14"/>
                </a:lnTo>
                <a:lnTo>
                  <a:pt x="52" y="73"/>
                </a:lnTo>
                <a:lnTo>
                  <a:pt x="0" y="7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Document fold"/>
          <p:cNvCxnSpPr/>
          <p:nvPr/>
        </p:nvCxnSpPr>
        <p:spPr>
          <a:xfrm>
            <a:off x="586740" y="3284220"/>
            <a:ext cx="0" cy="10668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Document fold"/>
          <p:cNvCxnSpPr/>
          <p:nvPr/>
        </p:nvCxnSpPr>
        <p:spPr>
          <a:xfrm>
            <a:off x="586740" y="3390900"/>
            <a:ext cx="10668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Document text"/>
          <p:cNvCxnSpPr/>
          <p:nvPr/>
        </p:nvCxnSpPr>
        <p:spPr>
          <a:xfrm>
            <a:off x="350520" y="3421380"/>
            <a:ext cx="28194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Document text"/>
          <p:cNvCxnSpPr/>
          <p:nvPr/>
        </p:nvCxnSpPr>
        <p:spPr>
          <a:xfrm>
            <a:off x="350520" y="3467100"/>
            <a:ext cx="28194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Document text"/>
          <p:cNvCxnSpPr/>
          <p:nvPr/>
        </p:nvCxnSpPr>
        <p:spPr>
          <a:xfrm>
            <a:off x="350520" y="3512820"/>
            <a:ext cx="28194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Document text"/>
          <p:cNvCxnSpPr/>
          <p:nvPr/>
        </p:nvCxnSpPr>
        <p:spPr>
          <a:xfrm>
            <a:off x="350520" y="3558540"/>
            <a:ext cx="28194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Document text"/>
          <p:cNvCxnSpPr/>
          <p:nvPr/>
        </p:nvCxnSpPr>
        <p:spPr>
          <a:xfrm>
            <a:off x="350520" y="3604260"/>
            <a:ext cx="28194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Document text"/>
          <p:cNvCxnSpPr/>
          <p:nvPr/>
        </p:nvCxnSpPr>
        <p:spPr>
          <a:xfrm>
            <a:off x="350520" y="3649980"/>
            <a:ext cx="28194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ocument text"/>
          <p:cNvCxnSpPr/>
          <p:nvPr/>
        </p:nvCxnSpPr>
        <p:spPr>
          <a:xfrm>
            <a:off x="350520" y="3695700"/>
            <a:ext cx="28194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Document text"/>
          <p:cNvCxnSpPr/>
          <p:nvPr/>
        </p:nvCxnSpPr>
        <p:spPr>
          <a:xfrm>
            <a:off x="350520" y="3741420"/>
            <a:ext cx="1981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Label: Findings: … / History: … / Time: … / Indication: …"/>
          <p:cNvSpPr txBox="1"/>
          <p:nvPr/>
        </p:nvSpPr>
        <p:spPr>
          <a:xfrm>
            <a:off x="868680" y="3192780"/>
            <a:ext cx="1165860" cy="792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Arial"/>
              </a:rPr>
              <a:t>Findings: …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Arial"/>
              </a:rPr>
              <a:t>History: …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Arial"/>
              </a:rPr>
              <a:t>Time: …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Arial"/>
              </a:rPr>
              <a:t>Indication: …</a:t>
            </a:r>
          </a:p>
        </p:txBody>
      </p:sp>
      <p:sp>
        <p:nvSpPr>
          <p:cNvPr id="58" name="Tokenizer + embedding"/>
          <p:cNvSpPr/>
          <p:nvPr/>
        </p:nvSpPr>
        <p:spPr>
          <a:xfrm>
            <a:off x="2644140" y="2857500"/>
            <a:ext cx="1165860" cy="693420"/>
          </a:xfrm>
          <a:prstGeom prst="roundRect">
            <a:avLst>
              <a:gd name="adj" fmla="val 12000"/>
            </a:avLst>
          </a:prstGeom>
          <a:solidFill>
            <a:srgbClr val="FEFAD1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Label: Tokenizer / + embedding"/>
          <p:cNvSpPr txBox="1"/>
          <p:nvPr/>
        </p:nvSpPr>
        <p:spPr>
          <a:xfrm>
            <a:off x="2689860" y="2941320"/>
            <a:ext cx="1074420" cy="495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171717"/>
                </a:solidFill>
                <a:latin typeface="Comic Sans MS"/>
              </a:rPr>
              <a:t>Tokenizer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>
                <a:solidFill>
                  <a:srgbClr val="171717"/>
                </a:solidFill>
                <a:latin typeface="Comic Sans MS"/>
              </a:rPr>
              <a:t>+ embedding</a:t>
            </a:r>
          </a:p>
        </p:txBody>
      </p:sp>
      <p:sp>
        <p:nvSpPr>
          <p:cNvPr id="60" name="Label: VLM"/>
          <p:cNvSpPr txBox="1"/>
          <p:nvPr/>
        </p:nvSpPr>
        <p:spPr>
          <a:xfrm>
            <a:off x="5113020" y="1028700"/>
            <a:ext cx="883920" cy="3962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61" name="Label: (LoRA)"/>
          <p:cNvSpPr txBox="1"/>
          <p:nvPr/>
        </p:nvSpPr>
        <p:spPr>
          <a:xfrm>
            <a:off x="5981700" y="1082040"/>
            <a:ext cx="86106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Comic Sans MS"/>
              </a:rPr>
              <a:t>(LoRA)</a:t>
            </a:r>
          </a:p>
        </p:txBody>
      </p:sp>
      <p:sp>
        <p:nvSpPr>
          <p:cNvPr id="62" name="Visual input token 1"/>
          <p:cNvSpPr/>
          <p:nvPr/>
        </p:nvSpPr>
        <p:spPr>
          <a:xfrm>
            <a:off x="4655820" y="1844040"/>
            <a:ext cx="205740" cy="213360"/>
          </a:xfrm>
          <a:prstGeom prst="roundRect">
            <a:avLst>
              <a:gd name="adj" fmla="val 6000"/>
            </a:avLst>
          </a:prstGeom>
          <a:solidFill>
            <a:srgbClr val="9BCAE9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 input token 1"/>
          <p:cNvSpPr/>
          <p:nvPr/>
        </p:nvSpPr>
        <p:spPr>
          <a:xfrm>
            <a:off x="5471160" y="1844040"/>
            <a:ext cx="205740" cy="21336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Visual input token 2"/>
          <p:cNvSpPr/>
          <p:nvPr/>
        </p:nvSpPr>
        <p:spPr>
          <a:xfrm>
            <a:off x="4922520" y="1844040"/>
            <a:ext cx="205740" cy="213360"/>
          </a:xfrm>
          <a:prstGeom prst="roundRect">
            <a:avLst>
              <a:gd name="adj" fmla="val 6000"/>
            </a:avLst>
          </a:prstGeom>
          <a:solidFill>
            <a:srgbClr val="9BCAE9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 input token 2"/>
          <p:cNvSpPr/>
          <p:nvPr/>
        </p:nvSpPr>
        <p:spPr>
          <a:xfrm>
            <a:off x="5715000" y="1844040"/>
            <a:ext cx="205740" cy="21336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Visual input token 3"/>
          <p:cNvSpPr/>
          <p:nvPr/>
        </p:nvSpPr>
        <p:spPr>
          <a:xfrm>
            <a:off x="5189220" y="1844040"/>
            <a:ext cx="205740" cy="213360"/>
          </a:xfrm>
          <a:prstGeom prst="roundRect">
            <a:avLst>
              <a:gd name="adj" fmla="val 6000"/>
            </a:avLst>
          </a:prstGeom>
          <a:solidFill>
            <a:srgbClr val="9BCAE9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 input token 3"/>
          <p:cNvSpPr/>
          <p:nvPr/>
        </p:nvSpPr>
        <p:spPr>
          <a:xfrm>
            <a:off x="5958840" y="1844040"/>
            <a:ext cx="205740" cy="21336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Label: …"/>
          <p:cNvSpPr txBox="1"/>
          <p:nvPr/>
        </p:nvSpPr>
        <p:spPr>
          <a:xfrm>
            <a:off x="4922520" y="1828800"/>
            <a:ext cx="20574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69" name="Label: …"/>
          <p:cNvSpPr txBox="1"/>
          <p:nvPr/>
        </p:nvSpPr>
        <p:spPr>
          <a:xfrm>
            <a:off x="5715000" y="1828800"/>
            <a:ext cx="20574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70" name="Learned input slot 1"/>
          <p:cNvSpPr/>
          <p:nvPr/>
        </p:nvSpPr>
        <p:spPr>
          <a:xfrm>
            <a:off x="6271260" y="1844040"/>
            <a:ext cx="99060" cy="21336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Learned input slot 2"/>
          <p:cNvSpPr/>
          <p:nvPr/>
        </p:nvSpPr>
        <p:spPr>
          <a:xfrm>
            <a:off x="6393180" y="1844040"/>
            <a:ext cx="99060" cy="21336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earned input slot 3"/>
          <p:cNvSpPr/>
          <p:nvPr/>
        </p:nvSpPr>
        <p:spPr>
          <a:xfrm>
            <a:off x="6515100" y="1844040"/>
            <a:ext cx="99060" cy="21336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Learned input slot 4"/>
          <p:cNvSpPr/>
          <p:nvPr/>
        </p:nvSpPr>
        <p:spPr>
          <a:xfrm>
            <a:off x="6637020" y="1844040"/>
            <a:ext cx="99060" cy="21336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Learned input slot 5"/>
          <p:cNvSpPr/>
          <p:nvPr/>
        </p:nvSpPr>
        <p:spPr>
          <a:xfrm>
            <a:off x="6758940" y="1844040"/>
            <a:ext cx="99060" cy="21336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Learned input slot 6"/>
          <p:cNvSpPr/>
          <p:nvPr/>
        </p:nvSpPr>
        <p:spPr>
          <a:xfrm>
            <a:off x="6880860" y="1844040"/>
            <a:ext cx="99060" cy="21336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Learned input slot 7"/>
          <p:cNvSpPr/>
          <p:nvPr/>
        </p:nvSpPr>
        <p:spPr>
          <a:xfrm>
            <a:off x="7002780" y="1844040"/>
            <a:ext cx="99060" cy="21336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Learned input slot 8"/>
          <p:cNvSpPr/>
          <p:nvPr/>
        </p:nvSpPr>
        <p:spPr>
          <a:xfrm>
            <a:off x="7124700" y="1844040"/>
            <a:ext cx="99060" cy="21336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Label: Visual / tokens"/>
          <p:cNvSpPr txBox="1"/>
          <p:nvPr/>
        </p:nvSpPr>
        <p:spPr>
          <a:xfrm>
            <a:off x="4632960" y="2110740"/>
            <a:ext cx="762000" cy="388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tokens</a:t>
            </a:r>
          </a:p>
        </p:txBody>
      </p:sp>
      <p:sp>
        <p:nvSpPr>
          <p:cNvPr id="79" name="Label: Text / tokens"/>
          <p:cNvSpPr txBox="1"/>
          <p:nvPr/>
        </p:nvSpPr>
        <p:spPr>
          <a:xfrm>
            <a:off x="5394960" y="2110740"/>
            <a:ext cx="792480" cy="388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 dirty="0">
                <a:solidFill>
                  <a:srgbClr val="171717"/>
                </a:solidFill>
                <a:latin typeface="Comic Sans MS"/>
              </a:rPr>
              <a:t>Text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 dirty="0">
                <a:solidFill>
                  <a:srgbClr val="171717"/>
                </a:solidFill>
                <a:latin typeface="Comic Sans MS"/>
              </a:rPr>
              <a:t>tokens</a:t>
            </a:r>
          </a:p>
        </p:txBody>
      </p:sp>
      <p:sp>
        <p:nvSpPr>
          <p:cNvPr id="80" name="Label: 8 learned / slots"/>
          <p:cNvSpPr txBox="1"/>
          <p:nvPr/>
        </p:nvSpPr>
        <p:spPr>
          <a:xfrm>
            <a:off x="6202680" y="2110740"/>
            <a:ext cx="1066800" cy="388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8 learned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slots</a:t>
            </a:r>
          </a:p>
        </p:txBody>
      </p:sp>
      <p:sp>
        <p:nvSpPr>
          <p:cNvPr id="81" name="Label: Patient / state"/>
          <p:cNvSpPr txBox="1"/>
          <p:nvPr/>
        </p:nvSpPr>
        <p:spPr>
          <a:xfrm>
            <a:off x="7437120" y="617220"/>
            <a:ext cx="571500" cy="388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Patient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state</a:t>
            </a:r>
          </a:p>
        </p:txBody>
      </p:sp>
      <p:sp>
        <p:nvSpPr>
          <p:cNvPr id="82" name="Label: Sₜ"/>
          <p:cNvSpPr txBox="1"/>
          <p:nvPr/>
        </p:nvSpPr>
        <p:spPr>
          <a:xfrm>
            <a:off x="7536180" y="1013460"/>
            <a:ext cx="381000" cy="1981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>
                <a:solidFill>
                  <a:srgbClr val="171717"/>
                </a:solidFill>
                <a:latin typeface="Comic Sans MS"/>
              </a:rPr>
              <a:t>Sₜ</a:t>
            </a:r>
          </a:p>
        </p:txBody>
      </p:sp>
      <p:sp>
        <p:nvSpPr>
          <p:cNvPr id="83" name="Eight patient-state tokens"/>
          <p:cNvSpPr/>
          <p:nvPr/>
        </p:nvSpPr>
        <p:spPr>
          <a:xfrm>
            <a:off x="7574280" y="1219200"/>
            <a:ext cx="304800" cy="2118360"/>
          </a:xfrm>
          <a:prstGeom prst="roundRect">
            <a:avLst>
              <a:gd name="adj" fmla="val 18000"/>
            </a:avLst>
          </a:prstGeom>
          <a:solidFill>
            <a:srgbClr val="FFF9FC"/>
          </a:solidFill>
          <a:ln w="1016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Patient-state token 1"/>
          <p:cNvSpPr/>
          <p:nvPr/>
        </p:nvSpPr>
        <p:spPr>
          <a:xfrm>
            <a:off x="7627620" y="1272540"/>
            <a:ext cx="198120" cy="19812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Patient-state token 2"/>
          <p:cNvSpPr/>
          <p:nvPr/>
        </p:nvSpPr>
        <p:spPr>
          <a:xfrm>
            <a:off x="7627620" y="1531620"/>
            <a:ext cx="198120" cy="19812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Patient-state token 3"/>
          <p:cNvSpPr/>
          <p:nvPr/>
        </p:nvSpPr>
        <p:spPr>
          <a:xfrm>
            <a:off x="7627620" y="1790700"/>
            <a:ext cx="198120" cy="19812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Patient-state token 4"/>
          <p:cNvSpPr/>
          <p:nvPr/>
        </p:nvSpPr>
        <p:spPr>
          <a:xfrm>
            <a:off x="7627620" y="2049780"/>
            <a:ext cx="198120" cy="19812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Patient-state token 5"/>
          <p:cNvSpPr/>
          <p:nvPr/>
        </p:nvSpPr>
        <p:spPr>
          <a:xfrm>
            <a:off x="7627620" y="2308860"/>
            <a:ext cx="198120" cy="19812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Patient-state token 6"/>
          <p:cNvSpPr/>
          <p:nvPr/>
        </p:nvSpPr>
        <p:spPr>
          <a:xfrm>
            <a:off x="7627620" y="2567940"/>
            <a:ext cx="198120" cy="19812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Patient-state token 7"/>
          <p:cNvSpPr/>
          <p:nvPr/>
        </p:nvSpPr>
        <p:spPr>
          <a:xfrm>
            <a:off x="7627620" y="2827020"/>
            <a:ext cx="198120" cy="19812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Patient-state token 8"/>
          <p:cNvSpPr/>
          <p:nvPr/>
        </p:nvSpPr>
        <p:spPr>
          <a:xfrm>
            <a:off x="7627620" y="3086100"/>
            <a:ext cx="198120" cy="198120"/>
          </a:xfrm>
          <a:prstGeom prst="roundRect">
            <a:avLst>
              <a:gd name="adj" fmla="val 6000"/>
            </a:avLst>
          </a:prstGeom>
          <a:solidFill>
            <a:srgbClr val="E89EBA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ask query token"/>
          <p:cNvSpPr/>
          <p:nvPr/>
        </p:nvSpPr>
        <p:spPr>
          <a:xfrm>
            <a:off x="8275320" y="739140"/>
            <a:ext cx="220980" cy="220980"/>
          </a:xfrm>
          <a:prstGeom prst="roundRect">
            <a:avLst>
              <a:gd name="adj" fmla="val 6000"/>
            </a:avLst>
          </a:prstGeom>
          <a:solidFill>
            <a:srgbClr val="9BCAE9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Label: Task / query"/>
          <p:cNvSpPr txBox="1"/>
          <p:nvPr/>
        </p:nvSpPr>
        <p:spPr>
          <a:xfrm>
            <a:off x="8092440" y="1028700"/>
            <a:ext cx="579120" cy="388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Task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query</a:t>
            </a:r>
          </a:p>
        </p:txBody>
      </p:sp>
      <p:sp>
        <p:nvSpPr>
          <p:cNvPr id="94" name="Label: Task decoder"/>
          <p:cNvSpPr txBox="1"/>
          <p:nvPr/>
        </p:nvSpPr>
        <p:spPr>
          <a:xfrm>
            <a:off x="8900160" y="281940"/>
            <a:ext cx="1485900" cy="2971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Task decoder</a:t>
            </a:r>
          </a:p>
        </p:txBody>
      </p:sp>
      <p:sp>
        <p:nvSpPr>
          <p:cNvPr id="95" name="Trainable flame"/>
          <p:cNvSpPr/>
          <p:nvPr/>
        </p:nvSpPr>
        <p:spPr>
          <a:xfrm>
            <a:off x="10401300" y="281940"/>
            <a:ext cx="167640" cy="243840"/>
          </a:xfrm>
          <a:custGeom>
            <a:avLst/>
            <a:gdLst/>
            <a:ahLst/>
            <a:cxnLst/>
            <a:rect l="l" t="t" r="r" b="b"/>
            <a:pathLst>
              <a:path w="22" h="32">
                <a:moveTo>
                  <a:pt x="11" y="0"/>
                </a:moveTo>
                <a:lnTo>
                  <a:pt x="15" y="8"/>
                </a:lnTo>
                <a:lnTo>
                  <a:pt x="13" y="15"/>
                </a:lnTo>
                <a:lnTo>
                  <a:pt x="19" y="10"/>
                </a:lnTo>
                <a:lnTo>
                  <a:pt x="22" y="19"/>
                </a:lnTo>
                <a:lnTo>
                  <a:pt x="21" y="26"/>
                </a:lnTo>
                <a:lnTo>
                  <a:pt x="16" y="31"/>
                </a:lnTo>
                <a:lnTo>
                  <a:pt x="8" y="32"/>
                </a:lnTo>
                <a:lnTo>
                  <a:pt x="2" y="28"/>
                </a:lnTo>
                <a:lnTo>
                  <a:pt x="0" y="22"/>
                </a:lnTo>
                <a:lnTo>
                  <a:pt x="4" y="12"/>
                </a:lnTo>
                <a:lnTo>
                  <a:pt x="5" y="20"/>
                </a:lnTo>
                <a:lnTo>
                  <a:pt x="10" y="12"/>
                </a:lnTo>
                <a:close/>
              </a:path>
            </a:pathLst>
          </a:custGeom>
          <a:solidFill>
            <a:srgbClr val="FF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Flame center"/>
          <p:cNvSpPr/>
          <p:nvPr/>
        </p:nvSpPr>
        <p:spPr>
          <a:xfrm>
            <a:off x="10447020" y="381000"/>
            <a:ext cx="83820" cy="121920"/>
          </a:xfrm>
          <a:custGeom>
            <a:avLst/>
            <a:gdLst/>
            <a:ahLst/>
            <a:cxnLst/>
            <a:rect l="l" t="t" r="r" b="b"/>
            <a:pathLst>
              <a:path w="11" h="16">
                <a:moveTo>
                  <a:pt x="6" y="0"/>
                </a:moveTo>
                <a:lnTo>
                  <a:pt x="11" y="10"/>
                </a:lnTo>
                <a:lnTo>
                  <a:pt x="9" y="16"/>
                </a:lnTo>
                <a:lnTo>
                  <a:pt x="2" y="16"/>
                </a:lnTo>
                <a:lnTo>
                  <a:pt x="0" y="11"/>
                </a:lnTo>
                <a:close/>
              </a:path>
            </a:pathLst>
          </a:custGeom>
          <a:solidFill>
            <a:srgbClr val="FFD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ransformer&#10;block"/>
          <p:cNvSpPr/>
          <p:nvPr/>
        </p:nvSpPr>
        <p:spPr>
          <a:xfrm>
            <a:off x="8983980" y="632460"/>
            <a:ext cx="533400" cy="899160"/>
          </a:xfrm>
          <a:prstGeom prst="roundRect">
            <a:avLst>
              <a:gd name="adj" fmla="val 10000"/>
            </a:avLst>
          </a:prstGeom>
          <a:solidFill>
            <a:srgbClr val="FEFAD1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Label: Transformer / block"/>
          <p:cNvSpPr txBox="1"/>
          <p:nvPr/>
        </p:nvSpPr>
        <p:spPr>
          <a:xfrm rot="16200000">
            <a:off x="8801100" y="815340"/>
            <a:ext cx="899160" cy="533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Arial"/>
              </a:rPr>
              <a:t>Transformer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Arial"/>
              </a:rPr>
              <a:t>block</a:t>
            </a:r>
          </a:p>
        </p:txBody>
      </p:sp>
      <p:sp>
        <p:nvSpPr>
          <p:cNvPr id="99" name="Transformer&#10;block"/>
          <p:cNvSpPr/>
          <p:nvPr/>
        </p:nvSpPr>
        <p:spPr>
          <a:xfrm>
            <a:off x="9921240" y="632460"/>
            <a:ext cx="541020" cy="899160"/>
          </a:xfrm>
          <a:prstGeom prst="roundRect">
            <a:avLst>
              <a:gd name="adj" fmla="val 10000"/>
            </a:avLst>
          </a:prstGeom>
          <a:solidFill>
            <a:srgbClr val="FEFAD1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Label: Transformer / block"/>
          <p:cNvSpPr txBox="1"/>
          <p:nvPr/>
        </p:nvSpPr>
        <p:spPr>
          <a:xfrm rot="16200000">
            <a:off x="9742170" y="811530"/>
            <a:ext cx="899160" cy="5410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Arial"/>
              </a:rPr>
              <a:t>Transformer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Arial"/>
              </a:rPr>
              <a:t>block</a:t>
            </a:r>
          </a:p>
        </p:txBody>
      </p:sp>
      <p:sp>
        <p:nvSpPr>
          <p:cNvPr id="101" name="Label: …"/>
          <p:cNvSpPr txBox="1"/>
          <p:nvPr/>
        </p:nvSpPr>
        <p:spPr>
          <a:xfrm>
            <a:off x="9532620" y="853440"/>
            <a:ext cx="365760" cy="3276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02" name="Shared image features D_t"/>
          <p:cNvSpPr/>
          <p:nvPr/>
        </p:nvSpPr>
        <p:spPr>
          <a:xfrm>
            <a:off x="9121140" y="1767840"/>
            <a:ext cx="327660" cy="327660"/>
          </a:xfrm>
          <a:prstGeom prst="ellipse">
            <a:avLst/>
          </a:prstGeom>
          <a:solidFill>
            <a:srgbClr val="9BCAE9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Label: Dₜ"/>
          <p:cNvSpPr txBox="1"/>
          <p:nvPr/>
        </p:nvSpPr>
        <p:spPr>
          <a:xfrm>
            <a:off x="9121140" y="1775460"/>
            <a:ext cx="327660" cy="2971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1">
                <a:solidFill>
                  <a:srgbClr val="171717"/>
                </a:solidFill>
                <a:latin typeface="Comic Sans MS"/>
              </a:rPr>
              <a:t>Dₜ</a:t>
            </a:r>
          </a:p>
        </p:txBody>
      </p:sp>
      <p:sp>
        <p:nvSpPr>
          <p:cNvPr id="104" name="Label: Shared image features"/>
          <p:cNvSpPr txBox="1"/>
          <p:nvPr/>
        </p:nvSpPr>
        <p:spPr>
          <a:xfrm>
            <a:off x="9525000" y="1813560"/>
            <a:ext cx="140208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1717"/>
                </a:solidFill>
                <a:latin typeface="Comic Sans MS"/>
              </a:rPr>
              <a:t>Shared image features</a:t>
            </a:r>
          </a:p>
        </p:txBody>
      </p:sp>
      <p:sp>
        <p:nvSpPr>
          <p:cNvPr id="105" name="Task head trapezoid"/>
          <p:cNvSpPr/>
          <p:nvPr/>
        </p:nvSpPr>
        <p:spPr>
          <a:xfrm rot="5400000">
            <a:off x="10401300" y="792480"/>
            <a:ext cx="1402080" cy="518160"/>
          </a:xfrm>
          <a:prstGeom prst="trapezoid">
            <a:avLst>
              <a:gd name="adj" fmla="val 24000"/>
            </a:avLst>
          </a:prstGeom>
          <a:solidFill>
            <a:srgbClr val="D0E7FA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Label: Task / head"/>
          <p:cNvSpPr txBox="1"/>
          <p:nvPr/>
        </p:nvSpPr>
        <p:spPr>
          <a:xfrm>
            <a:off x="10858500" y="807720"/>
            <a:ext cx="487680" cy="4952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Task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head</a:t>
            </a:r>
          </a:p>
        </p:txBody>
      </p:sp>
      <p:sp>
        <p:nvSpPr>
          <p:cNvPr id="107" name="Label: Clinical prediction"/>
          <p:cNvSpPr txBox="1"/>
          <p:nvPr/>
        </p:nvSpPr>
        <p:spPr>
          <a:xfrm>
            <a:off x="11612880" y="175260"/>
            <a:ext cx="136398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Clinical prediction</a:t>
            </a:r>
          </a:p>
        </p:txBody>
      </p:sp>
      <p:cxnSp>
        <p:nvCxnSpPr>
          <p:cNvPr id="108" name="Clinical score axes"/>
          <p:cNvCxnSpPr/>
          <p:nvPr/>
        </p:nvCxnSpPr>
        <p:spPr>
          <a:xfrm>
            <a:off x="11658600" y="464820"/>
            <a:ext cx="0" cy="35052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linical score axes"/>
          <p:cNvCxnSpPr/>
          <p:nvPr/>
        </p:nvCxnSpPr>
        <p:spPr>
          <a:xfrm>
            <a:off x="11658600" y="815340"/>
            <a:ext cx="411480" cy="0"/>
          </a:xfrm>
          <a:prstGeom prst="line">
            <a:avLst/>
          </a:prstGeom>
          <a:ln w="1270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linical score bar"/>
          <p:cNvSpPr/>
          <p:nvPr/>
        </p:nvSpPr>
        <p:spPr>
          <a:xfrm>
            <a:off x="11727180" y="662940"/>
            <a:ext cx="76200" cy="121920"/>
          </a:xfrm>
          <a:prstGeom prst="rect">
            <a:avLst/>
          </a:prstGeom>
          <a:solidFill>
            <a:srgbClr val="9BC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Clinical score bar"/>
          <p:cNvSpPr/>
          <p:nvPr/>
        </p:nvSpPr>
        <p:spPr>
          <a:xfrm>
            <a:off x="11833860" y="586740"/>
            <a:ext cx="76200" cy="198120"/>
          </a:xfrm>
          <a:prstGeom prst="rect">
            <a:avLst/>
          </a:prstGeom>
          <a:solidFill>
            <a:srgbClr val="9BC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Clinical score bar"/>
          <p:cNvSpPr/>
          <p:nvPr/>
        </p:nvSpPr>
        <p:spPr>
          <a:xfrm>
            <a:off x="11955780" y="541020"/>
            <a:ext cx="76200" cy="243840"/>
          </a:xfrm>
          <a:prstGeom prst="rect">
            <a:avLst/>
          </a:prstGeom>
          <a:solidFill>
            <a:srgbClr val="9BC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Label: Risk: 0.72 / (positive)"/>
          <p:cNvSpPr txBox="1"/>
          <p:nvPr/>
        </p:nvSpPr>
        <p:spPr>
          <a:xfrm>
            <a:off x="12161520" y="449580"/>
            <a:ext cx="822960" cy="381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Arial"/>
              </a:rPr>
              <a:t>Risk: 0.72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Arial"/>
              </a:rPr>
              <a:t>(positive)</a:t>
            </a:r>
          </a:p>
        </p:txBody>
      </p:sp>
      <p:sp>
        <p:nvSpPr>
          <p:cNvPr id="114" name="Label: Segmentation"/>
          <p:cNvSpPr txBox="1"/>
          <p:nvPr/>
        </p:nvSpPr>
        <p:spPr>
          <a:xfrm>
            <a:off x="11620500" y="952500"/>
            <a:ext cx="1234440" cy="2209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Segmentation</a:t>
            </a:r>
          </a:p>
        </p:txBody>
      </p:sp>
      <p:pic>
        <p:nvPicPr>
          <p:cNvPr id="115" name="Segmentation thumbnai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3360" y="1219200"/>
            <a:ext cx="723900" cy="708660"/>
          </a:xfrm>
          <a:prstGeom prst="rect">
            <a:avLst/>
          </a:prstGeom>
        </p:spPr>
      </p:pic>
      <p:sp>
        <p:nvSpPr>
          <p:cNvPr id="116" name="Label: Task / loss"/>
          <p:cNvSpPr txBox="1"/>
          <p:nvPr/>
        </p:nvSpPr>
        <p:spPr>
          <a:xfrm>
            <a:off x="12420600" y="1363980"/>
            <a:ext cx="55626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Task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loss</a:t>
            </a:r>
          </a:p>
        </p:txBody>
      </p:sp>
      <p:sp>
        <p:nvSpPr>
          <p:cNvPr id="117" name="Label: World model"/>
          <p:cNvSpPr txBox="1"/>
          <p:nvPr/>
        </p:nvSpPr>
        <p:spPr>
          <a:xfrm>
            <a:off x="8900160" y="2461260"/>
            <a:ext cx="1485900" cy="2971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World model</a:t>
            </a:r>
          </a:p>
        </p:txBody>
      </p:sp>
      <p:sp>
        <p:nvSpPr>
          <p:cNvPr id="118" name="Label: Latent predictor"/>
          <p:cNvSpPr txBox="1"/>
          <p:nvPr/>
        </p:nvSpPr>
        <p:spPr>
          <a:xfrm>
            <a:off x="8976360" y="2773680"/>
            <a:ext cx="1470660" cy="2133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Latent predictor</a:t>
            </a:r>
          </a:p>
        </p:txBody>
      </p:sp>
      <p:sp>
        <p:nvSpPr>
          <p:cNvPr id="119" name="Trainable flame"/>
          <p:cNvSpPr/>
          <p:nvPr/>
        </p:nvSpPr>
        <p:spPr>
          <a:xfrm>
            <a:off x="10401300" y="2484120"/>
            <a:ext cx="167640" cy="243840"/>
          </a:xfrm>
          <a:custGeom>
            <a:avLst/>
            <a:gdLst/>
            <a:ahLst/>
            <a:cxnLst/>
            <a:rect l="l" t="t" r="r" b="b"/>
            <a:pathLst>
              <a:path w="22" h="32">
                <a:moveTo>
                  <a:pt x="11" y="0"/>
                </a:moveTo>
                <a:lnTo>
                  <a:pt x="15" y="8"/>
                </a:lnTo>
                <a:lnTo>
                  <a:pt x="13" y="15"/>
                </a:lnTo>
                <a:lnTo>
                  <a:pt x="19" y="10"/>
                </a:lnTo>
                <a:lnTo>
                  <a:pt x="22" y="19"/>
                </a:lnTo>
                <a:lnTo>
                  <a:pt x="21" y="26"/>
                </a:lnTo>
                <a:lnTo>
                  <a:pt x="16" y="31"/>
                </a:lnTo>
                <a:lnTo>
                  <a:pt x="8" y="32"/>
                </a:lnTo>
                <a:lnTo>
                  <a:pt x="2" y="28"/>
                </a:lnTo>
                <a:lnTo>
                  <a:pt x="0" y="22"/>
                </a:lnTo>
                <a:lnTo>
                  <a:pt x="4" y="12"/>
                </a:lnTo>
                <a:lnTo>
                  <a:pt x="5" y="20"/>
                </a:lnTo>
                <a:lnTo>
                  <a:pt x="10" y="12"/>
                </a:lnTo>
                <a:close/>
              </a:path>
            </a:pathLst>
          </a:custGeom>
          <a:solidFill>
            <a:srgbClr val="FF8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Flame center"/>
          <p:cNvSpPr/>
          <p:nvPr/>
        </p:nvSpPr>
        <p:spPr>
          <a:xfrm>
            <a:off x="10447020" y="2583180"/>
            <a:ext cx="83820" cy="121920"/>
          </a:xfrm>
          <a:custGeom>
            <a:avLst/>
            <a:gdLst/>
            <a:ahLst/>
            <a:cxnLst/>
            <a:rect l="l" t="t" r="r" b="b"/>
            <a:pathLst>
              <a:path w="11" h="16">
                <a:moveTo>
                  <a:pt x="6" y="0"/>
                </a:moveTo>
                <a:lnTo>
                  <a:pt x="11" y="10"/>
                </a:lnTo>
                <a:lnTo>
                  <a:pt x="9" y="16"/>
                </a:lnTo>
                <a:lnTo>
                  <a:pt x="2" y="16"/>
                </a:lnTo>
                <a:lnTo>
                  <a:pt x="0" y="11"/>
                </a:lnTo>
                <a:close/>
              </a:path>
            </a:pathLst>
          </a:custGeom>
          <a:solidFill>
            <a:srgbClr val="FFD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Predictor&#10;block"/>
          <p:cNvSpPr/>
          <p:nvPr/>
        </p:nvSpPr>
        <p:spPr>
          <a:xfrm>
            <a:off x="8953500" y="3070860"/>
            <a:ext cx="541020" cy="967740"/>
          </a:xfrm>
          <a:prstGeom prst="roundRect">
            <a:avLst>
              <a:gd name="adj" fmla="val 10000"/>
            </a:avLst>
          </a:prstGeom>
          <a:solidFill>
            <a:srgbClr val="FEFAD1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abel: Predictor / block"/>
          <p:cNvSpPr txBox="1"/>
          <p:nvPr/>
        </p:nvSpPr>
        <p:spPr>
          <a:xfrm rot="16200000">
            <a:off x="8740140" y="3284220"/>
            <a:ext cx="967740" cy="5410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Arial"/>
              </a:rPr>
              <a:t>Predictor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Arial"/>
              </a:rPr>
              <a:t>block</a:t>
            </a:r>
          </a:p>
        </p:txBody>
      </p:sp>
      <p:sp>
        <p:nvSpPr>
          <p:cNvPr id="123" name="Predictor&#10;block"/>
          <p:cNvSpPr/>
          <p:nvPr/>
        </p:nvSpPr>
        <p:spPr>
          <a:xfrm>
            <a:off x="9921240" y="3070860"/>
            <a:ext cx="541020" cy="967740"/>
          </a:xfrm>
          <a:prstGeom prst="roundRect">
            <a:avLst>
              <a:gd name="adj" fmla="val 10000"/>
            </a:avLst>
          </a:prstGeom>
          <a:solidFill>
            <a:srgbClr val="FEFAD1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Label: Predictor / block"/>
          <p:cNvSpPr txBox="1"/>
          <p:nvPr/>
        </p:nvSpPr>
        <p:spPr>
          <a:xfrm rot="16200000">
            <a:off x="9707880" y="3284220"/>
            <a:ext cx="967740" cy="5410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Arial"/>
              </a:rPr>
              <a:t>Predictor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71717"/>
                </a:solidFill>
                <a:latin typeface="Arial"/>
              </a:rPr>
              <a:t>block</a:t>
            </a:r>
          </a:p>
        </p:txBody>
      </p:sp>
      <p:sp>
        <p:nvSpPr>
          <p:cNvPr id="125" name="Label: …"/>
          <p:cNvSpPr txBox="1"/>
          <p:nvPr/>
        </p:nvSpPr>
        <p:spPr>
          <a:xfrm>
            <a:off x="9532620" y="3322320"/>
            <a:ext cx="36576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71717"/>
                </a:solidFill>
                <a:latin typeface="Comic Sans MS"/>
              </a:rPr>
              <a:t>…</a:t>
            </a:r>
          </a:p>
        </p:txBody>
      </p:sp>
      <p:sp>
        <p:nvSpPr>
          <p:cNvPr id="126" name="Forecast query token"/>
          <p:cNvSpPr/>
          <p:nvPr/>
        </p:nvSpPr>
        <p:spPr>
          <a:xfrm>
            <a:off x="8161020" y="2880360"/>
            <a:ext cx="220980" cy="220980"/>
          </a:xfrm>
          <a:prstGeom prst="roundRect">
            <a:avLst>
              <a:gd name="adj" fmla="val 6000"/>
            </a:avLst>
          </a:prstGeom>
          <a:solidFill>
            <a:srgbClr val="9BCAE9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Label: Forecast / query"/>
          <p:cNvSpPr txBox="1"/>
          <p:nvPr/>
        </p:nvSpPr>
        <p:spPr>
          <a:xfrm>
            <a:off x="7901940" y="3124200"/>
            <a:ext cx="731520" cy="3733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Forecast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query</a:t>
            </a:r>
          </a:p>
        </p:txBody>
      </p:sp>
      <p:sp>
        <p:nvSpPr>
          <p:cNvPr id="128" name="Horizon token"/>
          <p:cNvSpPr/>
          <p:nvPr/>
        </p:nvSpPr>
        <p:spPr>
          <a:xfrm>
            <a:off x="8161020" y="3497580"/>
            <a:ext cx="220980" cy="21336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Label: Horizon / h"/>
          <p:cNvSpPr txBox="1"/>
          <p:nvPr/>
        </p:nvSpPr>
        <p:spPr>
          <a:xfrm>
            <a:off x="7901940" y="3726180"/>
            <a:ext cx="739140" cy="3581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Horizon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h</a:t>
            </a:r>
          </a:p>
        </p:txBody>
      </p:sp>
      <p:sp>
        <p:nvSpPr>
          <p:cNvPr id="130" name="Shared image features D_t"/>
          <p:cNvSpPr/>
          <p:nvPr/>
        </p:nvSpPr>
        <p:spPr>
          <a:xfrm>
            <a:off x="9037320" y="4343400"/>
            <a:ext cx="327660" cy="327660"/>
          </a:xfrm>
          <a:prstGeom prst="ellipse">
            <a:avLst/>
          </a:prstGeom>
          <a:solidFill>
            <a:srgbClr val="9BCAE9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Label: Dₜ"/>
          <p:cNvSpPr txBox="1"/>
          <p:nvPr/>
        </p:nvSpPr>
        <p:spPr>
          <a:xfrm>
            <a:off x="9037320" y="4351020"/>
            <a:ext cx="327660" cy="2971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1">
                <a:solidFill>
                  <a:srgbClr val="171717"/>
                </a:solidFill>
                <a:latin typeface="Comic Sans MS"/>
              </a:rPr>
              <a:t>Dₜ</a:t>
            </a:r>
          </a:p>
        </p:txBody>
      </p:sp>
      <p:sp>
        <p:nvSpPr>
          <p:cNvPr id="132" name="Label: Shared image features"/>
          <p:cNvSpPr txBox="1"/>
          <p:nvPr/>
        </p:nvSpPr>
        <p:spPr>
          <a:xfrm>
            <a:off x="9433560" y="4389120"/>
            <a:ext cx="140208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171717"/>
                </a:solidFill>
                <a:latin typeface="Comic Sans MS"/>
              </a:rPr>
              <a:t>Shared image features</a:t>
            </a:r>
          </a:p>
        </p:txBody>
      </p:sp>
      <p:sp>
        <p:nvSpPr>
          <p:cNvPr id="133" name="Label: Predicted / future tokens"/>
          <p:cNvSpPr txBox="1"/>
          <p:nvPr/>
        </p:nvSpPr>
        <p:spPr>
          <a:xfrm>
            <a:off x="10690860" y="2506980"/>
            <a:ext cx="982980" cy="4038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Predicted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future tokens</a:t>
            </a:r>
          </a:p>
        </p:txBody>
      </p:sp>
      <p:sp>
        <p:nvSpPr>
          <p:cNvPr id="134" name="Label: Future / target tokens"/>
          <p:cNvSpPr txBox="1"/>
          <p:nvPr/>
        </p:nvSpPr>
        <p:spPr>
          <a:xfrm>
            <a:off x="12115800" y="2499360"/>
            <a:ext cx="1043940" cy="4114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Future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target tokens</a:t>
            </a:r>
          </a:p>
        </p:txBody>
      </p:sp>
      <p:sp>
        <p:nvSpPr>
          <p:cNvPr id="135" name="Predicted future token column"/>
          <p:cNvSpPr/>
          <p:nvPr/>
        </p:nvSpPr>
        <p:spPr>
          <a:xfrm>
            <a:off x="10881360" y="2964180"/>
            <a:ext cx="297180" cy="1181100"/>
          </a:xfrm>
          <a:prstGeom prst="roundRect">
            <a:avLst>
              <a:gd name="adj" fmla="val 16000"/>
            </a:avLst>
          </a:prstGeom>
          <a:solidFill>
            <a:srgbClr val="FAFAFA"/>
          </a:solidFill>
          <a:ln w="11430">
            <a:solidFill>
              <a:srgbClr val="5D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Predicted future token 1"/>
          <p:cNvSpPr/>
          <p:nvPr/>
        </p:nvSpPr>
        <p:spPr>
          <a:xfrm>
            <a:off x="10927080" y="3017520"/>
            <a:ext cx="205740" cy="20574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Predicted future token 2"/>
          <p:cNvSpPr/>
          <p:nvPr/>
        </p:nvSpPr>
        <p:spPr>
          <a:xfrm>
            <a:off x="10927080" y="3307080"/>
            <a:ext cx="205740" cy="20574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Predicted future token 3"/>
          <p:cNvSpPr/>
          <p:nvPr/>
        </p:nvSpPr>
        <p:spPr>
          <a:xfrm>
            <a:off x="10927080" y="3878579"/>
            <a:ext cx="205740" cy="20574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Label: ⋮"/>
          <p:cNvSpPr txBox="1"/>
          <p:nvPr/>
        </p:nvSpPr>
        <p:spPr>
          <a:xfrm>
            <a:off x="10896600" y="3581400"/>
            <a:ext cx="266700" cy="2514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Arial"/>
              </a:rPr>
              <a:t>⋮</a:t>
            </a:r>
          </a:p>
        </p:txBody>
      </p:sp>
      <p:sp>
        <p:nvSpPr>
          <p:cNvPr id="140" name="Future target token column"/>
          <p:cNvSpPr/>
          <p:nvPr/>
        </p:nvSpPr>
        <p:spPr>
          <a:xfrm>
            <a:off x="12512040" y="2964180"/>
            <a:ext cx="297180" cy="1181100"/>
          </a:xfrm>
          <a:prstGeom prst="roundRect">
            <a:avLst>
              <a:gd name="adj" fmla="val 16000"/>
            </a:avLst>
          </a:prstGeom>
          <a:solidFill>
            <a:srgbClr val="FAFAFA"/>
          </a:solidFill>
          <a:ln w="11430">
            <a:solidFill>
              <a:srgbClr val="5D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Future target token 1"/>
          <p:cNvSpPr/>
          <p:nvPr/>
        </p:nvSpPr>
        <p:spPr>
          <a:xfrm>
            <a:off x="12557760" y="3017520"/>
            <a:ext cx="205740" cy="20574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Future target token 2"/>
          <p:cNvSpPr/>
          <p:nvPr/>
        </p:nvSpPr>
        <p:spPr>
          <a:xfrm>
            <a:off x="12557760" y="3307080"/>
            <a:ext cx="205740" cy="20574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uture target token 3"/>
          <p:cNvSpPr/>
          <p:nvPr/>
        </p:nvSpPr>
        <p:spPr>
          <a:xfrm>
            <a:off x="12557760" y="3878579"/>
            <a:ext cx="205740" cy="205740"/>
          </a:xfrm>
          <a:prstGeom prst="roundRect">
            <a:avLst>
              <a:gd name="adj" fmla="val 6000"/>
            </a:avLst>
          </a:prstGeom>
          <a:solidFill>
            <a:srgbClr val="BEBEBE"/>
          </a:solidFill>
          <a:ln w="7620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Label: ⋮"/>
          <p:cNvSpPr txBox="1"/>
          <p:nvPr/>
        </p:nvSpPr>
        <p:spPr>
          <a:xfrm>
            <a:off x="12527280" y="3581400"/>
            <a:ext cx="266700" cy="2514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Arial"/>
              </a:rPr>
              <a:t>⋮</a:t>
            </a:r>
          </a:p>
        </p:txBody>
      </p:sp>
      <p:sp>
        <p:nvSpPr>
          <p:cNvPr id="145" name="Prediction loss"/>
          <p:cNvSpPr/>
          <p:nvPr/>
        </p:nvSpPr>
        <p:spPr>
          <a:xfrm>
            <a:off x="11407140" y="3154680"/>
            <a:ext cx="861060" cy="632460"/>
          </a:xfrm>
          <a:prstGeom prst="roundRect">
            <a:avLst>
              <a:gd name="adj" fmla="val 13000"/>
            </a:avLst>
          </a:prstGeom>
          <a:solidFill>
            <a:srgbClr val="FAD9CD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Label: Prediction / loss"/>
          <p:cNvSpPr txBox="1"/>
          <p:nvPr/>
        </p:nvSpPr>
        <p:spPr>
          <a:xfrm>
            <a:off x="11437620" y="3223260"/>
            <a:ext cx="800100" cy="4800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Prediction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loss</a:t>
            </a:r>
          </a:p>
        </p:txBody>
      </p:sp>
      <p:sp>
        <p:nvSpPr>
          <p:cNvPr id="147" name="Label: Future loss"/>
          <p:cNvSpPr txBox="1"/>
          <p:nvPr/>
        </p:nvSpPr>
        <p:spPr>
          <a:xfrm>
            <a:off x="11247120" y="3954780"/>
            <a:ext cx="119634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Future loss</a:t>
            </a:r>
          </a:p>
        </p:txBody>
      </p: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1960D4C9-59EC-D6EE-0FB7-B1606E5D4854}"/>
              </a:ext>
            </a:extLst>
          </p:cNvPr>
          <p:cNvCxnSpPr>
            <a:cxnSpLocks/>
            <a:stCxn id="43" idx="3"/>
            <a:endCxn id="68" idx="0"/>
          </p:cNvCxnSpPr>
          <p:nvPr/>
        </p:nvCxnSpPr>
        <p:spPr>
          <a:xfrm>
            <a:off x="4274820" y="1405890"/>
            <a:ext cx="750570" cy="422910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连接符: 肘形 149">
            <a:extLst>
              <a:ext uri="{FF2B5EF4-FFF2-40B4-BE49-F238E27FC236}">
                <a16:creationId xmlns:a16="http://schemas.microsoft.com/office/drawing/2014/main" id="{5072AC84-0E20-D9CE-15BA-DE725C97CDA7}"/>
              </a:ext>
            </a:extLst>
          </p:cNvPr>
          <p:cNvCxnSpPr>
            <a:cxnSpLocks/>
            <a:stCxn id="58" idx="3"/>
            <a:endCxn id="79" idx="2"/>
          </p:cNvCxnSpPr>
          <p:nvPr/>
        </p:nvCxnSpPr>
        <p:spPr>
          <a:xfrm flipV="1">
            <a:off x="3810000" y="2499360"/>
            <a:ext cx="1981200" cy="704850"/>
          </a:xfrm>
          <a:prstGeom prst="bentConnector2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123</Words>
  <Application>Microsoft Office PowerPoint</Application>
  <PresentationFormat>自定义</PresentationFormat>
  <Paragraphs>71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Comic Sans MS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— fig1_v4</dc:title>
  <dc:subject/>
  <dc:creator/>
  <cp:keywords/>
  <dc:description>generated using python-pptx</dc:description>
  <cp:lastModifiedBy>mu song</cp:lastModifiedBy>
  <cp:revision>6</cp:revision>
  <dcterms:created xsi:type="dcterms:W3CDTF">2013-01-27T09:14:16Z</dcterms:created>
  <dcterms:modified xsi:type="dcterms:W3CDTF">2026-09-05T11:17:47Z</dcterms:modified>
  <cp:category/>
</cp:coreProperties>
</file>