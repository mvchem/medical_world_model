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45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1DEE6-48C7-4755-9A7D-8FAB52A65B55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4F368-AD04-485C-90E8-A6347D40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27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4F368-AD04-485C-90E8-A6347D402FB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65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 A frame — Training"/>
          <p:cNvSpPr/>
          <p:nvPr/>
        </p:nvSpPr>
        <p:spPr>
          <a:xfrm>
            <a:off x="160421" y="444567"/>
            <a:ext cx="6139751" cy="5895985"/>
          </a:xfrm>
          <a:prstGeom prst="roundRect">
            <a:avLst>
              <a:gd name="adj" fmla="val 3500"/>
            </a:avLst>
          </a:prstGeom>
          <a:noFill/>
          <a:ln w="825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nel B frame — Validation"/>
          <p:cNvSpPr/>
          <p:nvPr/>
        </p:nvSpPr>
        <p:spPr>
          <a:xfrm>
            <a:off x="6453301" y="444567"/>
            <a:ext cx="5570985" cy="5895985"/>
          </a:xfrm>
          <a:prstGeom prst="roundRect">
            <a:avLst>
              <a:gd name="adj" fmla="val 3500"/>
            </a:avLst>
          </a:prstGeom>
          <a:noFill/>
          <a:ln w="825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nel A title"/>
          <p:cNvSpPr txBox="1"/>
          <p:nvPr/>
        </p:nvSpPr>
        <p:spPr>
          <a:xfrm>
            <a:off x="2442775" y="510159"/>
            <a:ext cx="1458373" cy="27694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111111"/>
                </a:solidFill>
                <a:latin typeface="Times New Roman"/>
              </a:rPr>
              <a:t>(a)  Training</a:t>
            </a:r>
          </a:p>
        </p:txBody>
      </p:sp>
      <p:sp>
        <p:nvSpPr>
          <p:cNvPr id="6" name="Panel B title"/>
          <p:cNvSpPr txBox="1"/>
          <p:nvPr/>
        </p:nvSpPr>
        <p:spPr>
          <a:xfrm>
            <a:off x="7423119" y="510159"/>
            <a:ext cx="3281339" cy="29151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Times New Roman"/>
              </a:rPr>
              <a:t>(b)  Validation on held-out patients</a:t>
            </a:r>
          </a:p>
        </p:txBody>
      </p:sp>
      <p:sp>
        <p:nvSpPr>
          <p:cNvPr id="7" name="Current CXR label"/>
          <p:cNvSpPr txBox="1"/>
          <p:nvPr/>
        </p:nvSpPr>
        <p:spPr>
          <a:xfrm>
            <a:off x="247923" y="2084365"/>
            <a:ext cx="772937" cy="19677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11111"/>
                </a:solidFill>
                <a:latin typeface="Times New Roman"/>
              </a:rPr>
              <a:t>Current CXR</a:t>
            </a:r>
          </a:p>
        </p:txBody>
      </p:sp>
      <p:sp>
        <p:nvSpPr>
          <p:cNvPr id="8" name="Current CXR crop — black frame"/>
          <p:cNvSpPr/>
          <p:nvPr/>
        </p:nvSpPr>
        <p:spPr>
          <a:xfrm>
            <a:off x="262507" y="2295717"/>
            <a:ext cx="787521" cy="838119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Current CXR crop" descr="current_cx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0" y="2310293"/>
            <a:ext cx="758354" cy="808967"/>
          </a:xfrm>
          <a:prstGeom prst="rect">
            <a:avLst/>
          </a:prstGeom>
        </p:spPr>
      </p:pic>
      <p:cxnSp>
        <p:nvCxnSpPr>
          <p:cNvPr id="10" name="Current CXR to frozen encoder — native elbow"/>
          <p:cNvCxnSpPr/>
          <p:nvPr/>
        </p:nvCxnSpPr>
        <p:spPr>
          <a:xfrm flipV="1">
            <a:off x="1035444" y="1537766"/>
            <a:ext cx="481264" cy="1093198"/>
          </a:xfrm>
          <a:prstGeom prst="bentConnector3">
            <a:avLst>
              <a:gd name="adj1" fmla="val 48485"/>
            </a:avLst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urrent CXR to frozen vision — native elbow"/>
          <p:cNvCxnSpPr/>
          <p:nvPr/>
        </p:nvCxnSpPr>
        <p:spPr>
          <a:xfrm>
            <a:off x="1035444" y="2630964"/>
            <a:ext cx="379177" cy="1144215"/>
          </a:xfrm>
          <a:prstGeom prst="bentConnector3">
            <a:avLst>
              <a:gd name="adj1" fmla="val 61539"/>
            </a:avLst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ozen V-JEPA2 encoder"/>
          <p:cNvSpPr/>
          <p:nvPr/>
        </p:nvSpPr>
        <p:spPr>
          <a:xfrm>
            <a:off x="1560459" y="1085910"/>
            <a:ext cx="926066" cy="918286"/>
          </a:xfrm>
          <a:prstGeom prst="roundRect">
            <a:avLst>
              <a:gd name="adj" fmla="val 9000"/>
            </a:avLst>
          </a:prstGeom>
          <a:solidFill>
            <a:srgbClr val="DCE5F0"/>
          </a:solidFill>
          <a:ln w="1079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Frozen V-JEPA2 encoder — snowflake — arm 1"/>
          <p:cNvCxnSpPr/>
          <p:nvPr/>
        </p:nvCxnSpPr>
        <p:spPr>
          <a:xfrm>
            <a:off x="1611502" y="1333702"/>
            <a:ext cx="247923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rozen V-JEPA2 encoder — snowflake — branch a 0-1"/>
          <p:cNvCxnSpPr/>
          <p:nvPr/>
        </p:nvCxnSpPr>
        <p:spPr>
          <a:xfrm flipH="1">
            <a:off x="1820778" y="1333702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rozen V-JEPA2 encoder — snowflake — branch b 0-1"/>
          <p:cNvCxnSpPr/>
          <p:nvPr/>
        </p:nvCxnSpPr>
        <p:spPr>
          <a:xfrm flipH="1" flipV="1">
            <a:off x="1820778" y="1311401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rozen V-JEPA2 encoder — snowflake — branch a 0--1"/>
          <p:cNvCxnSpPr/>
          <p:nvPr/>
        </p:nvCxnSpPr>
        <p:spPr>
          <a:xfrm flipV="1">
            <a:off x="1611502" y="1311401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rozen V-JEPA2 encoder — snowflake — branch b 0--1"/>
          <p:cNvCxnSpPr/>
          <p:nvPr/>
        </p:nvCxnSpPr>
        <p:spPr>
          <a:xfrm>
            <a:off x="1611502" y="1333702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rozen V-JEPA2 encoder — snowflake — arm 2"/>
          <p:cNvCxnSpPr/>
          <p:nvPr/>
        </p:nvCxnSpPr>
        <p:spPr>
          <a:xfrm>
            <a:off x="1673483" y="1226405"/>
            <a:ext cx="123961" cy="21459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rozen V-JEPA2 encoder — snowflake — branch a 1-1"/>
          <p:cNvCxnSpPr/>
          <p:nvPr/>
        </p:nvCxnSpPr>
        <p:spPr>
          <a:xfrm flipH="1" flipV="1">
            <a:off x="1758797" y="1418698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rozen V-JEPA2 encoder — snowflake — branch b 1-1"/>
          <p:cNvCxnSpPr/>
          <p:nvPr/>
        </p:nvCxnSpPr>
        <p:spPr>
          <a:xfrm flipV="1">
            <a:off x="1797444" y="1396396"/>
            <a:ext cx="0" cy="44603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rozen V-JEPA2 encoder — snowflake — branch a 1--1"/>
          <p:cNvCxnSpPr/>
          <p:nvPr/>
        </p:nvCxnSpPr>
        <p:spPr>
          <a:xfrm>
            <a:off x="1673483" y="1226405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rozen V-JEPA2 encoder — snowflake — branch b 1--1"/>
          <p:cNvCxnSpPr/>
          <p:nvPr/>
        </p:nvCxnSpPr>
        <p:spPr>
          <a:xfrm>
            <a:off x="1673483" y="1226405"/>
            <a:ext cx="0" cy="446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rozen V-JEPA2 encoder — snowflake — arm 3"/>
          <p:cNvCxnSpPr/>
          <p:nvPr/>
        </p:nvCxnSpPr>
        <p:spPr>
          <a:xfrm flipH="1">
            <a:off x="1673483" y="1226405"/>
            <a:ext cx="123961" cy="21459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rozen V-JEPA2 encoder — snowflake — branch a 2-1"/>
          <p:cNvCxnSpPr/>
          <p:nvPr/>
        </p:nvCxnSpPr>
        <p:spPr>
          <a:xfrm flipV="1">
            <a:off x="1673483" y="1396396"/>
            <a:ext cx="0" cy="44603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rozen V-JEPA2 encoder — snowflake — branch b 2-1"/>
          <p:cNvCxnSpPr/>
          <p:nvPr/>
        </p:nvCxnSpPr>
        <p:spPr>
          <a:xfrm flipV="1">
            <a:off x="1673483" y="1418698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rozen V-JEPA2 encoder — snowflake — branch a 2--1"/>
          <p:cNvCxnSpPr/>
          <p:nvPr/>
        </p:nvCxnSpPr>
        <p:spPr>
          <a:xfrm>
            <a:off x="1797444" y="1226405"/>
            <a:ext cx="0" cy="446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rozen V-JEPA2 encoder — snowflake — branch b 2--1"/>
          <p:cNvCxnSpPr/>
          <p:nvPr/>
        </p:nvCxnSpPr>
        <p:spPr>
          <a:xfrm flipH="1">
            <a:off x="1758797" y="1226405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ozen V-JEPA2 encoder — header"/>
          <p:cNvSpPr txBox="1"/>
          <p:nvPr/>
        </p:nvSpPr>
        <p:spPr>
          <a:xfrm>
            <a:off x="1808382" y="1173366"/>
            <a:ext cx="641684" cy="17491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11111"/>
                </a:solidFill>
                <a:latin typeface="Times New Roman"/>
              </a:rPr>
              <a:t>Frozen</a:t>
            </a:r>
          </a:p>
        </p:txBody>
      </p:sp>
      <p:sp>
        <p:nvSpPr>
          <p:cNvPr id="33" name="Frozen V-JEPA2 encoder — label"/>
          <p:cNvSpPr txBox="1"/>
          <p:nvPr/>
        </p:nvSpPr>
        <p:spPr>
          <a:xfrm>
            <a:off x="1596918" y="1362854"/>
            <a:ext cx="853148" cy="61219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11111"/>
                </a:solidFill>
                <a:latin typeface="Times New Roman"/>
              </a:rPr>
              <a:t>V-JEPA2
encoder</a:t>
            </a:r>
          </a:p>
        </p:txBody>
      </p:sp>
      <p:cxnSp>
        <p:nvCxnSpPr>
          <p:cNvPr id="34" name="Encoder to current latent"/>
          <p:cNvCxnSpPr/>
          <p:nvPr/>
        </p:nvCxnSpPr>
        <p:spPr>
          <a:xfrm>
            <a:off x="2508401" y="1545054"/>
            <a:ext cx="342718" cy="0"/>
          </a:xfrm>
          <a:prstGeom prst="line">
            <a:avLst/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rrent latent label"/>
          <p:cNvSpPr txBox="1"/>
          <p:nvPr/>
        </p:nvSpPr>
        <p:spPr>
          <a:xfrm>
            <a:off x="3033416" y="1224382"/>
            <a:ext cx="1057320" cy="20406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11111"/>
                </a:solidFill>
                <a:latin typeface="Times New Roman"/>
              </a:rPr>
              <a:t>current latent Sₜ</a:t>
            </a:r>
          </a:p>
        </p:txBody>
      </p:sp>
      <p:sp>
        <p:nvSpPr>
          <p:cNvPr id="36" name="Current latent tokens"/>
          <p:cNvSpPr/>
          <p:nvPr/>
        </p:nvSpPr>
        <p:spPr>
          <a:xfrm>
            <a:off x="2909454" y="1457598"/>
            <a:ext cx="1217741" cy="218639"/>
          </a:xfrm>
          <a:prstGeom prst="roundRect">
            <a:avLst>
              <a:gd name="adj" fmla="val 18000"/>
            </a:avLst>
          </a:prstGeom>
          <a:solidFill>
            <a:srgbClr val="EDF2F8"/>
          </a:solidFill>
          <a:ln w="952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urrent latent tokens — token 1"/>
          <p:cNvSpPr/>
          <p:nvPr/>
        </p:nvSpPr>
        <p:spPr>
          <a:xfrm>
            <a:off x="2960497" y="1519546"/>
            <a:ext cx="94794" cy="94743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urrent latent tokens — token 2"/>
          <p:cNvSpPr/>
          <p:nvPr/>
        </p:nvSpPr>
        <p:spPr>
          <a:xfrm>
            <a:off x="3091751" y="1519546"/>
            <a:ext cx="94794" cy="94743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urrent latent tokens — token 3"/>
          <p:cNvSpPr/>
          <p:nvPr/>
        </p:nvSpPr>
        <p:spPr>
          <a:xfrm>
            <a:off x="3223004" y="1519546"/>
            <a:ext cx="94794" cy="94743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urrent latent tokens — token 4"/>
          <p:cNvSpPr/>
          <p:nvPr/>
        </p:nvSpPr>
        <p:spPr>
          <a:xfrm>
            <a:off x="3354258" y="1519546"/>
            <a:ext cx="94794" cy="94743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urrent latent tokens — ellipsis"/>
          <p:cNvSpPr txBox="1"/>
          <p:nvPr/>
        </p:nvSpPr>
        <p:spPr>
          <a:xfrm>
            <a:off x="3478220" y="1457598"/>
            <a:ext cx="182296" cy="19677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E527E"/>
                </a:solidFill>
                <a:latin typeface="Times New Roman"/>
              </a:rPr>
              <a:t>···</a:t>
            </a:r>
          </a:p>
        </p:txBody>
      </p:sp>
      <p:sp>
        <p:nvSpPr>
          <p:cNvPr id="42" name="Current latent tokens — final token 1"/>
          <p:cNvSpPr/>
          <p:nvPr/>
        </p:nvSpPr>
        <p:spPr>
          <a:xfrm>
            <a:off x="3850105" y="1519546"/>
            <a:ext cx="94794" cy="94743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Current latent tokens — final token 2"/>
          <p:cNvSpPr/>
          <p:nvPr/>
        </p:nvSpPr>
        <p:spPr>
          <a:xfrm>
            <a:off x="3981358" y="1519546"/>
            <a:ext cx="94794" cy="94743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Frozen Qwen vision"/>
          <p:cNvSpPr/>
          <p:nvPr/>
        </p:nvSpPr>
        <p:spPr>
          <a:xfrm>
            <a:off x="1451081" y="3352476"/>
            <a:ext cx="787521" cy="830831"/>
          </a:xfrm>
          <a:prstGeom prst="roundRect">
            <a:avLst>
              <a:gd name="adj" fmla="val 9000"/>
            </a:avLst>
          </a:prstGeom>
          <a:solidFill>
            <a:srgbClr val="DCE5F0"/>
          </a:solidFill>
          <a:ln w="1079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Frozen Qwen vision — snowflake — arm 1"/>
          <p:cNvCxnSpPr/>
          <p:nvPr/>
        </p:nvCxnSpPr>
        <p:spPr>
          <a:xfrm>
            <a:off x="1502124" y="3600267"/>
            <a:ext cx="247923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Frozen Qwen vision — snowflake — branch a 0-1"/>
          <p:cNvCxnSpPr/>
          <p:nvPr/>
        </p:nvCxnSpPr>
        <p:spPr>
          <a:xfrm flipH="1">
            <a:off x="1711400" y="3600267"/>
            <a:ext cx="38647" cy="223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Frozen Qwen vision — snowflake — branch b 0-1"/>
          <p:cNvCxnSpPr/>
          <p:nvPr/>
        </p:nvCxnSpPr>
        <p:spPr>
          <a:xfrm flipH="1" flipV="1">
            <a:off x="1711400" y="3577966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Frozen Qwen vision — snowflake — branch a 0--1"/>
          <p:cNvCxnSpPr/>
          <p:nvPr/>
        </p:nvCxnSpPr>
        <p:spPr>
          <a:xfrm flipV="1">
            <a:off x="1502124" y="3577966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Frozen Qwen vision — snowflake — branch b 0--1"/>
          <p:cNvCxnSpPr/>
          <p:nvPr/>
        </p:nvCxnSpPr>
        <p:spPr>
          <a:xfrm>
            <a:off x="1502124" y="3600267"/>
            <a:ext cx="38647" cy="223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Frozen Qwen vision — snowflake — arm 2"/>
          <p:cNvCxnSpPr/>
          <p:nvPr/>
        </p:nvCxnSpPr>
        <p:spPr>
          <a:xfrm>
            <a:off x="1564105" y="3492970"/>
            <a:ext cx="123961" cy="21459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Frozen Qwen vision — snowflake — branch a 1-1"/>
          <p:cNvCxnSpPr/>
          <p:nvPr/>
        </p:nvCxnSpPr>
        <p:spPr>
          <a:xfrm flipH="1" flipV="1">
            <a:off x="1649419" y="3685263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Frozen Qwen vision — snowflake — branch b 1-1"/>
          <p:cNvCxnSpPr/>
          <p:nvPr/>
        </p:nvCxnSpPr>
        <p:spPr>
          <a:xfrm flipV="1">
            <a:off x="1688066" y="3662962"/>
            <a:ext cx="0" cy="446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Frozen Qwen vision — snowflake — branch a 1--1"/>
          <p:cNvCxnSpPr/>
          <p:nvPr/>
        </p:nvCxnSpPr>
        <p:spPr>
          <a:xfrm>
            <a:off x="1564105" y="3492970"/>
            <a:ext cx="38647" cy="223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Frozen Qwen vision — snowflake — branch b 1--1"/>
          <p:cNvCxnSpPr/>
          <p:nvPr/>
        </p:nvCxnSpPr>
        <p:spPr>
          <a:xfrm>
            <a:off x="1564105" y="3492970"/>
            <a:ext cx="0" cy="44603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Frozen Qwen vision — snowflake — arm 3"/>
          <p:cNvCxnSpPr/>
          <p:nvPr/>
        </p:nvCxnSpPr>
        <p:spPr>
          <a:xfrm flipH="1">
            <a:off x="1564105" y="3492970"/>
            <a:ext cx="123961" cy="21459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Frozen Qwen vision — snowflake — branch a 2-1"/>
          <p:cNvCxnSpPr/>
          <p:nvPr/>
        </p:nvCxnSpPr>
        <p:spPr>
          <a:xfrm flipV="1">
            <a:off x="1564105" y="3662962"/>
            <a:ext cx="0" cy="446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Frozen Qwen vision — snowflake — branch b 2-1"/>
          <p:cNvCxnSpPr/>
          <p:nvPr/>
        </p:nvCxnSpPr>
        <p:spPr>
          <a:xfrm flipV="1">
            <a:off x="1564105" y="3685263"/>
            <a:ext cx="38647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Frozen Qwen vision — snowflake — branch a 2--1"/>
          <p:cNvCxnSpPr/>
          <p:nvPr/>
        </p:nvCxnSpPr>
        <p:spPr>
          <a:xfrm>
            <a:off x="1688066" y="3492970"/>
            <a:ext cx="0" cy="44603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Frozen Qwen vision — snowflake — branch b 2--1"/>
          <p:cNvCxnSpPr/>
          <p:nvPr/>
        </p:nvCxnSpPr>
        <p:spPr>
          <a:xfrm flipH="1">
            <a:off x="1649419" y="3492970"/>
            <a:ext cx="38647" cy="223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ozen Qwen vision — header"/>
          <p:cNvSpPr txBox="1"/>
          <p:nvPr/>
        </p:nvSpPr>
        <p:spPr>
          <a:xfrm>
            <a:off x="1699004" y="3439931"/>
            <a:ext cx="503138" cy="17491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11111"/>
                </a:solidFill>
                <a:latin typeface="Times New Roman"/>
              </a:rPr>
              <a:t>Frozen</a:t>
            </a:r>
          </a:p>
        </p:txBody>
      </p:sp>
      <p:sp>
        <p:nvSpPr>
          <p:cNvPr id="65" name="Frozen Qwen vision — label"/>
          <p:cNvSpPr txBox="1"/>
          <p:nvPr/>
        </p:nvSpPr>
        <p:spPr>
          <a:xfrm>
            <a:off x="1487540" y="3629419"/>
            <a:ext cx="714602" cy="52473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11111"/>
                </a:solidFill>
                <a:latin typeface="Times New Roman"/>
              </a:rPr>
              <a:t>Qwen
vision</a:t>
            </a:r>
          </a:p>
        </p:txBody>
      </p:sp>
      <p:cxnSp>
        <p:nvCxnSpPr>
          <p:cNvPr id="66" name="Qwen vision to LoRA"/>
          <p:cNvCxnSpPr/>
          <p:nvPr/>
        </p:nvCxnSpPr>
        <p:spPr>
          <a:xfrm>
            <a:off x="2260478" y="3804331"/>
            <a:ext cx="204172" cy="0"/>
          </a:xfrm>
          <a:prstGeom prst="line">
            <a:avLst/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rainable Qwen LoRA"/>
          <p:cNvSpPr/>
          <p:nvPr/>
        </p:nvSpPr>
        <p:spPr>
          <a:xfrm>
            <a:off x="2508401" y="3374340"/>
            <a:ext cx="882315" cy="1013030"/>
          </a:xfrm>
          <a:prstGeom prst="roundRect">
            <a:avLst>
              <a:gd name="adj" fmla="val 9000"/>
            </a:avLst>
          </a:prstGeom>
          <a:solidFill>
            <a:srgbClr val="FFF4EA"/>
          </a:solidFill>
          <a:ln w="1079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rainable Qwen LoRA — flame — tip"/>
          <p:cNvSpPr/>
          <p:nvPr/>
        </p:nvSpPr>
        <p:spPr>
          <a:xfrm rot="21120000">
            <a:off x="2627988" y="3490947"/>
            <a:ext cx="99461" cy="167915"/>
          </a:xfrm>
          <a:prstGeom prst="triangle">
            <a:avLst/>
          </a:prstGeom>
          <a:solidFill>
            <a:srgbClr val="E26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rainable Qwen LoRA — flame — body"/>
          <p:cNvSpPr/>
          <p:nvPr/>
        </p:nvSpPr>
        <p:spPr>
          <a:xfrm>
            <a:off x="2608737" y="3579569"/>
            <a:ext cx="134753" cy="139929"/>
          </a:xfrm>
          <a:prstGeom prst="ellipse">
            <a:avLst/>
          </a:prstGeom>
          <a:solidFill>
            <a:srgbClr val="E26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rainable Qwen LoRA — flame — inner tip"/>
          <p:cNvSpPr/>
          <p:nvPr/>
        </p:nvSpPr>
        <p:spPr>
          <a:xfrm rot="240000">
            <a:off x="2660072" y="3591230"/>
            <a:ext cx="43313" cy="81625"/>
          </a:xfrm>
          <a:prstGeom prst="triangle">
            <a:avLst/>
          </a:prstGeom>
          <a:solidFill>
            <a:srgbClr val="FFF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rainable Qwen LoRA — flame — inner body"/>
          <p:cNvSpPr/>
          <p:nvPr/>
        </p:nvSpPr>
        <p:spPr>
          <a:xfrm>
            <a:off x="2655260" y="3647202"/>
            <a:ext cx="51334" cy="51307"/>
          </a:xfrm>
          <a:prstGeom prst="ellipse">
            <a:avLst/>
          </a:prstGeom>
          <a:solidFill>
            <a:srgbClr val="FFF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rainable Qwen LoRA — header"/>
          <p:cNvSpPr txBox="1"/>
          <p:nvPr/>
        </p:nvSpPr>
        <p:spPr>
          <a:xfrm>
            <a:off x="2756325" y="3461795"/>
            <a:ext cx="597932" cy="17491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11111"/>
                </a:solidFill>
                <a:latin typeface="Times New Roman"/>
              </a:rPr>
              <a:t>Trainable</a:t>
            </a:r>
          </a:p>
        </p:txBody>
      </p:sp>
      <p:sp>
        <p:nvSpPr>
          <p:cNvPr id="73" name="Trainable Qwen LoRA — label"/>
          <p:cNvSpPr txBox="1"/>
          <p:nvPr/>
        </p:nvSpPr>
        <p:spPr>
          <a:xfrm>
            <a:off x="2544861" y="3651283"/>
            <a:ext cx="809397" cy="70693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11111"/>
                </a:solidFill>
                <a:latin typeface="Times New Roman"/>
              </a:rPr>
              <a:t>Qwen LoRA
+ 24 learned
query tokens</a:t>
            </a:r>
          </a:p>
        </p:txBody>
      </p:sp>
      <p:cxnSp>
        <p:nvCxnSpPr>
          <p:cNvPr id="74" name="LoRA to transition queries"/>
          <p:cNvCxnSpPr/>
          <p:nvPr/>
        </p:nvCxnSpPr>
        <p:spPr>
          <a:xfrm>
            <a:off x="3419885" y="3833483"/>
            <a:ext cx="160421" cy="0"/>
          </a:xfrm>
          <a:prstGeom prst="line">
            <a:avLst/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ransition query tokens"/>
          <p:cNvSpPr/>
          <p:nvPr/>
        </p:nvSpPr>
        <p:spPr>
          <a:xfrm>
            <a:off x="3616765" y="3760603"/>
            <a:ext cx="590641" cy="196775"/>
          </a:xfrm>
          <a:prstGeom prst="roundRect">
            <a:avLst>
              <a:gd name="adj" fmla="val 18000"/>
            </a:avLst>
          </a:prstGeom>
          <a:solidFill>
            <a:srgbClr val="FFF4EA"/>
          </a:solidFill>
          <a:ln w="952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ransition query tokens — token 1"/>
          <p:cNvSpPr/>
          <p:nvPr/>
        </p:nvSpPr>
        <p:spPr>
          <a:xfrm>
            <a:off x="3667808" y="3811619"/>
            <a:ext cx="94794" cy="94743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ransition query tokens — token 2"/>
          <p:cNvSpPr/>
          <p:nvPr/>
        </p:nvSpPr>
        <p:spPr>
          <a:xfrm>
            <a:off x="3799062" y="3811619"/>
            <a:ext cx="94794" cy="94743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ransition query tokens — token 3"/>
          <p:cNvSpPr/>
          <p:nvPr/>
        </p:nvSpPr>
        <p:spPr>
          <a:xfrm>
            <a:off x="3930315" y="3811619"/>
            <a:ext cx="94794" cy="94743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ransition query tokens — final token 1"/>
          <p:cNvSpPr/>
          <p:nvPr/>
        </p:nvSpPr>
        <p:spPr>
          <a:xfrm>
            <a:off x="4061569" y="3811619"/>
            <a:ext cx="94794" cy="94743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ransition queries label"/>
          <p:cNvSpPr txBox="1"/>
          <p:nvPr/>
        </p:nvSpPr>
        <p:spPr>
          <a:xfrm>
            <a:off x="3594889" y="3993819"/>
            <a:ext cx="634392" cy="37168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11111"/>
                </a:solidFill>
                <a:latin typeface="Times New Roman"/>
              </a:rPr>
              <a:t>transition
queries qₜ</a:t>
            </a:r>
          </a:p>
        </p:txBody>
      </p:sp>
      <p:sp>
        <p:nvSpPr>
          <p:cNvPr id="86" name="Trainable VLA-JEPA predictor"/>
          <p:cNvSpPr/>
          <p:nvPr/>
        </p:nvSpPr>
        <p:spPr>
          <a:xfrm>
            <a:off x="4236574" y="3097396"/>
            <a:ext cx="838564" cy="757951"/>
          </a:xfrm>
          <a:prstGeom prst="roundRect">
            <a:avLst>
              <a:gd name="adj" fmla="val 9000"/>
            </a:avLst>
          </a:prstGeom>
          <a:solidFill>
            <a:srgbClr val="FFF4EA"/>
          </a:solidFill>
          <a:ln w="1079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rainable VLA-JEPA predictor — flame — tip"/>
          <p:cNvSpPr/>
          <p:nvPr/>
        </p:nvSpPr>
        <p:spPr>
          <a:xfrm rot="21120000">
            <a:off x="4356160" y="3214004"/>
            <a:ext cx="99461" cy="167915"/>
          </a:xfrm>
          <a:prstGeom prst="triangle">
            <a:avLst/>
          </a:prstGeom>
          <a:solidFill>
            <a:srgbClr val="E26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rainable VLA-JEPA predictor — flame — body"/>
          <p:cNvSpPr/>
          <p:nvPr/>
        </p:nvSpPr>
        <p:spPr>
          <a:xfrm>
            <a:off x="4336910" y="3302626"/>
            <a:ext cx="134753" cy="139929"/>
          </a:xfrm>
          <a:prstGeom prst="ellipse">
            <a:avLst/>
          </a:prstGeom>
          <a:solidFill>
            <a:srgbClr val="E26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rainable VLA-JEPA predictor — flame — inner tip"/>
          <p:cNvSpPr/>
          <p:nvPr/>
        </p:nvSpPr>
        <p:spPr>
          <a:xfrm rot="240000">
            <a:off x="4388244" y="3314287"/>
            <a:ext cx="43313" cy="81625"/>
          </a:xfrm>
          <a:prstGeom prst="triangle">
            <a:avLst/>
          </a:prstGeom>
          <a:solidFill>
            <a:srgbClr val="FFF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rainable VLA-JEPA predictor — flame — inner body"/>
          <p:cNvSpPr/>
          <p:nvPr/>
        </p:nvSpPr>
        <p:spPr>
          <a:xfrm>
            <a:off x="4383432" y="3370258"/>
            <a:ext cx="51334" cy="51307"/>
          </a:xfrm>
          <a:prstGeom prst="ellipse">
            <a:avLst/>
          </a:prstGeom>
          <a:solidFill>
            <a:srgbClr val="FFF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rainable VLA-JEPA predictor — header"/>
          <p:cNvSpPr txBox="1"/>
          <p:nvPr/>
        </p:nvSpPr>
        <p:spPr>
          <a:xfrm>
            <a:off x="4484497" y="3184852"/>
            <a:ext cx="554181" cy="17491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11111"/>
                </a:solidFill>
                <a:latin typeface="Times New Roman"/>
              </a:rPr>
              <a:t>Trainable</a:t>
            </a:r>
          </a:p>
        </p:txBody>
      </p:sp>
      <p:sp>
        <p:nvSpPr>
          <p:cNvPr id="92" name="Trainable VLA-JEPA predictor — label"/>
          <p:cNvSpPr txBox="1"/>
          <p:nvPr/>
        </p:nvSpPr>
        <p:spPr>
          <a:xfrm>
            <a:off x="4273033" y="3374340"/>
            <a:ext cx="765645" cy="45185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11111"/>
                </a:solidFill>
                <a:latin typeface="Times New Roman"/>
              </a:rPr>
              <a:t>VLA-JEPA
predictor</a:t>
            </a:r>
          </a:p>
        </p:txBody>
      </p:sp>
      <p:sp>
        <p:nvSpPr>
          <p:cNvPr id="93" name="Learned query tokens"/>
          <p:cNvSpPr/>
          <p:nvPr/>
        </p:nvSpPr>
        <p:spPr>
          <a:xfrm>
            <a:off x="2267770" y="4536956"/>
            <a:ext cx="962526" cy="240503"/>
          </a:xfrm>
          <a:prstGeom prst="roundRect">
            <a:avLst>
              <a:gd name="adj" fmla="val 18000"/>
            </a:avLst>
          </a:prstGeom>
          <a:solidFill>
            <a:srgbClr val="FFF4EA"/>
          </a:solidFill>
          <a:ln w="9525">
            <a:solidFill>
              <a:srgbClr val="E2671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Learned query tokens — token 1"/>
          <p:cNvSpPr/>
          <p:nvPr/>
        </p:nvSpPr>
        <p:spPr>
          <a:xfrm>
            <a:off x="2318813" y="4609836"/>
            <a:ext cx="94794" cy="94743"/>
          </a:xfrm>
          <a:prstGeom prst="ellipse">
            <a:avLst/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Learned query tokens — token 2"/>
          <p:cNvSpPr/>
          <p:nvPr/>
        </p:nvSpPr>
        <p:spPr>
          <a:xfrm>
            <a:off x="2450066" y="4609836"/>
            <a:ext cx="94794" cy="94743"/>
          </a:xfrm>
          <a:prstGeom prst="ellipse">
            <a:avLst/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Learned query tokens — token 3"/>
          <p:cNvSpPr/>
          <p:nvPr/>
        </p:nvSpPr>
        <p:spPr>
          <a:xfrm>
            <a:off x="2581320" y="4609836"/>
            <a:ext cx="94794" cy="94743"/>
          </a:xfrm>
          <a:prstGeom prst="ellipse">
            <a:avLst/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Learned query tokens — token 4"/>
          <p:cNvSpPr/>
          <p:nvPr/>
        </p:nvSpPr>
        <p:spPr>
          <a:xfrm>
            <a:off x="2712574" y="4609836"/>
            <a:ext cx="94794" cy="94743"/>
          </a:xfrm>
          <a:prstGeom prst="ellipse">
            <a:avLst/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Learned query tokens — ellipsis"/>
          <p:cNvSpPr txBox="1"/>
          <p:nvPr/>
        </p:nvSpPr>
        <p:spPr>
          <a:xfrm>
            <a:off x="2798593" y="4553811"/>
            <a:ext cx="182296" cy="21645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dirty="0">
                <a:solidFill>
                  <a:srgbClr val="E26715"/>
                </a:solidFill>
                <a:latin typeface="Times New Roman"/>
              </a:rPr>
              <a:t>···</a:t>
            </a:r>
          </a:p>
        </p:txBody>
      </p:sp>
      <p:sp>
        <p:nvSpPr>
          <p:cNvPr id="99" name="Learned query tokens — final token 1"/>
          <p:cNvSpPr/>
          <p:nvPr/>
        </p:nvSpPr>
        <p:spPr>
          <a:xfrm>
            <a:off x="2953205" y="4609836"/>
            <a:ext cx="94794" cy="94743"/>
          </a:xfrm>
          <a:prstGeom prst="ellipse">
            <a:avLst/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Learned query tokens — final token 2"/>
          <p:cNvSpPr/>
          <p:nvPr/>
        </p:nvSpPr>
        <p:spPr>
          <a:xfrm>
            <a:off x="3084459" y="4609836"/>
            <a:ext cx="94794" cy="94743"/>
          </a:xfrm>
          <a:prstGeom prst="ellipse">
            <a:avLst/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1" name="Learned queries into LoRA"/>
          <p:cNvCxnSpPr/>
          <p:nvPr/>
        </p:nvCxnSpPr>
        <p:spPr>
          <a:xfrm flipV="1">
            <a:off x="2749033" y="4434925"/>
            <a:ext cx="0" cy="102031"/>
          </a:xfrm>
          <a:prstGeom prst="line">
            <a:avLst/>
          </a:prstGeom>
          <a:ln w="15875">
            <a:solidFill>
              <a:srgbClr val="E2671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Current report card"/>
          <p:cNvSpPr/>
          <p:nvPr/>
        </p:nvSpPr>
        <p:spPr>
          <a:xfrm>
            <a:off x="1735464" y="5083556"/>
            <a:ext cx="802105" cy="539311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Current report card — document"/>
          <p:cNvSpPr/>
          <p:nvPr/>
        </p:nvSpPr>
        <p:spPr>
          <a:xfrm>
            <a:off x="1837550" y="5200164"/>
            <a:ext cx="189588" cy="262367"/>
          </a:xfrm>
          <a:prstGeom prst="flowChartDocument">
            <a:avLst/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4" name="Current report card — document line 1"/>
          <p:cNvCxnSpPr/>
          <p:nvPr/>
        </p:nvCxnSpPr>
        <p:spPr>
          <a:xfrm>
            <a:off x="1874009" y="5302196"/>
            <a:ext cx="109378" cy="0"/>
          </a:xfrm>
          <a:prstGeom prst="line">
            <a:avLst/>
          </a:prstGeom>
          <a:ln w="88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urrent report card — document line 2"/>
          <p:cNvCxnSpPr/>
          <p:nvPr/>
        </p:nvCxnSpPr>
        <p:spPr>
          <a:xfrm>
            <a:off x="1874009" y="5345923"/>
            <a:ext cx="109378" cy="0"/>
          </a:xfrm>
          <a:prstGeom prst="line">
            <a:avLst/>
          </a:prstGeom>
          <a:ln w="88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urrent report card — document line 3"/>
          <p:cNvCxnSpPr/>
          <p:nvPr/>
        </p:nvCxnSpPr>
        <p:spPr>
          <a:xfrm>
            <a:off x="1874009" y="5389651"/>
            <a:ext cx="109378" cy="0"/>
          </a:xfrm>
          <a:prstGeom prst="line">
            <a:avLst/>
          </a:prstGeom>
          <a:ln w="889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urrent report card — label"/>
          <p:cNvSpPr txBox="1"/>
          <p:nvPr/>
        </p:nvSpPr>
        <p:spPr>
          <a:xfrm>
            <a:off x="2056306" y="5112708"/>
            <a:ext cx="452095" cy="48100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11111"/>
                </a:solidFill>
                <a:latin typeface="Times New Roman"/>
              </a:rPr>
              <a:t>Current
Report</a:t>
            </a:r>
          </a:p>
        </p:txBody>
      </p:sp>
      <p:sp>
        <p:nvSpPr>
          <p:cNvPr id="108" name="Coarse forecast horizon card"/>
          <p:cNvSpPr/>
          <p:nvPr/>
        </p:nvSpPr>
        <p:spPr>
          <a:xfrm>
            <a:off x="2829243" y="5083556"/>
            <a:ext cx="802105" cy="539311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Coarse forecast horizon card — calendar"/>
          <p:cNvSpPr/>
          <p:nvPr/>
        </p:nvSpPr>
        <p:spPr>
          <a:xfrm>
            <a:off x="2916746" y="5207452"/>
            <a:ext cx="211464" cy="24779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arse forecast horizon card — calendar header"/>
          <p:cNvCxnSpPr/>
          <p:nvPr/>
        </p:nvCxnSpPr>
        <p:spPr>
          <a:xfrm>
            <a:off x="2916746" y="5265756"/>
            <a:ext cx="211464" cy="0"/>
          </a:xfrm>
          <a:prstGeom prst="line">
            <a:avLst/>
          </a:prstGeom>
          <a:ln w="25400">
            <a:solidFill>
              <a:srgbClr val="2E5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Coarse forecast horizon card — calendar day 0-0"/>
          <p:cNvSpPr/>
          <p:nvPr/>
        </p:nvSpPr>
        <p:spPr>
          <a:xfrm>
            <a:off x="2945913" y="5294908"/>
            <a:ext cx="21875" cy="21863"/>
          </a:xfrm>
          <a:prstGeom prst="roundRect">
            <a:avLst>
              <a:gd name="adj" fmla="val 0"/>
            </a:avLst>
          </a:prstGeom>
          <a:solidFill>
            <a:srgbClr val="2E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Coarse forecast horizon card — calendar day 1-0"/>
          <p:cNvSpPr/>
          <p:nvPr/>
        </p:nvSpPr>
        <p:spPr>
          <a:xfrm>
            <a:off x="2945913" y="5345923"/>
            <a:ext cx="21875" cy="21863"/>
          </a:xfrm>
          <a:prstGeom prst="roundRect">
            <a:avLst>
              <a:gd name="adj" fmla="val 0"/>
            </a:avLst>
          </a:prstGeom>
          <a:solidFill>
            <a:srgbClr val="2E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Coarse forecast horizon card — calendar day 2-0"/>
          <p:cNvSpPr/>
          <p:nvPr/>
        </p:nvSpPr>
        <p:spPr>
          <a:xfrm>
            <a:off x="2945913" y="5396939"/>
            <a:ext cx="21875" cy="21863"/>
          </a:xfrm>
          <a:prstGeom prst="roundRect">
            <a:avLst>
              <a:gd name="adj" fmla="val 0"/>
            </a:avLst>
          </a:prstGeom>
          <a:solidFill>
            <a:srgbClr val="2E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Coarse forecast horizon card — calendar day 0-1"/>
          <p:cNvSpPr/>
          <p:nvPr/>
        </p:nvSpPr>
        <p:spPr>
          <a:xfrm>
            <a:off x="2996956" y="5294908"/>
            <a:ext cx="21875" cy="21863"/>
          </a:xfrm>
          <a:prstGeom prst="roundRect">
            <a:avLst>
              <a:gd name="adj" fmla="val 0"/>
            </a:avLst>
          </a:prstGeom>
          <a:solidFill>
            <a:srgbClr val="2E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Coarse forecast horizon card — calendar day 1-1"/>
          <p:cNvSpPr/>
          <p:nvPr/>
        </p:nvSpPr>
        <p:spPr>
          <a:xfrm>
            <a:off x="2996956" y="5345923"/>
            <a:ext cx="21875" cy="21863"/>
          </a:xfrm>
          <a:prstGeom prst="roundRect">
            <a:avLst>
              <a:gd name="adj" fmla="val 0"/>
            </a:avLst>
          </a:prstGeom>
          <a:solidFill>
            <a:srgbClr val="2E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Coarse forecast horizon card — calendar day 2-1"/>
          <p:cNvSpPr/>
          <p:nvPr/>
        </p:nvSpPr>
        <p:spPr>
          <a:xfrm>
            <a:off x="2996956" y="5396939"/>
            <a:ext cx="21875" cy="21863"/>
          </a:xfrm>
          <a:prstGeom prst="roundRect">
            <a:avLst>
              <a:gd name="adj" fmla="val 0"/>
            </a:avLst>
          </a:prstGeom>
          <a:solidFill>
            <a:srgbClr val="2E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Coarse forecast horizon card — calendar day 0-2"/>
          <p:cNvSpPr/>
          <p:nvPr/>
        </p:nvSpPr>
        <p:spPr>
          <a:xfrm>
            <a:off x="3047999" y="5294908"/>
            <a:ext cx="21875" cy="21863"/>
          </a:xfrm>
          <a:prstGeom prst="roundRect">
            <a:avLst>
              <a:gd name="adj" fmla="val 0"/>
            </a:avLst>
          </a:prstGeom>
          <a:solidFill>
            <a:srgbClr val="2E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Coarse forecast horizon card — calendar day 1-2"/>
          <p:cNvSpPr/>
          <p:nvPr/>
        </p:nvSpPr>
        <p:spPr>
          <a:xfrm>
            <a:off x="3047999" y="5345923"/>
            <a:ext cx="21875" cy="21863"/>
          </a:xfrm>
          <a:prstGeom prst="roundRect">
            <a:avLst>
              <a:gd name="adj" fmla="val 0"/>
            </a:avLst>
          </a:prstGeom>
          <a:solidFill>
            <a:srgbClr val="2E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Coarse forecast horizon card — calendar day 2-2"/>
          <p:cNvSpPr/>
          <p:nvPr/>
        </p:nvSpPr>
        <p:spPr>
          <a:xfrm>
            <a:off x="3047999" y="5396939"/>
            <a:ext cx="21875" cy="21863"/>
          </a:xfrm>
          <a:prstGeom prst="roundRect">
            <a:avLst>
              <a:gd name="adj" fmla="val 0"/>
            </a:avLst>
          </a:prstGeom>
          <a:solidFill>
            <a:srgbClr val="2E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Coarse forecast horizon card — label"/>
          <p:cNvSpPr txBox="1"/>
          <p:nvPr/>
        </p:nvSpPr>
        <p:spPr>
          <a:xfrm>
            <a:off x="3164669" y="5112708"/>
            <a:ext cx="437511" cy="48100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11111"/>
                </a:solidFill>
                <a:latin typeface="Times New Roman"/>
              </a:rPr>
              <a:t>Coarse
Forecast
Horizon</a:t>
            </a:r>
          </a:p>
        </p:txBody>
      </p:sp>
      <p:cxnSp>
        <p:nvCxnSpPr>
          <p:cNvPr id="121" name="Report and horizon bracket — segment 1"/>
          <p:cNvCxnSpPr/>
          <p:nvPr/>
        </p:nvCxnSpPr>
        <p:spPr>
          <a:xfrm flipV="1">
            <a:off x="2107349" y="4945084"/>
            <a:ext cx="0" cy="138472"/>
          </a:xfrm>
          <a:prstGeom prst="line">
            <a:avLst/>
          </a:prstGeom>
          <a:ln w="15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Report and horizon bracket — segment 2"/>
          <p:cNvCxnSpPr/>
          <p:nvPr/>
        </p:nvCxnSpPr>
        <p:spPr>
          <a:xfrm>
            <a:off x="2107349" y="4945084"/>
            <a:ext cx="1210449" cy="0"/>
          </a:xfrm>
          <a:prstGeom prst="line">
            <a:avLst/>
          </a:prstGeom>
          <a:ln w="15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Report and horizon bracket — segment 3"/>
          <p:cNvCxnSpPr/>
          <p:nvPr/>
        </p:nvCxnSpPr>
        <p:spPr>
          <a:xfrm>
            <a:off x="3317798" y="4945084"/>
            <a:ext cx="0" cy="138472"/>
          </a:xfrm>
          <a:prstGeom prst="line">
            <a:avLst/>
          </a:prstGeom>
          <a:ln w="15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linical context to query tokens"/>
          <p:cNvCxnSpPr/>
          <p:nvPr/>
        </p:nvCxnSpPr>
        <p:spPr>
          <a:xfrm flipV="1">
            <a:off x="2734449" y="4813900"/>
            <a:ext cx="0" cy="131184"/>
          </a:xfrm>
          <a:prstGeom prst="line">
            <a:avLst/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arget-only branch frame"/>
          <p:cNvSpPr/>
          <p:nvPr/>
        </p:nvSpPr>
        <p:spPr>
          <a:xfrm>
            <a:off x="5250143" y="794391"/>
            <a:ext cx="977110" cy="2448765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246A2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Future CXR target-only label"/>
          <p:cNvSpPr txBox="1"/>
          <p:nvPr/>
        </p:nvSpPr>
        <p:spPr>
          <a:xfrm>
            <a:off x="5330353" y="845407"/>
            <a:ext cx="816688" cy="30609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246A24"/>
                </a:solidFill>
                <a:latin typeface="Times New Roman"/>
              </a:rPr>
              <a:t>Future CXR
(target only)</a:t>
            </a:r>
          </a:p>
        </p:txBody>
      </p:sp>
      <p:sp>
        <p:nvSpPr>
          <p:cNvPr id="127" name="Future CXR crop — black frame"/>
          <p:cNvSpPr/>
          <p:nvPr/>
        </p:nvSpPr>
        <p:spPr>
          <a:xfrm>
            <a:off x="5359521" y="1180654"/>
            <a:ext cx="765645" cy="772527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8" name="Future CXR crop" descr="future_cx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105" y="1195230"/>
            <a:ext cx="736478" cy="743375"/>
          </a:xfrm>
          <a:prstGeom prst="rect">
            <a:avLst/>
          </a:prstGeom>
        </p:spPr>
      </p:pic>
      <p:cxnSp>
        <p:nvCxnSpPr>
          <p:cNvPr id="129" name="Future CXR to shared target encoder"/>
          <p:cNvCxnSpPr/>
          <p:nvPr/>
        </p:nvCxnSpPr>
        <p:spPr>
          <a:xfrm>
            <a:off x="5738698" y="1953181"/>
            <a:ext cx="0" cy="291520"/>
          </a:xfrm>
          <a:prstGeom prst="line">
            <a:avLst/>
          </a:prstGeom>
          <a:ln w="15875">
            <a:solidFill>
              <a:srgbClr val="246A2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Shared frozen V-JEPA2 target encoder"/>
          <p:cNvSpPr/>
          <p:nvPr/>
        </p:nvSpPr>
        <p:spPr>
          <a:xfrm>
            <a:off x="5344937" y="2273853"/>
            <a:ext cx="802105" cy="728799"/>
          </a:xfrm>
          <a:prstGeom prst="roundRect">
            <a:avLst>
              <a:gd name="adj" fmla="val 9000"/>
            </a:avLst>
          </a:prstGeom>
          <a:solidFill>
            <a:srgbClr val="DCE5F0"/>
          </a:solidFill>
          <a:ln w="1079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1" name="Shared frozen V-JEPA2 target encoder — snowflake — arm 1"/>
          <p:cNvCxnSpPr/>
          <p:nvPr/>
        </p:nvCxnSpPr>
        <p:spPr>
          <a:xfrm>
            <a:off x="5395980" y="2521645"/>
            <a:ext cx="247924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hared frozen V-JEPA2 target encoder — snowflake — branch a 0-1"/>
          <p:cNvCxnSpPr/>
          <p:nvPr/>
        </p:nvCxnSpPr>
        <p:spPr>
          <a:xfrm flipH="1">
            <a:off x="5605256" y="2521645"/>
            <a:ext cx="38648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hared frozen V-JEPA2 target encoder — snowflake — branch b 0-1"/>
          <p:cNvCxnSpPr/>
          <p:nvPr/>
        </p:nvCxnSpPr>
        <p:spPr>
          <a:xfrm flipH="1" flipV="1">
            <a:off x="5605256" y="2499343"/>
            <a:ext cx="38648" cy="223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hared frozen V-JEPA2 target encoder — snowflake — branch a 0--1"/>
          <p:cNvCxnSpPr/>
          <p:nvPr/>
        </p:nvCxnSpPr>
        <p:spPr>
          <a:xfrm flipV="1">
            <a:off x="5395980" y="2499343"/>
            <a:ext cx="38648" cy="223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hared frozen V-JEPA2 target encoder — snowflake — branch b 0--1"/>
          <p:cNvCxnSpPr/>
          <p:nvPr/>
        </p:nvCxnSpPr>
        <p:spPr>
          <a:xfrm>
            <a:off x="5395980" y="2521645"/>
            <a:ext cx="38648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hared frozen V-JEPA2 target encoder — snowflake — arm 2"/>
          <p:cNvCxnSpPr/>
          <p:nvPr/>
        </p:nvCxnSpPr>
        <p:spPr>
          <a:xfrm>
            <a:off x="5457961" y="2414348"/>
            <a:ext cx="123962" cy="21459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hared frozen V-JEPA2 target encoder — snowflake — branch a 1-1"/>
          <p:cNvCxnSpPr/>
          <p:nvPr/>
        </p:nvCxnSpPr>
        <p:spPr>
          <a:xfrm flipH="1" flipV="1">
            <a:off x="5543275" y="2606640"/>
            <a:ext cx="38648" cy="223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hared frozen V-JEPA2 target encoder — snowflake — branch b 1-1"/>
          <p:cNvCxnSpPr/>
          <p:nvPr/>
        </p:nvCxnSpPr>
        <p:spPr>
          <a:xfrm flipV="1">
            <a:off x="5581923" y="2584339"/>
            <a:ext cx="0" cy="44603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hared frozen V-JEPA2 target encoder — snowflake — branch a 1--1"/>
          <p:cNvCxnSpPr/>
          <p:nvPr/>
        </p:nvCxnSpPr>
        <p:spPr>
          <a:xfrm>
            <a:off x="5457961" y="2414348"/>
            <a:ext cx="38648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hared frozen V-JEPA2 target encoder — snowflake — branch b 1--1"/>
          <p:cNvCxnSpPr/>
          <p:nvPr/>
        </p:nvCxnSpPr>
        <p:spPr>
          <a:xfrm>
            <a:off x="5457961" y="2414348"/>
            <a:ext cx="0" cy="446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hared frozen V-JEPA2 target encoder — snowflake — arm 3"/>
          <p:cNvCxnSpPr/>
          <p:nvPr/>
        </p:nvCxnSpPr>
        <p:spPr>
          <a:xfrm flipH="1">
            <a:off x="5457961" y="2414348"/>
            <a:ext cx="123962" cy="214594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hared frozen V-JEPA2 target encoder — snowflake — branch a 2-1"/>
          <p:cNvCxnSpPr/>
          <p:nvPr/>
        </p:nvCxnSpPr>
        <p:spPr>
          <a:xfrm flipV="1">
            <a:off x="5457961" y="2584339"/>
            <a:ext cx="0" cy="44603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hared frozen V-JEPA2 target encoder — snowflake — branch b 2-1"/>
          <p:cNvCxnSpPr/>
          <p:nvPr/>
        </p:nvCxnSpPr>
        <p:spPr>
          <a:xfrm flipV="1">
            <a:off x="5457961" y="2606640"/>
            <a:ext cx="38648" cy="223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hared frozen V-JEPA2 target encoder — snowflake — branch a 2--1"/>
          <p:cNvCxnSpPr/>
          <p:nvPr/>
        </p:nvCxnSpPr>
        <p:spPr>
          <a:xfrm>
            <a:off x="5581923" y="2414348"/>
            <a:ext cx="0" cy="44602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hared frozen V-JEPA2 target encoder — snowflake — branch b 2--1"/>
          <p:cNvCxnSpPr/>
          <p:nvPr/>
        </p:nvCxnSpPr>
        <p:spPr>
          <a:xfrm flipH="1">
            <a:off x="5543275" y="2414348"/>
            <a:ext cx="38648" cy="223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Shared frozen V-JEPA2 target encoder — header"/>
          <p:cNvSpPr txBox="1"/>
          <p:nvPr/>
        </p:nvSpPr>
        <p:spPr>
          <a:xfrm>
            <a:off x="5592861" y="2361309"/>
            <a:ext cx="517722" cy="17491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111111"/>
                </a:solidFill>
                <a:latin typeface="Times New Roman"/>
              </a:rPr>
              <a:t>Frozen</a:t>
            </a:r>
          </a:p>
        </p:txBody>
      </p:sp>
      <p:sp>
        <p:nvSpPr>
          <p:cNvPr id="147" name="Shared frozen V-JEPA2 target encoder — label"/>
          <p:cNvSpPr txBox="1"/>
          <p:nvPr/>
        </p:nvSpPr>
        <p:spPr>
          <a:xfrm>
            <a:off x="5381396" y="2550797"/>
            <a:ext cx="729186" cy="42270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11111"/>
                </a:solidFill>
                <a:latin typeface="Times New Roman"/>
              </a:rPr>
              <a:t>V-JEPA2
encoder
(same)</a:t>
            </a:r>
          </a:p>
        </p:txBody>
      </p:sp>
      <p:cxnSp>
        <p:nvCxnSpPr>
          <p:cNvPr id="148" name="Target encoder to future latent"/>
          <p:cNvCxnSpPr/>
          <p:nvPr/>
        </p:nvCxnSpPr>
        <p:spPr>
          <a:xfrm>
            <a:off x="5738698" y="3024516"/>
            <a:ext cx="0" cy="378976"/>
          </a:xfrm>
          <a:prstGeom prst="line">
            <a:avLst/>
          </a:prstGeom>
          <a:ln w="15875">
            <a:solidFill>
              <a:srgbClr val="246A2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Predictor to predicted future latent"/>
          <p:cNvCxnSpPr/>
          <p:nvPr/>
        </p:nvCxnSpPr>
        <p:spPr>
          <a:xfrm>
            <a:off x="5104306" y="3483659"/>
            <a:ext cx="247923" cy="0"/>
          </a:xfrm>
          <a:prstGeom prst="line">
            <a:avLst/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Predicted future latent tokens"/>
          <p:cNvSpPr/>
          <p:nvPr/>
        </p:nvSpPr>
        <p:spPr>
          <a:xfrm>
            <a:off x="5395980" y="3432643"/>
            <a:ext cx="685435" cy="218639"/>
          </a:xfrm>
          <a:prstGeom prst="roundRect">
            <a:avLst>
              <a:gd name="adj" fmla="val 18000"/>
            </a:avLst>
          </a:prstGeom>
          <a:solidFill>
            <a:srgbClr val="FFF4EA"/>
          </a:solidFill>
          <a:ln w="952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Predicted future latent tokens — token 1"/>
          <p:cNvSpPr/>
          <p:nvPr/>
        </p:nvSpPr>
        <p:spPr>
          <a:xfrm>
            <a:off x="5447023" y="3494591"/>
            <a:ext cx="94794" cy="94743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Predicted future latent tokens — token 2"/>
          <p:cNvSpPr/>
          <p:nvPr/>
        </p:nvSpPr>
        <p:spPr>
          <a:xfrm>
            <a:off x="5578277" y="3494591"/>
            <a:ext cx="94794" cy="94743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Predicted future latent tokens — token 3"/>
          <p:cNvSpPr/>
          <p:nvPr/>
        </p:nvSpPr>
        <p:spPr>
          <a:xfrm>
            <a:off x="5709530" y="3494591"/>
            <a:ext cx="94794" cy="94743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Predicted future latent tokens — ellipsis"/>
          <p:cNvSpPr txBox="1"/>
          <p:nvPr/>
        </p:nvSpPr>
        <p:spPr>
          <a:xfrm>
            <a:off x="5833492" y="3432643"/>
            <a:ext cx="182296" cy="19677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26715"/>
                </a:solidFill>
                <a:latin typeface="Times New Roman"/>
              </a:rPr>
              <a:t>···</a:t>
            </a:r>
          </a:p>
        </p:txBody>
      </p:sp>
      <p:sp>
        <p:nvSpPr>
          <p:cNvPr id="155" name="Predicted future latent tokens — final token 1"/>
          <p:cNvSpPr/>
          <p:nvPr/>
        </p:nvSpPr>
        <p:spPr>
          <a:xfrm>
            <a:off x="5935578" y="3494591"/>
            <a:ext cx="94794" cy="94743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Predicted future latent label"/>
          <p:cNvSpPr txBox="1"/>
          <p:nvPr/>
        </p:nvSpPr>
        <p:spPr>
          <a:xfrm>
            <a:off x="5457961" y="3931871"/>
            <a:ext cx="729186" cy="54659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dirty="0">
                <a:solidFill>
                  <a:srgbClr val="111111"/>
                </a:solidFill>
                <a:latin typeface="Times New Roman"/>
              </a:rPr>
              <a:t>predicted
future latent
Ŝₜ₊ₕ</a:t>
            </a:r>
          </a:p>
        </p:txBody>
      </p:sp>
      <p:cxnSp>
        <p:nvCxnSpPr>
          <p:cNvPr id="157" name="Predictor to L1 loss — native elbow"/>
          <p:cNvCxnSpPr/>
          <p:nvPr/>
        </p:nvCxnSpPr>
        <p:spPr>
          <a:xfrm rot="5400000" flipV="1">
            <a:off x="4481064" y="4048360"/>
            <a:ext cx="801679" cy="444804"/>
          </a:xfrm>
          <a:prstGeom prst="bentConnector3">
            <a:avLst>
              <a:gd name="adj1" fmla="val 60909"/>
            </a:avLst>
          </a:prstGeom>
          <a:ln w="15875">
            <a:solidFill>
              <a:srgbClr val="246A2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Target latent to L1 loss — native elbow"/>
          <p:cNvCxnSpPr/>
          <p:nvPr/>
        </p:nvCxnSpPr>
        <p:spPr>
          <a:xfrm rot="5400000">
            <a:off x="5053530" y="3986434"/>
            <a:ext cx="1005743" cy="364593"/>
          </a:xfrm>
          <a:prstGeom prst="bentConnector3">
            <a:avLst>
              <a:gd name="adj1" fmla="val 28261"/>
            </a:avLst>
          </a:prstGeom>
          <a:ln w="15875">
            <a:solidFill>
              <a:srgbClr val="246A2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L1 latent-alignment loss"/>
          <p:cNvSpPr/>
          <p:nvPr/>
        </p:nvSpPr>
        <p:spPr>
          <a:xfrm>
            <a:off x="4754296" y="4700754"/>
            <a:ext cx="962526" cy="590327"/>
          </a:xfrm>
          <a:prstGeom prst="roundRect">
            <a:avLst>
              <a:gd name="adj" fmla="val 9000"/>
            </a:avLst>
          </a:prstGeom>
          <a:solidFill>
            <a:srgbClr val="E7F2E2"/>
          </a:solidFill>
          <a:ln w="10795">
            <a:solidFill>
              <a:srgbClr val="246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L1 latent-alignment loss — label"/>
          <p:cNvSpPr txBox="1"/>
          <p:nvPr/>
        </p:nvSpPr>
        <p:spPr>
          <a:xfrm>
            <a:off x="4790755" y="4722618"/>
            <a:ext cx="889607" cy="54659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11111"/>
                </a:solidFill>
                <a:latin typeface="Times New Roman"/>
              </a:rPr>
              <a:t>L₁
latent-alignment
loss</a:t>
            </a:r>
          </a:p>
        </p:txBody>
      </p:sp>
      <p:sp>
        <p:nvSpPr>
          <p:cNvPr id="165" name="Legend frame"/>
          <p:cNvSpPr/>
          <p:nvPr/>
        </p:nvSpPr>
        <p:spPr>
          <a:xfrm>
            <a:off x="320842" y="5757513"/>
            <a:ext cx="5724114" cy="429991"/>
          </a:xfrm>
          <a:prstGeom prst="roundRect">
            <a:avLst>
              <a:gd name="adj" fmla="val 4000"/>
            </a:avLst>
          </a:prstGeom>
          <a:solidFill>
            <a:srgbClr val="FCFCFC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Legend frozen swatch"/>
          <p:cNvSpPr/>
          <p:nvPr/>
        </p:nvSpPr>
        <p:spPr>
          <a:xfrm>
            <a:off x="422928" y="5866833"/>
            <a:ext cx="284382" cy="196775"/>
          </a:xfrm>
          <a:prstGeom prst="roundRect">
            <a:avLst>
              <a:gd name="adj" fmla="val 10000"/>
            </a:avLst>
          </a:prstGeom>
          <a:solidFill>
            <a:srgbClr val="DCE5F0"/>
          </a:solidFill>
          <a:ln w="825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7" name="Legend frozen snowflake — arm 1"/>
          <p:cNvCxnSpPr/>
          <p:nvPr/>
        </p:nvCxnSpPr>
        <p:spPr>
          <a:xfrm>
            <a:off x="743770" y="5961577"/>
            <a:ext cx="145837" cy="0"/>
          </a:xfrm>
          <a:prstGeom prst="line">
            <a:avLst/>
          </a:prstGeom>
          <a:ln w="20320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Legend frozen snowflake — branch a 0-1"/>
          <p:cNvCxnSpPr/>
          <p:nvPr/>
        </p:nvCxnSpPr>
        <p:spPr>
          <a:xfrm flipH="1">
            <a:off x="866873" y="5961577"/>
            <a:ext cx="22734" cy="13118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Legend frozen snowflake — branch b 0-1"/>
          <p:cNvCxnSpPr/>
          <p:nvPr/>
        </p:nvCxnSpPr>
        <p:spPr>
          <a:xfrm flipH="1" flipV="1">
            <a:off x="866873" y="5948458"/>
            <a:ext cx="22734" cy="13119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Legend frozen snowflake — branch a 0--1"/>
          <p:cNvCxnSpPr/>
          <p:nvPr/>
        </p:nvCxnSpPr>
        <p:spPr>
          <a:xfrm flipV="1">
            <a:off x="743770" y="5948458"/>
            <a:ext cx="22734" cy="13119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Legend frozen snowflake — branch b 0--1"/>
          <p:cNvCxnSpPr/>
          <p:nvPr/>
        </p:nvCxnSpPr>
        <p:spPr>
          <a:xfrm>
            <a:off x="743770" y="5961577"/>
            <a:ext cx="22734" cy="13118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Legend frozen snowflake — arm 2"/>
          <p:cNvCxnSpPr/>
          <p:nvPr/>
        </p:nvCxnSpPr>
        <p:spPr>
          <a:xfrm>
            <a:off x="780229" y="5898461"/>
            <a:ext cx="72919" cy="126231"/>
          </a:xfrm>
          <a:prstGeom prst="line">
            <a:avLst/>
          </a:prstGeom>
          <a:ln w="20320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Legend frozen snowflake — branch a 1-1"/>
          <p:cNvCxnSpPr/>
          <p:nvPr/>
        </p:nvCxnSpPr>
        <p:spPr>
          <a:xfrm flipH="1" flipV="1">
            <a:off x="830414" y="6011574"/>
            <a:ext cx="22734" cy="13118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Legend frozen snowflake — branch b 1-1"/>
          <p:cNvCxnSpPr/>
          <p:nvPr/>
        </p:nvCxnSpPr>
        <p:spPr>
          <a:xfrm flipV="1">
            <a:off x="853148" y="5998456"/>
            <a:ext cx="0" cy="26236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Legend frozen snowflake — branch a 1--1"/>
          <p:cNvCxnSpPr/>
          <p:nvPr/>
        </p:nvCxnSpPr>
        <p:spPr>
          <a:xfrm>
            <a:off x="780229" y="5898461"/>
            <a:ext cx="22734" cy="13118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Legend frozen snowflake — branch b 1--1"/>
          <p:cNvCxnSpPr/>
          <p:nvPr/>
        </p:nvCxnSpPr>
        <p:spPr>
          <a:xfrm>
            <a:off x="780229" y="5898461"/>
            <a:ext cx="0" cy="26236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Legend frozen snowflake — arm 3"/>
          <p:cNvCxnSpPr/>
          <p:nvPr/>
        </p:nvCxnSpPr>
        <p:spPr>
          <a:xfrm flipH="1">
            <a:off x="780229" y="5898461"/>
            <a:ext cx="72919" cy="126231"/>
          </a:xfrm>
          <a:prstGeom prst="line">
            <a:avLst/>
          </a:prstGeom>
          <a:ln w="20320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Legend frozen snowflake — branch a 2-1"/>
          <p:cNvCxnSpPr/>
          <p:nvPr/>
        </p:nvCxnSpPr>
        <p:spPr>
          <a:xfrm flipV="1">
            <a:off x="780229" y="5998456"/>
            <a:ext cx="0" cy="26236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Legend frozen snowflake — branch b 2-1"/>
          <p:cNvCxnSpPr/>
          <p:nvPr/>
        </p:nvCxnSpPr>
        <p:spPr>
          <a:xfrm flipV="1">
            <a:off x="780229" y="6011574"/>
            <a:ext cx="22734" cy="13118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Legend frozen snowflake — branch a 2--1"/>
          <p:cNvCxnSpPr/>
          <p:nvPr/>
        </p:nvCxnSpPr>
        <p:spPr>
          <a:xfrm>
            <a:off x="853148" y="5898461"/>
            <a:ext cx="0" cy="26236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Legend frozen snowflake — branch b 2--1"/>
          <p:cNvCxnSpPr/>
          <p:nvPr/>
        </p:nvCxnSpPr>
        <p:spPr>
          <a:xfrm flipH="1">
            <a:off x="830414" y="5898461"/>
            <a:ext cx="22734" cy="13118"/>
          </a:xfrm>
          <a:prstGeom prst="line">
            <a:avLst/>
          </a:prstGeom>
          <a:ln w="15875">
            <a:solidFill>
              <a:srgbClr val="9A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Legend frozen label"/>
          <p:cNvSpPr txBox="1"/>
          <p:nvPr/>
        </p:nvSpPr>
        <p:spPr>
          <a:xfrm>
            <a:off x="918775" y="5837681"/>
            <a:ext cx="1203157" cy="25507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11111"/>
                </a:solidFill>
                <a:latin typeface="Times New Roman"/>
              </a:rPr>
              <a:t>Frozen (not updated)</a:t>
            </a:r>
          </a:p>
        </p:txBody>
      </p:sp>
      <p:sp>
        <p:nvSpPr>
          <p:cNvPr id="183" name="Legend trainable swatch"/>
          <p:cNvSpPr/>
          <p:nvPr/>
        </p:nvSpPr>
        <p:spPr>
          <a:xfrm>
            <a:off x="2224019" y="5866833"/>
            <a:ext cx="284382" cy="196775"/>
          </a:xfrm>
          <a:prstGeom prst="roundRect">
            <a:avLst>
              <a:gd name="adj" fmla="val 10000"/>
            </a:avLst>
          </a:prstGeom>
          <a:solidFill>
            <a:srgbClr val="FFF4EA"/>
          </a:solidFill>
          <a:ln w="825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Legend trainable flame — tip"/>
          <p:cNvSpPr/>
          <p:nvPr/>
        </p:nvSpPr>
        <p:spPr>
          <a:xfrm rot="21120000">
            <a:off x="2609029" y="5837681"/>
            <a:ext cx="85898" cy="162667"/>
          </a:xfrm>
          <a:prstGeom prst="triangle">
            <a:avLst/>
          </a:prstGeom>
          <a:solidFill>
            <a:srgbClr val="E26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Legend trainable flame — body"/>
          <p:cNvSpPr/>
          <p:nvPr/>
        </p:nvSpPr>
        <p:spPr>
          <a:xfrm>
            <a:off x="2592404" y="5923533"/>
            <a:ext cx="116378" cy="135556"/>
          </a:xfrm>
          <a:prstGeom prst="ellipse">
            <a:avLst/>
          </a:prstGeom>
          <a:solidFill>
            <a:srgbClr val="E26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Legend trainable flame — inner tip"/>
          <p:cNvSpPr/>
          <p:nvPr/>
        </p:nvSpPr>
        <p:spPr>
          <a:xfrm rot="240000">
            <a:off x="2636738" y="5934830"/>
            <a:ext cx="37407" cy="79074"/>
          </a:xfrm>
          <a:prstGeom prst="triangle">
            <a:avLst/>
          </a:prstGeom>
          <a:solidFill>
            <a:srgbClr val="FFF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Legend trainable flame — inner body"/>
          <p:cNvSpPr/>
          <p:nvPr/>
        </p:nvSpPr>
        <p:spPr>
          <a:xfrm>
            <a:off x="2632582" y="5989052"/>
            <a:ext cx="44334" cy="49704"/>
          </a:xfrm>
          <a:prstGeom prst="ellipse">
            <a:avLst/>
          </a:prstGeom>
          <a:solidFill>
            <a:srgbClr val="FFF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Legend trainable label"/>
          <p:cNvSpPr txBox="1"/>
          <p:nvPr/>
        </p:nvSpPr>
        <p:spPr>
          <a:xfrm>
            <a:off x="2763617" y="5837681"/>
            <a:ext cx="1239617" cy="25507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11111"/>
                </a:solidFill>
                <a:latin typeface="Times New Roman"/>
              </a:rPr>
              <a:t>Trainable (updated)</a:t>
            </a:r>
          </a:p>
        </p:txBody>
      </p:sp>
      <p:sp>
        <p:nvSpPr>
          <p:cNvPr id="189" name="Legend target swatch"/>
          <p:cNvSpPr/>
          <p:nvPr/>
        </p:nvSpPr>
        <p:spPr>
          <a:xfrm>
            <a:off x="4061569" y="5866833"/>
            <a:ext cx="320842" cy="196775"/>
          </a:xfrm>
          <a:prstGeom prst="roundRect">
            <a:avLst>
              <a:gd name="adj" fmla="val 10000"/>
            </a:avLst>
          </a:prstGeom>
          <a:solidFill>
            <a:srgbClr val="E7F2E2"/>
          </a:solidFill>
          <a:ln w="8255">
            <a:solidFill>
              <a:srgbClr val="246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Legend target label"/>
          <p:cNvSpPr txBox="1"/>
          <p:nvPr/>
        </p:nvSpPr>
        <p:spPr>
          <a:xfrm>
            <a:off x="4499081" y="5837681"/>
            <a:ext cx="1436497" cy="25507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246A24"/>
                </a:solidFill>
                <a:latin typeface="Times New Roman"/>
              </a:rPr>
              <a:t>Target / Metrics / Success</a:t>
            </a:r>
          </a:p>
        </p:txBody>
      </p:sp>
      <p:sp>
        <p:nvSpPr>
          <p:cNvPr id="191" name="Validation setup header"/>
          <p:cNvSpPr txBox="1"/>
          <p:nvPr/>
        </p:nvSpPr>
        <p:spPr>
          <a:xfrm>
            <a:off x="7087693" y="903710"/>
            <a:ext cx="1079196" cy="39355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11111"/>
                </a:solidFill>
                <a:latin typeface="Times New Roman"/>
              </a:rPr>
              <a:t>Query / State
Setup</a:t>
            </a:r>
          </a:p>
        </p:txBody>
      </p:sp>
      <p:sp>
        <p:nvSpPr>
          <p:cNvPr id="192" name="Validation predicted header"/>
          <p:cNvSpPr txBox="1"/>
          <p:nvPr/>
        </p:nvSpPr>
        <p:spPr>
          <a:xfrm>
            <a:off x="8363770" y="903710"/>
            <a:ext cx="1035444" cy="39355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11111"/>
                </a:solidFill>
                <a:latin typeface="Times New Roman"/>
              </a:rPr>
              <a:t>Predicted
latent Ŝₜ₊ₕ</a:t>
            </a:r>
          </a:p>
        </p:txBody>
      </p:sp>
      <p:sp>
        <p:nvSpPr>
          <p:cNvPr id="193" name="Validation target header"/>
          <p:cNvSpPr txBox="1"/>
          <p:nvPr/>
        </p:nvSpPr>
        <p:spPr>
          <a:xfrm>
            <a:off x="9610679" y="845407"/>
            <a:ext cx="1035444" cy="52473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246A24"/>
                </a:solidFill>
                <a:latin typeface="Times New Roman"/>
              </a:rPr>
              <a:t>Target future
latent Sₜ₊ₕ
(shared)</a:t>
            </a:r>
          </a:p>
        </p:txBody>
      </p:sp>
      <p:sp>
        <p:nvSpPr>
          <p:cNvPr id="194" name="Validation metrics header"/>
          <p:cNvSpPr txBox="1"/>
          <p:nvPr/>
        </p:nvSpPr>
        <p:spPr>
          <a:xfrm>
            <a:off x="10719042" y="903710"/>
            <a:ext cx="1130239" cy="39355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246A24"/>
                </a:solidFill>
                <a:latin typeface="Times New Roman"/>
              </a:rPr>
              <a:t>Metrics
(lower is better)</a:t>
            </a:r>
          </a:p>
        </p:txBody>
      </p:sp>
      <p:sp>
        <p:nvSpPr>
          <p:cNvPr id="195" name="Shared target latent column"/>
          <p:cNvSpPr/>
          <p:nvPr/>
        </p:nvSpPr>
        <p:spPr>
          <a:xfrm>
            <a:off x="9763808" y="1464886"/>
            <a:ext cx="612516" cy="4452962"/>
          </a:xfrm>
          <a:prstGeom prst="roundRect">
            <a:avLst>
              <a:gd name="adj" fmla="val 8000"/>
            </a:avLst>
          </a:prstGeom>
          <a:noFill/>
          <a:ln w="11430">
            <a:solidFill>
              <a:srgbClr val="246A2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Shared future latent tokens"/>
          <p:cNvSpPr/>
          <p:nvPr/>
        </p:nvSpPr>
        <p:spPr>
          <a:xfrm>
            <a:off x="9807559" y="1945893"/>
            <a:ext cx="525014" cy="160335"/>
          </a:xfrm>
          <a:prstGeom prst="roundRect">
            <a:avLst>
              <a:gd name="adj" fmla="val 18000"/>
            </a:avLst>
          </a:prstGeom>
          <a:solidFill>
            <a:srgbClr val="E7F2E2"/>
          </a:solidFill>
          <a:ln w="9525">
            <a:solidFill>
              <a:srgbClr val="246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Shared future latent tokens — token 1"/>
          <p:cNvSpPr/>
          <p:nvPr/>
        </p:nvSpPr>
        <p:spPr>
          <a:xfrm>
            <a:off x="9858602" y="1981969"/>
            <a:ext cx="88231" cy="88184"/>
          </a:xfrm>
          <a:prstGeom prst="roundRect">
            <a:avLst>
              <a:gd name="adj" fmla="val 15000"/>
            </a:avLst>
          </a:prstGeom>
          <a:solidFill>
            <a:srgbClr val="77AD66"/>
          </a:solidFill>
          <a:ln w="6985">
            <a:solidFill>
              <a:srgbClr val="246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Shared future latent tokens — token 2"/>
          <p:cNvSpPr/>
          <p:nvPr/>
        </p:nvSpPr>
        <p:spPr>
          <a:xfrm>
            <a:off x="9983293" y="1981969"/>
            <a:ext cx="88231" cy="88184"/>
          </a:xfrm>
          <a:prstGeom prst="roundRect">
            <a:avLst>
              <a:gd name="adj" fmla="val 15000"/>
            </a:avLst>
          </a:prstGeom>
          <a:solidFill>
            <a:srgbClr val="77AD66"/>
          </a:solidFill>
          <a:ln w="6985">
            <a:solidFill>
              <a:srgbClr val="246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Shared future latent tokens — token 3"/>
          <p:cNvSpPr/>
          <p:nvPr/>
        </p:nvSpPr>
        <p:spPr>
          <a:xfrm>
            <a:off x="10107984" y="1981969"/>
            <a:ext cx="88231" cy="88184"/>
          </a:xfrm>
          <a:prstGeom prst="roundRect">
            <a:avLst>
              <a:gd name="adj" fmla="val 15000"/>
            </a:avLst>
          </a:prstGeom>
          <a:solidFill>
            <a:srgbClr val="77AD66"/>
          </a:solidFill>
          <a:ln w="6985">
            <a:solidFill>
              <a:srgbClr val="246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Shared future latent tokens — ellipsis"/>
          <p:cNvSpPr txBox="1"/>
          <p:nvPr/>
        </p:nvSpPr>
        <p:spPr>
          <a:xfrm>
            <a:off x="10225383" y="1945893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46A24"/>
                </a:solidFill>
                <a:latin typeface="Times New Roman"/>
              </a:rPr>
              <a:t>···</a:t>
            </a:r>
          </a:p>
        </p:txBody>
      </p:sp>
      <p:sp>
        <p:nvSpPr>
          <p:cNvPr id="201" name="Shared future latent tokens — final token 1"/>
          <p:cNvSpPr/>
          <p:nvPr/>
        </p:nvSpPr>
        <p:spPr>
          <a:xfrm>
            <a:off x="10193299" y="1981969"/>
            <a:ext cx="88231" cy="88184"/>
          </a:xfrm>
          <a:prstGeom prst="roundRect">
            <a:avLst>
              <a:gd name="adj" fmla="val 15000"/>
            </a:avLst>
          </a:prstGeom>
          <a:solidFill>
            <a:srgbClr val="77AD66"/>
          </a:solidFill>
          <a:ln w="6985">
            <a:solidFill>
              <a:srgbClr val="246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Validation row 1 — number circle"/>
          <p:cNvSpPr/>
          <p:nvPr/>
        </p:nvSpPr>
        <p:spPr>
          <a:xfrm>
            <a:off x="6467885" y="1851149"/>
            <a:ext cx="204172" cy="204063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6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Validation row 1 — number"/>
          <p:cNvSpPr txBox="1"/>
          <p:nvPr/>
        </p:nvSpPr>
        <p:spPr>
          <a:xfrm>
            <a:off x="6482468" y="1836573"/>
            <a:ext cx="175004" cy="24779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246A24"/>
                </a:solidFill>
                <a:latin typeface="Times New Roman"/>
              </a:rPr>
              <a:t>1</a:t>
            </a:r>
          </a:p>
        </p:txBody>
      </p:sp>
      <p:sp>
        <p:nvSpPr>
          <p:cNvPr id="204" name="Validation row 1 — setup label"/>
          <p:cNvSpPr txBox="1"/>
          <p:nvPr/>
        </p:nvSpPr>
        <p:spPr>
          <a:xfrm>
            <a:off x="6686640" y="1785557"/>
            <a:ext cx="561473" cy="46643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46A24"/>
                </a:solidFill>
                <a:latin typeface="Times New Roman"/>
              </a:rPr>
              <a:t>Correct
Query</a:t>
            </a:r>
          </a:p>
        </p:txBody>
      </p:sp>
      <p:sp>
        <p:nvSpPr>
          <p:cNvPr id="205" name="Validation row 1 — state symbol"/>
          <p:cNvSpPr txBox="1"/>
          <p:nvPr/>
        </p:nvSpPr>
        <p:spPr>
          <a:xfrm>
            <a:off x="7233530" y="1639798"/>
            <a:ext cx="189588" cy="18948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>
                <a:solidFill>
                  <a:srgbClr val="111111"/>
                </a:solidFill>
                <a:latin typeface="Times New Roman"/>
              </a:rPr>
              <a:t>Sₜ</a:t>
            </a:r>
          </a:p>
        </p:txBody>
      </p:sp>
      <p:sp>
        <p:nvSpPr>
          <p:cNvPr id="206" name="Validation row 1 — state latent"/>
          <p:cNvSpPr/>
          <p:nvPr/>
        </p:nvSpPr>
        <p:spPr>
          <a:xfrm>
            <a:off x="7430411" y="1668950"/>
            <a:ext cx="568765" cy="160335"/>
          </a:xfrm>
          <a:prstGeom prst="roundRect">
            <a:avLst>
              <a:gd name="adj" fmla="val 18000"/>
            </a:avLst>
          </a:prstGeom>
          <a:solidFill>
            <a:srgbClr val="EDF2F8"/>
          </a:solidFill>
          <a:ln w="952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Validation row 1 — state latent — token 1"/>
          <p:cNvSpPr/>
          <p:nvPr/>
        </p:nvSpPr>
        <p:spPr>
          <a:xfrm>
            <a:off x="7481454" y="1705025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Validation row 1 — state latent — token 2"/>
          <p:cNvSpPr/>
          <p:nvPr/>
        </p:nvSpPr>
        <p:spPr>
          <a:xfrm>
            <a:off x="7606145" y="1705025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Validation row 1 — state latent — token 3"/>
          <p:cNvSpPr/>
          <p:nvPr/>
        </p:nvSpPr>
        <p:spPr>
          <a:xfrm>
            <a:off x="7730836" y="1705025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Validation row 1 — state latent — ellipsis"/>
          <p:cNvSpPr txBox="1"/>
          <p:nvPr/>
        </p:nvSpPr>
        <p:spPr>
          <a:xfrm>
            <a:off x="7848235" y="1668950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E527E"/>
                </a:solidFill>
                <a:latin typeface="Times New Roman"/>
              </a:rPr>
              <a:t>···</a:t>
            </a:r>
          </a:p>
        </p:txBody>
      </p:sp>
      <p:sp>
        <p:nvSpPr>
          <p:cNvPr id="211" name="Validation row 1 — state latent — final token 1"/>
          <p:cNvSpPr/>
          <p:nvPr/>
        </p:nvSpPr>
        <p:spPr>
          <a:xfrm>
            <a:off x="7859902" y="1705025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Validation row 1 — predictor"/>
          <p:cNvSpPr/>
          <p:nvPr/>
        </p:nvSpPr>
        <p:spPr>
          <a:xfrm>
            <a:off x="8239808" y="1800133"/>
            <a:ext cx="597932" cy="466431"/>
          </a:xfrm>
          <a:prstGeom prst="roundRect">
            <a:avLst>
              <a:gd name="adj" fmla="val 9000"/>
            </a:avLst>
          </a:prstGeom>
          <a:solidFill>
            <a:srgbClr val="FFF4EA"/>
          </a:solidFill>
          <a:ln w="1079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Validation row 1 — predictor — label"/>
          <p:cNvSpPr txBox="1"/>
          <p:nvPr/>
        </p:nvSpPr>
        <p:spPr>
          <a:xfrm>
            <a:off x="8276267" y="1821997"/>
            <a:ext cx="525014" cy="42270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11111"/>
                </a:solidFill>
                <a:latin typeface="Times New Roman"/>
              </a:rPr>
              <a:t>Predictor</a:t>
            </a:r>
          </a:p>
        </p:txBody>
      </p:sp>
      <p:sp>
        <p:nvSpPr>
          <p:cNvPr id="214" name="Validation row 1 — predicted latent"/>
          <p:cNvSpPr/>
          <p:nvPr/>
        </p:nvSpPr>
        <p:spPr>
          <a:xfrm>
            <a:off x="9041913" y="1945893"/>
            <a:ext cx="525014" cy="160335"/>
          </a:xfrm>
          <a:prstGeom prst="roundRect">
            <a:avLst>
              <a:gd name="adj" fmla="val 18000"/>
            </a:avLst>
          </a:prstGeom>
          <a:solidFill>
            <a:srgbClr val="FFF4EA"/>
          </a:solidFill>
          <a:ln w="952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Validation row 1 — predicted latent — token 1"/>
          <p:cNvSpPr/>
          <p:nvPr/>
        </p:nvSpPr>
        <p:spPr>
          <a:xfrm>
            <a:off x="9092956" y="198196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Validation row 1 — predicted latent — token 2"/>
          <p:cNvSpPr/>
          <p:nvPr/>
        </p:nvSpPr>
        <p:spPr>
          <a:xfrm>
            <a:off x="9217647" y="198196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Validation row 1 — predicted latent — token 3"/>
          <p:cNvSpPr/>
          <p:nvPr/>
        </p:nvSpPr>
        <p:spPr>
          <a:xfrm>
            <a:off x="9342338" y="198196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Validation row 1 — predicted latent — ellipsis"/>
          <p:cNvSpPr txBox="1"/>
          <p:nvPr/>
        </p:nvSpPr>
        <p:spPr>
          <a:xfrm>
            <a:off x="9459737" y="1945893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26715"/>
                </a:solidFill>
                <a:latin typeface="Times New Roman"/>
              </a:rPr>
              <a:t>···</a:t>
            </a:r>
          </a:p>
        </p:txBody>
      </p:sp>
      <p:sp>
        <p:nvSpPr>
          <p:cNvPr id="219" name="Validation row 1 — predicted latent — final token 1"/>
          <p:cNvSpPr/>
          <p:nvPr/>
        </p:nvSpPr>
        <p:spPr>
          <a:xfrm>
            <a:off x="9427653" y="198196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0" name="Validation row 1 — predictor output"/>
          <p:cNvCxnSpPr/>
          <p:nvPr/>
        </p:nvCxnSpPr>
        <p:spPr>
          <a:xfrm>
            <a:off x="8837741" y="2026061"/>
            <a:ext cx="175005" cy="0"/>
          </a:xfrm>
          <a:prstGeom prst="line">
            <a:avLst/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Validation row 1 — predicted-target comparison"/>
          <p:cNvCxnSpPr/>
          <p:nvPr/>
        </p:nvCxnSpPr>
        <p:spPr>
          <a:xfrm>
            <a:off x="9581511" y="2026061"/>
            <a:ext cx="182297" cy="0"/>
          </a:xfrm>
          <a:prstGeom prst="line">
            <a:avLst/>
          </a:prstGeom>
          <a:ln w="14604">
            <a:solidFill>
              <a:srgbClr val="246A24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Validation row 1 — target-metric comparison"/>
          <p:cNvCxnSpPr/>
          <p:nvPr/>
        </p:nvCxnSpPr>
        <p:spPr>
          <a:xfrm>
            <a:off x="10390908" y="2026061"/>
            <a:ext cx="262508" cy="0"/>
          </a:xfrm>
          <a:prstGeom prst="line">
            <a:avLst/>
          </a:prstGeom>
          <a:ln w="14604">
            <a:solidFill>
              <a:srgbClr val="246A24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Validation row 1 — query symbol"/>
          <p:cNvSpPr txBox="1"/>
          <p:nvPr/>
        </p:nvSpPr>
        <p:spPr>
          <a:xfrm>
            <a:off x="7233530" y="2200973"/>
            <a:ext cx="204172" cy="18948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>
                <a:solidFill>
                  <a:srgbClr val="E26715"/>
                </a:solidFill>
                <a:latin typeface="Times New Roman"/>
              </a:rPr>
              <a:t>qₜ</a:t>
            </a:r>
          </a:p>
        </p:txBody>
      </p:sp>
      <p:sp>
        <p:nvSpPr>
          <p:cNvPr id="224" name="Validation row 1 — query latent"/>
          <p:cNvSpPr/>
          <p:nvPr/>
        </p:nvSpPr>
        <p:spPr>
          <a:xfrm>
            <a:off x="7430411" y="2215549"/>
            <a:ext cx="568765" cy="160335"/>
          </a:xfrm>
          <a:prstGeom prst="roundRect">
            <a:avLst>
              <a:gd name="adj" fmla="val 18000"/>
            </a:avLst>
          </a:prstGeom>
          <a:solidFill>
            <a:srgbClr val="FFF4EA"/>
          </a:solidFill>
          <a:ln w="952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Validation row 1 — query latent — token 1"/>
          <p:cNvSpPr/>
          <p:nvPr/>
        </p:nvSpPr>
        <p:spPr>
          <a:xfrm>
            <a:off x="7481454" y="2251624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Validation row 1 — query latent — token 2"/>
          <p:cNvSpPr/>
          <p:nvPr/>
        </p:nvSpPr>
        <p:spPr>
          <a:xfrm>
            <a:off x="7606145" y="2251624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Validation row 1 — query latent — token 3"/>
          <p:cNvSpPr/>
          <p:nvPr/>
        </p:nvSpPr>
        <p:spPr>
          <a:xfrm>
            <a:off x="7730836" y="2251624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Validation row 1 — query latent — ellipsis"/>
          <p:cNvSpPr txBox="1"/>
          <p:nvPr/>
        </p:nvSpPr>
        <p:spPr>
          <a:xfrm>
            <a:off x="7848235" y="2215549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26715"/>
                </a:solidFill>
                <a:latin typeface="Times New Roman"/>
              </a:rPr>
              <a:t>···</a:t>
            </a:r>
          </a:p>
        </p:txBody>
      </p:sp>
      <p:sp>
        <p:nvSpPr>
          <p:cNvPr id="229" name="Validation row 1 — query latent — final token 1"/>
          <p:cNvSpPr/>
          <p:nvPr/>
        </p:nvSpPr>
        <p:spPr>
          <a:xfrm>
            <a:off x="7859902" y="2251624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0" name="Validation row 1 — state route — native elbow"/>
          <p:cNvCxnSpPr/>
          <p:nvPr/>
        </p:nvCxnSpPr>
        <p:spPr>
          <a:xfrm>
            <a:off x="7999176" y="1749117"/>
            <a:ext cx="211464" cy="204064"/>
          </a:xfrm>
          <a:prstGeom prst="bentConnector3">
            <a:avLst>
              <a:gd name="adj1" fmla="val 51724"/>
            </a:avLst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Validation row 1 — query route — native elbow"/>
          <p:cNvCxnSpPr/>
          <p:nvPr/>
        </p:nvCxnSpPr>
        <p:spPr>
          <a:xfrm flipV="1">
            <a:off x="7999176" y="2120805"/>
            <a:ext cx="211464" cy="174912"/>
          </a:xfrm>
          <a:prstGeom prst="bentConnector3">
            <a:avLst>
              <a:gd name="adj1" fmla="val 51724"/>
            </a:avLst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Validation metric card 1"/>
          <p:cNvSpPr/>
          <p:nvPr/>
        </p:nvSpPr>
        <p:spPr>
          <a:xfrm>
            <a:off x="10704459" y="1494038"/>
            <a:ext cx="947942" cy="1034894"/>
          </a:xfrm>
          <a:prstGeom prst="roundRect">
            <a:avLst>
              <a:gd name="adj" fmla="val 7000"/>
            </a:avLst>
          </a:prstGeom>
          <a:solidFill>
            <a:srgbClr val="FCFCFC"/>
          </a:solidFill>
          <a:ln w="10160">
            <a:solidFill>
              <a:srgbClr val="246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Validation metric card 1 — L1 label"/>
          <p:cNvSpPr txBox="1"/>
          <p:nvPr/>
        </p:nvSpPr>
        <p:spPr>
          <a:xfrm>
            <a:off x="10784669" y="1537766"/>
            <a:ext cx="204172" cy="17491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>
                <a:solidFill>
                  <a:srgbClr val="111111"/>
                </a:solidFill>
                <a:latin typeface="Times New Roman"/>
              </a:rPr>
              <a:t>L₁</a:t>
            </a:r>
          </a:p>
        </p:txBody>
      </p:sp>
      <p:cxnSp>
        <p:nvCxnSpPr>
          <p:cNvPr id="238" name="Validation metric card 1 — L1 threshold"/>
          <p:cNvCxnSpPr/>
          <p:nvPr/>
        </p:nvCxnSpPr>
        <p:spPr>
          <a:xfrm>
            <a:off x="11193014" y="1698102"/>
            <a:ext cx="0" cy="233215"/>
          </a:xfrm>
          <a:prstGeom prst="line">
            <a:avLst/>
          </a:prstGeom>
          <a:ln w="10160">
            <a:solidFill>
              <a:srgbClr val="707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Validation metric card 1 — L1 bar"/>
          <p:cNvSpPr/>
          <p:nvPr/>
        </p:nvSpPr>
        <p:spPr>
          <a:xfrm>
            <a:off x="10784669" y="1814709"/>
            <a:ext cx="262507" cy="94743"/>
          </a:xfrm>
          <a:prstGeom prst="roundRect">
            <a:avLst>
              <a:gd name="adj" fmla="val 0"/>
            </a:avLst>
          </a:prstGeom>
          <a:solidFill>
            <a:srgbClr val="77AD66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0" name="Validation metric card 1 — L1 axis"/>
          <p:cNvCxnSpPr/>
          <p:nvPr/>
        </p:nvCxnSpPr>
        <p:spPr>
          <a:xfrm>
            <a:off x="10784669" y="1916741"/>
            <a:ext cx="780230" cy="0"/>
          </a:xfrm>
          <a:prstGeom prst="line">
            <a:avLst/>
          </a:prstGeom>
          <a:ln w="1143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Validation metric card 1 — cosine label"/>
          <p:cNvSpPr txBox="1"/>
          <p:nvPr/>
        </p:nvSpPr>
        <p:spPr>
          <a:xfrm>
            <a:off x="10784669" y="2018773"/>
            <a:ext cx="787521" cy="16033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11111"/>
                </a:solidFill>
                <a:latin typeface="Times New Roman"/>
              </a:rPr>
              <a:t>Cosine distance</a:t>
            </a:r>
          </a:p>
        </p:txBody>
      </p:sp>
      <p:cxnSp>
        <p:nvCxnSpPr>
          <p:cNvPr id="242" name="Validation metric card 1 — cosine threshold"/>
          <p:cNvCxnSpPr/>
          <p:nvPr/>
        </p:nvCxnSpPr>
        <p:spPr>
          <a:xfrm>
            <a:off x="11193014" y="2157245"/>
            <a:ext cx="0" cy="182200"/>
          </a:xfrm>
          <a:prstGeom prst="line">
            <a:avLst/>
          </a:prstGeom>
          <a:ln w="10160">
            <a:solidFill>
              <a:srgbClr val="707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Validation metric card 1 — cosine bar"/>
          <p:cNvSpPr/>
          <p:nvPr/>
        </p:nvSpPr>
        <p:spPr>
          <a:xfrm>
            <a:off x="10784669" y="2215549"/>
            <a:ext cx="306258" cy="94743"/>
          </a:xfrm>
          <a:prstGeom prst="roundRect">
            <a:avLst>
              <a:gd name="adj" fmla="val 0"/>
            </a:avLst>
          </a:prstGeom>
          <a:solidFill>
            <a:srgbClr val="77AD66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4" name="Validation metric card 1 — cosine axis"/>
          <p:cNvCxnSpPr/>
          <p:nvPr/>
        </p:nvCxnSpPr>
        <p:spPr>
          <a:xfrm>
            <a:off x="10784669" y="2324869"/>
            <a:ext cx="780230" cy="0"/>
          </a:xfrm>
          <a:prstGeom prst="line">
            <a:avLst/>
          </a:prstGeom>
          <a:ln w="1143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Validation row 1 — outcome — short stroke"/>
          <p:cNvCxnSpPr/>
          <p:nvPr/>
        </p:nvCxnSpPr>
        <p:spPr>
          <a:xfrm>
            <a:off x="11739904" y="2033349"/>
            <a:ext cx="72918" cy="102032"/>
          </a:xfrm>
          <a:prstGeom prst="line">
            <a:avLst/>
          </a:prstGeom>
          <a:ln w="38100">
            <a:solidFill>
              <a:srgbClr val="0B8A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Validation row 1 — outcome — long stroke"/>
          <p:cNvCxnSpPr/>
          <p:nvPr/>
        </p:nvCxnSpPr>
        <p:spPr>
          <a:xfrm flipV="1">
            <a:off x="11812822" y="1873013"/>
            <a:ext cx="160421" cy="262368"/>
          </a:xfrm>
          <a:prstGeom prst="line">
            <a:avLst/>
          </a:prstGeom>
          <a:ln w="38100">
            <a:solidFill>
              <a:srgbClr val="0B8A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Validation row 2 — number circle"/>
          <p:cNvSpPr/>
          <p:nvPr/>
        </p:nvSpPr>
        <p:spPr>
          <a:xfrm>
            <a:off x="6467885" y="2689268"/>
            <a:ext cx="204172" cy="204063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Validation row 2 — number"/>
          <p:cNvSpPr txBox="1"/>
          <p:nvPr/>
        </p:nvSpPr>
        <p:spPr>
          <a:xfrm>
            <a:off x="6482468" y="2674692"/>
            <a:ext cx="175004" cy="24779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707070"/>
                </a:solidFill>
                <a:latin typeface="Times New Roman"/>
              </a:rPr>
              <a:t>2</a:t>
            </a:r>
          </a:p>
        </p:txBody>
      </p:sp>
      <p:sp>
        <p:nvSpPr>
          <p:cNvPr id="249" name="Validation row 2 — setup label"/>
          <p:cNvSpPr txBox="1"/>
          <p:nvPr/>
        </p:nvSpPr>
        <p:spPr>
          <a:xfrm>
            <a:off x="6686640" y="2674692"/>
            <a:ext cx="561473" cy="46643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07070"/>
                </a:solidFill>
                <a:latin typeface="Times New Roman"/>
              </a:rPr>
              <a:t>Copy
Current
State</a:t>
            </a:r>
          </a:p>
        </p:txBody>
      </p:sp>
      <p:sp>
        <p:nvSpPr>
          <p:cNvPr id="250" name="Validation row 2 — state symbol"/>
          <p:cNvSpPr txBox="1"/>
          <p:nvPr/>
        </p:nvSpPr>
        <p:spPr>
          <a:xfrm>
            <a:off x="7233530" y="2732996"/>
            <a:ext cx="189588" cy="18948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>
                <a:solidFill>
                  <a:srgbClr val="111111"/>
                </a:solidFill>
                <a:latin typeface="Times New Roman"/>
              </a:rPr>
              <a:t>Sₜ</a:t>
            </a:r>
          </a:p>
        </p:txBody>
      </p:sp>
      <p:sp>
        <p:nvSpPr>
          <p:cNvPr id="251" name="Validation row 2 — state latent"/>
          <p:cNvSpPr/>
          <p:nvPr/>
        </p:nvSpPr>
        <p:spPr>
          <a:xfrm>
            <a:off x="7430411" y="2762148"/>
            <a:ext cx="568765" cy="160335"/>
          </a:xfrm>
          <a:prstGeom prst="roundRect">
            <a:avLst>
              <a:gd name="adj" fmla="val 18000"/>
            </a:avLst>
          </a:prstGeom>
          <a:solidFill>
            <a:srgbClr val="EDF2F8"/>
          </a:solidFill>
          <a:ln w="952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Validation row 2 — state latent — token 1"/>
          <p:cNvSpPr/>
          <p:nvPr/>
        </p:nvSpPr>
        <p:spPr>
          <a:xfrm>
            <a:off x="7481454" y="2798224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Validation row 2 — state latent — token 2"/>
          <p:cNvSpPr/>
          <p:nvPr/>
        </p:nvSpPr>
        <p:spPr>
          <a:xfrm>
            <a:off x="7606145" y="2798224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Validation row 2 — state latent — token 3"/>
          <p:cNvSpPr/>
          <p:nvPr/>
        </p:nvSpPr>
        <p:spPr>
          <a:xfrm>
            <a:off x="7730836" y="2798224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Validation row 2 — state latent — ellipsis"/>
          <p:cNvSpPr txBox="1"/>
          <p:nvPr/>
        </p:nvSpPr>
        <p:spPr>
          <a:xfrm>
            <a:off x="7848235" y="2762148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E527E"/>
                </a:solidFill>
                <a:latin typeface="Times New Roman"/>
              </a:rPr>
              <a:t>···</a:t>
            </a:r>
          </a:p>
        </p:txBody>
      </p:sp>
      <p:sp>
        <p:nvSpPr>
          <p:cNvPr id="256" name="Validation row 2 — state latent — final token 1"/>
          <p:cNvSpPr/>
          <p:nvPr/>
        </p:nvSpPr>
        <p:spPr>
          <a:xfrm>
            <a:off x="7859902" y="2798224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Validation row 2 — predictor"/>
          <p:cNvSpPr/>
          <p:nvPr/>
        </p:nvSpPr>
        <p:spPr>
          <a:xfrm>
            <a:off x="8239808" y="3053668"/>
            <a:ext cx="597932" cy="466431"/>
          </a:xfrm>
          <a:prstGeom prst="roundRect">
            <a:avLst>
              <a:gd name="adj" fmla="val 9000"/>
            </a:avLst>
          </a:prstGeom>
          <a:solidFill>
            <a:srgbClr val="FFF4EA"/>
          </a:solidFill>
          <a:ln w="1079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Validation row 2 — predictor — label"/>
          <p:cNvSpPr txBox="1"/>
          <p:nvPr/>
        </p:nvSpPr>
        <p:spPr>
          <a:xfrm>
            <a:off x="8276267" y="3075532"/>
            <a:ext cx="525014" cy="42270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11111"/>
                </a:solidFill>
                <a:latin typeface="Times New Roman"/>
              </a:rPr>
              <a:t>Predictor</a:t>
            </a:r>
          </a:p>
        </p:txBody>
      </p:sp>
      <p:sp>
        <p:nvSpPr>
          <p:cNvPr id="259" name="Validation row 2 — predicted latent"/>
          <p:cNvSpPr/>
          <p:nvPr/>
        </p:nvSpPr>
        <p:spPr>
          <a:xfrm>
            <a:off x="9041913" y="3133836"/>
            <a:ext cx="525014" cy="160335"/>
          </a:xfrm>
          <a:prstGeom prst="roundRect">
            <a:avLst>
              <a:gd name="adj" fmla="val 18000"/>
            </a:avLst>
          </a:prstGeom>
          <a:solidFill>
            <a:srgbClr val="FFF4EA"/>
          </a:solidFill>
          <a:ln w="952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Validation row 2 — predicted latent — token 1"/>
          <p:cNvSpPr/>
          <p:nvPr/>
        </p:nvSpPr>
        <p:spPr>
          <a:xfrm>
            <a:off x="9092956" y="3169911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Validation row 2 — predicted latent — token 2"/>
          <p:cNvSpPr/>
          <p:nvPr/>
        </p:nvSpPr>
        <p:spPr>
          <a:xfrm>
            <a:off x="9217647" y="3169911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Validation row 2 — predicted latent — token 3"/>
          <p:cNvSpPr/>
          <p:nvPr/>
        </p:nvSpPr>
        <p:spPr>
          <a:xfrm>
            <a:off x="9342338" y="3169911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Validation row 2 — predicted latent — ellipsis"/>
          <p:cNvSpPr txBox="1"/>
          <p:nvPr/>
        </p:nvSpPr>
        <p:spPr>
          <a:xfrm>
            <a:off x="9459737" y="3133836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26715"/>
                </a:solidFill>
                <a:latin typeface="Times New Roman"/>
              </a:rPr>
              <a:t>···</a:t>
            </a:r>
          </a:p>
        </p:txBody>
      </p:sp>
      <p:sp>
        <p:nvSpPr>
          <p:cNvPr id="264" name="Validation row 2 — predicted latent — final token 1"/>
          <p:cNvSpPr/>
          <p:nvPr/>
        </p:nvSpPr>
        <p:spPr>
          <a:xfrm>
            <a:off x="9427653" y="3169911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5" name="Validation row 2 — predictor output"/>
          <p:cNvCxnSpPr/>
          <p:nvPr/>
        </p:nvCxnSpPr>
        <p:spPr>
          <a:xfrm>
            <a:off x="8837741" y="3214004"/>
            <a:ext cx="175005" cy="0"/>
          </a:xfrm>
          <a:prstGeom prst="line">
            <a:avLst/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Validation row 2 — predicted-target comparison"/>
          <p:cNvCxnSpPr/>
          <p:nvPr/>
        </p:nvCxnSpPr>
        <p:spPr>
          <a:xfrm>
            <a:off x="9581511" y="3214004"/>
            <a:ext cx="182297" cy="0"/>
          </a:xfrm>
          <a:prstGeom prst="line">
            <a:avLst/>
          </a:prstGeom>
          <a:ln w="14604">
            <a:solidFill>
              <a:srgbClr val="246A24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Validation row 2 — target-metric comparison"/>
          <p:cNvCxnSpPr/>
          <p:nvPr/>
        </p:nvCxnSpPr>
        <p:spPr>
          <a:xfrm>
            <a:off x="10390908" y="3214004"/>
            <a:ext cx="262508" cy="0"/>
          </a:xfrm>
          <a:prstGeom prst="line">
            <a:avLst/>
          </a:prstGeom>
          <a:ln w="14604">
            <a:solidFill>
              <a:srgbClr val="246A24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Validation row 2 — state route — native elbow"/>
          <p:cNvCxnSpPr/>
          <p:nvPr/>
        </p:nvCxnSpPr>
        <p:spPr>
          <a:xfrm>
            <a:off x="7999176" y="2842316"/>
            <a:ext cx="211464" cy="378976"/>
          </a:xfrm>
          <a:prstGeom prst="bentConnector3">
            <a:avLst>
              <a:gd name="adj1" fmla="val 51724"/>
            </a:avLst>
          </a:prstGeom>
          <a:ln w="15875">
            <a:solidFill>
              <a:srgbClr val="70707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Validation row 2 — copied state route"/>
          <p:cNvCxnSpPr/>
          <p:nvPr/>
        </p:nvCxnSpPr>
        <p:spPr>
          <a:xfrm>
            <a:off x="7707502" y="3265020"/>
            <a:ext cx="503138" cy="0"/>
          </a:xfrm>
          <a:prstGeom prst="line">
            <a:avLst/>
          </a:prstGeom>
          <a:ln w="15875">
            <a:solidFill>
              <a:srgbClr val="70707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Validation metric card 2"/>
          <p:cNvSpPr/>
          <p:nvPr/>
        </p:nvSpPr>
        <p:spPr>
          <a:xfrm>
            <a:off x="10704459" y="2674692"/>
            <a:ext cx="947942" cy="910998"/>
          </a:xfrm>
          <a:prstGeom prst="roundRect">
            <a:avLst>
              <a:gd name="adj" fmla="val 7000"/>
            </a:avLst>
          </a:prstGeom>
          <a:solidFill>
            <a:srgbClr val="FCFCFC"/>
          </a:solidFill>
          <a:ln w="1016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Validation metric card 2 — L1 label"/>
          <p:cNvSpPr txBox="1"/>
          <p:nvPr/>
        </p:nvSpPr>
        <p:spPr>
          <a:xfrm>
            <a:off x="10784669" y="2718420"/>
            <a:ext cx="204172" cy="17491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>
                <a:solidFill>
                  <a:srgbClr val="111111"/>
                </a:solidFill>
                <a:latin typeface="Times New Roman"/>
              </a:rPr>
              <a:t>L₁</a:t>
            </a:r>
          </a:p>
        </p:txBody>
      </p:sp>
      <p:cxnSp>
        <p:nvCxnSpPr>
          <p:cNvPr id="274" name="Validation metric card 2 — L1 threshold"/>
          <p:cNvCxnSpPr/>
          <p:nvPr/>
        </p:nvCxnSpPr>
        <p:spPr>
          <a:xfrm>
            <a:off x="11193014" y="2878756"/>
            <a:ext cx="0" cy="233216"/>
          </a:xfrm>
          <a:prstGeom prst="line">
            <a:avLst/>
          </a:prstGeom>
          <a:ln w="10160">
            <a:solidFill>
              <a:srgbClr val="707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Validation metric card 2 — L1 bar"/>
          <p:cNvSpPr/>
          <p:nvPr/>
        </p:nvSpPr>
        <p:spPr>
          <a:xfrm>
            <a:off x="10784669" y="2995364"/>
            <a:ext cx="663559" cy="94743"/>
          </a:xfrm>
          <a:prstGeom prst="roundRect">
            <a:avLst>
              <a:gd name="adj" fmla="val 0"/>
            </a:avLst>
          </a:prstGeom>
          <a:solidFill>
            <a:srgbClr val="999999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6" name="Validation metric card 2 — L1 axis"/>
          <p:cNvCxnSpPr/>
          <p:nvPr/>
        </p:nvCxnSpPr>
        <p:spPr>
          <a:xfrm>
            <a:off x="10784669" y="3097396"/>
            <a:ext cx="780230" cy="0"/>
          </a:xfrm>
          <a:prstGeom prst="line">
            <a:avLst/>
          </a:prstGeom>
          <a:ln w="1143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Validation metric card 2 — cosine label"/>
          <p:cNvSpPr txBox="1"/>
          <p:nvPr/>
        </p:nvSpPr>
        <p:spPr>
          <a:xfrm>
            <a:off x="10784669" y="3199428"/>
            <a:ext cx="787521" cy="16033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11111"/>
                </a:solidFill>
                <a:latin typeface="Times New Roman"/>
              </a:rPr>
              <a:t>Cosine distance</a:t>
            </a:r>
          </a:p>
        </p:txBody>
      </p:sp>
      <p:cxnSp>
        <p:nvCxnSpPr>
          <p:cNvPr id="278" name="Validation metric card 2 — cosine threshold"/>
          <p:cNvCxnSpPr/>
          <p:nvPr/>
        </p:nvCxnSpPr>
        <p:spPr>
          <a:xfrm>
            <a:off x="11193014" y="3337900"/>
            <a:ext cx="0" cy="182199"/>
          </a:xfrm>
          <a:prstGeom prst="line">
            <a:avLst/>
          </a:prstGeom>
          <a:ln w="10160">
            <a:solidFill>
              <a:srgbClr val="707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Validation metric card 2 — cosine bar"/>
          <p:cNvSpPr/>
          <p:nvPr/>
        </p:nvSpPr>
        <p:spPr>
          <a:xfrm>
            <a:off x="10784669" y="3396204"/>
            <a:ext cx="583349" cy="94743"/>
          </a:xfrm>
          <a:prstGeom prst="roundRect">
            <a:avLst>
              <a:gd name="adj" fmla="val 0"/>
            </a:avLst>
          </a:prstGeom>
          <a:solidFill>
            <a:srgbClr val="999999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0" name="Validation metric card 2 — cosine axis"/>
          <p:cNvCxnSpPr/>
          <p:nvPr/>
        </p:nvCxnSpPr>
        <p:spPr>
          <a:xfrm>
            <a:off x="10784669" y="3505523"/>
            <a:ext cx="780230" cy="0"/>
          </a:xfrm>
          <a:prstGeom prst="line">
            <a:avLst/>
          </a:prstGeom>
          <a:ln w="1143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Validation row 2 — outcome — slash 1"/>
          <p:cNvCxnSpPr/>
          <p:nvPr/>
        </p:nvCxnSpPr>
        <p:spPr>
          <a:xfrm>
            <a:off x="11747195" y="3009940"/>
            <a:ext cx="175005" cy="233216"/>
          </a:xfrm>
          <a:prstGeom prst="line">
            <a:avLst/>
          </a:prstGeom>
          <a:ln w="3556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Validation row 2 — outcome — slash 2"/>
          <p:cNvCxnSpPr/>
          <p:nvPr/>
        </p:nvCxnSpPr>
        <p:spPr>
          <a:xfrm flipH="1">
            <a:off x="11747195" y="3009940"/>
            <a:ext cx="175005" cy="233216"/>
          </a:xfrm>
          <a:prstGeom prst="line">
            <a:avLst/>
          </a:prstGeom>
          <a:ln w="3556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Validation row 3 — number circle"/>
          <p:cNvSpPr/>
          <p:nvPr/>
        </p:nvSpPr>
        <p:spPr>
          <a:xfrm>
            <a:off x="6467885" y="3760603"/>
            <a:ext cx="204172" cy="204063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Validation row 3 — number"/>
          <p:cNvSpPr txBox="1"/>
          <p:nvPr/>
        </p:nvSpPr>
        <p:spPr>
          <a:xfrm>
            <a:off x="6482468" y="3746027"/>
            <a:ext cx="175004" cy="24779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707070"/>
                </a:solidFill>
                <a:latin typeface="Times New Roman"/>
              </a:rPr>
              <a:t>3</a:t>
            </a:r>
          </a:p>
        </p:txBody>
      </p:sp>
      <p:sp>
        <p:nvSpPr>
          <p:cNvPr id="285" name="Validation row 3 — setup label"/>
          <p:cNvSpPr txBox="1"/>
          <p:nvPr/>
        </p:nvSpPr>
        <p:spPr>
          <a:xfrm>
            <a:off x="6686640" y="3695011"/>
            <a:ext cx="561473" cy="46643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07070"/>
                </a:solidFill>
                <a:latin typeface="Times New Roman"/>
              </a:rPr>
              <a:t>Zero
Query</a:t>
            </a:r>
          </a:p>
        </p:txBody>
      </p:sp>
      <p:sp>
        <p:nvSpPr>
          <p:cNvPr id="286" name="Validation row 3 — state symbol"/>
          <p:cNvSpPr txBox="1"/>
          <p:nvPr/>
        </p:nvSpPr>
        <p:spPr>
          <a:xfrm>
            <a:off x="7233530" y="3804331"/>
            <a:ext cx="189588" cy="18948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>
                <a:solidFill>
                  <a:srgbClr val="111111"/>
                </a:solidFill>
                <a:latin typeface="Times New Roman"/>
              </a:rPr>
              <a:t>Sₜ</a:t>
            </a:r>
          </a:p>
        </p:txBody>
      </p:sp>
      <p:sp>
        <p:nvSpPr>
          <p:cNvPr id="287" name="Validation row 3 — state latent"/>
          <p:cNvSpPr/>
          <p:nvPr/>
        </p:nvSpPr>
        <p:spPr>
          <a:xfrm>
            <a:off x="7430411" y="3833483"/>
            <a:ext cx="568765" cy="160335"/>
          </a:xfrm>
          <a:prstGeom prst="roundRect">
            <a:avLst>
              <a:gd name="adj" fmla="val 18000"/>
            </a:avLst>
          </a:prstGeom>
          <a:solidFill>
            <a:srgbClr val="EDF2F8"/>
          </a:solidFill>
          <a:ln w="952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Validation row 3 — state latent — token 1"/>
          <p:cNvSpPr/>
          <p:nvPr/>
        </p:nvSpPr>
        <p:spPr>
          <a:xfrm>
            <a:off x="7481454" y="3869559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Validation row 3 — state latent — token 2"/>
          <p:cNvSpPr/>
          <p:nvPr/>
        </p:nvSpPr>
        <p:spPr>
          <a:xfrm>
            <a:off x="7606145" y="3869559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Validation row 3 — state latent — token 3"/>
          <p:cNvSpPr/>
          <p:nvPr/>
        </p:nvSpPr>
        <p:spPr>
          <a:xfrm>
            <a:off x="7730836" y="3869559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Validation row 3 — state latent — ellipsis"/>
          <p:cNvSpPr txBox="1"/>
          <p:nvPr/>
        </p:nvSpPr>
        <p:spPr>
          <a:xfrm>
            <a:off x="7848235" y="3833483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E527E"/>
                </a:solidFill>
                <a:latin typeface="Times New Roman"/>
              </a:rPr>
              <a:t>···</a:t>
            </a:r>
          </a:p>
        </p:txBody>
      </p:sp>
      <p:sp>
        <p:nvSpPr>
          <p:cNvPr id="292" name="Validation row 3 — state latent — final token 1"/>
          <p:cNvSpPr/>
          <p:nvPr/>
        </p:nvSpPr>
        <p:spPr>
          <a:xfrm>
            <a:off x="7859902" y="3869559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Validation row 3 — predictor"/>
          <p:cNvSpPr/>
          <p:nvPr/>
        </p:nvSpPr>
        <p:spPr>
          <a:xfrm>
            <a:off x="8239808" y="4066699"/>
            <a:ext cx="597932" cy="466431"/>
          </a:xfrm>
          <a:prstGeom prst="roundRect">
            <a:avLst>
              <a:gd name="adj" fmla="val 9000"/>
            </a:avLst>
          </a:prstGeom>
          <a:solidFill>
            <a:srgbClr val="FFF4EA"/>
          </a:solidFill>
          <a:ln w="1079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Validation row 3 — predictor — label"/>
          <p:cNvSpPr txBox="1"/>
          <p:nvPr/>
        </p:nvSpPr>
        <p:spPr>
          <a:xfrm>
            <a:off x="8276267" y="4088563"/>
            <a:ext cx="525014" cy="42270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11111"/>
                </a:solidFill>
                <a:latin typeface="Times New Roman"/>
              </a:rPr>
              <a:t>Predictor</a:t>
            </a:r>
          </a:p>
        </p:txBody>
      </p:sp>
      <p:sp>
        <p:nvSpPr>
          <p:cNvPr id="295" name="Validation row 3 — predicted latent"/>
          <p:cNvSpPr/>
          <p:nvPr/>
        </p:nvSpPr>
        <p:spPr>
          <a:xfrm>
            <a:off x="9041913" y="4176019"/>
            <a:ext cx="525014" cy="160335"/>
          </a:xfrm>
          <a:prstGeom prst="roundRect">
            <a:avLst>
              <a:gd name="adj" fmla="val 18000"/>
            </a:avLst>
          </a:prstGeom>
          <a:solidFill>
            <a:srgbClr val="FFF4EA"/>
          </a:solidFill>
          <a:ln w="952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Validation row 3 — predicted latent — token 1"/>
          <p:cNvSpPr/>
          <p:nvPr/>
        </p:nvSpPr>
        <p:spPr>
          <a:xfrm>
            <a:off x="9092956" y="4212094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Validation row 3 — predicted latent — token 2"/>
          <p:cNvSpPr/>
          <p:nvPr/>
        </p:nvSpPr>
        <p:spPr>
          <a:xfrm>
            <a:off x="9217647" y="4212094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Validation row 3 — predicted latent — token 3"/>
          <p:cNvSpPr/>
          <p:nvPr/>
        </p:nvSpPr>
        <p:spPr>
          <a:xfrm>
            <a:off x="9342338" y="4212094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Validation row 3 — predicted latent — ellipsis"/>
          <p:cNvSpPr txBox="1"/>
          <p:nvPr/>
        </p:nvSpPr>
        <p:spPr>
          <a:xfrm>
            <a:off x="9459737" y="4176019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26715"/>
                </a:solidFill>
                <a:latin typeface="Times New Roman"/>
              </a:rPr>
              <a:t>···</a:t>
            </a:r>
          </a:p>
        </p:txBody>
      </p:sp>
      <p:sp>
        <p:nvSpPr>
          <p:cNvPr id="300" name="Validation row 3 — predicted latent — final token 1"/>
          <p:cNvSpPr/>
          <p:nvPr/>
        </p:nvSpPr>
        <p:spPr>
          <a:xfrm>
            <a:off x="9427653" y="4212094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1" name="Validation row 3 — predictor output"/>
          <p:cNvCxnSpPr/>
          <p:nvPr/>
        </p:nvCxnSpPr>
        <p:spPr>
          <a:xfrm>
            <a:off x="8837741" y="4256187"/>
            <a:ext cx="175005" cy="0"/>
          </a:xfrm>
          <a:prstGeom prst="line">
            <a:avLst/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Validation row 3 — predicted-target comparison"/>
          <p:cNvCxnSpPr/>
          <p:nvPr/>
        </p:nvCxnSpPr>
        <p:spPr>
          <a:xfrm>
            <a:off x="9581511" y="4256187"/>
            <a:ext cx="182297" cy="0"/>
          </a:xfrm>
          <a:prstGeom prst="line">
            <a:avLst/>
          </a:prstGeom>
          <a:ln w="14604">
            <a:solidFill>
              <a:srgbClr val="246A24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Validation row 3 — target-metric comparison"/>
          <p:cNvCxnSpPr/>
          <p:nvPr/>
        </p:nvCxnSpPr>
        <p:spPr>
          <a:xfrm>
            <a:off x="10390908" y="4256187"/>
            <a:ext cx="262508" cy="0"/>
          </a:xfrm>
          <a:prstGeom prst="line">
            <a:avLst/>
          </a:prstGeom>
          <a:ln w="14604">
            <a:solidFill>
              <a:srgbClr val="246A24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Validation row 3 — zero label"/>
          <p:cNvSpPr txBox="1"/>
          <p:nvPr/>
        </p:nvSpPr>
        <p:spPr>
          <a:xfrm>
            <a:off x="7233530" y="4292626"/>
            <a:ext cx="145837" cy="20406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11111"/>
                </a:solidFill>
                <a:latin typeface="Times New Roman"/>
              </a:rPr>
              <a:t>0</a:t>
            </a:r>
          </a:p>
        </p:txBody>
      </p:sp>
      <p:sp>
        <p:nvSpPr>
          <p:cNvPr id="305" name="Validation row 3 — zero query"/>
          <p:cNvSpPr/>
          <p:nvPr/>
        </p:nvSpPr>
        <p:spPr>
          <a:xfrm>
            <a:off x="7393951" y="4314490"/>
            <a:ext cx="627100" cy="196775"/>
          </a:xfrm>
          <a:prstGeom prst="roundRect">
            <a:avLst>
              <a:gd name="adj" fmla="val 18000"/>
            </a:avLst>
          </a:prstGeom>
          <a:solidFill>
            <a:srgbClr val="F7F7F7"/>
          </a:solidFill>
          <a:ln w="9525">
            <a:solidFill>
              <a:srgbClr val="70707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Validation row 3 — zero query — hollow token 1"/>
          <p:cNvSpPr/>
          <p:nvPr/>
        </p:nvSpPr>
        <p:spPr>
          <a:xfrm>
            <a:off x="7444995" y="4365506"/>
            <a:ext cx="94794" cy="94743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Validation row 3 — zero query — hollow token 2"/>
          <p:cNvSpPr/>
          <p:nvPr/>
        </p:nvSpPr>
        <p:spPr>
          <a:xfrm>
            <a:off x="7576248" y="4365506"/>
            <a:ext cx="94794" cy="94743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Validation row 3 — zero query — hollow token 3"/>
          <p:cNvSpPr/>
          <p:nvPr/>
        </p:nvSpPr>
        <p:spPr>
          <a:xfrm>
            <a:off x="7707502" y="4365506"/>
            <a:ext cx="94794" cy="94743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Validation row 3 — zero query — hollow token 4"/>
          <p:cNvSpPr/>
          <p:nvPr/>
        </p:nvSpPr>
        <p:spPr>
          <a:xfrm>
            <a:off x="7838755" y="4365506"/>
            <a:ext cx="94794" cy="94743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Validation row 3 — zero query — hollow token 5"/>
          <p:cNvSpPr/>
          <p:nvPr/>
        </p:nvSpPr>
        <p:spPr>
          <a:xfrm>
            <a:off x="7970009" y="4365506"/>
            <a:ext cx="94794" cy="94743"/>
          </a:xfrm>
          <a:prstGeom prst="ellipse">
            <a:avLst/>
          </a:prstGeom>
          <a:solidFill>
            <a:srgbClr val="FFFFFF"/>
          </a:solidFill>
          <a:ln w="889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1" name="Validation row 3 — state route — native elbow"/>
          <p:cNvCxnSpPr/>
          <p:nvPr/>
        </p:nvCxnSpPr>
        <p:spPr>
          <a:xfrm>
            <a:off x="7999176" y="3913651"/>
            <a:ext cx="211464" cy="320672"/>
          </a:xfrm>
          <a:prstGeom prst="bentConnector3">
            <a:avLst>
              <a:gd name="adj1" fmla="val 51724"/>
            </a:avLst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Validation row 3 — zero route — native elbow"/>
          <p:cNvCxnSpPr/>
          <p:nvPr/>
        </p:nvCxnSpPr>
        <p:spPr>
          <a:xfrm flipV="1">
            <a:off x="8021052" y="4401946"/>
            <a:ext cx="189588" cy="7288"/>
          </a:xfrm>
          <a:prstGeom prst="bentConnector3">
            <a:avLst>
              <a:gd name="adj1" fmla="val 46154"/>
            </a:avLst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Validation metric card 3"/>
          <p:cNvSpPr/>
          <p:nvPr/>
        </p:nvSpPr>
        <p:spPr>
          <a:xfrm>
            <a:off x="10704459" y="3767891"/>
            <a:ext cx="947942" cy="910998"/>
          </a:xfrm>
          <a:prstGeom prst="roundRect">
            <a:avLst>
              <a:gd name="adj" fmla="val 7000"/>
            </a:avLst>
          </a:prstGeom>
          <a:solidFill>
            <a:srgbClr val="FCFCFC"/>
          </a:solidFill>
          <a:ln w="1016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Validation metric card 3 — L1 label"/>
          <p:cNvSpPr txBox="1"/>
          <p:nvPr/>
        </p:nvSpPr>
        <p:spPr>
          <a:xfrm>
            <a:off x="10784669" y="3811619"/>
            <a:ext cx="204172" cy="17491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>
                <a:solidFill>
                  <a:srgbClr val="111111"/>
                </a:solidFill>
                <a:latin typeface="Times New Roman"/>
              </a:rPr>
              <a:t>L₁</a:t>
            </a:r>
          </a:p>
        </p:txBody>
      </p:sp>
      <p:cxnSp>
        <p:nvCxnSpPr>
          <p:cNvPr id="319" name="Validation metric card 3 — L1 threshold"/>
          <p:cNvCxnSpPr/>
          <p:nvPr/>
        </p:nvCxnSpPr>
        <p:spPr>
          <a:xfrm>
            <a:off x="11193014" y="3971955"/>
            <a:ext cx="0" cy="233216"/>
          </a:xfrm>
          <a:prstGeom prst="line">
            <a:avLst/>
          </a:prstGeom>
          <a:ln w="10160">
            <a:solidFill>
              <a:srgbClr val="707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Validation metric card 3 — L1 bar"/>
          <p:cNvSpPr/>
          <p:nvPr/>
        </p:nvSpPr>
        <p:spPr>
          <a:xfrm>
            <a:off x="10784669" y="4088563"/>
            <a:ext cx="663559" cy="94743"/>
          </a:xfrm>
          <a:prstGeom prst="roundRect">
            <a:avLst>
              <a:gd name="adj" fmla="val 0"/>
            </a:avLst>
          </a:prstGeom>
          <a:solidFill>
            <a:srgbClr val="999999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1" name="Validation metric card 3 — L1 axis"/>
          <p:cNvCxnSpPr/>
          <p:nvPr/>
        </p:nvCxnSpPr>
        <p:spPr>
          <a:xfrm>
            <a:off x="10784669" y="4190595"/>
            <a:ext cx="780230" cy="0"/>
          </a:xfrm>
          <a:prstGeom prst="line">
            <a:avLst/>
          </a:prstGeom>
          <a:ln w="1143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Validation metric card 3 — cosine label"/>
          <p:cNvSpPr txBox="1"/>
          <p:nvPr/>
        </p:nvSpPr>
        <p:spPr>
          <a:xfrm>
            <a:off x="10784669" y="4292626"/>
            <a:ext cx="787521" cy="16033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11111"/>
                </a:solidFill>
                <a:latin typeface="Times New Roman"/>
              </a:rPr>
              <a:t>Cosine distance</a:t>
            </a:r>
          </a:p>
        </p:txBody>
      </p:sp>
      <p:cxnSp>
        <p:nvCxnSpPr>
          <p:cNvPr id="323" name="Validation metric card 3 — cosine threshold"/>
          <p:cNvCxnSpPr/>
          <p:nvPr/>
        </p:nvCxnSpPr>
        <p:spPr>
          <a:xfrm>
            <a:off x="11193014" y="4431098"/>
            <a:ext cx="0" cy="182200"/>
          </a:xfrm>
          <a:prstGeom prst="line">
            <a:avLst/>
          </a:prstGeom>
          <a:ln w="10160">
            <a:solidFill>
              <a:srgbClr val="707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Validation metric card 3 — cosine bar"/>
          <p:cNvSpPr/>
          <p:nvPr/>
        </p:nvSpPr>
        <p:spPr>
          <a:xfrm>
            <a:off x="10784669" y="4489402"/>
            <a:ext cx="663559" cy="94743"/>
          </a:xfrm>
          <a:prstGeom prst="roundRect">
            <a:avLst>
              <a:gd name="adj" fmla="val 0"/>
            </a:avLst>
          </a:prstGeom>
          <a:solidFill>
            <a:srgbClr val="999999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5" name="Validation metric card 3 — cosine axis"/>
          <p:cNvCxnSpPr/>
          <p:nvPr/>
        </p:nvCxnSpPr>
        <p:spPr>
          <a:xfrm>
            <a:off x="10784669" y="4598722"/>
            <a:ext cx="780230" cy="0"/>
          </a:xfrm>
          <a:prstGeom prst="line">
            <a:avLst/>
          </a:prstGeom>
          <a:ln w="1143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Validation row 3 — outcome — slash 1"/>
          <p:cNvCxnSpPr/>
          <p:nvPr/>
        </p:nvCxnSpPr>
        <p:spPr>
          <a:xfrm>
            <a:off x="11747195" y="4103139"/>
            <a:ext cx="175005" cy="233215"/>
          </a:xfrm>
          <a:prstGeom prst="line">
            <a:avLst/>
          </a:prstGeom>
          <a:ln w="3556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Validation row 3 — outcome — slash 2"/>
          <p:cNvCxnSpPr/>
          <p:nvPr/>
        </p:nvCxnSpPr>
        <p:spPr>
          <a:xfrm flipH="1">
            <a:off x="11747195" y="4103139"/>
            <a:ext cx="175005" cy="233215"/>
          </a:xfrm>
          <a:prstGeom prst="line">
            <a:avLst/>
          </a:prstGeom>
          <a:ln w="3556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Validation row 4 — number circle"/>
          <p:cNvSpPr/>
          <p:nvPr/>
        </p:nvSpPr>
        <p:spPr>
          <a:xfrm>
            <a:off x="6467885" y="4817362"/>
            <a:ext cx="204172" cy="204063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Validation row 4 — number"/>
          <p:cNvSpPr txBox="1"/>
          <p:nvPr/>
        </p:nvSpPr>
        <p:spPr>
          <a:xfrm>
            <a:off x="6482468" y="4802786"/>
            <a:ext cx="175004" cy="24779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707070"/>
                </a:solidFill>
                <a:latin typeface="Times New Roman"/>
              </a:rPr>
              <a:t>4</a:t>
            </a:r>
          </a:p>
        </p:txBody>
      </p:sp>
      <p:sp>
        <p:nvSpPr>
          <p:cNvPr id="330" name="Validation row 4 — setup label"/>
          <p:cNvSpPr txBox="1"/>
          <p:nvPr/>
        </p:nvSpPr>
        <p:spPr>
          <a:xfrm>
            <a:off x="6686640" y="4817362"/>
            <a:ext cx="561473" cy="364399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070"/>
                </a:solidFill>
                <a:latin typeface="Times New Roman"/>
              </a:rPr>
              <a:t>Shuffled
Query</a:t>
            </a:r>
          </a:p>
        </p:txBody>
      </p:sp>
      <p:sp>
        <p:nvSpPr>
          <p:cNvPr id="331" name="Validation row 4 — setup note"/>
          <p:cNvSpPr txBox="1"/>
          <p:nvPr/>
        </p:nvSpPr>
        <p:spPr>
          <a:xfrm>
            <a:off x="6686640" y="5123458"/>
            <a:ext cx="561473" cy="31338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707070"/>
                </a:solidFill>
                <a:latin typeface="Times New Roman"/>
              </a:rPr>
              <a:t>from another
patient</a:t>
            </a:r>
          </a:p>
        </p:txBody>
      </p:sp>
      <p:sp>
        <p:nvSpPr>
          <p:cNvPr id="332" name="Validation row 4 — state symbol"/>
          <p:cNvSpPr txBox="1"/>
          <p:nvPr/>
        </p:nvSpPr>
        <p:spPr>
          <a:xfrm>
            <a:off x="7233530" y="4861090"/>
            <a:ext cx="189588" cy="189487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>
                <a:solidFill>
                  <a:srgbClr val="111111"/>
                </a:solidFill>
                <a:latin typeface="Times New Roman"/>
              </a:rPr>
              <a:t>Sₜ</a:t>
            </a:r>
          </a:p>
        </p:txBody>
      </p:sp>
      <p:sp>
        <p:nvSpPr>
          <p:cNvPr id="333" name="Validation row 4 — state latent"/>
          <p:cNvSpPr/>
          <p:nvPr/>
        </p:nvSpPr>
        <p:spPr>
          <a:xfrm>
            <a:off x="7430411" y="4890242"/>
            <a:ext cx="568765" cy="160335"/>
          </a:xfrm>
          <a:prstGeom prst="roundRect">
            <a:avLst>
              <a:gd name="adj" fmla="val 18000"/>
            </a:avLst>
          </a:prstGeom>
          <a:solidFill>
            <a:srgbClr val="EDF2F8"/>
          </a:solidFill>
          <a:ln w="952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Validation row 4 — state latent — token 1"/>
          <p:cNvSpPr/>
          <p:nvPr/>
        </p:nvSpPr>
        <p:spPr>
          <a:xfrm>
            <a:off x="7481454" y="4926317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Validation row 4 — state latent — token 2"/>
          <p:cNvSpPr/>
          <p:nvPr/>
        </p:nvSpPr>
        <p:spPr>
          <a:xfrm>
            <a:off x="7606145" y="4926317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Validation row 4 — state latent — token 3"/>
          <p:cNvSpPr/>
          <p:nvPr/>
        </p:nvSpPr>
        <p:spPr>
          <a:xfrm>
            <a:off x="7730836" y="4926317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Validation row 4 — state latent — ellipsis"/>
          <p:cNvSpPr txBox="1"/>
          <p:nvPr/>
        </p:nvSpPr>
        <p:spPr>
          <a:xfrm>
            <a:off x="7848235" y="4890242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E527E"/>
                </a:solidFill>
                <a:latin typeface="Times New Roman"/>
              </a:rPr>
              <a:t>···</a:t>
            </a:r>
          </a:p>
        </p:txBody>
      </p:sp>
      <p:sp>
        <p:nvSpPr>
          <p:cNvPr id="338" name="Validation row 4 — state latent — final token 1"/>
          <p:cNvSpPr/>
          <p:nvPr/>
        </p:nvSpPr>
        <p:spPr>
          <a:xfrm>
            <a:off x="7859902" y="4926317"/>
            <a:ext cx="88231" cy="88184"/>
          </a:xfrm>
          <a:prstGeom prst="roundRect">
            <a:avLst>
              <a:gd name="adj" fmla="val 15000"/>
            </a:avLst>
          </a:prstGeom>
          <a:solidFill>
            <a:srgbClr val="7188AD"/>
          </a:solidFill>
          <a:ln w="6985">
            <a:solidFill>
              <a:srgbClr val="2E5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Validation row 4 — predictor"/>
          <p:cNvSpPr/>
          <p:nvPr/>
        </p:nvSpPr>
        <p:spPr>
          <a:xfrm>
            <a:off x="8239808" y="5116170"/>
            <a:ext cx="597932" cy="466431"/>
          </a:xfrm>
          <a:prstGeom prst="roundRect">
            <a:avLst>
              <a:gd name="adj" fmla="val 9000"/>
            </a:avLst>
          </a:prstGeom>
          <a:solidFill>
            <a:srgbClr val="FFF4EA"/>
          </a:solidFill>
          <a:ln w="1079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Validation row 4 — predictor — label"/>
          <p:cNvSpPr txBox="1"/>
          <p:nvPr/>
        </p:nvSpPr>
        <p:spPr>
          <a:xfrm>
            <a:off x="8276267" y="5138034"/>
            <a:ext cx="525014" cy="42270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11111"/>
                </a:solidFill>
                <a:latin typeface="Times New Roman"/>
              </a:rPr>
              <a:t>Predictor</a:t>
            </a:r>
          </a:p>
        </p:txBody>
      </p:sp>
      <p:sp>
        <p:nvSpPr>
          <p:cNvPr id="341" name="Validation row 4 — predicted latent"/>
          <p:cNvSpPr/>
          <p:nvPr/>
        </p:nvSpPr>
        <p:spPr>
          <a:xfrm>
            <a:off x="9041913" y="5247353"/>
            <a:ext cx="525014" cy="160335"/>
          </a:xfrm>
          <a:prstGeom prst="roundRect">
            <a:avLst>
              <a:gd name="adj" fmla="val 18000"/>
            </a:avLst>
          </a:prstGeom>
          <a:solidFill>
            <a:srgbClr val="FFF4EA"/>
          </a:solidFill>
          <a:ln w="952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Validation row 4 — predicted latent — token 1"/>
          <p:cNvSpPr/>
          <p:nvPr/>
        </p:nvSpPr>
        <p:spPr>
          <a:xfrm>
            <a:off x="9092956" y="528342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Validation row 4 — predicted latent — token 2"/>
          <p:cNvSpPr/>
          <p:nvPr/>
        </p:nvSpPr>
        <p:spPr>
          <a:xfrm>
            <a:off x="9217647" y="528342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Validation row 4 — predicted latent — token 3"/>
          <p:cNvSpPr/>
          <p:nvPr/>
        </p:nvSpPr>
        <p:spPr>
          <a:xfrm>
            <a:off x="9342338" y="528342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Validation row 4 — predicted latent — ellipsis"/>
          <p:cNvSpPr txBox="1"/>
          <p:nvPr/>
        </p:nvSpPr>
        <p:spPr>
          <a:xfrm>
            <a:off x="9459737" y="5247353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26715"/>
                </a:solidFill>
                <a:latin typeface="Times New Roman"/>
              </a:rPr>
              <a:t>···</a:t>
            </a:r>
          </a:p>
        </p:txBody>
      </p:sp>
      <p:sp>
        <p:nvSpPr>
          <p:cNvPr id="346" name="Validation row 4 — predicted latent — final token 1"/>
          <p:cNvSpPr/>
          <p:nvPr/>
        </p:nvSpPr>
        <p:spPr>
          <a:xfrm>
            <a:off x="9427653" y="528342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7" name="Validation row 4 — predictor output"/>
          <p:cNvCxnSpPr/>
          <p:nvPr/>
        </p:nvCxnSpPr>
        <p:spPr>
          <a:xfrm>
            <a:off x="8837741" y="5327521"/>
            <a:ext cx="175005" cy="0"/>
          </a:xfrm>
          <a:prstGeom prst="line">
            <a:avLst/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Validation row 4 — predicted-target comparison"/>
          <p:cNvCxnSpPr/>
          <p:nvPr/>
        </p:nvCxnSpPr>
        <p:spPr>
          <a:xfrm>
            <a:off x="9581511" y="5327521"/>
            <a:ext cx="182297" cy="0"/>
          </a:xfrm>
          <a:prstGeom prst="line">
            <a:avLst/>
          </a:prstGeom>
          <a:ln w="14604">
            <a:solidFill>
              <a:srgbClr val="246A24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Validation row 4 — target-metric comparison"/>
          <p:cNvCxnSpPr/>
          <p:nvPr/>
        </p:nvCxnSpPr>
        <p:spPr>
          <a:xfrm>
            <a:off x="10390908" y="5327521"/>
            <a:ext cx="262508" cy="0"/>
          </a:xfrm>
          <a:prstGeom prst="line">
            <a:avLst/>
          </a:prstGeom>
          <a:ln w="14604">
            <a:solidFill>
              <a:srgbClr val="246A24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Validation row 4 — patient head"/>
          <p:cNvSpPr/>
          <p:nvPr/>
        </p:nvSpPr>
        <p:spPr>
          <a:xfrm>
            <a:off x="6854353" y="5473281"/>
            <a:ext cx="102086" cy="102031"/>
          </a:xfrm>
          <a:prstGeom prst="ellipse">
            <a:avLst/>
          </a:prstGeom>
          <a:solidFill>
            <a:srgbClr val="72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Validation row 4 — patient shoulders"/>
          <p:cNvSpPr/>
          <p:nvPr/>
        </p:nvSpPr>
        <p:spPr>
          <a:xfrm>
            <a:off x="6817894" y="5568025"/>
            <a:ext cx="182296" cy="131183"/>
          </a:xfrm>
          <a:prstGeom prst="roundRect">
            <a:avLst>
              <a:gd name="adj" fmla="val 45000"/>
            </a:avLst>
          </a:prstGeom>
          <a:solidFill>
            <a:srgbClr val="72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Validation row 4 — patient torso"/>
          <p:cNvSpPr/>
          <p:nvPr/>
        </p:nvSpPr>
        <p:spPr>
          <a:xfrm>
            <a:off x="6817894" y="5633617"/>
            <a:ext cx="182296" cy="65591"/>
          </a:xfrm>
          <a:prstGeom prst="roundRect">
            <a:avLst>
              <a:gd name="adj" fmla="val 0"/>
            </a:avLst>
          </a:prstGeom>
          <a:solidFill>
            <a:srgbClr val="72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Validation row 4 — other query symbol"/>
          <p:cNvSpPr txBox="1"/>
          <p:nvPr/>
        </p:nvSpPr>
        <p:spPr>
          <a:xfrm>
            <a:off x="7204363" y="5269217"/>
            <a:ext cx="422928" cy="204063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E26715"/>
                </a:solidFill>
                <a:latin typeface="Times New Roman"/>
              </a:rPr>
              <a:t>qₜ⁽ᵒᵗʰᵉʳ⁾</a:t>
            </a:r>
          </a:p>
        </p:txBody>
      </p:sp>
      <p:sp>
        <p:nvSpPr>
          <p:cNvPr id="354" name="Validation row 4 — shuffled query"/>
          <p:cNvSpPr/>
          <p:nvPr/>
        </p:nvSpPr>
        <p:spPr>
          <a:xfrm>
            <a:off x="7430411" y="5393113"/>
            <a:ext cx="568765" cy="160335"/>
          </a:xfrm>
          <a:prstGeom prst="roundRect">
            <a:avLst>
              <a:gd name="adj" fmla="val 18000"/>
            </a:avLst>
          </a:prstGeom>
          <a:solidFill>
            <a:srgbClr val="FFF4EA"/>
          </a:solidFill>
          <a:ln w="952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Validation row 4 — shuffled query — token 1"/>
          <p:cNvSpPr/>
          <p:nvPr/>
        </p:nvSpPr>
        <p:spPr>
          <a:xfrm>
            <a:off x="7481454" y="542918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Validation row 4 — shuffled query — token 2"/>
          <p:cNvSpPr/>
          <p:nvPr/>
        </p:nvSpPr>
        <p:spPr>
          <a:xfrm>
            <a:off x="7606145" y="542918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Validation row 4 — shuffled query — token 3"/>
          <p:cNvSpPr/>
          <p:nvPr/>
        </p:nvSpPr>
        <p:spPr>
          <a:xfrm>
            <a:off x="7730836" y="542918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Validation row 4 — shuffled query — ellipsis"/>
          <p:cNvSpPr txBox="1"/>
          <p:nvPr/>
        </p:nvSpPr>
        <p:spPr>
          <a:xfrm>
            <a:off x="7848235" y="5393113"/>
            <a:ext cx="182296" cy="144302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E26715"/>
                </a:solidFill>
                <a:latin typeface="Times New Roman"/>
              </a:rPr>
              <a:t>···</a:t>
            </a:r>
          </a:p>
        </p:txBody>
      </p:sp>
      <p:sp>
        <p:nvSpPr>
          <p:cNvPr id="359" name="Validation row 4 — shuffled query — final token 1"/>
          <p:cNvSpPr/>
          <p:nvPr/>
        </p:nvSpPr>
        <p:spPr>
          <a:xfrm>
            <a:off x="7859902" y="5429189"/>
            <a:ext cx="88231" cy="88184"/>
          </a:xfrm>
          <a:prstGeom prst="roundRect">
            <a:avLst>
              <a:gd name="adj" fmla="val 15000"/>
            </a:avLst>
          </a:prstGeom>
          <a:solidFill>
            <a:srgbClr val="ED8B42"/>
          </a:solidFill>
          <a:ln w="6985">
            <a:solidFill>
              <a:srgbClr val="E267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0" name="Validation row 4 — state route — native elbow"/>
          <p:cNvCxnSpPr/>
          <p:nvPr/>
        </p:nvCxnSpPr>
        <p:spPr>
          <a:xfrm>
            <a:off x="7999176" y="4970410"/>
            <a:ext cx="211464" cy="313383"/>
          </a:xfrm>
          <a:prstGeom prst="bentConnector3">
            <a:avLst>
              <a:gd name="adj1" fmla="val 51724"/>
            </a:avLst>
          </a:prstGeom>
          <a:ln w="15875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Validation row 4 — shuffled route — native elbow"/>
          <p:cNvCxnSpPr/>
          <p:nvPr/>
        </p:nvCxnSpPr>
        <p:spPr>
          <a:xfrm rot="5400000" flipH="1" flipV="1">
            <a:off x="7485160" y="4966440"/>
            <a:ext cx="225928" cy="1225033"/>
          </a:xfrm>
          <a:prstGeom prst="bentConnector4">
            <a:avLst>
              <a:gd name="adj1" fmla="val -80645"/>
              <a:gd name="adj2" fmla="val 95238"/>
            </a:avLst>
          </a:prstGeom>
          <a:ln w="15875">
            <a:solidFill>
              <a:srgbClr val="72508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Validation metric card 4"/>
          <p:cNvSpPr/>
          <p:nvPr/>
        </p:nvSpPr>
        <p:spPr>
          <a:xfrm>
            <a:off x="10704459" y="4861090"/>
            <a:ext cx="947942" cy="910998"/>
          </a:xfrm>
          <a:prstGeom prst="roundRect">
            <a:avLst>
              <a:gd name="adj" fmla="val 7000"/>
            </a:avLst>
          </a:prstGeom>
          <a:solidFill>
            <a:srgbClr val="FCFCFC"/>
          </a:solidFill>
          <a:ln w="1016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Validation metric card 4 — L1 label"/>
          <p:cNvSpPr txBox="1"/>
          <p:nvPr/>
        </p:nvSpPr>
        <p:spPr>
          <a:xfrm>
            <a:off x="10784669" y="4904818"/>
            <a:ext cx="204172" cy="174911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>
                <a:solidFill>
                  <a:srgbClr val="111111"/>
                </a:solidFill>
                <a:latin typeface="Times New Roman"/>
              </a:rPr>
              <a:t>L₁</a:t>
            </a:r>
          </a:p>
        </p:txBody>
      </p:sp>
      <p:cxnSp>
        <p:nvCxnSpPr>
          <p:cNvPr id="369" name="Validation metric card 4 — L1 threshold"/>
          <p:cNvCxnSpPr/>
          <p:nvPr/>
        </p:nvCxnSpPr>
        <p:spPr>
          <a:xfrm>
            <a:off x="11193014" y="5065154"/>
            <a:ext cx="0" cy="233215"/>
          </a:xfrm>
          <a:prstGeom prst="line">
            <a:avLst/>
          </a:prstGeom>
          <a:ln w="10160">
            <a:solidFill>
              <a:srgbClr val="707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Validation metric card 4 — L1 bar"/>
          <p:cNvSpPr/>
          <p:nvPr/>
        </p:nvSpPr>
        <p:spPr>
          <a:xfrm>
            <a:off x="10784669" y="5181761"/>
            <a:ext cx="663559" cy="94743"/>
          </a:xfrm>
          <a:prstGeom prst="roundRect">
            <a:avLst>
              <a:gd name="adj" fmla="val 0"/>
            </a:avLst>
          </a:prstGeom>
          <a:solidFill>
            <a:srgbClr val="999999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1" name="Validation metric card 4 — L1 axis"/>
          <p:cNvCxnSpPr/>
          <p:nvPr/>
        </p:nvCxnSpPr>
        <p:spPr>
          <a:xfrm>
            <a:off x="10784669" y="5283793"/>
            <a:ext cx="780230" cy="0"/>
          </a:xfrm>
          <a:prstGeom prst="line">
            <a:avLst/>
          </a:prstGeom>
          <a:ln w="1143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2" name="Validation metric card 4 — cosine label"/>
          <p:cNvSpPr txBox="1"/>
          <p:nvPr/>
        </p:nvSpPr>
        <p:spPr>
          <a:xfrm>
            <a:off x="10784669" y="5385825"/>
            <a:ext cx="787521" cy="160335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11111"/>
                </a:solidFill>
                <a:latin typeface="Times New Roman"/>
              </a:rPr>
              <a:t>Cosine distance</a:t>
            </a:r>
          </a:p>
        </p:txBody>
      </p:sp>
      <p:cxnSp>
        <p:nvCxnSpPr>
          <p:cNvPr id="373" name="Validation metric card 4 — cosine threshold"/>
          <p:cNvCxnSpPr/>
          <p:nvPr/>
        </p:nvCxnSpPr>
        <p:spPr>
          <a:xfrm>
            <a:off x="11193014" y="5524297"/>
            <a:ext cx="0" cy="182200"/>
          </a:xfrm>
          <a:prstGeom prst="line">
            <a:avLst/>
          </a:prstGeom>
          <a:ln w="10160">
            <a:solidFill>
              <a:srgbClr val="707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Validation metric card 4 — cosine bar"/>
          <p:cNvSpPr/>
          <p:nvPr/>
        </p:nvSpPr>
        <p:spPr>
          <a:xfrm>
            <a:off x="10784669" y="5582601"/>
            <a:ext cx="663559" cy="94743"/>
          </a:xfrm>
          <a:prstGeom prst="roundRect">
            <a:avLst>
              <a:gd name="adj" fmla="val 0"/>
            </a:avLst>
          </a:prstGeom>
          <a:solidFill>
            <a:srgbClr val="999999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5" name="Validation metric card 4 — cosine axis"/>
          <p:cNvCxnSpPr/>
          <p:nvPr/>
        </p:nvCxnSpPr>
        <p:spPr>
          <a:xfrm>
            <a:off x="10784669" y="5691921"/>
            <a:ext cx="780230" cy="0"/>
          </a:xfrm>
          <a:prstGeom prst="line">
            <a:avLst/>
          </a:prstGeom>
          <a:ln w="1143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Validation row 4 — outcome — slash 1"/>
          <p:cNvCxnSpPr/>
          <p:nvPr/>
        </p:nvCxnSpPr>
        <p:spPr>
          <a:xfrm>
            <a:off x="11747195" y="5196337"/>
            <a:ext cx="175005" cy="233216"/>
          </a:xfrm>
          <a:prstGeom prst="line">
            <a:avLst/>
          </a:prstGeom>
          <a:ln w="3556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Validation row 4 — outcome — slash 2"/>
          <p:cNvCxnSpPr/>
          <p:nvPr/>
        </p:nvCxnSpPr>
        <p:spPr>
          <a:xfrm flipH="1">
            <a:off x="11747195" y="5196337"/>
            <a:ext cx="175005" cy="233216"/>
          </a:xfrm>
          <a:prstGeom prst="line">
            <a:avLst/>
          </a:prstGeom>
          <a:ln w="35560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: Elbow 379">
            <a:extLst>
              <a:ext uri="{FF2B5EF4-FFF2-40B4-BE49-F238E27FC236}">
                <a16:creationId xmlns:a16="http://schemas.microsoft.com/office/drawing/2014/main" id="{5341A152-47B9-66EE-FEF6-B03A0AC022BC}"/>
              </a:ext>
            </a:extLst>
          </p:cNvPr>
          <p:cNvCxnSpPr>
            <a:stCxn id="36" idx="3"/>
            <a:endCxn id="86" idx="0"/>
          </p:cNvCxnSpPr>
          <p:nvPr/>
        </p:nvCxnSpPr>
        <p:spPr>
          <a:xfrm>
            <a:off x="4127195" y="1566918"/>
            <a:ext cx="528661" cy="1530478"/>
          </a:xfrm>
          <a:prstGeom prst="bentConnector2">
            <a:avLst/>
          </a:prstGeom>
          <a:ln w="15875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3" name="Connector: Elbow 382">
            <a:extLst>
              <a:ext uri="{FF2B5EF4-FFF2-40B4-BE49-F238E27FC236}">
                <a16:creationId xmlns:a16="http://schemas.microsoft.com/office/drawing/2014/main" id="{539FBE96-291A-4EF2-2B14-C58C0C32BB39}"/>
              </a:ext>
            </a:extLst>
          </p:cNvPr>
          <p:cNvCxnSpPr>
            <a:cxnSpLocks/>
            <a:stCxn id="75" idx="0"/>
            <a:endCxn id="86" idx="1"/>
          </p:cNvCxnSpPr>
          <p:nvPr/>
        </p:nvCxnSpPr>
        <p:spPr>
          <a:xfrm rot="5400000" flipH="1" flipV="1">
            <a:off x="3932215" y="3456244"/>
            <a:ext cx="284231" cy="324488"/>
          </a:xfrm>
          <a:prstGeom prst="bentConnector2">
            <a:avLst/>
          </a:prstGeom>
          <a:ln w="15875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194</Words>
  <Application>Microsoft Office PowerPoint</Application>
  <PresentationFormat>Widescreen</PresentationFormat>
  <Paragraphs>70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 song</cp:lastModifiedBy>
  <cp:revision>5</cp:revision>
  <dcterms:created xsi:type="dcterms:W3CDTF">2013-01-27T09:14:16Z</dcterms:created>
  <dcterms:modified xsi:type="dcterms:W3CDTF">2026-08-23T13:25:07Z</dcterms:modified>
  <cp:category/>
</cp:coreProperties>
</file>