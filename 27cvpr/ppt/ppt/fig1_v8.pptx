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4401800" cy="792479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840" y="9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rrent observations lane"/>
          <p:cNvSpPr/>
          <p:nvPr/>
        </p:nvSpPr>
        <p:spPr>
          <a:xfrm>
            <a:off x="15240" y="22860"/>
            <a:ext cx="14142720" cy="2697480"/>
          </a:xfrm>
          <a:prstGeom prst="roundRect">
            <a:avLst>
              <a:gd name="adj" fmla="val 4500"/>
            </a:avLst>
          </a:prstGeom>
          <a:solidFill>
            <a:srgbClr val="F0F9EF"/>
          </a:solidFill>
          <a:ln w="11430">
            <a:solidFill>
              <a:srgbClr val="398B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bserved future lane"/>
          <p:cNvSpPr/>
          <p:nvPr/>
        </p:nvSpPr>
        <p:spPr>
          <a:xfrm>
            <a:off x="15240" y="3116580"/>
            <a:ext cx="9464040" cy="2499360"/>
          </a:xfrm>
          <a:prstGeom prst="roundRect">
            <a:avLst>
              <a:gd name="adj" fmla="val 5500"/>
            </a:avLst>
          </a:prstGeom>
          <a:solidFill>
            <a:srgbClr val="EDF7FE"/>
          </a:solidFill>
          <a:ln w="11430">
            <a:solidFill>
              <a:srgbClr val="65A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Future prediction stage"/>
          <p:cNvSpPr/>
          <p:nvPr/>
        </p:nvSpPr>
        <p:spPr>
          <a:xfrm>
            <a:off x="9525000" y="3147060"/>
            <a:ext cx="4632960" cy="2446020"/>
          </a:xfrm>
          <a:prstGeom prst="roundRect">
            <a:avLst>
              <a:gd name="adj" fmla="val 5500"/>
            </a:avLst>
          </a:prstGeom>
          <a:solidFill>
            <a:srgbClr val="FDEAE0"/>
          </a:solidFill>
          <a:ln w="11430">
            <a:solidFill>
              <a:srgbClr val="FF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tage 1 heading"/>
          <p:cNvSpPr/>
          <p:nvPr/>
        </p:nvSpPr>
        <p:spPr>
          <a:xfrm>
            <a:off x="9944100" y="71120"/>
            <a:ext cx="4198620" cy="373380"/>
          </a:xfrm>
          <a:prstGeom prst="roundRect">
            <a:avLst>
              <a:gd name="adj" fmla="val 25000"/>
            </a:avLst>
          </a:prstGeom>
          <a:solidFill>
            <a:srgbClr val="E1F3D9"/>
          </a:solidFill>
          <a:ln w="10160">
            <a:solidFill>
              <a:srgbClr val="D1ED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Label: Stage 1: Task-supervised state pretraining"/>
          <p:cNvSpPr txBox="1"/>
          <p:nvPr/>
        </p:nvSpPr>
        <p:spPr>
          <a:xfrm>
            <a:off x="10035540" y="101600"/>
            <a:ext cx="4038600" cy="2819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1717"/>
                </a:solidFill>
                <a:latin typeface="Comic Sans MS"/>
              </a:rPr>
              <a:t>Stage 1: Task-supervised state pretraining</a:t>
            </a:r>
          </a:p>
        </p:txBody>
      </p:sp>
      <p:sp>
        <p:nvSpPr>
          <p:cNvPr id="7" name="Stage 2 heading"/>
          <p:cNvSpPr/>
          <p:nvPr/>
        </p:nvSpPr>
        <p:spPr>
          <a:xfrm>
            <a:off x="10218420" y="2758440"/>
            <a:ext cx="3939540" cy="342900"/>
          </a:xfrm>
          <a:prstGeom prst="roundRect">
            <a:avLst>
              <a:gd name="adj" fmla="val 23000"/>
            </a:avLst>
          </a:prstGeom>
          <a:solidFill>
            <a:srgbClr val="FEE6DD"/>
          </a:solidFill>
          <a:ln w="10160">
            <a:solidFill>
              <a:srgbClr val="FFB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Label: Stage 2: Future-state prediction fine-tuning"/>
          <p:cNvSpPr txBox="1"/>
          <p:nvPr/>
        </p:nvSpPr>
        <p:spPr>
          <a:xfrm>
            <a:off x="10287000" y="2781300"/>
            <a:ext cx="3810000" cy="2743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D200B"/>
                </a:solidFill>
                <a:latin typeface="Comic Sans MS"/>
              </a:rPr>
              <a:t>Stage 2: Future-state prediction fine-tuning</a:t>
            </a:r>
          </a:p>
        </p:txBody>
      </p:sp>
      <p:sp>
        <p:nvSpPr>
          <p:cNvPr id="9" name="Label: Same encoding pipeline at both times"/>
          <p:cNvSpPr txBox="1"/>
          <p:nvPr/>
        </p:nvSpPr>
        <p:spPr>
          <a:xfrm>
            <a:off x="5539740" y="2796540"/>
            <a:ext cx="2849880" cy="2438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06773"/>
                </a:solidFill>
                <a:latin typeface="Comic Sans MS"/>
              </a:rPr>
              <a:t>Same 4 + 4 design; fixed Stage 1 target</a:t>
            </a:r>
          </a:p>
        </p:txBody>
      </p:sp>
      <p:sp>
        <p:nvSpPr>
          <p:cNvPr id="10" name="Label: Current observations, t"/>
          <p:cNvSpPr txBox="1"/>
          <p:nvPr/>
        </p:nvSpPr>
        <p:spPr>
          <a:xfrm>
            <a:off x="167640" y="91440"/>
            <a:ext cx="2453640" cy="2667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171717"/>
                </a:solidFill>
                <a:latin typeface="Comic Sans MS"/>
              </a:rPr>
              <a:t>Current observations, t</a:t>
            </a:r>
          </a:p>
        </p:txBody>
      </p:sp>
      <p:sp>
        <p:nvSpPr>
          <p:cNvPr id="11" name="Label: Image"/>
          <p:cNvSpPr txBox="1"/>
          <p:nvPr/>
        </p:nvSpPr>
        <p:spPr>
          <a:xfrm>
            <a:off x="411480" y="441960"/>
            <a:ext cx="73152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Image</a:t>
            </a:r>
          </a:p>
        </p:txBody>
      </p:sp>
      <p:pic>
        <p:nvPicPr>
          <p:cNvPr id="12" name="Current chest radiograph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" y="693420"/>
            <a:ext cx="1059180" cy="960120"/>
          </a:xfrm>
          <a:prstGeom prst="rect">
            <a:avLst/>
          </a:prstGeom>
          <a:effectLst/>
        </p:spPr>
      </p:pic>
      <p:sp>
        <p:nvSpPr>
          <p:cNvPr id="13" name="Current V-JEPA encoder"/>
          <p:cNvSpPr/>
          <p:nvPr/>
        </p:nvSpPr>
        <p:spPr>
          <a:xfrm>
            <a:off x="1417320" y="586740"/>
            <a:ext cx="876300" cy="1097280"/>
          </a:xfrm>
          <a:custGeom>
            <a:avLst/>
            <a:gdLst/>
            <a:ahLst/>
            <a:cxnLst/>
            <a:rect l="l" t="t" r="r" b="b"/>
            <a:pathLst>
              <a:path w="115" h="144">
                <a:moveTo>
                  <a:pt x="0" y="0"/>
                </a:moveTo>
                <a:lnTo>
                  <a:pt x="115" y="38"/>
                </a:lnTo>
                <a:lnTo>
                  <a:pt x="115" y="109"/>
                </a:lnTo>
                <a:lnTo>
                  <a:pt x="0" y="144"/>
                </a:lnTo>
                <a:close/>
              </a:path>
            </a:pathLst>
          </a:custGeom>
          <a:solidFill>
            <a:srgbClr val="BFDFF9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abel: V-JEPA / encoder"/>
          <p:cNvSpPr txBox="1"/>
          <p:nvPr/>
        </p:nvSpPr>
        <p:spPr>
          <a:xfrm>
            <a:off x="1485900" y="944880"/>
            <a:ext cx="762000" cy="4648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1717"/>
                </a:solidFill>
                <a:latin typeface="Comic Sans MS"/>
              </a:rPr>
              <a:t>V-JEPA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1717"/>
                </a:solidFill>
                <a:latin typeface="Comic Sans MS"/>
              </a:rPr>
              <a:t>encoder</a:t>
            </a:r>
          </a:p>
        </p:txBody>
      </p:sp>
      <p:sp>
        <p:nvSpPr>
          <p:cNvPr id="15" name="Current D feature"/>
          <p:cNvSpPr/>
          <p:nvPr/>
        </p:nvSpPr>
        <p:spPr>
          <a:xfrm>
            <a:off x="2514600" y="9448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Current D feature"/>
          <p:cNvSpPr/>
          <p:nvPr/>
        </p:nvSpPr>
        <p:spPr>
          <a:xfrm>
            <a:off x="2667000" y="9448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Current D feature"/>
          <p:cNvSpPr/>
          <p:nvPr/>
        </p:nvSpPr>
        <p:spPr>
          <a:xfrm>
            <a:off x="2819400" y="9448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Current D feature"/>
          <p:cNvSpPr/>
          <p:nvPr/>
        </p:nvSpPr>
        <p:spPr>
          <a:xfrm>
            <a:off x="2514600" y="10972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Current D feature"/>
          <p:cNvSpPr/>
          <p:nvPr/>
        </p:nvSpPr>
        <p:spPr>
          <a:xfrm>
            <a:off x="2667000" y="10972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urrent D feature"/>
          <p:cNvSpPr/>
          <p:nvPr/>
        </p:nvSpPr>
        <p:spPr>
          <a:xfrm>
            <a:off x="2819400" y="10972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Current D feature"/>
          <p:cNvSpPr/>
          <p:nvPr/>
        </p:nvSpPr>
        <p:spPr>
          <a:xfrm>
            <a:off x="2514600" y="1249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Current D feature"/>
          <p:cNvSpPr/>
          <p:nvPr/>
        </p:nvSpPr>
        <p:spPr>
          <a:xfrm>
            <a:off x="2667000" y="1249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urrent D feature"/>
          <p:cNvSpPr/>
          <p:nvPr/>
        </p:nvSpPr>
        <p:spPr>
          <a:xfrm>
            <a:off x="2819400" y="1249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Equation: Dt"/>
          <p:cNvSpPr txBox="1"/>
          <p:nvPr/>
        </p:nvSpPr>
        <p:spPr>
          <a:xfrm>
            <a:off x="2583180" y="601980"/>
            <a:ext cx="533400" cy="3048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39" i="1">
                <a:solidFill>
                  <a:srgbClr val="171717"/>
                </a:solidFill>
                <a:latin typeface="Times New Roman"/>
              </a:rPr>
              <a:t>D</a:t>
            </a:r>
            <a:r>
              <a:rPr sz="1739" i="1" baseline="-25000">
                <a:solidFill>
                  <a:srgbClr val="171717"/>
                </a:solidFill>
                <a:latin typeface="Times New Roman"/>
              </a:rPr>
              <a:t>t</a:t>
            </a:r>
          </a:p>
        </p:txBody>
      </p:sp>
      <p:sp>
        <p:nvSpPr>
          <p:cNvPr id="25" name="Visual adapter"/>
          <p:cNvSpPr/>
          <p:nvPr/>
        </p:nvSpPr>
        <p:spPr>
          <a:xfrm>
            <a:off x="3169920" y="914400"/>
            <a:ext cx="807720" cy="556260"/>
          </a:xfrm>
          <a:prstGeom prst="roundRect">
            <a:avLst>
              <a:gd name="adj" fmla="val 17000"/>
            </a:avLst>
          </a:prstGeom>
          <a:solidFill>
            <a:srgbClr val="FEFAD1"/>
          </a:solidFill>
          <a:ln w="11430">
            <a:solidFill>
              <a:srgbClr val="665D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Label: Visual / adapter"/>
          <p:cNvSpPr txBox="1"/>
          <p:nvPr/>
        </p:nvSpPr>
        <p:spPr>
          <a:xfrm>
            <a:off x="3276600" y="990600"/>
            <a:ext cx="601980" cy="3962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Visual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adapter</a:t>
            </a:r>
          </a:p>
        </p:txBody>
      </p:sp>
      <p:sp>
        <p:nvSpPr>
          <p:cNvPr id="27" name="Report"/>
          <p:cNvSpPr/>
          <p:nvPr/>
        </p:nvSpPr>
        <p:spPr>
          <a:xfrm>
            <a:off x="160020" y="1798320"/>
            <a:ext cx="1440180" cy="746760"/>
          </a:xfrm>
          <a:prstGeom prst="roundRect">
            <a:avLst>
              <a:gd name="adj" fmla="val 11000"/>
            </a:avLst>
          </a:prstGeom>
          <a:solidFill>
            <a:srgbClr val="FFF6E8"/>
          </a:solidFill>
          <a:ln w="11430">
            <a:solidFill>
              <a:srgbClr val="845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Label: Report"/>
          <p:cNvSpPr txBox="1"/>
          <p:nvPr/>
        </p:nvSpPr>
        <p:spPr>
          <a:xfrm>
            <a:off x="266700" y="1828800"/>
            <a:ext cx="128016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71717"/>
                </a:solidFill>
                <a:latin typeface="Comic Sans MS"/>
              </a:rPr>
              <a:t>Report / EHR</a:t>
            </a:r>
          </a:p>
        </p:txBody>
      </p:sp>
      <p:sp>
        <p:nvSpPr>
          <p:cNvPr id="29" name="Report document"/>
          <p:cNvSpPr/>
          <p:nvPr/>
        </p:nvSpPr>
        <p:spPr>
          <a:xfrm>
            <a:off x="297180" y="2095500"/>
            <a:ext cx="259080" cy="365760"/>
          </a:xfrm>
          <a:custGeom>
            <a:avLst/>
            <a:gdLst/>
            <a:ahLst/>
            <a:cxnLst/>
            <a:rect l="l" t="t" r="r" b="b"/>
            <a:pathLst>
              <a:path w="34" h="48">
                <a:moveTo>
                  <a:pt x="0" y="0"/>
                </a:moveTo>
                <a:lnTo>
                  <a:pt x="23" y="0"/>
                </a:lnTo>
                <a:lnTo>
                  <a:pt x="34" y="11"/>
                </a:lnTo>
                <a:lnTo>
                  <a:pt x="34" y="48"/>
                </a:lnTo>
                <a:lnTo>
                  <a:pt x="0" y="48"/>
                </a:lnTo>
                <a:close/>
              </a:path>
            </a:pathLst>
          </a:custGeom>
          <a:solidFill>
            <a:srgbClr val="FFFBF0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ion"/>
          <p:cNvCxnSpPr/>
          <p:nvPr/>
        </p:nvCxnSpPr>
        <p:spPr>
          <a:xfrm>
            <a:off x="472440" y="2095500"/>
            <a:ext cx="0" cy="83820"/>
          </a:xfrm>
          <a:prstGeom prst="line">
            <a:avLst/>
          </a:prstGeom>
          <a:ln w="1143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ion"/>
          <p:cNvCxnSpPr/>
          <p:nvPr/>
        </p:nvCxnSpPr>
        <p:spPr>
          <a:xfrm>
            <a:off x="472440" y="2179320"/>
            <a:ext cx="83820" cy="0"/>
          </a:xfrm>
          <a:prstGeom prst="line">
            <a:avLst/>
          </a:prstGeom>
          <a:ln w="1143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ion"/>
          <p:cNvCxnSpPr/>
          <p:nvPr/>
        </p:nvCxnSpPr>
        <p:spPr>
          <a:xfrm>
            <a:off x="350520" y="223266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ion"/>
          <p:cNvCxnSpPr/>
          <p:nvPr/>
        </p:nvCxnSpPr>
        <p:spPr>
          <a:xfrm>
            <a:off x="350520" y="229362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ion"/>
          <p:cNvCxnSpPr/>
          <p:nvPr/>
        </p:nvCxnSpPr>
        <p:spPr>
          <a:xfrm>
            <a:off x="350520" y="236220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Label: Findings: ... / Impression: ..."/>
          <p:cNvSpPr txBox="1"/>
          <p:nvPr/>
        </p:nvSpPr>
        <p:spPr>
          <a:xfrm>
            <a:off x="708660" y="2080260"/>
            <a:ext cx="845820" cy="3581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71717"/>
                </a:solidFill>
                <a:latin typeface="Arial"/>
              </a:rPr>
              <a:t>Findings: ...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71717"/>
                </a:solidFill>
                <a:latin typeface="Arial"/>
              </a:rPr>
              <a:t>Impression: ...</a:t>
            </a:r>
          </a:p>
        </p:txBody>
      </p:sp>
      <p:sp>
        <p:nvSpPr>
          <p:cNvPr id="36" name="Tokenizer and embedding"/>
          <p:cNvSpPr/>
          <p:nvPr/>
        </p:nvSpPr>
        <p:spPr>
          <a:xfrm>
            <a:off x="1882139" y="1950720"/>
            <a:ext cx="1036320" cy="495299"/>
          </a:xfrm>
          <a:prstGeom prst="roundRect">
            <a:avLst>
              <a:gd name="adj" fmla="val 17000"/>
            </a:avLst>
          </a:prstGeom>
          <a:solidFill>
            <a:srgbClr val="FEFAD1"/>
          </a:solidFill>
          <a:ln w="11430">
            <a:solidFill>
              <a:srgbClr val="665D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Label: Tokenizer + / embedding"/>
          <p:cNvSpPr txBox="1"/>
          <p:nvPr/>
        </p:nvSpPr>
        <p:spPr>
          <a:xfrm>
            <a:off x="1950720" y="1988820"/>
            <a:ext cx="891540" cy="4038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Tokenizer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embedding</a:t>
            </a:r>
          </a:p>
        </p:txBody>
      </p:sp>
      <p:sp>
        <p:nvSpPr>
          <p:cNvPr id="38" name="Report text token"/>
          <p:cNvSpPr/>
          <p:nvPr/>
        </p:nvSpPr>
        <p:spPr>
          <a:xfrm>
            <a:off x="3177540" y="208788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port text token"/>
          <p:cNvSpPr/>
          <p:nvPr/>
        </p:nvSpPr>
        <p:spPr>
          <a:xfrm>
            <a:off x="3390900" y="208788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port text token"/>
          <p:cNvSpPr/>
          <p:nvPr/>
        </p:nvSpPr>
        <p:spPr>
          <a:xfrm>
            <a:off x="3604260" y="208788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Label: Text tokens"/>
          <p:cNvSpPr txBox="1"/>
          <p:nvPr/>
        </p:nvSpPr>
        <p:spPr>
          <a:xfrm>
            <a:off x="3131820" y="2308860"/>
            <a:ext cx="84582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Text tokens</a:t>
            </a:r>
          </a:p>
        </p:txBody>
      </p:sp>
      <p:sp>
        <p:nvSpPr>
          <p:cNvPr id="42" name="Current VLM"/>
          <p:cNvSpPr/>
          <p:nvPr/>
        </p:nvSpPr>
        <p:spPr>
          <a:xfrm>
            <a:off x="4236720" y="647700"/>
            <a:ext cx="3337560" cy="1783080"/>
          </a:xfrm>
          <a:prstGeom prst="roundRect">
            <a:avLst>
              <a:gd name="adj" fmla="val 7500"/>
            </a:avLst>
          </a:prstGeom>
          <a:gradFill rotWithShape="1">
            <a:gsLst>
              <a:gs pos="0">
                <a:srgbClr val="EDD0EE"/>
              </a:gs>
              <a:gs pos="100000">
                <a:srgbClr val="E5BEE9"/>
              </a:gs>
            </a:gsLst>
            <a:lin ang="16200000" scaled="0"/>
          </a:gradFill>
          <a:ln w="16510">
            <a:solidFill>
              <a:srgbClr val="7623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Current state"/>
          <p:cNvSpPr/>
          <p:nvPr/>
        </p:nvSpPr>
        <p:spPr>
          <a:xfrm>
            <a:off x="8107680" y="1181100"/>
            <a:ext cx="137160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4FA"/>
              </a:gs>
              <a:gs pos="100000">
                <a:srgbClr val="FADDED"/>
              </a:gs>
            </a:gsLst>
            <a:lin ang="16200000" scaled="0"/>
          </a:gradFill>
          <a:ln w="11430">
            <a:solidFill>
              <a:srgbClr val="DD42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Label: Current state"/>
          <p:cNvSpPr txBox="1"/>
          <p:nvPr/>
        </p:nvSpPr>
        <p:spPr>
          <a:xfrm>
            <a:off x="8168640" y="1272540"/>
            <a:ext cx="1066800" cy="2286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1717"/>
                </a:solidFill>
                <a:latin typeface="Comic Sans MS"/>
              </a:rPr>
              <a:t>Current state</a:t>
            </a:r>
          </a:p>
        </p:txBody>
      </p:sp>
      <p:sp>
        <p:nvSpPr>
          <p:cNvPr id="73" name="Equation: St"/>
          <p:cNvSpPr txBox="1"/>
          <p:nvPr/>
        </p:nvSpPr>
        <p:spPr>
          <a:xfrm>
            <a:off x="9197340" y="1242060"/>
            <a:ext cx="396240" cy="2895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i="1">
                <a:solidFill>
                  <a:srgbClr val="171717"/>
                </a:solidFill>
                <a:latin typeface="Times New Roman"/>
              </a:rPr>
              <a:t>S</a:t>
            </a:r>
            <a:r>
              <a:rPr sz="1560" i="1" baseline="-25000">
                <a:solidFill>
                  <a:srgbClr val="171717"/>
                </a:solidFill>
                <a:latin typeface="Times New Roman"/>
              </a:rPr>
              <a:t>t</a:t>
            </a:r>
          </a:p>
        </p:txBody>
      </p:sp>
      <p:sp>
        <p:nvSpPr>
          <p:cNvPr id="74" name="Current state output token 1/8"/>
          <p:cNvSpPr/>
          <p:nvPr/>
        </p:nvSpPr>
        <p:spPr>
          <a:xfrm>
            <a:off x="81991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Current state output token 2/8"/>
          <p:cNvSpPr/>
          <p:nvPr/>
        </p:nvSpPr>
        <p:spPr>
          <a:xfrm>
            <a:off x="83515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Current state output token 3/8"/>
          <p:cNvSpPr/>
          <p:nvPr/>
        </p:nvSpPr>
        <p:spPr>
          <a:xfrm>
            <a:off x="85039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Current state output token 4/8"/>
          <p:cNvSpPr/>
          <p:nvPr/>
        </p:nvSpPr>
        <p:spPr>
          <a:xfrm>
            <a:off x="86563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Current state output token 5/8"/>
          <p:cNvSpPr/>
          <p:nvPr/>
        </p:nvSpPr>
        <p:spPr>
          <a:xfrm>
            <a:off x="8808720" y="1584960"/>
            <a:ext cx="137160" cy="22860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Current state output token 6/8"/>
          <p:cNvSpPr/>
          <p:nvPr/>
        </p:nvSpPr>
        <p:spPr>
          <a:xfrm>
            <a:off x="8961120" y="1584960"/>
            <a:ext cx="137160" cy="22860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Current state output token 7/8"/>
          <p:cNvSpPr/>
          <p:nvPr/>
        </p:nvSpPr>
        <p:spPr>
          <a:xfrm>
            <a:off x="9113520" y="1584960"/>
            <a:ext cx="137160" cy="22860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Current state output token 8/8"/>
          <p:cNvSpPr/>
          <p:nvPr/>
        </p:nvSpPr>
        <p:spPr>
          <a:xfrm>
            <a:off x="9265920" y="1584960"/>
            <a:ext cx="137160" cy="22860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Equation: 8 × d"/>
          <p:cNvSpPr txBox="1"/>
          <p:nvPr/>
        </p:nvSpPr>
        <p:spPr>
          <a:xfrm>
            <a:off x="8610600" y="1844040"/>
            <a:ext cx="693420" cy="1905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i="1">
                <a:solidFill>
                  <a:srgbClr val="171717"/>
                </a:solidFill>
                <a:latin typeface="Times New Roman"/>
              </a:rPr>
              <a:t>8 × d</a:t>
            </a:r>
          </a:p>
        </p:txBody>
      </p:sp>
      <p:cxnSp>
        <p:nvCxnSpPr>
          <p:cNvPr id="83" name="Image to encoder"/>
          <p:cNvCxnSpPr/>
          <p:nvPr/>
        </p:nvCxnSpPr>
        <p:spPr>
          <a:xfrm>
            <a:off x="1219200" y="1158240"/>
            <a:ext cx="19812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ncoder to spatial features"/>
          <p:cNvCxnSpPr/>
          <p:nvPr/>
        </p:nvCxnSpPr>
        <p:spPr>
          <a:xfrm>
            <a:off x="2293620" y="1181100"/>
            <a:ext cx="2057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patial features to visual adapter"/>
          <p:cNvCxnSpPr/>
          <p:nvPr/>
        </p:nvCxnSpPr>
        <p:spPr>
          <a:xfrm>
            <a:off x="2948940" y="1181100"/>
            <a:ext cx="22098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Visual adapter to VLM"/>
          <p:cNvCxnSpPr/>
          <p:nvPr/>
        </p:nvCxnSpPr>
        <p:spPr>
          <a:xfrm>
            <a:off x="3977639" y="1181100"/>
            <a:ext cx="259081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Report to tokenizer"/>
          <p:cNvCxnSpPr/>
          <p:nvPr/>
        </p:nvCxnSpPr>
        <p:spPr>
          <a:xfrm>
            <a:off x="1600200" y="2194560"/>
            <a:ext cx="281939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Tokenizer to report tokens"/>
          <p:cNvCxnSpPr/>
          <p:nvPr/>
        </p:nvCxnSpPr>
        <p:spPr>
          <a:xfrm>
            <a:off x="2918460" y="2194560"/>
            <a:ext cx="2438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lot hidden states to state readout"/>
          <p:cNvCxnSpPr/>
          <p:nvPr/>
        </p:nvCxnSpPr>
        <p:spPr>
          <a:xfrm>
            <a:off x="7574280" y="1752600"/>
            <a:ext cx="53340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Label: Slot hidden / states"/>
          <p:cNvSpPr txBox="1"/>
          <p:nvPr/>
        </p:nvSpPr>
        <p:spPr>
          <a:xfrm>
            <a:off x="7597140" y="1386839"/>
            <a:ext cx="510540" cy="3124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71717"/>
                </a:solidFill>
                <a:latin typeface="Arial"/>
              </a:rPr>
              <a:t>4 + 4</a:t>
            </a:r>
          </a:p>
        </p:txBody>
      </p:sp>
      <p:sp>
        <p:nvSpPr>
          <p:cNvPr id="94" name="Label: Observed future, t⁺"/>
          <p:cNvSpPr txBox="1"/>
          <p:nvPr/>
        </p:nvSpPr>
        <p:spPr>
          <a:xfrm>
            <a:off x="167640" y="3154680"/>
            <a:ext cx="1905000" cy="2667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171717"/>
                </a:solidFill>
                <a:latin typeface="Comic Sans MS"/>
              </a:rPr>
              <a:t>Observed future, t⁺</a:t>
            </a:r>
          </a:p>
        </p:txBody>
      </p:sp>
      <p:sp>
        <p:nvSpPr>
          <p:cNvPr id="95" name="Label: (Training target)"/>
          <p:cNvSpPr txBox="1"/>
          <p:nvPr/>
        </p:nvSpPr>
        <p:spPr>
          <a:xfrm>
            <a:off x="2156460" y="3169920"/>
            <a:ext cx="129540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71717"/>
                </a:solidFill>
                <a:latin typeface="Comic Sans MS"/>
              </a:rPr>
              <a:t>(Training target)</a:t>
            </a:r>
          </a:p>
        </p:txBody>
      </p:sp>
      <p:sp>
        <p:nvSpPr>
          <p:cNvPr id="96" name="Label: Follow-up image"/>
          <p:cNvSpPr txBox="1"/>
          <p:nvPr/>
        </p:nvSpPr>
        <p:spPr>
          <a:xfrm>
            <a:off x="182880" y="3489959"/>
            <a:ext cx="130302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Follow-up image</a:t>
            </a:r>
          </a:p>
        </p:txBody>
      </p:sp>
      <p:pic>
        <p:nvPicPr>
          <p:cNvPr id="97" name="Follow-up chest radiograph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" y="3733800"/>
            <a:ext cx="1028700" cy="861060"/>
          </a:xfrm>
          <a:prstGeom prst="rect">
            <a:avLst/>
          </a:prstGeom>
          <a:effectLst/>
        </p:spPr>
      </p:pic>
      <p:sp>
        <p:nvSpPr>
          <p:cNvPr id="98" name="Future V-JEPA encoder"/>
          <p:cNvSpPr/>
          <p:nvPr/>
        </p:nvSpPr>
        <p:spPr>
          <a:xfrm>
            <a:off x="1417320" y="3558540"/>
            <a:ext cx="876300" cy="1097280"/>
          </a:xfrm>
          <a:custGeom>
            <a:avLst/>
            <a:gdLst/>
            <a:ahLst/>
            <a:cxnLst/>
            <a:rect l="l" t="t" r="r" b="b"/>
            <a:pathLst>
              <a:path w="115" h="144">
                <a:moveTo>
                  <a:pt x="0" y="0"/>
                </a:moveTo>
                <a:lnTo>
                  <a:pt x="115" y="38"/>
                </a:lnTo>
                <a:lnTo>
                  <a:pt x="115" y="109"/>
                </a:lnTo>
                <a:lnTo>
                  <a:pt x="0" y="144"/>
                </a:lnTo>
                <a:close/>
              </a:path>
            </a:pathLst>
          </a:custGeom>
          <a:solidFill>
            <a:srgbClr val="BFDFF9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Label: V-JEPA / encoder"/>
          <p:cNvSpPr txBox="1"/>
          <p:nvPr/>
        </p:nvSpPr>
        <p:spPr>
          <a:xfrm>
            <a:off x="1485900" y="3916680"/>
            <a:ext cx="762000" cy="4648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1717"/>
                </a:solidFill>
                <a:latin typeface="Comic Sans MS"/>
              </a:rPr>
              <a:t>V-JEPA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1717"/>
                </a:solidFill>
                <a:latin typeface="Comic Sans MS"/>
              </a:rPr>
              <a:t>encoder</a:t>
            </a:r>
          </a:p>
        </p:txBody>
      </p:sp>
      <p:sp>
        <p:nvSpPr>
          <p:cNvPr id="100" name="Future D feature"/>
          <p:cNvSpPr/>
          <p:nvPr/>
        </p:nvSpPr>
        <p:spPr>
          <a:xfrm>
            <a:off x="2514600" y="3916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Future D feature"/>
          <p:cNvSpPr/>
          <p:nvPr/>
        </p:nvSpPr>
        <p:spPr>
          <a:xfrm>
            <a:off x="2667000" y="3916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Future D feature"/>
          <p:cNvSpPr/>
          <p:nvPr/>
        </p:nvSpPr>
        <p:spPr>
          <a:xfrm>
            <a:off x="2819400" y="3916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Future D feature"/>
          <p:cNvSpPr/>
          <p:nvPr/>
        </p:nvSpPr>
        <p:spPr>
          <a:xfrm>
            <a:off x="2514600" y="40690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Future D feature"/>
          <p:cNvSpPr/>
          <p:nvPr/>
        </p:nvSpPr>
        <p:spPr>
          <a:xfrm>
            <a:off x="2667000" y="40690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Future D feature"/>
          <p:cNvSpPr/>
          <p:nvPr/>
        </p:nvSpPr>
        <p:spPr>
          <a:xfrm>
            <a:off x="2819400" y="40690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Future D feature"/>
          <p:cNvSpPr/>
          <p:nvPr/>
        </p:nvSpPr>
        <p:spPr>
          <a:xfrm>
            <a:off x="2514600" y="42214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Future D feature"/>
          <p:cNvSpPr/>
          <p:nvPr/>
        </p:nvSpPr>
        <p:spPr>
          <a:xfrm>
            <a:off x="2667000" y="42214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Future D feature"/>
          <p:cNvSpPr/>
          <p:nvPr/>
        </p:nvSpPr>
        <p:spPr>
          <a:xfrm>
            <a:off x="2819400" y="42214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Equation: D*t⁺"/>
          <p:cNvSpPr txBox="1"/>
          <p:nvPr/>
        </p:nvSpPr>
        <p:spPr>
          <a:xfrm>
            <a:off x="2583180" y="3573780"/>
            <a:ext cx="533400" cy="3048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39" i="1">
                <a:solidFill>
                  <a:srgbClr val="171717"/>
                </a:solidFill>
                <a:latin typeface="Times New Roman"/>
              </a:rPr>
              <a:t>D</a:t>
            </a:r>
            <a:r>
              <a:rPr sz="1739" i="1" baseline="40000">
                <a:solidFill>
                  <a:srgbClr val="171717"/>
                </a:solidFill>
                <a:latin typeface="Times New Roman"/>
              </a:rPr>
              <a:t>*</a:t>
            </a:r>
            <a:r>
              <a:rPr sz="1739" i="1" baseline="-25000">
                <a:solidFill>
                  <a:srgbClr val="171717"/>
                </a:solidFill>
                <a:latin typeface="Times New Roman"/>
              </a:rPr>
              <a:t>t⁺</a:t>
            </a:r>
          </a:p>
        </p:txBody>
      </p:sp>
      <p:sp>
        <p:nvSpPr>
          <p:cNvPr id="110" name="Visual adapter"/>
          <p:cNvSpPr/>
          <p:nvPr/>
        </p:nvSpPr>
        <p:spPr>
          <a:xfrm>
            <a:off x="3169920" y="3886200"/>
            <a:ext cx="807720" cy="556260"/>
          </a:xfrm>
          <a:prstGeom prst="roundRect">
            <a:avLst>
              <a:gd name="adj" fmla="val 17000"/>
            </a:avLst>
          </a:prstGeom>
          <a:solidFill>
            <a:srgbClr val="FEFAD1"/>
          </a:solidFill>
          <a:ln w="11430">
            <a:solidFill>
              <a:srgbClr val="665D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Label: Visual / adapter"/>
          <p:cNvSpPr txBox="1"/>
          <p:nvPr/>
        </p:nvSpPr>
        <p:spPr>
          <a:xfrm>
            <a:off x="3276600" y="3962400"/>
            <a:ext cx="601980" cy="3962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Visual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adapter</a:t>
            </a:r>
          </a:p>
        </p:txBody>
      </p:sp>
      <p:sp>
        <p:nvSpPr>
          <p:cNvPr id="112" name="Follow-up report"/>
          <p:cNvSpPr/>
          <p:nvPr/>
        </p:nvSpPr>
        <p:spPr>
          <a:xfrm>
            <a:off x="160020" y="4739640"/>
            <a:ext cx="1440180" cy="746760"/>
          </a:xfrm>
          <a:prstGeom prst="roundRect">
            <a:avLst>
              <a:gd name="adj" fmla="val 11000"/>
            </a:avLst>
          </a:prstGeom>
          <a:solidFill>
            <a:srgbClr val="FFF6E8"/>
          </a:solidFill>
          <a:ln w="11430">
            <a:solidFill>
              <a:srgbClr val="845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Label: Follow-up report"/>
          <p:cNvSpPr txBox="1"/>
          <p:nvPr/>
        </p:nvSpPr>
        <p:spPr>
          <a:xfrm>
            <a:off x="266700" y="4770120"/>
            <a:ext cx="128016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Follow-up report</a:t>
            </a:r>
          </a:p>
        </p:txBody>
      </p:sp>
      <p:sp>
        <p:nvSpPr>
          <p:cNvPr id="114" name="Report document"/>
          <p:cNvSpPr/>
          <p:nvPr/>
        </p:nvSpPr>
        <p:spPr>
          <a:xfrm>
            <a:off x="297180" y="5036820"/>
            <a:ext cx="259080" cy="365760"/>
          </a:xfrm>
          <a:custGeom>
            <a:avLst/>
            <a:gdLst/>
            <a:ahLst/>
            <a:cxnLst/>
            <a:rect l="l" t="t" r="r" b="b"/>
            <a:pathLst>
              <a:path w="34" h="48">
                <a:moveTo>
                  <a:pt x="0" y="0"/>
                </a:moveTo>
                <a:lnTo>
                  <a:pt x="23" y="0"/>
                </a:lnTo>
                <a:lnTo>
                  <a:pt x="34" y="11"/>
                </a:lnTo>
                <a:lnTo>
                  <a:pt x="34" y="48"/>
                </a:lnTo>
                <a:lnTo>
                  <a:pt x="0" y="48"/>
                </a:lnTo>
                <a:close/>
              </a:path>
            </a:pathLst>
          </a:custGeom>
          <a:solidFill>
            <a:srgbClr val="FFFBF0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ion"/>
          <p:cNvCxnSpPr/>
          <p:nvPr/>
        </p:nvCxnSpPr>
        <p:spPr>
          <a:xfrm>
            <a:off x="472440" y="5036820"/>
            <a:ext cx="0" cy="83820"/>
          </a:xfrm>
          <a:prstGeom prst="line">
            <a:avLst/>
          </a:prstGeom>
          <a:ln w="1143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ion"/>
          <p:cNvCxnSpPr/>
          <p:nvPr/>
        </p:nvCxnSpPr>
        <p:spPr>
          <a:xfrm>
            <a:off x="472440" y="5120640"/>
            <a:ext cx="83820" cy="0"/>
          </a:xfrm>
          <a:prstGeom prst="line">
            <a:avLst/>
          </a:prstGeom>
          <a:ln w="1143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ion"/>
          <p:cNvCxnSpPr/>
          <p:nvPr/>
        </p:nvCxnSpPr>
        <p:spPr>
          <a:xfrm>
            <a:off x="350520" y="517398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ion"/>
          <p:cNvCxnSpPr/>
          <p:nvPr/>
        </p:nvCxnSpPr>
        <p:spPr>
          <a:xfrm>
            <a:off x="350520" y="523494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ion"/>
          <p:cNvCxnSpPr/>
          <p:nvPr/>
        </p:nvCxnSpPr>
        <p:spPr>
          <a:xfrm>
            <a:off x="350520" y="530352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Label: Findings: ... / Impression: ..."/>
          <p:cNvSpPr txBox="1"/>
          <p:nvPr/>
        </p:nvSpPr>
        <p:spPr>
          <a:xfrm>
            <a:off x="708660" y="5021580"/>
            <a:ext cx="845820" cy="3581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71717"/>
                </a:solidFill>
                <a:latin typeface="Arial"/>
              </a:rPr>
              <a:t>Findings: ...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71717"/>
                </a:solidFill>
                <a:latin typeface="Arial"/>
              </a:rPr>
              <a:t>Impression: ...</a:t>
            </a:r>
          </a:p>
        </p:txBody>
      </p:sp>
      <p:sp>
        <p:nvSpPr>
          <p:cNvPr id="121" name="Tokenizer and embedding"/>
          <p:cNvSpPr/>
          <p:nvPr/>
        </p:nvSpPr>
        <p:spPr>
          <a:xfrm>
            <a:off x="1882139" y="4907280"/>
            <a:ext cx="1036320" cy="495299"/>
          </a:xfrm>
          <a:prstGeom prst="roundRect">
            <a:avLst>
              <a:gd name="adj" fmla="val 17000"/>
            </a:avLst>
          </a:prstGeom>
          <a:solidFill>
            <a:srgbClr val="FEFAD1"/>
          </a:solidFill>
          <a:ln w="11430">
            <a:solidFill>
              <a:srgbClr val="665D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Label: Tokenizer + / embedding"/>
          <p:cNvSpPr txBox="1"/>
          <p:nvPr/>
        </p:nvSpPr>
        <p:spPr>
          <a:xfrm>
            <a:off x="1950720" y="4945380"/>
            <a:ext cx="891540" cy="4038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Tokenizer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embedding</a:t>
            </a:r>
          </a:p>
        </p:txBody>
      </p:sp>
      <p:sp>
        <p:nvSpPr>
          <p:cNvPr id="123" name="Report text token"/>
          <p:cNvSpPr/>
          <p:nvPr/>
        </p:nvSpPr>
        <p:spPr>
          <a:xfrm>
            <a:off x="3177540" y="504444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port text token"/>
          <p:cNvSpPr/>
          <p:nvPr/>
        </p:nvSpPr>
        <p:spPr>
          <a:xfrm>
            <a:off x="3390900" y="504444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port text token"/>
          <p:cNvSpPr/>
          <p:nvPr/>
        </p:nvSpPr>
        <p:spPr>
          <a:xfrm>
            <a:off x="3604260" y="504444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Label: Text tokens"/>
          <p:cNvSpPr txBox="1"/>
          <p:nvPr/>
        </p:nvSpPr>
        <p:spPr>
          <a:xfrm>
            <a:off x="3131820" y="5265420"/>
            <a:ext cx="84582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Text tokens</a:t>
            </a:r>
          </a:p>
        </p:txBody>
      </p:sp>
      <p:sp>
        <p:nvSpPr>
          <p:cNvPr id="127" name="Future VLM"/>
          <p:cNvSpPr/>
          <p:nvPr/>
        </p:nvSpPr>
        <p:spPr>
          <a:xfrm>
            <a:off x="4236720" y="3573780"/>
            <a:ext cx="3337560" cy="1783080"/>
          </a:xfrm>
          <a:prstGeom prst="roundRect">
            <a:avLst>
              <a:gd name="adj" fmla="val 7500"/>
            </a:avLst>
          </a:prstGeom>
          <a:gradFill rotWithShape="1">
            <a:gsLst>
              <a:gs pos="0">
                <a:srgbClr val="EDD0EE"/>
              </a:gs>
              <a:gs pos="100000">
                <a:srgbClr val="E5BEE9"/>
              </a:gs>
            </a:gsLst>
            <a:lin ang="16200000" scaled="0"/>
          </a:gradFill>
          <a:ln w="16510">
            <a:solidFill>
              <a:srgbClr val="7623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Future target"/>
          <p:cNvSpPr/>
          <p:nvPr/>
        </p:nvSpPr>
        <p:spPr>
          <a:xfrm>
            <a:off x="8107680" y="4175760"/>
            <a:ext cx="134112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4FA"/>
              </a:gs>
              <a:gs pos="100000">
                <a:srgbClr val="FADDED"/>
              </a:gs>
            </a:gsLst>
            <a:lin ang="16200000" scaled="0"/>
          </a:gradFill>
          <a:ln w="11430">
            <a:solidFill>
              <a:srgbClr val="DD42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Label: Future target"/>
          <p:cNvSpPr txBox="1"/>
          <p:nvPr/>
        </p:nvSpPr>
        <p:spPr>
          <a:xfrm>
            <a:off x="8168640" y="4267200"/>
            <a:ext cx="1066800" cy="2286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1717"/>
                </a:solidFill>
                <a:latin typeface="Comic Sans MS"/>
              </a:rPr>
              <a:t>Future target</a:t>
            </a:r>
          </a:p>
        </p:txBody>
      </p:sp>
      <p:sp>
        <p:nvSpPr>
          <p:cNvPr id="158" name="Equation: S*t⁺"/>
          <p:cNvSpPr txBox="1"/>
          <p:nvPr/>
        </p:nvSpPr>
        <p:spPr>
          <a:xfrm>
            <a:off x="9121140" y="4236720"/>
            <a:ext cx="396240" cy="2895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i="1">
                <a:solidFill>
                  <a:srgbClr val="171717"/>
                </a:solidFill>
                <a:latin typeface="Times New Roman"/>
              </a:rPr>
              <a:t>S</a:t>
            </a:r>
            <a:r>
              <a:rPr sz="1560" i="1" baseline="40000">
                <a:solidFill>
                  <a:srgbClr val="171717"/>
                </a:solidFill>
                <a:latin typeface="Times New Roman"/>
              </a:rPr>
              <a:t>*</a:t>
            </a:r>
            <a:r>
              <a:rPr sz="1560" i="1" baseline="-25000">
                <a:solidFill>
                  <a:srgbClr val="171717"/>
                </a:solidFill>
                <a:latin typeface="Times New Roman"/>
              </a:rPr>
              <a:t>t⁺</a:t>
            </a:r>
          </a:p>
        </p:txBody>
      </p:sp>
      <p:sp>
        <p:nvSpPr>
          <p:cNvPr id="159" name="Future target output token 1/8"/>
          <p:cNvSpPr/>
          <p:nvPr/>
        </p:nvSpPr>
        <p:spPr>
          <a:xfrm>
            <a:off x="81991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Future target output token 2/8"/>
          <p:cNvSpPr/>
          <p:nvPr/>
        </p:nvSpPr>
        <p:spPr>
          <a:xfrm>
            <a:off x="83515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Future target output token 3/8"/>
          <p:cNvSpPr/>
          <p:nvPr/>
        </p:nvSpPr>
        <p:spPr>
          <a:xfrm>
            <a:off x="85039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Future target output token 4/8"/>
          <p:cNvSpPr/>
          <p:nvPr/>
        </p:nvSpPr>
        <p:spPr>
          <a:xfrm>
            <a:off x="86563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Future target output token 5/8"/>
          <p:cNvSpPr/>
          <p:nvPr/>
        </p:nvSpPr>
        <p:spPr>
          <a:xfrm>
            <a:off x="8808720" y="4632960"/>
            <a:ext cx="137160" cy="22860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Future target output token 6/8"/>
          <p:cNvSpPr/>
          <p:nvPr/>
        </p:nvSpPr>
        <p:spPr>
          <a:xfrm>
            <a:off x="8961120" y="4632960"/>
            <a:ext cx="137160" cy="22860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Future target output token 7/8"/>
          <p:cNvSpPr/>
          <p:nvPr/>
        </p:nvSpPr>
        <p:spPr>
          <a:xfrm>
            <a:off x="9113520" y="4632960"/>
            <a:ext cx="137160" cy="22860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Future target output token 8/8"/>
          <p:cNvSpPr/>
          <p:nvPr/>
        </p:nvSpPr>
        <p:spPr>
          <a:xfrm>
            <a:off x="9265920" y="4632960"/>
            <a:ext cx="137160" cy="22860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Equation: 8 × d"/>
          <p:cNvSpPr txBox="1"/>
          <p:nvPr/>
        </p:nvSpPr>
        <p:spPr>
          <a:xfrm>
            <a:off x="8610600" y="4892040"/>
            <a:ext cx="693420" cy="1905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i="1">
                <a:solidFill>
                  <a:srgbClr val="171717"/>
                </a:solidFill>
                <a:latin typeface="Times New Roman"/>
              </a:rPr>
              <a:t>8 × d</a:t>
            </a:r>
          </a:p>
        </p:txBody>
      </p:sp>
      <p:cxnSp>
        <p:nvCxnSpPr>
          <p:cNvPr id="168" name="Image to encoder"/>
          <p:cNvCxnSpPr/>
          <p:nvPr/>
        </p:nvCxnSpPr>
        <p:spPr>
          <a:xfrm>
            <a:off x="1203960" y="4130040"/>
            <a:ext cx="21336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ncoder to spatial features"/>
          <p:cNvCxnSpPr/>
          <p:nvPr/>
        </p:nvCxnSpPr>
        <p:spPr>
          <a:xfrm>
            <a:off x="2293620" y="4152900"/>
            <a:ext cx="2057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patial features to visual adapter"/>
          <p:cNvCxnSpPr/>
          <p:nvPr/>
        </p:nvCxnSpPr>
        <p:spPr>
          <a:xfrm>
            <a:off x="2948940" y="4152900"/>
            <a:ext cx="22098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Visual adapter to VLM"/>
          <p:cNvCxnSpPr/>
          <p:nvPr/>
        </p:nvCxnSpPr>
        <p:spPr>
          <a:xfrm>
            <a:off x="3977639" y="4152900"/>
            <a:ext cx="259081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Report to tokenizer"/>
          <p:cNvCxnSpPr/>
          <p:nvPr/>
        </p:nvCxnSpPr>
        <p:spPr>
          <a:xfrm>
            <a:off x="1600200" y="5151120"/>
            <a:ext cx="281939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Tokenizer to report tokens"/>
          <p:cNvCxnSpPr/>
          <p:nvPr/>
        </p:nvCxnSpPr>
        <p:spPr>
          <a:xfrm>
            <a:off x="2918460" y="5151120"/>
            <a:ext cx="2438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lot hidden states to state readout"/>
          <p:cNvCxnSpPr/>
          <p:nvPr/>
        </p:nvCxnSpPr>
        <p:spPr>
          <a:xfrm>
            <a:off x="7574280" y="4678680"/>
            <a:ext cx="53340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Label: Slot hidden / states"/>
          <p:cNvSpPr txBox="1"/>
          <p:nvPr/>
        </p:nvSpPr>
        <p:spPr>
          <a:xfrm>
            <a:off x="7597140" y="4312920"/>
            <a:ext cx="510540" cy="3124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71717"/>
                </a:solidFill>
                <a:latin typeface="Arial"/>
              </a:rPr>
              <a:t>4 + 4</a:t>
            </a:r>
          </a:p>
        </p:txBody>
      </p:sp>
      <p:cxnSp>
        <p:nvCxnSpPr>
          <p:cNvPr id="179" name="Input image to spatial task decoder"/>
          <p:cNvCxnSpPr/>
          <p:nvPr/>
        </p:nvCxnSpPr>
        <p:spPr>
          <a:xfrm flipV="1">
            <a:off x="1164336" y="365760"/>
            <a:ext cx="0" cy="327660"/>
          </a:xfrm>
          <a:prstGeom prst="line">
            <a:avLst/>
          </a:prstGeom>
          <a:ln w="1778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Input image to spatial task decoder"/>
          <p:cNvCxnSpPr/>
          <p:nvPr/>
        </p:nvCxnSpPr>
        <p:spPr>
          <a:xfrm>
            <a:off x="1164336" y="365760"/>
            <a:ext cx="8695944" cy="0"/>
          </a:xfrm>
          <a:prstGeom prst="line">
            <a:avLst/>
          </a:prstGeom>
          <a:ln w="1778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Input image to spatial task decoder"/>
          <p:cNvCxnSpPr/>
          <p:nvPr/>
        </p:nvCxnSpPr>
        <p:spPr>
          <a:xfrm>
            <a:off x="9860280" y="365760"/>
            <a:ext cx="0" cy="1059180"/>
          </a:xfrm>
          <a:prstGeom prst="line">
            <a:avLst/>
          </a:prstGeom>
          <a:ln w="1778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Equation: Xt (spatial input)"/>
          <p:cNvSpPr txBox="1"/>
          <p:nvPr/>
        </p:nvSpPr>
        <p:spPr>
          <a:xfrm>
            <a:off x="4701540" y="91440"/>
            <a:ext cx="335280" cy="2438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i="1">
                <a:solidFill>
                  <a:srgbClr val="0086DC"/>
                </a:solidFill>
                <a:latin typeface="Times New Roman"/>
              </a:rPr>
              <a:t>X</a:t>
            </a:r>
            <a:r>
              <a:rPr sz="1440" i="1" baseline="-25000">
                <a:solidFill>
                  <a:srgbClr val="0086DC"/>
                </a:solidFill>
                <a:latin typeface="Times New Roman"/>
              </a:rPr>
              <a:t>t</a:t>
            </a:r>
          </a:p>
        </p:txBody>
      </p:sp>
      <p:sp>
        <p:nvSpPr>
          <p:cNvPr id="185" name="Task decoder"/>
          <p:cNvSpPr/>
          <p:nvPr/>
        </p:nvSpPr>
        <p:spPr>
          <a:xfrm>
            <a:off x="9662160" y="1424940"/>
            <a:ext cx="1638300" cy="1165860"/>
          </a:xfrm>
          <a:prstGeom prst="roundRect">
            <a:avLst>
              <a:gd name="adj" fmla="val 12000"/>
            </a:avLst>
          </a:prstGeom>
          <a:solidFill>
            <a:srgbClr val="CFE7B5"/>
          </a:solidFill>
          <a:ln w="13970">
            <a:solidFill>
              <a:srgbClr val="3E65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Label: Task decoder"/>
          <p:cNvSpPr txBox="1"/>
          <p:nvPr/>
        </p:nvSpPr>
        <p:spPr>
          <a:xfrm>
            <a:off x="9799320" y="1524000"/>
            <a:ext cx="1371600" cy="2667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171717"/>
                </a:solidFill>
                <a:latin typeface="Comic Sans MS"/>
              </a:rPr>
              <a:t>Task decoder</a:t>
            </a:r>
          </a:p>
        </p:txBody>
      </p:sp>
      <p:sp>
        <p:nvSpPr>
          <p:cNvPr id="187" name="Task transformer block"/>
          <p:cNvSpPr/>
          <p:nvPr/>
        </p:nvSpPr>
        <p:spPr>
          <a:xfrm>
            <a:off x="10058400" y="1828800"/>
            <a:ext cx="175260" cy="45720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ask transformer block"/>
          <p:cNvSpPr/>
          <p:nvPr/>
        </p:nvSpPr>
        <p:spPr>
          <a:xfrm>
            <a:off x="10713720" y="1828800"/>
            <a:ext cx="175260" cy="45720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Label: ..."/>
          <p:cNvSpPr txBox="1"/>
          <p:nvPr/>
        </p:nvSpPr>
        <p:spPr>
          <a:xfrm>
            <a:off x="10347960" y="1889760"/>
            <a:ext cx="236220" cy="2819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i="0">
                <a:solidFill>
                  <a:srgbClr val="171717"/>
                </a:solidFill>
                <a:latin typeface="Comic Sans MS"/>
              </a:rPr>
              <a:t>...</a:t>
            </a:r>
          </a:p>
        </p:txBody>
      </p:sp>
      <p:sp>
        <p:nvSpPr>
          <p:cNvPr id="190" name="Label: Transformer"/>
          <p:cNvSpPr txBox="1"/>
          <p:nvPr/>
        </p:nvSpPr>
        <p:spPr>
          <a:xfrm>
            <a:off x="9959340" y="2316480"/>
            <a:ext cx="1150620" cy="2362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71717"/>
                </a:solidFill>
                <a:latin typeface="Comic Sans MS"/>
              </a:rPr>
              <a:t>Transformer</a:t>
            </a:r>
          </a:p>
        </p:txBody>
      </p:sp>
      <p:sp>
        <p:nvSpPr>
          <p:cNvPr id="191" name="Label: Task query"/>
          <p:cNvSpPr txBox="1"/>
          <p:nvPr/>
        </p:nvSpPr>
        <p:spPr>
          <a:xfrm>
            <a:off x="10073640" y="655320"/>
            <a:ext cx="838200" cy="2362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71717"/>
                </a:solidFill>
                <a:latin typeface="Comic Sans MS"/>
              </a:rPr>
              <a:t>Task query</a:t>
            </a:r>
          </a:p>
        </p:txBody>
      </p:sp>
      <p:sp>
        <p:nvSpPr>
          <p:cNvPr id="192" name="Equation: Q"/>
          <p:cNvSpPr txBox="1"/>
          <p:nvPr/>
        </p:nvSpPr>
        <p:spPr>
          <a:xfrm>
            <a:off x="11033760" y="655320"/>
            <a:ext cx="228600" cy="2438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i="1">
                <a:solidFill>
                  <a:srgbClr val="171717"/>
                </a:solidFill>
                <a:latin typeface="Times New Roman"/>
              </a:rPr>
              <a:t>Q</a:t>
            </a:r>
          </a:p>
        </p:txBody>
      </p:sp>
      <p:sp>
        <p:nvSpPr>
          <p:cNvPr id="193" name="Task query prompt"/>
          <p:cNvSpPr/>
          <p:nvPr/>
        </p:nvSpPr>
        <p:spPr>
          <a:xfrm>
            <a:off x="9944100" y="906780"/>
            <a:ext cx="1295400" cy="335280"/>
          </a:xfrm>
          <a:prstGeom prst="roundRect">
            <a:avLst>
              <a:gd name="adj" fmla="val 8000"/>
            </a:avLst>
          </a:prstGeom>
          <a:solidFill>
            <a:srgbClr val="F3FAFE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anchor="ctr" lIns="30480" rIns="30480" tIns="0" bIns="0"/>
          <a:lstStyle/>
          <a:p>
            <a:pPr algn="ctr"/>
            <a:r>
              <a:rPr lang="en-US" sz="930">
                <a:solidFill>
                  <a:srgbClr val="171717"/>
                </a:solidFill>
                <a:latin typeface="Arial"/>
              </a:rPr>
              <a:t>Segment the lungs.</a:t>
            </a:r>
            <a:endParaRPr lang="en-US"/>
          </a:p>
        </p:txBody>
      </p:sp>
      <p:cxnSp>
        <p:nvCxnSpPr>
          <p:cNvPr id="194" name="Task query to task decoder"/>
          <p:cNvCxnSpPr/>
          <p:nvPr/>
        </p:nvCxnSpPr>
        <p:spPr>
          <a:xfrm>
            <a:off x="10591800" y="1242060"/>
            <a:ext cx="0" cy="18288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Current state to task decoder"/>
          <p:cNvCxnSpPr/>
          <p:nvPr/>
        </p:nvCxnSpPr>
        <p:spPr>
          <a:xfrm>
            <a:off x="9479280" y="1638300"/>
            <a:ext cx="18288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urrent state to latent world model"/>
          <p:cNvCxnSpPr/>
          <p:nvPr/>
        </p:nvCxnSpPr>
        <p:spPr>
          <a:xfrm>
            <a:off x="9547860" y="1638300"/>
            <a:ext cx="0" cy="128778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Current state to latent world model"/>
          <p:cNvCxnSpPr/>
          <p:nvPr/>
        </p:nvCxnSpPr>
        <p:spPr>
          <a:xfrm>
            <a:off x="9547860" y="2926080"/>
            <a:ext cx="601980" cy="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Current state to latent world model"/>
          <p:cNvCxnSpPr/>
          <p:nvPr/>
        </p:nvCxnSpPr>
        <p:spPr>
          <a:xfrm>
            <a:off x="10149840" y="2926080"/>
            <a:ext cx="0" cy="45720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Current state to latent world model"/>
          <p:cNvCxnSpPr/>
          <p:nvPr/>
        </p:nvCxnSpPr>
        <p:spPr>
          <a:xfrm>
            <a:off x="10149840" y="3383280"/>
            <a:ext cx="2819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ask loss panel"/>
          <p:cNvSpPr/>
          <p:nvPr/>
        </p:nvSpPr>
        <p:spPr>
          <a:xfrm>
            <a:off x="11518900" y="472440"/>
            <a:ext cx="2598420" cy="2183130"/>
          </a:xfrm>
          <a:prstGeom prst="roundRect">
            <a:avLst>
              <a:gd name="adj" fmla="val 5500"/>
            </a:avLst>
          </a:prstGeom>
          <a:solidFill>
            <a:srgbClr val="E8F5FF"/>
          </a:solidFill>
          <a:ln w="11430">
            <a:solidFill>
              <a:srgbClr val="59A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Label: Task loss (Stage 1)"/>
          <p:cNvSpPr txBox="1"/>
          <p:nvPr/>
        </p:nvSpPr>
        <p:spPr>
          <a:xfrm>
            <a:off x="11838940" y="477520"/>
            <a:ext cx="1958340" cy="2819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dirty="0">
                <a:solidFill>
                  <a:srgbClr val="171717"/>
                </a:solidFill>
                <a:latin typeface="Comic Sans MS"/>
              </a:rPr>
              <a:t>Task loss (Stage 1)</a:t>
            </a:r>
          </a:p>
        </p:txBody>
      </p:sp>
      <p:sp>
        <p:nvSpPr>
          <p:cNvPr id="202" name="Classification card"/>
          <p:cNvSpPr/>
          <p:nvPr/>
        </p:nvSpPr>
        <p:spPr>
          <a:xfrm>
            <a:off x="11587480" y="784860"/>
            <a:ext cx="1234440" cy="906780"/>
          </a:xfrm>
          <a:prstGeom prst="roundRect">
            <a:avLst>
              <a:gd name="adj" fmla="val 9500"/>
            </a:avLst>
          </a:prstGeom>
          <a:solidFill>
            <a:srgbClr val="F3FAFE"/>
          </a:solidFill>
          <a:ln w="9525">
            <a:solidFill>
              <a:srgbClr val="67B1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Label: Classification"/>
          <p:cNvSpPr txBox="1"/>
          <p:nvPr/>
        </p:nvSpPr>
        <p:spPr>
          <a:xfrm>
            <a:off x="11610340" y="822960"/>
            <a:ext cx="118872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1717"/>
                </a:solidFill>
                <a:latin typeface="Comic Sans MS"/>
              </a:rPr>
              <a:t>Classification</a:t>
            </a:r>
          </a:p>
        </p:txBody>
      </p:sp>
      <p:sp>
        <p:nvSpPr>
          <p:cNvPr id="204" name="Segmentation card"/>
          <p:cNvSpPr/>
          <p:nvPr/>
        </p:nvSpPr>
        <p:spPr>
          <a:xfrm>
            <a:off x="12867640" y="784860"/>
            <a:ext cx="1165860" cy="906780"/>
          </a:xfrm>
          <a:prstGeom prst="roundRect">
            <a:avLst>
              <a:gd name="adj" fmla="val 9500"/>
            </a:avLst>
          </a:prstGeom>
          <a:solidFill>
            <a:srgbClr val="F3FAFE"/>
          </a:solidFill>
          <a:ln w="9525">
            <a:solidFill>
              <a:srgbClr val="67B1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Label: Segmentation"/>
          <p:cNvSpPr txBox="1"/>
          <p:nvPr/>
        </p:nvSpPr>
        <p:spPr>
          <a:xfrm>
            <a:off x="12890500" y="822960"/>
            <a:ext cx="112014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1717"/>
                </a:solidFill>
                <a:latin typeface="Comic Sans MS"/>
              </a:rPr>
              <a:t>Segmentation</a:t>
            </a:r>
          </a:p>
        </p:txBody>
      </p:sp>
      <p:sp>
        <p:nvSpPr>
          <p:cNvPr id="206" name="Disease recognition card"/>
          <p:cNvSpPr/>
          <p:nvPr/>
        </p:nvSpPr>
        <p:spPr>
          <a:xfrm>
            <a:off x="11587480" y="1783080"/>
            <a:ext cx="1234440" cy="807720"/>
          </a:xfrm>
          <a:prstGeom prst="roundRect">
            <a:avLst>
              <a:gd name="adj" fmla="val 9500"/>
            </a:avLst>
          </a:prstGeom>
          <a:solidFill>
            <a:srgbClr val="F3FAFE"/>
          </a:solidFill>
          <a:ln w="9525">
            <a:solidFill>
              <a:srgbClr val="67B1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Label: Disease recognition"/>
          <p:cNvSpPr txBox="1"/>
          <p:nvPr/>
        </p:nvSpPr>
        <p:spPr>
          <a:xfrm>
            <a:off x="11610340" y="1821179"/>
            <a:ext cx="118872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71717"/>
                </a:solidFill>
                <a:latin typeface="Comic Sans MS"/>
              </a:rPr>
              <a:t>Disease recognition</a:t>
            </a:r>
          </a:p>
        </p:txBody>
      </p:sp>
      <p:sp>
        <p:nvSpPr>
          <p:cNvPr id="208" name="Super-resolution card"/>
          <p:cNvSpPr/>
          <p:nvPr/>
        </p:nvSpPr>
        <p:spPr>
          <a:xfrm>
            <a:off x="12867640" y="1783080"/>
            <a:ext cx="1165860" cy="807720"/>
          </a:xfrm>
          <a:prstGeom prst="roundRect">
            <a:avLst>
              <a:gd name="adj" fmla="val 9500"/>
            </a:avLst>
          </a:prstGeom>
          <a:solidFill>
            <a:srgbClr val="F3FAFE"/>
          </a:solidFill>
          <a:ln w="9525">
            <a:solidFill>
              <a:srgbClr val="67B1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Label: Super-resolution"/>
          <p:cNvSpPr txBox="1"/>
          <p:nvPr/>
        </p:nvSpPr>
        <p:spPr>
          <a:xfrm>
            <a:off x="12890500" y="1821179"/>
            <a:ext cx="112014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1717"/>
                </a:solidFill>
                <a:latin typeface="Comic Sans MS"/>
              </a:rPr>
              <a:t>Super-resolution</a:t>
            </a:r>
          </a:p>
        </p:txBody>
      </p:sp>
      <p:cxnSp>
        <p:nvCxnSpPr>
          <p:cNvPr id="210" name="Task decoder to top task outputs"/>
          <p:cNvCxnSpPr/>
          <p:nvPr/>
        </p:nvCxnSpPr>
        <p:spPr>
          <a:xfrm>
            <a:off x="11300460" y="1905000"/>
            <a:ext cx="106680" cy="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Task decoder to top task outputs"/>
          <p:cNvCxnSpPr/>
          <p:nvPr/>
        </p:nvCxnSpPr>
        <p:spPr>
          <a:xfrm flipV="1">
            <a:off x="11407140" y="1249680"/>
            <a:ext cx="0" cy="65532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Task decoder to top task outputs"/>
          <p:cNvCxnSpPr/>
          <p:nvPr/>
        </p:nvCxnSpPr>
        <p:spPr>
          <a:xfrm>
            <a:off x="11407140" y="1249680"/>
            <a:ext cx="11176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Task decoder to lower task outputs"/>
          <p:cNvCxnSpPr/>
          <p:nvPr/>
        </p:nvCxnSpPr>
        <p:spPr>
          <a:xfrm>
            <a:off x="11300460" y="2072640"/>
            <a:ext cx="2184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lassification axes"/>
          <p:cNvCxnSpPr/>
          <p:nvPr/>
        </p:nvCxnSpPr>
        <p:spPr>
          <a:xfrm>
            <a:off x="11922760" y="1120140"/>
            <a:ext cx="0" cy="449580"/>
          </a:xfrm>
          <a:prstGeom prst="line">
            <a:avLst/>
          </a:prstGeom>
          <a:ln w="11430">
            <a:solidFill>
              <a:srgbClr val="278F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lassification axes"/>
          <p:cNvCxnSpPr/>
          <p:nvPr/>
        </p:nvCxnSpPr>
        <p:spPr>
          <a:xfrm>
            <a:off x="11922760" y="1569720"/>
            <a:ext cx="571500" cy="0"/>
          </a:xfrm>
          <a:prstGeom prst="line">
            <a:avLst/>
          </a:prstGeom>
          <a:ln w="11430">
            <a:solidFill>
              <a:srgbClr val="278F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Classification bar"/>
          <p:cNvSpPr/>
          <p:nvPr/>
        </p:nvSpPr>
        <p:spPr>
          <a:xfrm>
            <a:off x="11968480" y="1394460"/>
            <a:ext cx="99060" cy="175260"/>
          </a:xfrm>
          <a:prstGeom prst="rect">
            <a:avLst/>
          </a:prstGeom>
          <a:solidFill>
            <a:srgbClr val="9BCAE9"/>
          </a:solidFill>
          <a:ln w="7620">
            <a:solidFill>
              <a:srgbClr val="278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Classification bar"/>
          <p:cNvSpPr/>
          <p:nvPr/>
        </p:nvSpPr>
        <p:spPr>
          <a:xfrm>
            <a:off x="12120880" y="1272540"/>
            <a:ext cx="99060" cy="297180"/>
          </a:xfrm>
          <a:prstGeom prst="rect">
            <a:avLst/>
          </a:prstGeom>
          <a:solidFill>
            <a:srgbClr val="9BCAE9"/>
          </a:solidFill>
          <a:ln w="7620">
            <a:solidFill>
              <a:srgbClr val="278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Classification bar"/>
          <p:cNvSpPr/>
          <p:nvPr/>
        </p:nvSpPr>
        <p:spPr>
          <a:xfrm>
            <a:off x="12273280" y="1120140"/>
            <a:ext cx="99060" cy="449580"/>
          </a:xfrm>
          <a:prstGeom prst="rect">
            <a:avLst/>
          </a:prstGeom>
          <a:solidFill>
            <a:srgbClr val="9BCAE9"/>
          </a:solidFill>
          <a:ln w="7620">
            <a:solidFill>
              <a:srgbClr val="278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9" name="Segmentation chest radiograph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42900" y="1097280"/>
            <a:ext cx="792480" cy="541020"/>
          </a:xfrm>
          <a:prstGeom prst="rect">
            <a:avLst/>
          </a:prstGeom>
          <a:effectLst/>
        </p:spPr>
      </p:pic>
      <p:sp>
        <p:nvSpPr>
          <p:cNvPr id="220" name="Disease text box"/>
          <p:cNvSpPr/>
          <p:nvPr/>
        </p:nvSpPr>
        <p:spPr>
          <a:xfrm>
            <a:off x="11694160" y="2103120"/>
            <a:ext cx="1021080" cy="327660"/>
          </a:xfrm>
          <a:prstGeom prst="roundRect">
            <a:avLst>
              <a:gd name="adj" fmla="val 16000"/>
            </a:avLst>
          </a:prstGeom>
          <a:solidFill>
            <a:srgbClr val="F8FCFF"/>
          </a:solidFill>
          <a:ln w="10160">
            <a:solidFill>
              <a:srgbClr val="456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Label: Disease: ..."/>
          <p:cNvSpPr txBox="1"/>
          <p:nvPr/>
        </p:nvSpPr>
        <p:spPr>
          <a:xfrm>
            <a:off x="11739880" y="2133600"/>
            <a:ext cx="952500" cy="2514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71717"/>
                </a:solidFill>
                <a:latin typeface="Comic Sans MS"/>
              </a:rPr>
              <a:t>Disease: ...</a:t>
            </a:r>
          </a:p>
        </p:txBody>
      </p:sp>
      <p:pic>
        <p:nvPicPr>
          <p:cNvPr id="222" name="Low-resolution image detai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4320" y="2095500"/>
            <a:ext cx="335280" cy="312420"/>
          </a:xfrm>
          <a:prstGeom prst="rect">
            <a:avLst/>
          </a:prstGeom>
          <a:effectLst/>
        </p:spPr>
      </p:pic>
      <p:pic>
        <p:nvPicPr>
          <p:cNvPr id="223" name="High-resolution image detai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68680" y="2072640"/>
            <a:ext cx="342900" cy="327660"/>
          </a:xfrm>
          <a:prstGeom prst="rect">
            <a:avLst/>
          </a:prstGeom>
          <a:effectLst/>
        </p:spPr>
      </p:pic>
      <p:sp>
        <p:nvSpPr>
          <p:cNvPr id="224" name="Low-resolution outline"/>
          <p:cNvSpPr/>
          <p:nvPr/>
        </p:nvSpPr>
        <p:spPr>
          <a:xfrm>
            <a:off x="12974320" y="2087880"/>
            <a:ext cx="335280" cy="327660"/>
          </a:xfrm>
          <a:prstGeom prst="rect">
            <a:avLst/>
          </a:prstGeom>
          <a:noFill/>
          <a:ln w="10160">
            <a:solidFill>
              <a:srgbClr val="A5C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High-resolution outline"/>
          <p:cNvSpPr/>
          <p:nvPr/>
        </p:nvSpPr>
        <p:spPr>
          <a:xfrm>
            <a:off x="13561060" y="2065020"/>
            <a:ext cx="358140" cy="342900"/>
          </a:xfrm>
          <a:prstGeom prst="rect">
            <a:avLst/>
          </a:prstGeom>
          <a:noFill/>
          <a:ln w="10160">
            <a:solidFill>
              <a:srgbClr val="587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6" name="Super-resolution comparison"/>
          <p:cNvCxnSpPr/>
          <p:nvPr/>
        </p:nvCxnSpPr>
        <p:spPr>
          <a:xfrm>
            <a:off x="13332460" y="2255520"/>
            <a:ext cx="220980" cy="0"/>
          </a:xfrm>
          <a:prstGeom prst="line">
            <a:avLst/>
          </a:prstGeom>
          <a:ln w="1143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Connection"/>
          <p:cNvCxnSpPr/>
          <p:nvPr/>
        </p:nvCxnSpPr>
        <p:spPr>
          <a:xfrm flipV="1">
            <a:off x="13347700" y="2125980"/>
            <a:ext cx="60960" cy="6858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Connection"/>
          <p:cNvCxnSpPr/>
          <p:nvPr/>
        </p:nvCxnSpPr>
        <p:spPr>
          <a:xfrm flipV="1">
            <a:off x="13408660" y="2065020"/>
            <a:ext cx="129540" cy="60960"/>
          </a:xfrm>
          <a:prstGeom prst="line">
            <a:avLst/>
          </a:prstGeom>
          <a:ln w="1016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Label: MSE"/>
          <p:cNvSpPr txBox="1"/>
          <p:nvPr/>
        </p:nvSpPr>
        <p:spPr>
          <a:xfrm>
            <a:off x="13248640" y="2407920"/>
            <a:ext cx="388620" cy="1752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171717"/>
                </a:solidFill>
                <a:latin typeface="Arial"/>
              </a:rPr>
              <a:t>MSE</a:t>
            </a:r>
          </a:p>
        </p:txBody>
      </p:sp>
      <p:sp>
        <p:nvSpPr>
          <p:cNvPr id="230" name="Latent World Model"/>
          <p:cNvSpPr/>
          <p:nvPr/>
        </p:nvSpPr>
        <p:spPr>
          <a:xfrm>
            <a:off x="10431780" y="3223260"/>
            <a:ext cx="1844040" cy="1112520"/>
          </a:xfrm>
          <a:prstGeom prst="roundRect">
            <a:avLst>
              <a:gd name="adj" fmla="val 13000"/>
            </a:avLst>
          </a:prstGeom>
          <a:solidFill>
            <a:srgbClr val="F3D8BF"/>
          </a:solidFill>
          <a:ln w="15240">
            <a:solidFill>
              <a:srgbClr val="794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Label: Latent World Model"/>
          <p:cNvSpPr txBox="1"/>
          <p:nvPr/>
        </p:nvSpPr>
        <p:spPr>
          <a:xfrm>
            <a:off x="10492740" y="3307080"/>
            <a:ext cx="1722120" cy="2667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71717"/>
                </a:solidFill>
                <a:latin typeface="Comic Sans MS"/>
              </a:rPr>
              <a:t>Latent World Model</a:t>
            </a:r>
          </a:p>
        </p:txBody>
      </p:sp>
      <p:sp>
        <p:nvSpPr>
          <p:cNvPr id="232" name="Predictor block"/>
          <p:cNvSpPr/>
          <p:nvPr/>
        </p:nvSpPr>
        <p:spPr>
          <a:xfrm>
            <a:off x="10858500" y="3634740"/>
            <a:ext cx="175260" cy="43434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Predictor block"/>
          <p:cNvSpPr/>
          <p:nvPr/>
        </p:nvSpPr>
        <p:spPr>
          <a:xfrm>
            <a:off x="11650980" y="3634740"/>
            <a:ext cx="175260" cy="43434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Label: ..."/>
          <p:cNvSpPr txBox="1"/>
          <p:nvPr/>
        </p:nvSpPr>
        <p:spPr>
          <a:xfrm>
            <a:off x="11209020" y="3703319"/>
            <a:ext cx="274320" cy="2438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1717"/>
                </a:solidFill>
                <a:latin typeface="Comic Sans MS"/>
              </a:rPr>
              <a:t>...</a:t>
            </a:r>
          </a:p>
        </p:txBody>
      </p:sp>
      <p:sp>
        <p:nvSpPr>
          <p:cNvPr id="235" name="Label: Predictor block"/>
          <p:cNvSpPr txBox="1"/>
          <p:nvPr/>
        </p:nvSpPr>
        <p:spPr>
          <a:xfrm>
            <a:off x="10728960" y="4084320"/>
            <a:ext cx="131826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Predictor block</a:t>
            </a:r>
          </a:p>
        </p:txBody>
      </p:sp>
      <p:sp>
        <p:nvSpPr>
          <p:cNvPr id="236" name="Label: Horizon h"/>
          <p:cNvSpPr txBox="1"/>
          <p:nvPr/>
        </p:nvSpPr>
        <p:spPr>
          <a:xfrm>
            <a:off x="9616440" y="3512820"/>
            <a:ext cx="853440" cy="2362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Horizon h</a:t>
            </a:r>
          </a:p>
        </p:txBody>
      </p:sp>
      <p:sp>
        <p:nvSpPr>
          <p:cNvPr id="237" name="Horizon token"/>
          <p:cNvSpPr/>
          <p:nvPr/>
        </p:nvSpPr>
        <p:spPr>
          <a:xfrm>
            <a:off x="9829800" y="3764280"/>
            <a:ext cx="23622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8" name="Horizon to latent world model"/>
          <p:cNvCxnSpPr/>
          <p:nvPr/>
        </p:nvCxnSpPr>
        <p:spPr>
          <a:xfrm>
            <a:off x="10066020" y="3878580"/>
            <a:ext cx="36576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Predicted future"/>
          <p:cNvSpPr/>
          <p:nvPr/>
        </p:nvSpPr>
        <p:spPr>
          <a:xfrm>
            <a:off x="12633960" y="3322320"/>
            <a:ext cx="1409700" cy="100584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4FA"/>
              </a:gs>
              <a:gs pos="100000">
                <a:srgbClr val="FADDED"/>
              </a:gs>
            </a:gsLst>
            <a:lin ang="16200000" scaled="0"/>
          </a:gradFill>
          <a:ln w="11430">
            <a:solidFill>
              <a:srgbClr val="DD42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Label: Predicted future"/>
          <p:cNvSpPr txBox="1"/>
          <p:nvPr/>
        </p:nvSpPr>
        <p:spPr>
          <a:xfrm>
            <a:off x="12694920" y="3360419"/>
            <a:ext cx="128778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71717"/>
                </a:solidFill>
                <a:latin typeface="Comic Sans MS"/>
              </a:rPr>
              <a:t>Predicted future</a:t>
            </a:r>
          </a:p>
        </p:txBody>
      </p:sp>
      <p:sp>
        <p:nvSpPr>
          <p:cNvPr id="241" name="Equation: Ŝt,h"/>
          <p:cNvSpPr txBox="1"/>
          <p:nvPr/>
        </p:nvSpPr>
        <p:spPr>
          <a:xfrm>
            <a:off x="13228320" y="3543300"/>
            <a:ext cx="640080" cy="2819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39" i="1">
                <a:solidFill>
                  <a:srgbClr val="171717"/>
                </a:solidFill>
                <a:latin typeface="Times New Roman"/>
              </a:rPr>
              <a:t>Ŝ</a:t>
            </a:r>
            <a:r>
              <a:rPr sz="1739" i="1" baseline="-25000">
                <a:solidFill>
                  <a:srgbClr val="171717"/>
                </a:solidFill>
                <a:latin typeface="Times New Roman"/>
              </a:rPr>
              <a:t>t,h</a:t>
            </a:r>
          </a:p>
        </p:txBody>
      </p:sp>
      <p:sp>
        <p:nvSpPr>
          <p:cNvPr id="242" name="Predicted future output token 1/8"/>
          <p:cNvSpPr/>
          <p:nvPr/>
        </p:nvSpPr>
        <p:spPr>
          <a:xfrm>
            <a:off x="127254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Predicted future output token 2/8"/>
          <p:cNvSpPr/>
          <p:nvPr/>
        </p:nvSpPr>
        <p:spPr>
          <a:xfrm>
            <a:off x="128778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Predicted future output token 3/8"/>
          <p:cNvSpPr/>
          <p:nvPr/>
        </p:nvSpPr>
        <p:spPr>
          <a:xfrm>
            <a:off x="130302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Predicted future output token 4/8"/>
          <p:cNvSpPr/>
          <p:nvPr/>
        </p:nvSpPr>
        <p:spPr>
          <a:xfrm>
            <a:off x="131826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Predicted future output token 5/8"/>
          <p:cNvSpPr/>
          <p:nvPr/>
        </p:nvSpPr>
        <p:spPr>
          <a:xfrm>
            <a:off x="13335000" y="3878580"/>
            <a:ext cx="137160" cy="19812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Predicted future output token 6/8"/>
          <p:cNvSpPr/>
          <p:nvPr/>
        </p:nvSpPr>
        <p:spPr>
          <a:xfrm>
            <a:off x="13487400" y="3878580"/>
            <a:ext cx="137160" cy="19812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Predicted future output token 7/8"/>
          <p:cNvSpPr/>
          <p:nvPr/>
        </p:nvSpPr>
        <p:spPr>
          <a:xfrm>
            <a:off x="13639800" y="3878580"/>
            <a:ext cx="137160" cy="19812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Predicted future output token 8/8"/>
          <p:cNvSpPr/>
          <p:nvPr/>
        </p:nvSpPr>
        <p:spPr>
          <a:xfrm>
            <a:off x="13792200" y="3878580"/>
            <a:ext cx="137160" cy="19812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Equation: 8 × d"/>
          <p:cNvSpPr txBox="1"/>
          <p:nvPr/>
        </p:nvSpPr>
        <p:spPr>
          <a:xfrm>
            <a:off x="13136880" y="4084320"/>
            <a:ext cx="693420" cy="1905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i="1">
                <a:solidFill>
                  <a:srgbClr val="171717"/>
                </a:solidFill>
                <a:latin typeface="Times New Roman"/>
              </a:rPr>
              <a:t>8 × d</a:t>
            </a:r>
          </a:p>
        </p:txBody>
      </p:sp>
      <p:cxnSp>
        <p:nvCxnSpPr>
          <p:cNvPr id="251" name="Latent world model to predicted future state"/>
          <p:cNvCxnSpPr/>
          <p:nvPr/>
        </p:nvCxnSpPr>
        <p:spPr>
          <a:xfrm>
            <a:off x="12275820" y="3810000"/>
            <a:ext cx="3581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2" name="Latent prediction loss"/>
          <p:cNvSpPr/>
          <p:nvPr/>
        </p:nvSpPr>
        <p:spPr>
          <a:xfrm>
            <a:off x="12138660" y="4625340"/>
            <a:ext cx="1927860" cy="739140"/>
          </a:xfrm>
          <a:prstGeom prst="roundRect">
            <a:avLst>
              <a:gd name="adj" fmla="val 13000"/>
            </a:avLst>
          </a:prstGeom>
          <a:solidFill>
            <a:srgbClr val="FAD9C8"/>
          </a:solidFill>
          <a:ln w="12700">
            <a:solidFill>
              <a:srgbClr val="8747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Label: Latent prediction loss"/>
          <p:cNvSpPr txBox="1"/>
          <p:nvPr/>
        </p:nvSpPr>
        <p:spPr>
          <a:xfrm>
            <a:off x="12207240" y="4701540"/>
            <a:ext cx="1790700" cy="2514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71717"/>
                </a:solidFill>
                <a:latin typeface="Comic Sans MS"/>
              </a:rPr>
              <a:t>Latent prediction loss</a:t>
            </a:r>
          </a:p>
        </p:txBody>
      </p:sp>
      <p:sp>
        <p:nvSpPr>
          <p:cNvPr id="254" name="Equation: (Ŝt,h ↔ S*t⁺)"/>
          <p:cNvSpPr txBox="1"/>
          <p:nvPr/>
        </p:nvSpPr>
        <p:spPr>
          <a:xfrm>
            <a:off x="12435840" y="4983480"/>
            <a:ext cx="1623060" cy="3124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60" i="1">
                <a:solidFill>
                  <a:srgbClr val="171717"/>
                </a:solidFill>
                <a:latin typeface="Times New Roman"/>
              </a:rPr>
              <a:t>(Ŝ</a:t>
            </a:r>
            <a:r>
              <a:rPr sz="1860" i="1" baseline="-25000">
                <a:solidFill>
                  <a:srgbClr val="171717"/>
                </a:solidFill>
                <a:latin typeface="Times New Roman"/>
              </a:rPr>
              <a:t>t,h</a:t>
            </a:r>
            <a:r>
              <a:rPr sz="1860" i="1">
                <a:solidFill>
                  <a:srgbClr val="171717"/>
                </a:solidFill>
                <a:latin typeface="Times New Roman"/>
              </a:rPr>
              <a:t> ↔ S</a:t>
            </a:r>
            <a:r>
              <a:rPr sz="1860" i="1" baseline="40000">
                <a:solidFill>
                  <a:srgbClr val="171717"/>
                </a:solidFill>
                <a:latin typeface="Times New Roman"/>
              </a:rPr>
              <a:t>*</a:t>
            </a:r>
            <a:r>
              <a:rPr sz="1860" i="1" baseline="-25000">
                <a:solidFill>
                  <a:srgbClr val="171717"/>
                </a:solidFill>
                <a:latin typeface="Times New Roman"/>
              </a:rPr>
              <a:t>t⁺</a:t>
            </a:r>
            <a:r>
              <a:rPr sz="1860" i="1">
                <a:solidFill>
                  <a:srgbClr val="171717"/>
                </a:solidFill>
                <a:latin typeface="Times New Roman"/>
              </a:rPr>
              <a:t>)</a:t>
            </a:r>
          </a:p>
        </p:txBody>
      </p:sp>
      <p:cxnSp>
        <p:nvCxnSpPr>
          <p:cNvPr id="255" name="Predicted future state to latent loss"/>
          <p:cNvCxnSpPr/>
          <p:nvPr/>
        </p:nvCxnSpPr>
        <p:spPr>
          <a:xfrm>
            <a:off x="13304520" y="4328160"/>
            <a:ext cx="0" cy="29718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Observed future target to latent loss (stop-grad)"/>
          <p:cNvCxnSpPr/>
          <p:nvPr/>
        </p:nvCxnSpPr>
        <p:spPr>
          <a:xfrm>
            <a:off x="9448800" y="4960620"/>
            <a:ext cx="2689860" cy="0"/>
          </a:xfrm>
          <a:prstGeom prst="line">
            <a:avLst/>
          </a:prstGeom>
          <a:ln w="12700">
            <a:solidFill>
              <a:srgbClr val="171717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Label: stop-grad"/>
          <p:cNvSpPr txBox="1"/>
          <p:nvPr/>
        </p:nvSpPr>
        <p:spPr>
          <a:xfrm>
            <a:off x="10340340" y="4709160"/>
            <a:ext cx="82296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171717"/>
                </a:solidFill>
                <a:latin typeface="Comic Sans MS"/>
              </a:rPr>
              <a:t>stop-grad</a:t>
            </a:r>
          </a:p>
        </p:txBody>
      </p:sp>
      <p:sp>
        <p:nvSpPr>
          <p:cNvPr id="258" name="Label: 4 + 4 state encoder"/>
          <p:cNvSpPr txBox="1"/>
          <p:nvPr/>
        </p:nvSpPr>
        <p:spPr>
          <a:xfrm>
            <a:off x="4305300" y="693420"/>
            <a:ext cx="265176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717"/>
                </a:solidFill>
                <a:latin typeface="Comic Sans MS"/>
              </a:rPr>
              <a:t>4 + 4 state encoder</a:t>
            </a:r>
          </a:p>
        </p:txBody>
      </p:sp>
      <p:sp>
        <p:nvSpPr>
          <p:cNvPr id="259" name="Label: LoRA"/>
          <p:cNvSpPr txBox="1"/>
          <p:nvPr/>
        </p:nvSpPr>
        <p:spPr>
          <a:xfrm>
            <a:off x="6926580" y="739140"/>
            <a:ext cx="59436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717"/>
                </a:solidFill>
                <a:latin typeface="Comic Sans MS"/>
              </a:rPr>
              <a:t>LoRA</a:t>
            </a:r>
          </a:p>
        </p:txBody>
      </p:sp>
      <p:sp>
        <p:nvSpPr>
          <p:cNvPr id="260" name="Fusion path, current"/>
          <p:cNvSpPr/>
          <p:nvPr/>
        </p:nvSpPr>
        <p:spPr>
          <a:xfrm>
            <a:off x="4335780" y="1036320"/>
            <a:ext cx="2141220" cy="579120"/>
          </a:xfrm>
          <a:prstGeom prst="roundRect">
            <a:avLst>
              <a:gd name="adj" fmla="val 8000"/>
            </a:avLst>
          </a:prstGeom>
          <a:solidFill>
            <a:srgbClr val="FFFCF3"/>
          </a:solidFill>
          <a:ln w="10160">
            <a:solidFill>
              <a:srgbClr val="A42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Label: Qwen language fusion"/>
          <p:cNvSpPr txBox="1"/>
          <p:nvPr/>
        </p:nvSpPr>
        <p:spPr>
          <a:xfrm>
            <a:off x="4381500" y="1082040"/>
            <a:ext cx="2049780" cy="2057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71717"/>
                </a:solidFill>
                <a:latin typeface="Comic Sans MS"/>
              </a:rPr>
              <a:t>Qwen language fusion</a:t>
            </a:r>
          </a:p>
        </p:txBody>
      </p:sp>
      <p:sp>
        <p:nvSpPr>
          <p:cNvPr id="262" name="Label: JEPA tokens + available text"/>
          <p:cNvSpPr txBox="1"/>
          <p:nvPr/>
        </p:nvSpPr>
        <p:spPr>
          <a:xfrm>
            <a:off x="4381500" y="1325880"/>
            <a:ext cx="204978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717"/>
                </a:solidFill>
                <a:latin typeface="Arial"/>
              </a:rPr>
              <a:t>JEPA tokens + available text</a:t>
            </a:r>
          </a:p>
        </p:txBody>
      </p:sp>
      <p:sp>
        <p:nvSpPr>
          <p:cNvPr id="263" name="Label: 4 fusion slots"/>
          <p:cNvSpPr txBox="1"/>
          <p:nvPr/>
        </p:nvSpPr>
        <p:spPr>
          <a:xfrm>
            <a:off x="6477000" y="1013460"/>
            <a:ext cx="1013460" cy="1752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71717"/>
                </a:solidFill>
                <a:latin typeface="Comic Sans MS"/>
              </a:rPr>
              <a:t>4 fusion slots</a:t>
            </a:r>
          </a:p>
        </p:txBody>
      </p:sp>
      <p:sp>
        <p:nvSpPr>
          <p:cNvPr id="264" name="Current fusion slot 1"/>
          <p:cNvSpPr/>
          <p:nvPr/>
        </p:nvSpPr>
        <p:spPr>
          <a:xfrm>
            <a:off x="6568440" y="128016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E89EBA"/>
          </a:solidFill>
          <a:ln w="889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Current fusion slot 2"/>
          <p:cNvSpPr/>
          <p:nvPr/>
        </p:nvSpPr>
        <p:spPr>
          <a:xfrm>
            <a:off x="6797040" y="128016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E89EBA"/>
          </a:solidFill>
          <a:ln w="889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Current fusion slot 3"/>
          <p:cNvSpPr/>
          <p:nvPr/>
        </p:nvSpPr>
        <p:spPr>
          <a:xfrm>
            <a:off x="7025640" y="128016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E89EBA"/>
          </a:solidFill>
          <a:ln w="889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Current fusion slot 4"/>
          <p:cNvSpPr/>
          <p:nvPr/>
        </p:nvSpPr>
        <p:spPr>
          <a:xfrm>
            <a:off x="7254240" y="128016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E89EBA"/>
          </a:solidFill>
          <a:ln w="889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Native vision path, current"/>
          <p:cNvSpPr/>
          <p:nvPr/>
        </p:nvSpPr>
        <p:spPr>
          <a:xfrm>
            <a:off x="4648200" y="1767840"/>
            <a:ext cx="1828800" cy="487680"/>
          </a:xfrm>
          <a:prstGeom prst="roundRect">
            <a:avLst>
              <a:gd name="adj" fmla="val 8000"/>
            </a:avLst>
          </a:prstGeom>
          <a:solidFill>
            <a:srgbClr val="EDF7FE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Label: Qwen native vision"/>
          <p:cNvSpPr txBox="1"/>
          <p:nvPr/>
        </p:nvSpPr>
        <p:spPr>
          <a:xfrm>
            <a:off x="4693920" y="1783080"/>
            <a:ext cx="1737360" cy="1981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71717"/>
                </a:solidFill>
                <a:latin typeface="Comic Sans MS"/>
              </a:rPr>
              <a:t>Qwen native vision</a:t>
            </a:r>
          </a:p>
        </p:txBody>
      </p:sp>
      <p:sp>
        <p:nvSpPr>
          <p:cNvPr id="270" name="Label: Same image, four depths"/>
          <p:cNvSpPr txBox="1"/>
          <p:nvPr/>
        </p:nvSpPr>
        <p:spPr>
          <a:xfrm>
            <a:off x="4693920" y="2004060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717"/>
                </a:solidFill>
                <a:latin typeface="Arial"/>
              </a:rPr>
              <a:t>Same image, four depths</a:t>
            </a:r>
          </a:p>
        </p:txBody>
      </p:sp>
      <p:sp>
        <p:nvSpPr>
          <p:cNvPr id="271" name="Native state image label, current"/>
          <p:cNvSpPr txBox="1"/>
          <p:nvPr/>
        </p:nvSpPr>
        <p:spPr>
          <a:xfrm>
            <a:off x="4274820" y="1813560"/>
            <a:ext cx="327660" cy="2057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Times New Roman"/>
              </a:rPr>
              <a:t/>
            </a:r>
            <a:r>
              <a:rPr sz="1200" baseline="0">
                <a:solidFill>
                  <a:srgbClr val="1686D1"/>
                </a:solidFill>
                <a:latin typeface="Times New Roman"/>
              </a:rPr>
              <a:t>X</a:t>
            </a:r>
            <a:r>
              <a:rPr sz="900" baseline="-25000">
                <a:solidFill>
                  <a:srgbClr val="1686D1"/>
                </a:solidFill>
                <a:latin typeface="Times New Roman"/>
              </a:rPr>
              <a:t>t</a:t>
            </a:r>
          </a:p>
        </p:txBody>
      </p:sp>
      <p:cxnSp>
        <p:nvCxnSpPr>
          <p:cNvPr id="272" name="Current image to native state vision"/>
          <p:cNvCxnSpPr/>
          <p:nvPr/>
        </p:nvCxnSpPr>
        <p:spPr>
          <a:xfrm>
            <a:off x="4343400" y="2049780"/>
            <a:ext cx="304800" cy="0"/>
          </a:xfrm>
          <a:prstGeom prst="line">
            <a:avLst/>
          </a:prstGeom>
          <a:ln w="15240">
            <a:solidFill>
              <a:srgbClr val="1686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Label: 4 visual slots"/>
          <p:cNvSpPr txBox="1"/>
          <p:nvPr/>
        </p:nvSpPr>
        <p:spPr>
          <a:xfrm>
            <a:off x="6477000" y="1737360"/>
            <a:ext cx="1013460" cy="1752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71717"/>
                </a:solidFill>
                <a:latin typeface="Comic Sans MS"/>
              </a:rPr>
              <a:t>4 visual slots</a:t>
            </a:r>
          </a:p>
        </p:txBody>
      </p:sp>
      <p:sp>
        <p:nvSpPr>
          <p:cNvPr id="274" name="Current visual slot 1"/>
          <p:cNvSpPr/>
          <p:nvPr/>
        </p:nvSpPr>
        <p:spPr>
          <a:xfrm>
            <a:off x="6568440" y="201168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889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Current visual slot 2"/>
          <p:cNvSpPr/>
          <p:nvPr/>
        </p:nvSpPr>
        <p:spPr>
          <a:xfrm>
            <a:off x="6797040" y="201168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889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Current visual slot 3"/>
          <p:cNvSpPr/>
          <p:nvPr/>
        </p:nvSpPr>
        <p:spPr>
          <a:xfrm>
            <a:off x="7025640" y="201168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889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Current visual slot 4"/>
          <p:cNvSpPr/>
          <p:nvPr/>
        </p:nvSpPr>
        <p:spPr>
          <a:xfrm>
            <a:off x="7254240" y="201168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889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8" name="Fusion to current slots"/>
          <p:cNvCxnSpPr/>
          <p:nvPr/>
        </p:nvCxnSpPr>
        <p:spPr>
          <a:xfrm>
            <a:off x="6477000" y="1379220"/>
            <a:ext cx="914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Vision to current slots"/>
          <p:cNvCxnSpPr/>
          <p:nvPr/>
        </p:nvCxnSpPr>
        <p:spPr>
          <a:xfrm>
            <a:off x="6477000" y="2110740"/>
            <a:ext cx="914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Fusion readout to state"/>
          <p:cNvCxnSpPr/>
          <p:nvPr/>
        </p:nvCxnSpPr>
        <p:spPr>
          <a:xfrm>
            <a:off x="7437120" y="1379220"/>
            <a:ext cx="83820" cy="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Fusion readout to state"/>
          <p:cNvCxnSpPr/>
          <p:nvPr/>
        </p:nvCxnSpPr>
        <p:spPr>
          <a:xfrm>
            <a:off x="7520940" y="1379220"/>
            <a:ext cx="0" cy="37338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Fusion readout to state"/>
          <p:cNvCxnSpPr/>
          <p:nvPr/>
        </p:nvCxnSpPr>
        <p:spPr>
          <a:xfrm>
            <a:off x="7520940" y="1752600"/>
            <a:ext cx="533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Visual readout to state"/>
          <p:cNvCxnSpPr/>
          <p:nvPr/>
        </p:nvCxnSpPr>
        <p:spPr>
          <a:xfrm>
            <a:off x="7437120" y="2110740"/>
            <a:ext cx="83820" cy="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Visual readout to state"/>
          <p:cNvCxnSpPr/>
          <p:nvPr/>
        </p:nvCxnSpPr>
        <p:spPr>
          <a:xfrm flipV="1">
            <a:off x="7520940" y="1752600"/>
            <a:ext cx="0" cy="35814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Visual readout to state"/>
          <p:cNvCxnSpPr/>
          <p:nvPr/>
        </p:nvCxnSpPr>
        <p:spPr>
          <a:xfrm>
            <a:off x="7520940" y="1752600"/>
            <a:ext cx="533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Available text to fusion path"/>
          <p:cNvCxnSpPr/>
          <p:nvPr/>
        </p:nvCxnSpPr>
        <p:spPr>
          <a:xfrm>
            <a:off x="3779520" y="2194560"/>
            <a:ext cx="320040" cy="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Available text to fusion path"/>
          <p:cNvCxnSpPr/>
          <p:nvPr/>
        </p:nvCxnSpPr>
        <p:spPr>
          <a:xfrm flipV="1">
            <a:off x="4099560" y="1562100"/>
            <a:ext cx="0" cy="63246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Available text to fusion path"/>
          <p:cNvCxnSpPr/>
          <p:nvPr/>
        </p:nvCxnSpPr>
        <p:spPr>
          <a:xfrm>
            <a:off x="4099560" y="1562100"/>
            <a:ext cx="23622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Label: Frozen state encoder"/>
          <p:cNvSpPr txBox="1"/>
          <p:nvPr/>
        </p:nvSpPr>
        <p:spPr>
          <a:xfrm>
            <a:off x="4305300" y="3619500"/>
            <a:ext cx="265176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717"/>
                </a:solidFill>
                <a:latin typeface="Comic Sans MS"/>
              </a:rPr>
              <a:t>Frozen state encoder</a:t>
            </a:r>
          </a:p>
        </p:txBody>
      </p:sp>
      <p:sp>
        <p:nvSpPr>
          <p:cNvPr id="290" name="Label: Fixed"/>
          <p:cNvSpPr txBox="1"/>
          <p:nvPr/>
        </p:nvSpPr>
        <p:spPr>
          <a:xfrm>
            <a:off x="6926580" y="3665220"/>
            <a:ext cx="59436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717"/>
                </a:solidFill>
                <a:latin typeface="Comic Sans MS"/>
              </a:rPr>
              <a:t>Fixed</a:t>
            </a:r>
          </a:p>
        </p:txBody>
      </p:sp>
      <p:sp>
        <p:nvSpPr>
          <p:cNvPr id="291" name="Fusion path, future"/>
          <p:cNvSpPr/>
          <p:nvPr/>
        </p:nvSpPr>
        <p:spPr>
          <a:xfrm>
            <a:off x="4335780" y="3962399"/>
            <a:ext cx="2141220" cy="579120"/>
          </a:xfrm>
          <a:prstGeom prst="roundRect">
            <a:avLst>
              <a:gd name="adj" fmla="val 8000"/>
            </a:avLst>
          </a:prstGeom>
          <a:solidFill>
            <a:srgbClr val="FFFCF3"/>
          </a:solidFill>
          <a:ln w="10160">
            <a:solidFill>
              <a:srgbClr val="A42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Label: Qwen language fusion"/>
          <p:cNvSpPr txBox="1"/>
          <p:nvPr/>
        </p:nvSpPr>
        <p:spPr>
          <a:xfrm>
            <a:off x="4381500" y="4008120"/>
            <a:ext cx="2049780" cy="2057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71717"/>
                </a:solidFill>
                <a:latin typeface="Comic Sans MS"/>
              </a:rPr>
              <a:t>Qwen language fusion</a:t>
            </a:r>
          </a:p>
        </p:txBody>
      </p:sp>
      <p:sp>
        <p:nvSpPr>
          <p:cNvPr id="293" name="Label: JEPA tokens + available text"/>
          <p:cNvSpPr txBox="1"/>
          <p:nvPr/>
        </p:nvSpPr>
        <p:spPr>
          <a:xfrm>
            <a:off x="4381500" y="4251960"/>
            <a:ext cx="204978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717"/>
                </a:solidFill>
                <a:latin typeface="Arial"/>
              </a:rPr>
              <a:t>JEPA tokens + available text</a:t>
            </a:r>
          </a:p>
        </p:txBody>
      </p:sp>
      <p:sp>
        <p:nvSpPr>
          <p:cNvPr id="294" name="Label: 4 fusion slots"/>
          <p:cNvSpPr txBox="1"/>
          <p:nvPr/>
        </p:nvSpPr>
        <p:spPr>
          <a:xfrm>
            <a:off x="6477000" y="3939540"/>
            <a:ext cx="1013460" cy="1752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71717"/>
                </a:solidFill>
                <a:latin typeface="Comic Sans MS"/>
              </a:rPr>
              <a:t>4 fusion slots</a:t>
            </a:r>
          </a:p>
        </p:txBody>
      </p:sp>
      <p:sp>
        <p:nvSpPr>
          <p:cNvPr id="295" name="Target fusion slot 1"/>
          <p:cNvSpPr/>
          <p:nvPr/>
        </p:nvSpPr>
        <p:spPr>
          <a:xfrm>
            <a:off x="6568440" y="420624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E89EBA"/>
          </a:solidFill>
          <a:ln w="889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arget fusion slot 2"/>
          <p:cNvSpPr/>
          <p:nvPr/>
        </p:nvSpPr>
        <p:spPr>
          <a:xfrm>
            <a:off x="6797040" y="420624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E89EBA"/>
          </a:solidFill>
          <a:ln w="889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arget fusion slot 3"/>
          <p:cNvSpPr/>
          <p:nvPr/>
        </p:nvSpPr>
        <p:spPr>
          <a:xfrm>
            <a:off x="7025640" y="420624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E89EBA"/>
          </a:solidFill>
          <a:ln w="889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arget fusion slot 4"/>
          <p:cNvSpPr/>
          <p:nvPr/>
        </p:nvSpPr>
        <p:spPr>
          <a:xfrm>
            <a:off x="7254240" y="420624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E89EBA"/>
          </a:solidFill>
          <a:ln w="889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Native vision path, future"/>
          <p:cNvSpPr/>
          <p:nvPr/>
        </p:nvSpPr>
        <p:spPr>
          <a:xfrm>
            <a:off x="4648200" y="4693920"/>
            <a:ext cx="1828800" cy="487680"/>
          </a:xfrm>
          <a:prstGeom prst="roundRect">
            <a:avLst>
              <a:gd name="adj" fmla="val 8000"/>
            </a:avLst>
          </a:prstGeom>
          <a:solidFill>
            <a:srgbClr val="EDF7FE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Label: Qwen native vision"/>
          <p:cNvSpPr txBox="1"/>
          <p:nvPr/>
        </p:nvSpPr>
        <p:spPr>
          <a:xfrm>
            <a:off x="4693920" y="4709160"/>
            <a:ext cx="1737360" cy="1981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71717"/>
                </a:solidFill>
                <a:latin typeface="Comic Sans MS"/>
              </a:rPr>
              <a:t>Qwen native vision</a:t>
            </a:r>
          </a:p>
        </p:txBody>
      </p:sp>
      <p:sp>
        <p:nvSpPr>
          <p:cNvPr id="301" name="Label: Same image, four depths"/>
          <p:cNvSpPr txBox="1"/>
          <p:nvPr/>
        </p:nvSpPr>
        <p:spPr>
          <a:xfrm>
            <a:off x="4693920" y="4930140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717"/>
                </a:solidFill>
                <a:latin typeface="Arial"/>
              </a:rPr>
              <a:t>Same image, four depths</a:t>
            </a:r>
          </a:p>
        </p:txBody>
      </p:sp>
      <p:sp>
        <p:nvSpPr>
          <p:cNvPr id="302" name="Native state image label, future"/>
          <p:cNvSpPr txBox="1"/>
          <p:nvPr/>
        </p:nvSpPr>
        <p:spPr>
          <a:xfrm>
            <a:off x="4274820" y="4739640"/>
            <a:ext cx="327660" cy="2057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Times New Roman"/>
              </a:rPr>
              <a:t/>
            </a:r>
            <a:r>
              <a:rPr sz="1200" baseline="0">
                <a:solidFill>
                  <a:srgbClr val="1686D1"/>
                </a:solidFill>
                <a:latin typeface="Times New Roman"/>
              </a:rPr>
              <a:t>X</a:t>
            </a:r>
            <a:r>
              <a:rPr sz="900" baseline="-25000">
                <a:solidFill>
                  <a:srgbClr val="1686D1"/>
                </a:solidFill>
                <a:latin typeface="Times New Roman"/>
              </a:rPr>
              <a:t>t+</a:t>
            </a:r>
          </a:p>
        </p:txBody>
      </p:sp>
      <p:cxnSp>
        <p:nvCxnSpPr>
          <p:cNvPr id="303" name="Future image to native target vision"/>
          <p:cNvCxnSpPr/>
          <p:nvPr/>
        </p:nvCxnSpPr>
        <p:spPr>
          <a:xfrm>
            <a:off x="4343400" y="4975860"/>
            <a:ext cx="304800" cy="0"/>
          </a:xfrm>
          <a:prstGeom prst="line">
            <a:avLst/>
          </a:prstGeom>
          <a:ln w="15240">
            <a:solidFill>
              <a:srgbClr val="1686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Label: 4 visual slots"/>
          <p:cNvSpPr txBox="1"/>
          <p:nvPr/>
        </p:nvSpPr>
        <p:spPr>
          <a:xfrm>
            <a:off x="6477000" y="4663440"/>
            <a:ext cx="1013460" cy="1752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71717"/>
                </a:solidFill>
                <a:latin typeface="Comic Sans MS"/>
              </a:rPr>
              <a:t>4 visual slots</a:t>
            </a:r>
          </a:p>
        </p:txBody>
      </p:sp>
      <p:sp>
        <p:nvSpPr>
          <p:cNvPr id="305" name="Target visual slot 1"/>
          <p:cNvSpPr/>
          <p:nvPr/>
        </p:nvSpPr>
        <p:spPr>
          <a:xfrm>
            <a:off x="6568440" y="493776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889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arget visual slot 2"/>
          <p:cNvSpPr/>
          <p:nvPr/>
        </p:nvSpPr>
        <p:spPr>
          <a:xfrm>
            <a:off x="6797040" y="493776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889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arget visual slot 3"/>
          <p:cNvSpPr/>
          <p:nvPr/>
        </p:nvSpPr>
        <p:spPr>
          <a:xfrm>
            <a:off x="7025640" y="493776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889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arget visual slot 4"/>
          <p:cNvSpPr/>
          <p:nvPr/>
        </p:nvSpPr>
        <p:spPr>
          <a:xfrm>
            <a:off x="7254240" y="4937760"/>
            <a:ext cx="182880" cy="205740"/>
          </a:xfrm>
          <a:prstGeom prst="roundRect">
            <a:avLst>
              <a:gd name="adj" fmla="val 8000"/>
            </a:avLst>
          </a:prstGeom>
          <a:solidFill>
            <a:srgbClr val="9BCAE9"/>
          </a:solidFill>
          <a:ln w="889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9" name="Fusion to target slots"/>
          <p:cNvCxnSpPr/>
          <p:nvPr/>
        </p:nvCxnSpPr>
        <p:spPr>
          <a:xfrm>
            <a:off x="6477000" y="4305300"/>
            <a:ext cx="914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Vision to target slots"/>
          <p:cNvCxnSpPr/>
          <p:nvPr/>
        </p:nvCxnSpPr>
        <p:spPr>
          <a:xfrm>
            <a:off x="6477000" y="5036820"/>
            <a:ext cx="914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Fusion readout to state"/>
          <p:cNvCxnSpPr/>
          <p:nvPr/>
        </p:nvCxnSpPr>
        <p:spPr>
          <a:xfrm>
            <a:off x="7437120" y="4305300"/>
            <a:ext cx="83820" cy="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Fusion readout to state"/>
          <p:cNvCxnSpPr/>
          <p:nvPr/>
        </p:nvCxnSpPr>
        <p:spPr>
          <a:xfrm>
            <a:off x="7520940" y="4305300"/>
            <a:ext cx="0" cy="37338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Fusion readout to state"/>
          <p:cNvCxnSpPr/>
          <p:nvPr/>
        </p:nvCxnSpPr>
        <p:spPr>
          <a:xfrm>
            <a:off x="7520940" y="4678680"/>
            <a:ext cx="533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Visual readout to state"/>
          <p:cNvCxnSpPr/>
          <p:nvPr/>
        </p:nvCxnSpPr>
        <p:spPr>
          <a:xfrm>
            <a:off x="7437120" y="5036820"/>
            <a:ext cx="83820" cy="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Visual readout to state"/>
          <p:cNvCxnSpPr/>
          <p:nvPr/>
        </p:nvCxnSpPr>
        <p:spPr>
          <a:xfrm flipV="1">
            <a:off x="7520940" y="4678680"/>
            <a:ext cx="0" cy="35814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Visual readout to state"/>
          <p:cNvCxnSpPr/>
          <p:nvPr/>
        </p:nvCxnSpPr>
        <p:spPr>
          <a:xfrm>
            <a:off x="7520940" y="4678680"/>
            <a:ext cx="533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Available text to fusion path"/>
          <p:cNvCxnSpPr/>
          <p:nvPr/>
        </p:nvCxnSpPr>
        <p:spPr>
          <a:xfrm>
            <a:off x="3779520" y="5151120"/>
            <a:ext cx="320040" cy="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Available text to fusion path"/>
          <p:cNvCxnSpPr/>
          <p:nvPr/>
        </p:nvCxnSpPr>
        <p:spPr>
          <a:xfrm flipV="1">
            <a:off x="4099560" y="4488180"/>
            <a:ext cx="0" cy="66294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Available text to fusion path"/>
          <p:cNvCxnSpPr/>
          <p:nvPr/>
        </p:nvCxnSpPr>
        <p:spPr>
          <a:xfrm>
            <a:off x="4099560" y="4488180"/>
            <a:ext cx="23622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Native forecast readout panel"/>
          <p:cNvSpPr/>
          <p:nvPr/>
        </p:nvSpPr>
        <p:spPr>
          <a:xfrm>
            <a:off x="15240" y="5875020"/>
            <a:ext cx="14142720" cy="2026920"/>
          </a:xfrm>
          <a:prstGeom prst="roundRect">
            <a:avLst>
              <a:gd name="adj" fmla="val 8000"/>
            </a:avLst>
          </a:prstGeom>
          <a:solidFill>
            <a:srgbClr val="F2F8F0"/>
          </a:solidFill>
          <a:ln w="12700">
            <a:solidFill>
              <a:srgbClr val="78A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Label: Native forecast readout (Stage 2)"/>
          <p:cNvSpPr txBox="1"/>
          <p:nvPr/>
        </p:nvSpPr>
        <p:spPr>
          <a:xfrm>
            <a:off x="182880" y="5928360"/>
            <a:ext cx="458724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1717"/>
                </a:solidFill>
                <a:latin typeface="Comic Sans MS"/>
              </a:rPr>
              <a:t>Native forecast readout (Stage 2)</a:t>
            </a:r>
          </a:p>
        </p:txBody>
      </p:sp>
      <p:sp>
        <p:nvSpPr>
          <p:cNvPr id="322" name="True current forecast evidence"/>
          <p:cNvSpPr/>
          <p:nvPr/>
        </p:nvSpPr>
        <p:spPr>
          <a:xfrm>
            <a:off x="167640" y="6271260"/>
            <a:ext cx="4008120" cy="1310640"/>
          </a:xfrm>
          <a:prstGeom prst="roundRect">
            <a:avLst>
              <a:gd name="adj" fmla="val 8000"/>
            </a:avLst>
          </a:prstGeom>
          <a:solidFill>
            <a:srgbClr val="FFF6E8"/>
          </a:solidFill>
          <a:ln w="11430">
            <a:solidFill>
              <a:srgbClr val="845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Label: True current evidence"/>
          <p:cNvSpPr txBox="1"/>
          <p:nvPr/>
        </p:nvSpPr>
        <p:spPr>
          <a:xfrm>
            <a:off x="251460" y="6316980"/>
            <a:ext cx="3848099" cy="2057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171717"/>
                </a:solidFill>
                <a:latin typeface="Comic Sans MS"/>
              </a:rPr>
              <a:t>True current evidence</a:t>
            </a:r>
          </a:p>
        </p:txBody>
      </p:sp>
      <p:pic>
        <p:nvPicPr>
          <p:cNvPr id="324" name="Native decoder current radiograph (same image)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" y="6591300"/>
            <a:ext cx="800100" cy="800100"/>
          </a:xfrm>
          <a:prstGeom prst="rect">
            <a:avLst/>
          </a:prstGeom>
        </p:spPr>
      </p:pic>
      <p:sp>
        <p:nvSpPr>
          <p:cNvPr id="325" name="Label: Current image (512 px)"/>
          <p:cNvSpPr txBox="1"/>
          <p:nvPr/>
        </p:nvSpPr>
        <p:spPr>
          <a:xfrm>
            <a:off x="1203960" y="6576060"/>
            <a:ext cx="2865120" cy="2514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Comic Sans MS"/>
              </a:rPr>
              <a:t>Current image (512 px)</a:t>
            </a:r>
          </a:p>
        </p:txBody>
      </p:sp>
      <p:sp>
        <p:nvSpPr>
          <p:cNvPr id="326" name="Label: Current report + source EHR / Requested horizon h"/>
          <p:cNvSpPr txBox="1"/>
          <p:nvPr/>
        </p:nvSpPr>
        <p:spPr>
          <a:xfrm>
            <a:off x="1203960" y="6880860"/>
            <a:ext cx="2865120" cy="4495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Comic Sans MS"/>
              </a:rPr>
              <a:t>Current report + source EHR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Comic Sans MS"/>
              </a:rPr>
              <a:t>Requested horizon h</a:t>
            </a:r>
          </a:p>
        </p:txBody>
      </p:sp>
      <p:sp>
        <p:nvSpPr>
          <p:cNvPr id="327" name="Native Qwen forecast decoder"/>
          <p:cNvSpPr/>
          <p:nvPr/>
        </p:nvSpPr>
        <p:spPr>
          <a:xfrm>
            <a:off x="4754880" y="6271260"/>
            <a:ext cx="5920740" cy="1310640"/>
          </a:xfrm>
          <a:prstGeom prst="roundRect">
            <a:avLst>
              <a:gd name="adj" fmla="val 8000"/>
            </a:avLst>
          </a:prstGeom>
          <a:solidFill>
            <a:srgbClr val="D8EBC1"/>
          </a:solidFill>
          <a:ln w="13970">
            <a:solidFill>
              <a:srgbClr val="557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Label: Native Qwen forecast decoder"/>
          <p:cNvSpPr txBox="1"/>
          <p:nvPr/>
        </p:nvSpPr>
        <p:spPr>
          <a:xfrm>
            <a:off x="4861560" y="6316980"/>
            <a:ext cx="4457700" cy="2133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>
                <a:solidFill>
                  <a:srgbClr val="171717"/>
                </a:solidFill>
                <a:latin typeface="Comic Sans MS"/>
              </a:rPr>
              <a:t>Native Qwen forecast decoder</a:t>
            </a:r>
          </a:p>
        </p:txBody>
      </p:sp>
      <p:sp>
        <p:nvSpPr>
          <p:cNvPr id="329" name="Native forecast vision encoder"/>
          <p:cNvSpPr/>
          <p:nvPr/>
        </p:nvSpPr>
        <p:spPr>
          <a:xfrm>
            <a:off x="4892040" y="6644640"/>
            <a:ext cx="1699260" cy="640080"/>
          </a:xfrm>
          <a:prstGeom prst="roundRect">
            <a:avLst>
              <a:gd name="adj" fmla="val 8000"/>
            </a:avLst>
          </a:prstGeom>
          <a:solidFill>
            <a:srgbClr val="EDF7FE"/>
          </a:solidFill>
          <a:ln w="1143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Label: Native vision / encoder"/>
          <p:cNvSpPr txBox="1"/>
          <p:nvPr/>
        </p:nvSpPr>
        <p:spPr>
          <a:xfrm>
            <a:off x="4953000" y="6705600"/>
            <a:ext cx="1577340" cy="495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171717"/>
                </a:solidFill>
                <a:latin typeface="Comic Sans MS"/>
              </a:rPr>
              <a:t>Native vision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171717"/>
                </a:solidFill>
                <a:latin typeface="Comic Sans MS"/>
              </a:rPr>
              <a:t>encoder</a:t>
            </a:r>
          </a:p>
        </p:txBody>
      </p:sp>
      <p:sp>
        <p:nvSpPr>
          <p:cNvPr id="331" name="Native forecast language model"/>
          <p:cNvSpPr/>
          <p:nvPr/>
        </p:nvSpPr>
        <p:spPr>
          <a:xfrm>
            <a:off x="7185660" y="6644640"/>
            <a:ext cx="3345180" cy="754380"/>
          </a:xfrm>
          <a:prstGeom prst="roundRect">
            <a:avLst>
              <a:gd name="adj" fmla="val 8000"/>
            </a:avLst>
          </a:prstGeom>
          <a:solidFill>
            <a:srgbClr val="FFFDF1"/>
          </a:solidFill>
          <a:ln w="11430">
            <a:solidFill>
              <a:srgbClr val="557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Label: Qwen language model + LoRA"/>
          <p:cNvSpPr txBox="1"/>
          <p:nvPr/>
        </p:nvSpPr>
        <p:spPr>
          <a:xfrm>
            <a:off x="7269480" y="6682740"/>
            <a:ext cx="3162300" cy="2209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71717"/>
                </a:solidFill>
                <a:latin typeface="Comic Sans MS"/>
              </a:rPr>
              <a:t>Qwen language model + LoRA</a:t>
            </a:r>
          </a:p>
        </p:txBody>
      </p:sp>
      <p:sp>
        <p:nvSpPr>
          <p:cNvPr id="333" name="Label: Image + current text + h / + 8 projected future slots"/>
          <p:cNvSpPr txBox="1"/>
          <p:nvPr/>
        </p:nvSpPr>
        <p:spPr>
          <a:xfrm>
            <a:off x="7269480" y="6964680"/>
            <a:ext cx="31623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171717"/>
                </a:solidFill>
                <a:latin typeface="Comic Sans MS"/>
              </a:rPr>
              <a:t>Image + current text + 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171717"/>
                </a:solidFill>
                <a:latin typeface="Comic Sans MS"/>
              </a:rPr>
              <a:t>+ 8 projected future slots</a:t>
            </a:r>
          </a:p>
        </p:txBody>
      </p:sp>
      <p:cxnSp>
        <p:nvCxnSpPr>
          <p:cNvPr id="334" name="Current image to native forecast vision"/>
          <p:cNvCxnSpPr/>
          <p:nvPr/>
        </p:nvCxnSpPr>
        <p:spPr>
          <a:xfrm>
            <a:off x="4175760" y="6720840"/>
            <a:ext cx="71628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5" name="Label: Xₜ"/>
          <p:cNvSpPr txBox="1"/>
          <p:nvPr/>
        </p:nvSpPr>
        <p:spPr>
          <a:xfrm>
            <a:off x="4221480" y="6492240"/>
            <a:ext cx="533400" cy="2057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171717"/>
                </a:solidFill>
                <a:latin typeface="Times New Roman"/>
              </a:rPr>
              <a:t>Xₜ</a:t>
            </a:r>
          </a:p>
        </p:txBody>
      </p:sp>
      <p:cxnSp>
        <p:nvCxnSpPr>
          <p:cNvPr id="336" name="Native forecast vision tokens to language model"/>
          <p:cNvCxnSpPr/>
          <p:nvPr/>
        </p:nvCxnSpPr>
        <p:spPr>
          <a:xfrm>
            <a:off x="6591300" y="6911340"/>
            <a:ext cx="59436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Label: Image / tokens"/>
          <p:cNvSpPr txBox="1"/>
          <p:nvPr/>
        </p:nvSpPr>
        <p:spPr>
          <a:xfrm>
            <a:off x="6614160" y="6591300"/>
            <a:ext cx="54864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rial"/>
              </a:rPr>
              <a:t>Image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rial"/>
              </a:rPr>
              <a:t>tokens</a:t>
            </a:r>
          </a:p>
        </p:txBody>
      </p:sp>
      <p:cxnSp>
        <p:nvCxnSpPr>
          <p:cNvPr id="338" name="Current report EHR horizon to native forecast language model"/>
          <p:cNvCxnSpPr/>
          <p:nvPr/>
        </p:nvCxnSpPr>
        <p:spPr>
          <a:xfrm>
            <a:off x="4175760" y="7399020"/>
            <a:ext cx="2758440" cy="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urrent report EHR horizon to native forecast language model"/>
          <p:cNvCxnSpPr/>
          <p:nvPr/>
        </p:nvCxnSpPr>
        <p:spPr>
          <a:xfrm flipV="1">
            <a:off x="6934200" y="7193280"/>
            <a:ext cx="0" cy="205740"/>
          </a:xfrm>
          <a:prstGeom prst="line">
            <a:avLst/>
          </a:prstGeom>
          <a:ln w="1524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urrent report EHR horizon to native forecast language model"/>
          <p:cNvCxnSpPr/>
          <p:nvPr/>
        </p:nvCxnSpPr>
        <p:spPr>
          <a:xfrm>
            <a:off x="6934200" y="7193280"/>
            <a:ext cx="25146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Label: Current report / EHR / h"/>
          <p:cNvSpPr txBox="1"/>
          <p:nvPr/>
        </p:nvSpPr>
        <p:spPr>
          <a:xfrm>
            <a:off x="4846320" y="7406640"/>
            <a:ext cx="1981199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rial"/>
              </a:rPr>
              <a:t>Current report / EHR / h</a:t>
            </a:r>
          </a:p>
        </p:txBody>
      </p:sp>
      <p:sp>
        <p:nvSpPr>
          <p:cNvPr id="342" name="Predicted future slot projection"/>
          <p:cNvSpPr/>
          <p:nvPr/>
        </p:nvSpPr>
        <p:spPr>
          <a:xfrm>
            <a:off x="7208520" y="5981700"/>
            <a:ext cx="3002280" cy="236220"/>
          </a:xfrm>
          <a:prstGeom prst="roundRect">
            <a:avLst>
              <a:gd name="adj" fmla="val 8000"/>
            </a:avLst>
          </a:prstGeom>
          <a:solidFill>
            <a:srgbClr val="FBE7F3"/>
          </a:soli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Label: A(predicted future slots)"/>
          <p:cNvSpPr txBox="1"/>
          <p:nvPr/>
        </p:nvSpPr>
        <p:spPr>
          <a:xfrm>
            <a:off x="7254240" y="5981700"/>
            <a:ext cx="2910840" cy="2362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71717"/>
                </a:solidFill>
                <a:latin typeface="Comic Sans MS"/>
              </a:rPr>
              <a:t>A(predicted future slots)</a:t>
            </a:r>
          </a:p>
        </p:txBody>
      </p:sp>
      <p:cxnSp>
        <p:nvCxnSpPr>
          <p:cNvPr id="344" name="Projected future slots to native forecast language model"/>
          <p:cNvCxnSpPr/>
          <p:nvPr/>
        </p:nvCxnSpPr>
        <p:spPr>
          <a:xfrm>
            <a:off x="10058400" y="6217920"/>
            <a:ext cx="0" cy="426720"/>
          </a:xfrm>
          <a:prstGeom prst="line">
            <a:avLst/>
          </a:prstGeom>
          <a:ln w="15875">
            <a:solidFill>
              <a:srgbClr val="A42A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Predicted future slots to native forecast readout"/>
          <p:cNvCxnSpPr/>
          <p:nvPr/>
        </p:nvCxnSpPr>
        <p:spPr>
          <a:xfrm>
            <a:off x="14043660" y="3825240"/>
            <a:ext cx="243840" cy="0"/>
          </a:xfrm>
          <a:prstGeom prst="line">
            <a:avLst/>
          </a:prstGeom>
          <a:ln w="15875">
            <a:solidFill>
              <a:srgbClr val="A42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Predicted future slots to native forecast readout"/>
          <p:cNvCxnSpPr/>
          <p:nvPr/>
        </p:nvCxnSpPr>
        <p:spPr>
          <a:xfrm>
            <a:off x="14287500" y="3825240"/>
            <a:ext cx="0" cy="1920240"/>
          </a:xfrm>
          <a:prstGeom prst="line">
            <a:avLst/>
          </a:prstGeom>
          <a:ln w="15875">
            <a:solidFill>
              <a:srgbClr val="A42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Predicted future slots to native forecast readout"/>
          <p:cNvCxnSpPr/>
          <p:nvPr/>
        </p:nvCxnSpPr>
        <p:spPr>
          <a:xfrm flipH="1">
            <a:off x="8709660" y="5745480"/>
            <a:ext cx="5577840" cy="0"/>
          </a:xfrm>
          <a:prstGeom prst="line">
            <a:avLst/>
          </a:prstGeom>
          <a:ln w="15875">
            <a:solidFill>
              <a:srgbClr val="A42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Predicted future slots to native forecast readout"/>
          <p:cNvCxnSpPr/>
          <p:nvPr/>
        </p:nvCxnSpPr>
        <p:spPr>
          <a:xfrm>
            <a:off x="8709660" y="5745480"/>
            <a:ext cx="0" cy="236220"/>
          </a:xfrm>
          <a:prstGeom prst="line">
            <a:avLst/>
          </a:prstGeom>
          <a:ln w="15875">
            <a:solidFill>
              <a:srgbClr val="A42A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Future report and finding outputs"/>
          <p:cNvSpPr/>
          <p:nvPr/>
        </p:nvSpPr>
        <p:spPr>
          <a:xfrm>
            <a:off x="11277600" y="6408420"/>
            <a:ext cx="2674620" cy="1028700"/>
          </a:xfrm>
          <a:prstGeom prst="roundRect">
            <a:avLst>
              <a:gd name="adj" fmla="val 8000"/>
            </a:avLst>
          </a:prstGeom>
          <a:solidFill>
            <a:srgbClr val="FFF6E8"/>
          </a:solidFill>
          <a:ln w="11430">
            <a:solidFill>
              <a:srgbClr val="A364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Label: Future outputs"/>
          <p:cNvSpPr txBox="1"/>
          <p:nvPr/>
        </p:nvSpPr>
        <p:spPr>
          <a:xfrm>
            <a:off x="11361420" y="6477000"/>
            <a:ext cx="2506980" cy="259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>
                <a:solidFill>
                  <a:srgbClr val="171717"/>
                </a:solidFill>
                <a:latin typeface="Comic Sans MS"/>
              </a:rPr>
              <a:t>Future outputs</a:t>
            </a:r>
          </a:p>
        </p:txBody>
      </p:sp>
      <p:sp>
        <p:nvSpPr>
          <p:cNvPr id="351" name="Label: Report (token CE) / Findings (masked BCE)"/>
          <p:cNvSpPr txBox="1"/>
          <p:nvPr/>
        </p:nvSpPr>
        <p:spPr>
          <a:xfrm>
            <a:off x="11361420" y="6804660"/>
            <a:ext cx="2506980" cy="4419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171717"/>
                </a:solidFill>
                <a:latin typeface="Comic Sans MS"/>
              </a:rPr>
              <a:t>Report (token CE)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171717"/>
                </a:solidFill>
                <a:latin typeface="Comic Sans MS"/>
              </a:rPr>
              <a:t>Findings (masked BCE)</a:t>
            </a:r>
          </a:p>
        </p:txBody>
      </p:sp>
      <p:cxnSp>
        <p:nvCxnSpPr>
          <p:cNvPr id="352" name="Native forecast decoder to future outputs"/>
          <p:cNvCxnSpPr/>
          <p:nvPr/>
        </p:nvCxnSpPr>
        <p:spPr>
          <a:xfrm>
            <a:off x="10675620" y="6979920"/>
            <a:ext cx="60198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abel: Future observations: detached latent targets and supervised losses only.  Image-based Stage 1 withholds current reports."/>
          <p:cNvSpPr txBox="1"/>
          <p:nvPr/>
        </p:nvSpPr>
        <p:spPr>
          <a:xfrm>
            <a:off x="213360" y="7658100"/>
            <a:ext cx="13716000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171717"/>
                </a:solidFill>
                <a:latin typeface="Arial"/>
              </a:rPr>
              <a:t>Future observations: detached latent targets and supervised losses only.  Image-based Stage 1 withholds current reports.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187</Words>
  <Application>Microsoft Office PowerPoint</Application>
  <PresentationFormat>自定义</PresentationFormat>
  <Paragraphs>84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Arial</vt:lpstr>
      <vt:lpstr>Calibri</vt:lpstr>
      <vt:lpstr>Comic Sans MS</vt:lpstr>
      <vt:lpstr>Times New Roman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MedWorld-JEPA — native forecast readout (fig1_v8)</dc:title>
  <dc:subject/>
  <dc:creator/>
  <cp:keywords/>
  <dc:description>generated using python-pptx</dc:description>
  <cp:lastModifiedBy>mu song</cp:lastModifiedBy>
  <cp:revision>2</cp:revision>
  <dcterms:created xsi:type="dcterms:W3CDTF">2013-01-27T09:14:16Z</dcterms:created>
  <dcterms:modified xsi:type="dcterms:W3CDTF">2026-09-07T03:07:40Z</dcterms:modified>
  <cp:category/>
</cp:coreProperties>
</file>