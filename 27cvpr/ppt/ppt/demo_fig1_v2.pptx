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A frame — Training"/>
          <p:cNvSpPr/>
          <p:nvPr/>
        </p:nvSpPr>
        <p:spPr>
          <a:xfrm>
            <a:off x="201168" y="384048"/>
            <a:ext cx="11786616" cy="58521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 A title"/>
          <p:cNvSpPr txBox="1"/>
          <p:nvPr/>
        </p:nvSpPr>
        <p:spPr>
          <a:xfrm>
            <a:off x="4800600" y="521207"/>
            <a:ext cx="260604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033"/>
                </a:solidFill>
                <a:latin typeface="Arial"/>
              </a:rPr>
              <a:t>(a)  Training</a:t>
            </a:r>
          </a:p>
        </p:txBody>
      </p:sp>
      <p:sp>
        <p:nvSpPr>
          <p:cNvPr id="4" name="Target-only branch frame"/>
          <p:cNvSpPr/>
          <p:nvPr/>
        </p:nvSpPr>
        <p:spPr>
          <a:xfrm>
            <a:off x="6108192" y="978408"/>
            <a:ext cx="4736592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rget-only branch badge"/>
          <p:cNvSpPr/>
          <p:nvPr/>
        </p:nvSpPr>
        <p:spPr>
          <a:xfrm>
            <a:off x="7534656" y="877824"/>
            <a:ext cx="1207008" cy="228600"/>
          </a:xfrm>
          <a:prstGeom prst="roundRect">
            <a:avLst>
              <a:gd name="adj" fmla="val 25000"/>
            </a:avLst>
          </a:prstGeom>
          <a:solidFill>
            <a:srgbClr val="D7ECD2"/>
          </a:solidFill>
          <a:ln w="6350">
            <a:solidFill>
              <a:srgbClr val="D7E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rget-only branch badge — label"/>
          <p:cNvSpPr txBox="1"/>
          <p:nvPr/>
        </p:nvSpPr>
        <p:spPr>
          <a:xfrm>
            <a:off x="7534656" y="882396"/>
            <a:ext cx="1207008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Arial"/>
              </a:rPr>
              <a:t>TARGET ONLY</a:t>
            </a:r>
          </a:p>
        </p:txBody>
      </p:sp>
      <p:cxnSp>
        <p:nvCxnSpPr>
          <p:cNvPr id="7" name="Current CXR split — lead"/>
          <p:cNvCxnSpPr/>
          <p:nvPr/>
        </p:nvCxnSpPr>
        <p:spPr>
          <a:xfrm>
            <a:off x="1490472" y="2852928"/>
            <a:ext cx="173736" cy="0"/>
          </a:xfrm>
          <a:prstGeom prst="line">
            <a:avLst/>
          </a:prstGeom>
          <a:ln w="2095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rent CXR split — vertical"/>
          <p:cNvCxnSpPr/>
          <p:nvPr/>
        </p:nvCxnSpPr>
        <p:spPr>
          <a:xfrm>
            <a:off x="1664208" y="1847088"/>
            <a:ext cx="0" cy="1975103"/>
          </a:xfrm>
          <a:prstGeom prst="line">
            <a:avLst/>
          </a:prstGeom>
          <a:ln w="2095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rent CXR to state encoder"/>
          <p:cNvCxnSpPr/>
          <p:nvPr/>
        </p:nvCxnSpPr>
        <p:spPr>
          <a:xfrm>
            <a:off x="1664208" y="1847088"/>
            <a:ext cx="210311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rent CXR to vision encoder"/>
          <p:cNvCxnSpPr/>
          <p:nvPr/>
        </p:nvCxnSpPr>
        <p:spPr>
          <a:xfrm>
            <a:off x="1664208" y="3822191"/>
            <a:ext cx="210311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ate encoder to current latent"/>
          <p:cNvCxnSpPr/>
          <p:nvPr/>
        </p:nvCxnSpPr>
        <p:spPr>
          <a:xfrm>
            <a:off x="3246120" y="1847088"/>
            <a:ext cx="429767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rent latent to predictor — segment 1"/>
          <p:cNvCxnSpPr/>
          <p:nvPr/>
        </p:nvCxnSpPr>
        <p:spPr>
          <a:xfrm>
            <a:off x="5093208" y="1847088"/>
            <a:ext cx="484632" cy="0"/>
          </a:xfrm>
          <a:prstGeom prst="line">
            <a:avLst/>
          </a:prstGeom>
          <a:ln w="2095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rent latent to predictor — segment 2"/>
          <p:cNvCxnSpPr/>
          <p:nvPr/>
        </p:nvCxnSpPr>
        <p:spPr>
          <a:xfrm>
            <a:off x="5577840" y="1847088"/>
            <a:ext cx="0" cy="1133856"/>
          </a:xfrm>
          <a:prstGeom prst="line">
            <a:avLst/>
          </a:prstGeom>
          <a:ln w="2095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rent latent to predictor — segment 3"/>
          <p:cNvCxnSpPr/>
          <p:nvPr/>
        </p:nvCxnSpPr>
        <p:spPr>
          <a:xfrm>
            <a:off x="5577840" y="2980944"/>
            <a:ext cx="1536192" cy="0"/>
          </a:xfrm>
          <a:prstGeom prst="line">
            <a:avLst/>
          </a:prstGeom>
          <a:ln w="2095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rent latent to predictor — segment 4"/>
          <p:cNvCxnSpPr/>
          <p:nvPr/>
        </p:nvCxnSpPr>
        <p:spPr>
          <a:xfrm>
            <a:off x="7114032" y="2980944"/>
            <a:ext cx="0" cy="265176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sion encoder to LoRA"/>
          <p:cNvCxnSpPr/>
          <p:nvPr/>
        </p:nvCxnSpPr>
        <p:spPr>
          <a:xfrm>
            <a:off x="3246120" y="3822191"/>
            <a:ext cx="283464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RA to transition queries"/>
          <p:cNvCxnSpPr/>
          <p:nvPr/>
        </p:nvCxnSpPr>
        <p:spPr>
          <a:xfrm>
            <a:off x="5020056" y="3822191"/>
            <a:ext cx="301752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Transition queries to predictor"/>
          <p:cNvCxnSpPr/>
          <p:nvPr/>
        </p:nvCxnSpPr>
        <p:spPr>
          <a:xfrm>
            <a:off x="6428232" y="3822191"/>
            <a:ext cx="292608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Predictor to predicted latent"/>
          <p:cNvCxnSpPr/>
          <p:nvPr/>
        </p:nvCxnSpPr>
        <p:spPr>
          <a:xfrm>
            <a:off x="8138160" y="3822191"/>
            <a:ext cx="292608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redicted latent to loss"/>
          <p:cNvCxnSpPr/>
          <p:nvPr/>
        </p:nvCxnSpPr>
        <p:spPr>
          <a:xfrm>
            <a:off x="9674352" y="3822191"/>
            <a:ext cx="411480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port bracket stem"/>
          <p:cNvCxnSpPr/>
          <p:nvPr/>
        </p:nvCxnSpPr>
        <p:spPr>
          <a:xfrm flipV="1">
            <a:off x="2697480" y="5138928"/>
            <a:ext cx="0" cy="164592"/>
          </a:xfrm>
          <a:prstGeom prst="line">
            <a:avLst/>
          </a:prstGeom>
          <a:ln w="1841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orecast bracket stem"/>
          <p:cNvCxnSpPr/>
          <p:nvPr/>
        </p:nvCxnSpPr>
        <p:spPr>
          <a:xfrm flipV="1">
            <a:off x="4105656" y="5138928"/>
            <a:ext cx="0" cy="164592"/>
          </a:xfrm>
          <a:prstGeom prst="line">
            <a:avLst/>
          </a:prstGeom>
          <a:ln w="1841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text bracket"/>
          <p:cNvCxnSpPr/>
          <p:nvPr/>
        </p:nvCxnSpPr>
        <p:spPr>
          <a:xfrm>
            <a:off x="2697480" y="5138928"/>
            <a:ext cx="1408176" cy="0"/>
          </a:xfrm>
          <a:prstGeom prst="line">
            <a:avLst/>
          </a:prstGeom>
          <a:ln w="1841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text to learned queries"/>
          <p:cNvCxnSpPr/>
          <p:nvPr/>
        </p:nvCxnSpPr>
        <p:spPr>
          <a:xfrm flipV="1">
            <a:off x="3968496" y="4974336"/>
            <a:ext cx="0" cy="164592"/>
          </a:xfrm>
          <a:prstGeom prst="line">
            <a:avLst/>
          </a:prstGeom>
          <a:ln w="1841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earned queries to LoRA — segment 1"/>
          <p:cNvCxnSpPr/>
          <p:nvPr/>
        </p:nvCxnSpPr>
        <p:spPr>
          <a:xfrm flipV="1">
            <a:off x="3968496" y="4425696"/>
            <a:ext cx="0" cy="237744"/>
          </a:xfrm>
          <a:prstGeom prst="line">
            <a:avLst/>
          </a:prstGeom>
          <a:ln w="19685">
            <a:solidFill>
              <a:srgbClr val="E765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uture CXR to target encoder"/>
          <p:cNvCxnSpPr/>
          <p:nvPr/>
        </p:nvCxnSpPr>
        <p:spPr>
          <a:xfrm>
            <a:off x="7168896" y="1719072"/>
            <a:ext cx="301752" cy="0"/>
          </a:xfrm>
          <a:prstGeom prst="line">
            <a:avLst/>
          </a:prstGeom>
          <a:ln w="19685">
            <a:solidFill>
              <a:srgbClr val="2E7D32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arget encoder to target latent"/>
          <p:cNvCxnSpPr/>
          <p:nvPr/>
        </p:nvCxnSpPr>
        <p:spPr>
          <a:xfrm>
            <a:off x="8887968" y="1719072"/>
            <a:ext cx="292608" cy="0"/>
          </a:xfrm>
          <a:prstGeom prst="line">
            <a:avLst/>
          </a:prstGeom>
          <a:ln w="19685">
            <a:solidFill>
              <a:srgbClr val="2E7D32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arget latent to loss — segment 1"/>
          <p:cNvCxnSpPr/>
          <p:nvPr/>
        </p:nvCxnSpPr>
        <p:spPr>
          <a:xfrm>
            <a:off x="10424160" y="1719072"/>
            <a:ext cx="566928" cy="0"/>
          </a:xfrm>
          <a:prstGeom prst="line">
            <a:avLst/>
          </a:prstGeom>
          <a:ln w="1968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arget latent to loss — segment 2"/>
          <p:cNvCxnSpPr/>
          <p:nvPr/>
        </p:nvCxnSpPr>
        <p:spPr>
          <a:xfrm>
            <a:off x="10991088" y="1719072"/>
            <a:ext cx="0" cy="1527048"/>
          </a:xfrm>
          <a:prstGeom prst="line">
            <a:avLst/>
          </a:prstGeom>
          <a:ln w="19685">
            <a:solidFill>
              <a:srgbClr val="2E7D32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rrent CXR crop — label"/>
          <p:cNvSpPr txBox="1"/>
          <p:nvPr/>
        </p:nvSpPr>
        <p:spPr>
          <a:xfrm>
            <a:off x="521208" y="1975104"/>
            <a:ext cx="1060704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rial"/>
              </a:rPr>
              <a:t>Current CXR</a:t>
            </a:r>
          </a:p>
        </p:txBody>
      </p:sp>
      <p:sp>
        <p:nvSpPr>
          <p:cNvPr id="31" name="Current CXR crop — frame"/>
          <p:cNvSpPr/>
          <p:nvPr/>
        </p:nvSpPr>
        <p:spPr>
          <a:xfrm>
            <a:off x="589788" y="2263140"/>
            <a:ext cx="923544" cy="1143000"/>
          </a:xfrm>
          <a:prstGeom prst="roundRect">
            <a:avLst/>
          </a:prstGeom>
          <a:solidFill>
            <a:srgbClr val="172033"/>
          </a:solidFill>
          <a:ln w="10160">
            <a:solidFill>
              <a:srgbClr val="172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Current CXR cro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86000"/>
            <a:ext cx="877824" cy="1097280"/>
          </a:xfrm>
          <a:prstGeom prst="rect">
            <a:avLst/>
          </a:prstGeom>
        </p:spPr>
      </p:pic>
      <p:sp>
        <p:nvSpPr>
          <p:cNvPr id="33" name="Future CXR crop — label"/>
          <p:cNvSpPr txBox="1"/>
          <p:nvPr/>
        </p:nvSpPr>
        <p:spPr>
          <a:xfrm>
            <a:off x="6291072" y="960119"/>
            <a:ext cx="969264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32"/>
                </a:solidFill>
                <a:latin typeface="Arial"/>
              </a:rPr>
              <a:t>Future CXR</a:t>
            </a:r>
          </a:p>
        </p:txBody>
      </p:sp>
      <p:sp>
        <p:nvSpPr>
          <p:cNvPr id="34" name="Future CXR crop — frame"/>
          <p:cNvSpPr/>
          <p:nvPr/>
        </p:nvSpPr>
        <p:spPr>
          <a:xfrm>
            <a:off x="6359652" y="1248156"/>
            <a:ext cx="832104" cy="941832"/>
          </a:xfrm>
          <a:prstGeom prst="roundRect">
            <a:avLst/>
          </a:prstGeom>
          <a:solidFill>
            <a:srgbClr val="172033"/>
          </a:solidFill>
          <a:ln w="10160">
            <a:solidFill>
              <a:srgbClr val="172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Future CXR cro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71016"/>
            <a:ext cx="786384" cy="896112"/>
          </a:xfrm>
          <a:prstGeom prst="rect">
            <a:avLst/>
          </a:prstGeom>
        </p:spPr>
      </p:pic>
      <p:sp>
        <p:nvSpPr>
          <p:cNvPr id="36" name="State path label"/>
          <p:cNvSpPr txBox="1"/>
          <p:nvPr/>
        </p:nvSpPr>
        <p:spPr>
          <a:xfrm>
            <a:off x="1865376" y="122529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D5F93"/>
                </a:solidFill>
                <a:latin typeface="Arial"/>
              </a:rPr>
              <a:t>STATE PATH</a:t>
            </a:r>
          </a:p>
        </p:txBody>
      </p:sp>
      <p:sp>
        <p:nvSpPr>
          <p:cNvPr id="37" name="Frozen V-JEPA2 encoder"/>
          <p:cNvSpPr/>
          <p:nvPr/>
        </p:nvSpPr>
        <p:spPr>
          <a:xfrm>
            <a:off x="1874519" y="1435608"/>
            <a:ext cx="1371600" cy="822960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ozen V-JEPA2 encoder — status"/>
          <p:cNvSpPr/>
          <p:nvPr/>
        </p:nvSpPr>
        <p:spPr>
          <a:xfrm>
            <a:off x="1984248" y="1536192"/>
            <a:ext cx="621792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ozen V-JEPA2 encoder — status — label"/>
          <p:cNvSpPr txBox="1"/>
          <p:nvPr/>
        </p:nvSpPr>
        <p:spPr>
          <a:xfrm>
            <a:off x="1984248" y="1540764"/>
            <a:ext cx="621792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Arial"/>
              </a:rPr>
              <a:t>FROZEN</a:t>
            </a:r>
          </a:p>
        </p:txBody>
      </p:sp>
      <p:sp>
        <p:nvSpPr>
          <p:cNvPr id="40" name="Frozen V-JEPA2 encoder — title"/>
          <p:cNvSpPr txBox="1"/>
          <p:nvPr/>
        </p:nvSpPr>
        <p:spPr>
          <a:xfrm>
            <a:off x="1965960" y="1819656"/>
            <a:ext cx="1188720" cy="37490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rial"/>
              </a:rPr>
              <a:t>V-JEPA2
encoder</a:t>
            </a:r>
          </a:p>
        </p:txBody>
      </p:sp>
      <p:sp>
        <p:nvSpPr>
          <p:cNvPr id="41" name="Current latent label"/>
          <p:cNvSpPr txBox="1"/>
          <p:nvPr/>
        </p:nvSpPr>
        <p:spPr>
          <a:xfrm>
            <a:off x="3675887" y="1426464"/>
            <a:ext cx="1417320" cy="2468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D5F93"/>
                </a:solidFill>
                <a:latin typeface="Arial"/>
              </a:rPr>
              <a:t>current latent  Sₜ</a:t>
            </a:r>
          </a:p>
        </p:txBody>
      </p:sp>
      <p:sp>
        <p:nvSpPr>
          <p:cNvPr id="42" name="Current latent tokens"/>
          <p:cNvSpPr/>
          <p:nvPr/>
        </p:nvSpPr>
        <p:spPr>
          <a:xfrm>
            <a:off x="3675887" y="1691640"/>
            <a:ext cx="1417320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rrent latent tokens — token 1"/>
          <p:cNvSpPr/>
          <p:nvPr/>
        </p:nvSpPr>
        <p:spPr>
          <a:xfrm>
            <a:off x="3785615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rrent latent tokens — token 2"/>
          <p:cNvSpPr/>
          <p:nvPr/>
        </p:nvSpPr>
        <p:spPr>
          <a:xfrm>
            <a:off x="396849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rrent latent tokens — token 3"/>
          <p:cNvSpPr/>
          <p:nvPr/>
        </p:nvSpPr>
        <p:spPr>
          <a:xfrm>
            <a:off x="415137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rrent latent tokens — token 4"/>
          <p:cNvSpPr/>
          <p:nvPr/>
        </p:nvSpPr>
        <p:spPr>
          <a:xfrm>
            <a:off x="433425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rrent latent tokens — token 5"/>
          <p:cNvSpPr/>
          <p:nvPr/>
        </p:nvSpPr>
        <p:spPr>
          <a:xfrm>
            <a:off x="451713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rrent latent tokens — ellipsis"/>
          <p:cNvSpPr txBox="1"/>
          <p:nvPr/>
        </p:nvSpPr>
        <p:spPr>
          <a:xfrm>
            <a:off x="4782312" y="1741932"/>
            <a:ext cx="219456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5F93"/>
                </a:solidFill>
                <a:latin typeface="Arial"/>
              </a:rPr>
              <a:t>···</a:t>
            </a:r>
          </a:p>
        </p:txBody>
      </p:sp>
      <p:sp>
        <p:nvSpPr>
          <p:cNvPr id="49" name="Clinical query path label"/>
          <p:cNvSpPr txBox="1"/>
          <p:nvPr/>
        </p:nvSpPr>
        <p:spPr>
          <a:xfrm>
            <a:off x="1865376" y="31821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76516"/>
                </a:solidFill>
                <a:latin typeface="Arial"/>
              </a:rPr>
              <a:t>CLINICAL QUERY PATH</a:t>
            </a:r>
          </a:p>
        </p:txBody>
      </p:sp>
      <p:sp>
        <p:nvSpPr>
          <p:cNvPr id="50" name="Frozen Qwen vision"/>
          <p:cNvSpPr/>
          <p:nvPr/>
        </p:nvSpPr>
        <p:spPr>
          <a:xfrm>
            <a:off x="1874519" y="3410712"/>
            <a:ext cx="1371600" cy="822960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ozen Qwen vision — status"/>
          <p:cNvSpPr/>
          <p:nvPr/>
        </p:nvSpPr>
        <p:spPr>
          <a:xfrm>
            <a:off x="1984248" y="3511296"/>
            <a:ext cx="621792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ozen Qwen vision — status — label"/>
          <p:cNvSpPr txBox="1"/>
          <p:nvPr/>
        </p:nvSpPr>
        <p:spPr>
          <a:xfrm>
            <a:off x="1984248" y="3515868"/>
            <a:ext cx="621792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Arial"/>
              </a:rPr>
              <a:t>FROZEN</a:t>
            </a:r>
          </a:p>
        </p:txBody>
      </p:sp>
      <p:sp>
        <p:nvSpPr>
          <p:cNvPr id="53" name="Frozen Qwen vision — title"/>
          <p:cNvSpPr txBox="1"/>
          <p:nvPr/>
        </p:nvSpPr>
        <p:spPr>
          <a:xfrm>
            <a:off x="1965960" y="3794760"/>
            <a:ext cx="1188720" cy="37490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rial"/>
              </a:rPr>
              <a:t>Qwen vision</a:t>
            </a:r>
          </a:p>
        </p:txBody>
      </p:sp>
      <p:sp>
        <p:nvSpPr>
          <p:cNvPr id="54" name="Trainable Qwen LoRA"/>
          <p:cNvSpPr/>
          <p:nvPr/>
        </p:nvSpPr>
        <p:spPr>
          <a:xfrm>
            <a:off x="3529584" y="3218688"/>
            <a:ext cx="1490472" cy="1207008"/>
          </a:xfrm>
          <a:prstGeom prst="roundRect">
            <a:avLst/>
          </a:prstGeom>
          <a:solidFill>
            <a:srgbClr val="FFF3E8"/>
          </a:solidFill>
          <a:ln w="1778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rainable Qwen LoRA — status"/>
          <p:cNvSpPr/>
          <p:nvPr/>
        </p:nvSpPr>
        <p:spPr>
          <a:xfrm>
            <a:off x="3639312" y="3319272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FFD8BC"/>
          </a:solidFill>
          <a:ln w="6350">
            <a:solidFill>
              <a:srgbClr val="FFD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rainable Qwen LoRA — status — label"/>
          <p:cNvSpPr txBox="1"/>
          <p:nvPr/>
        </p:nvSpPr>
        <p:spPr>
          <a:xfrm>
            <a:off x="3639312" y="3323844"/>
            <a:ext cx="793699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76516"/>
                </a:solidFill>
                <a:latin typeface="Arial"/>
              </a:rPr>
              <a:t>TRAINABLE</a:t>
            </a:r>
          </a:p>
        </p:txBody>
      </p:sp>
      <p:sp>
        <p:nvSpPr>
          <p:cNvPr id="57" name="Trainable Qwen LoRA — title"/>
          <p:cNvSpPr txBox="1"/>
          <p:nvPr/>
        </p:nvSpPr>
        <p:spPr>
          <a:xfrm>
            <a:off x="3621024" y="3602736"/>
            <a:ext cx="1307592" cy="60350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rial"/>
              </a:rPr>
              <a:t>Qwen LoRA</a:t>
            </a:r>
          </a:p>
        </p:txBody>
      </p:sp>
      <p:sp>
        <p:nvSpPr>
          <p:cNvPr id="58" name="Trainable Qwen LoRA — subtitle"/>
          <p:cNvSpPr txBox="1"/>
          <p:nvPr/>
        </p:nvSpPr>
        <p:spPr>
          <a:xfrm>
            <a:off x="3621024" y="4178808"/>
            <a:ext cx="1307592" cy="1737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+ 24 learned query tokens</a:t>
            </a:r>
          </a:p>
        </p:txBody>
      </p:sp>
      <p:sp>
        <p:nvSpPr>
          <p:cNvPr id="59" name="Transition queries label"/>
          <p:cNvSpPr txBox="1"/>
          <p:nvPr/>
        </p:nvSpPr>
        <p:spPr>
          <a:xfrm>
            <a:off x="5285232" y="3328416"/>
            <a:ext cx="1188720" cy="2834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76516"/>
                </a:solidFill>
                <a:latin typeface="Arial"/>
              </a:rPr>
              <a:t>transition queries  qₜ</a:t>
            </a:r>
          </a:p>
        </p:txBody>
      </p:sp>
      <p:sp>
        <p:nvSpPr>
          <p:cNvPr id="60" name="Transition query tokens"/>
          <p:cNvSpPr/>
          <p:nvPr/>
        </p:nvSpPr>
        <p:spPr>
          <a:xfrm>
            <a:off x="5321808" y="3666744"/>
            <a:ext cx="1106424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ransition query tokens — token 1"/>
          <p:cNvSpPr/>
          <p:nvPr/>
        </p:nvSpPr>
        <p:spPr>
          <a:xfrm>
            <a:off x="543153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ransition query tokens — token 2"/>
          <p:cNvSpPr/>
          <p:nvPr/>
        </p:nvSpPr>
        <p:spPr>
          <a:xfrm>
            <a:off x="561441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ransition query tokens — token 3"/>
          <p:cNvSpPr/>
          <p:nvPr/>
        </p:nvSpPr>
        <p:spPr>
          <a:xfrm>
            <a:off x="579729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ransition query tokens — token 4"/>
          <p:cNvSpPr/>
          <p:nvPr/>
        </p:nvSpPr>
        <p:spPr>
          <a:xfrm>
            <a:off x="598017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ransition query tokens — ellipsis"/>
          <p:cNvSpPr txBox="1"/>
          <p:nvPr/>
        </p:nvSpPr>
        <p:spPr>
          <a:xfrm>
            <a:off x="6117336" y="3717035"/>
            <a:ext cx="219456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Arial"/>
              </a:rPr>
              <a:t>···</a:t>
            </a:r>
          </a:p>
        </p:txBody>
      </p:sp>
      <p:sp>
        <p:nvSpPr>
          <p:cNvPr id="66" name="Trainable VLA-JEPA predictor"/>
          <p:cNvSpPr/>
          <p:nvPr/>
        </p:nvSpPr>
        <p:spPr>
          <a:xfrm>
            <a:off x="6720840" y="3246120"/>
            <a:ext cx="1417320" cy="1152144"/>
          </a:xfrm>
          <a:prstGeom prst="roundRect">
            <a:avLst/>
          </a:prstGeom>
          <a:solidFill>
            <a:srgbClr val="FFF3E8"/>
          </a:solidFill>
          <a:ln w="1778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rainable VLA-JEPA predictor — status"/>
          <p:cNvSpPr/>
          <p:nvPr/>
        </p:nvSpPr>
        <p:spPr>
          <a:xfrm>
            <a:off x="6830568" y="3346703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FFD8BC"/>
          </a:solidFill>
          <a:ln w="6350">
            <a:solidFill>
              <a:srgbClr val="FFD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ainable VLA-JEPA predictor — status — label"/>
          <p:cNvSpPr txBox="1"/>
          <p:nvPr/>
        </p:nvSpPr>
        <p:spPr>
          <a:xfrm>
            <a:off x="6830568" y="3351275"/>
            <a:ext cx="793699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76516"/>
                </a:solidFill>
                <a:latin typeface="Arial"/>
              </a:rPr>
              <a:t>TRAINABLE</a:t>
            </a:r>
          </a:p>
        </p:txBody>
      </p:sp>
      <p:sp>
        <p:nvSpPr>
          <p:cNvPr id="69" name="Trainable VLA-JEPA predictor — title"/>
          <p:cNvSpPr txBox="1"/>
          <p:nvPr/>
        </p:nvSpPr>
        <p:spPr>
          <a:xfrm>
            <a:off x="6812279" y="3630168"/>
            <a:ext cx="1234440" cy="7040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rial"/>
              </a:rPr>
              <a:t>VLA-JEPA
predictor</a:t>
            </a:r>
          </a:p>
        </p:txBody>
      </p:sp>
      <p:sp>
        <p:nvSpPr>
          <p:cNvPr id="70" name="Predicted future latent label"/>
          <p:cNvSpPr txBox="1"/>
          <p:nvPr/>
        </p:nvSpPr>
        <p:spPr>
          <a:xfrm>
            <a:off x="8366760" y="3328416"/>
            <a:ext cx="1371600" cy="2834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76516"/>
                </a:solidFill>
                <a:latin typeface="Arial"/>
              </a:rPr>
              <a:t>predicted future latent  Ŝₜ₊ₕ</a:t>
            </a:r>
          </a:p>
        </p:txBody>
      </p:sp>
      <p:sp>
        <p:nvSpPr>
          <p:cNvPr id="71" name="Predicted future latent tokens"/>
          <p:cNvSpPr/>
          <p:nvPr/>
        </p:nvSpPr>
        <p:spPr>
          <a:xfrm>
            <a:off x="8430768" y="3666744"/>
            <a:ext cx="1243584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redicted future latent tokens — token 1"/>
          <p:cNvSpPr/>
          <p:nvPr/>
        </p:nvSpPr>
        <p:spPr>
          <a:xfrm>
            <a:off x="854049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edicted future latent tokens — token 2"/>
          <p:cNvSpPr/>
          <p:nvPr/>
        </p:nvSpPr>
        <p:spPr>
          <a:xfrm>
            <a:off x="872337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redicted future latent tokens — token 3"/>
          <p:cNvSpPr/>
          <p:nvPr/>
        </p:nvSpPr>
        <p:spPr>
          <a:xfrm>
            <a:off x="890625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redicted future latent tokens — token 4"/>
          <p:cNvSpPr/>
          <p:nvPr/>
        </p:nvSpPr>
        <p:spPr>
          <a:xfrm>
            <a:off x="908913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redicted future latent tokens — ellipsis"/>
          <p:cNvSpPr txBox="1"/>
          <p:nvPr/>
        </p:nvSpPr>
        <p:spPr>
          <a:xfrm>
            <a:off x="9363456" y="3717035"/>
            <a:ext cx="219456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Arial"/>
              </a:rPr>
              <a:t>···</a:t>
            </a:r>
          </a:p>
        </p:txBody>
      </p:sp>
      <p:sp>
        <p:nvSpPr>
          <p:cNvPr id="77" name="Shared frozen V-JEPA2 target encoder"/>
          <p:cNvSpPr/>
          <p:nvPr/>
        </p:nvSpPr>
        <p:spPr>
          <a:xfrm>
            <a:off x="7470648" y="1280160"/>
            <a:ext cx="1417320" cy="877824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hared frozen V-JEPA2 target encoder — status"/>
          <p:cNvSpPr/>
          <p:nvPr/>
        </p:nvSpPr>
        <p:spPr>
          <a:xfrm>
            <a:off x="7580375" y="1380744"/>
            <a:ext cx="1057046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hared frozen V-JEPA2 target encoder — status — label"/>
          <p:cNvSpPr txBox="1"/>
          <p:nvPr/>
        </p:nvSpPr>
        <p:spPr>
          <a:xfrm>
            <a:off x="7580375" y="1385316"/>
            <a:ext cx="1057046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Arial"/>
              </a:rPr>
              <a:t>FROZEN · SAME</a:t>
            </a:r>
          </a:p>
        </p:txBody>
      </p:sp>
      <p:sp>
        <p:nvSpPr>
          <p:cNvPr id="80" name="Shared frozen V-JEPA2 target encoder — title"/>
          <p:cNvSpPr txBox="1"/>
          <p:nvPr/>
        </p:nvSpPr>
        <p:spPr>
          <a:xfrm>
            <a:off x="7562088" y="1664207"/>
            <a:ext cx="1234440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rial"/>
              </a:rPr>
              <a:t>V-JEPA2
encoder</a:t>
            </a:r>
          </a:p>
        </p:txBody>
      </p:sp>
      <p:sp>
        <p:nvSpPr>
          <p:cNvPr id="81" name="Target future latent label"/>
          <p:cNvSpPr txBox="1"/>
          <p:nvPr/>
        </p:nvSpPr>
        <p:spPr>
          <a:xfrm>
            <a:off x="9144000" y="1243584"/>
            <a:ext cx="1325880" cy="2834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E7D32"/>
                </a:solidFill>
                <a:latin typeface="Arial"/>
              </a:rPr>
              <a:t>target future latent  Sₜ₊ₕ</a:t>
            </a:r>
          </a:p>
        </p:txBody>
      </p:sp>
      <p:sp>
        <p:nvSpPr>
          <p:cNvPr id="82" name="Target future latent tokens"/>
          <p:cNvSpPr/>
          <p:nvPr/>
        </p:nvSpPr>
        <p:spPr>
          <a:xfrm>
            <a:off x="9180576" y="1563624"/>
            <a:ext cx="1243584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arget future latent tokens — token 1"/>
          <p:cNvSpPr/>
          <p:nvPr/>
        </p:nvSpPr>
        <p:spPr>
          <a:xfrm>
            <a:off x="9290303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arget future latent tokens — token 2"/>
          <p:cNvSpPr/>
          <p:nvPr/>
        </p:nvSpPr>
        <p:spPr>
          <a:xfrm>
            <a:off x="9473183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arget future latent tokens — token 3"/>
          <p:cNvSpPr/>
          <p:nvPr/>
        </p:nvSpPr>
        <p:spPr>
          <a:xfrm>
            <a:off x="9656063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arget future latent tokens — token 4"/>
          <p:cNvSpPr/>
          <p:nvPr/>
        </p:nvSpPr>
        <p:spPr>
          <a:xfrm>
            <a:off x="9838943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arget future latent tokens — ellipsis"/>
          <p:cNvSpPr txBox="1"/>
          <p:nvPr/>
        </p:nvSpPr>
        <p:spPr>
          <a:xfrm>
            <a:off x="10113263" y="1613916"/>
            <a:ext cx="219456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···</a:t>
            </a:r>
          </a:p>
        </p:txBody>
      </p:sp>
      <p:sp>
        <p:nvSpPr>
          <p:cNvPr id="88" name="L1 latent-alignment loss"/>
          <p:cNvSpPr/>
          <p:nvPr/>
        </p:nvSpPr>
        <p:spPr>
          <a:xfrm>
            <a:off x="10085832" y="3246120"/>
            <a:ext cx="1408176" cy="1152144"/>
          </a:xfrm>
          <a:prstGeom prst="roundRect">
            <a:avLst/>
          </a:prstGeom>
          <a:solidFill>
            <a:srgbClr val="EEF8EB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1 latent-alignment loss — status"/>
          <p:cNvSpPr/>
          <p:nvPr/>
        </p:nvSpPr>
        <p:spPr>
          <a:xfrm>
            <a:off x="10195559" y="3346703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D7ECD2"/>
          </a:solidFill>
          <a:ln w="6350">
            <a:solidFill>
              <a:srgbClr val="D7E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1 latent-alignment loss — status — label"/>
          <p:cNvSpPr txBox="1"/>
          <p:nvPr/>
        </p:nvSpPr>
        <p:spPr>
          <a:xfrm>
            <a:off x="10195559" y="3351275"/>
            <a:ext cx="793699" cy="2148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Arial"/>
              </a:rPr>
              <a:t>OBJECTIVE</a:t>
            </a:r>
          </a:p>
        </p:txBody>
      </p:sp>
      <p:sp>
        <p:nvSpPr>
          <p:cNvPr id="91" name="L1 latent-alignment loss — title"/>
          <p:cNvSpPr txBox="1"/>
          <p:nvPr/>
        </p:nvSpPr>
        <p:spPr>
          <a:xfrm>
            <a:off x="10177272" y="3630168"/>
            <a:ext cx="1225296" cy="7040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033"/>
                </a:solidFill>
                <a:latin typeface="Arial"/>
              </a:rPr>
              <a:t>L₁ loss
latent alignment</a:t>
            </a:r>
          </a:p>
        </p:txBody>
      </p:sp>
      <p:sp>
        <p:nvSpPr>
          <p:cNvPr id="92" name="Current report card"/>
          <p:cNvSpPr/>
          <p:nvPr/>
        </p:nvSpPr>
        <p:spPr>
          <a:xfrm>
            <a:off x="2121408" y="5303520"/>
            <a:ext cx="1152144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urrent report card — icon tile"/>
          <p:cNvSpPr/>
          <p:nvPr/>
        </p:nvSpPr>
        <p:spPr>
          <a:xfrm>
            <a:off x="2231136" y="5449824"/>
            <a:ext cx="310896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urrent report card — icon"/>
          <p:cNvSpPr txBox="1"/>
          <p:nvPr/>
        </p:nvSpPr>
        <p:spPr>
          <a:xfrm>
            <a:off x="2231136" y="5449824"/>
            <a:ext cx="310896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5F93"/>
                </a:solidFill>
                <a:latin typeface="Arial"/>
              </a:rPr>
              <a:t>≡</a:t>
            </a:r>
          </a:p>
        </p:txBody>
      </p:sp>
      <p:sp>
        <p:nvSpPr>
          <p:cNvPr id="95" name="Current report card — title"/>
          <p:cNvSpPr txBox="1"/>
          <p:nvPr/>
        </p:nvSpPr>
        <p:spPr>
          <a:xfrm>
            <a:off x="2615184" y="5394959"/>
            <a:ext cx="585216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rial"/>
              </a:rPr>
              <a:t>Current
Report</a:t>
            </a:r>
          </a:p>
        </p:txBody>
      </p:sp>
      <p:sp>
        <p:nvSpPr>
          <p:cNvPr id="96" name="Coarse forecast horizon card"/>
          <p:cNvSpPr/>
          <p:nvPr/>
        </p:nvSpPr>
        <p:spPr>
          <a:xfrm>
            <a:off x="3401568" y="5303520"/>
            <a:ext cx="1408176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oarse forecast horizon card — icon tile"/>
          <p:cNvSpPr/>
          <p:nvPr/>
        </p:nvSpPr>
        <p:spPr>
          <a:xfrm>
            <a:off x="3511296" y="5449824"/>
            <a:ext cx="310896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D5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oarse forecast horizon card — icon"/>
          <p:cNvSpPr txBox="1"/>
          <p:nvPr/>
        </p:nvSpPr>
        <p:spPr>
          <a:xfrm>
            <a:off x="3511296" y="5449824"/>
            <a:ext cx="310896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5F93"/>
                </a:solidFill>
                <a:latin typeface="Arial"/>
              </a:rPr>
              <a:t>▦</a:t>
            </a:r>
          </a:p>
        </p:txBody>
      </p:sp>
      <p:sp>
        <p:nvSpPr>
          <p:cNvPr id="99" name="Coarse forecast horizon card — title"/>
          <p:cNvSpPr txBox="1"/>
          <p:nvPr/>
        </p:nvSpPr>
        <p:spPr>
          <a:xfrm>
            <a:off x="3895344" y="5394959"/>
            <a:ext cx="841248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rial"/>
              </a:rPr>
              <a:t>Coarse Forecast
Horizon</a:t>
            </a:r>
          </a:p>
        </p:txBody>
      </p:sp>
      <p:sp>
        <p:nvSpPr>
          <p:cNvPr id="100" name="Learned query tokens label"/>
          <p:cNvSpPr txBox="1"/>
          <p:nvPr/>
        </p:nvSpPr>
        <p:spPr>
          <a:xfrm>
            <a:off x="3529584" y="4443984"/>
            <a:ext cx="1335024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76516"/>
                </a:solidFill>
                <a:latin typeface="Arial"/>
              </a:rPr>
              <a:t>learned query tokens</a:t>
            </a:r>
          </a:p>
        </p:txBody>
      </p:sp>
      <p:sp>
        <p:nvSpPr>
          <p:cNvPr id="101" name="Learned query tokens"/>
          <p:cNvSpPr/>
          <p:nvPr/>
        </p:nvSpPr>
        <p:spPr>
          <a:xfrm>
            <a:off x="3328416" y="4663440"/>
            <a:ext cx="1280160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earned query tokens — token 1"/>
          <p:cNvSpPr/>
          <p:nvPr/>
        </p:nvSpPr>
        <p:spPr>
          <a:xfrm>
            <a:off x="3438144" y="4759452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Learned query tokens — token 2"/>
          <p:cNvSpPr/>
          <p:nvPr/>
        </p:nvSpPr>
        <p:spPr>
          <a:xfrm>
            <a:off x="3621024" y="4759452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earned query tokens — token 3"/>
          <p:cNvSpPr/>
          <p:nvPr/>
        </p:nvSpPr>
        <p:spPr>
          <a:xfrm>
            <a:off x="3803904" y="4759452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earned query tokens — token 4"/>
          <p:cNvSpPr/>
          <p:nvPr/>
        </p:nvSpPr>
        <p:spPr>
          <a:xfrm>
            <a:off x="3986784" y="4759452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earned query tokens — token 5"/>
          <p:cNvSpPr/>
          <p:nvPr/>
        </p:nvSpPr>
        <p:spPr>
          <a:xfrm>
            <a:off x="4169664" y="4759452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earned query tokens — ellipsis"/>
          <p:cNvSpPr txBox="1"/>
          <p:nvPr/>
        </p:nvSpPr>
        <p:spPr>
          <a:xfrm>
            <a:off x="4297680" y="4713731"/>
            <a:ext cx="219456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Arial"/>
              </a:rPr>
              <a:t>···</a:t>
            </a:r>
          </a:p>
        </p:txBody>
      </p:sp>
      <p:sp>
        <p:nvSpPr>
          <p:cNvPr id="108" name="Training objective annotation"/>
          <p:cNvSpPr txBox="1"/>
          <p:nvPr/>
        </p:nvSpPr>
        <p:spPr>
          <a:xfrm>
            <a:off x="8275320" y="4809744"/>
            <a:ext cx="3200400" cy="42062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7D32"/>
                </a:solidFill>
                <a:latin typeface="Arial"/>
              </a:rPr>
              <a:t>Match the predicted future state to the frozen target encoding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