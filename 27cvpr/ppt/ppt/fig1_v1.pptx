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Panel divider"/>
          <p:cNvCxnSpPr/>
          <p:nvPr/>
        </p:nvCxnSpPr>
        <p:spPr>
          <a:xfrm>
            <a:off x="9242226" y="187523"/>
            <a:ext cx="0" cy="3929062"/>
          </a:xfrm>
          <a:prstGeom prst="line">
            <a:avLst/>
          </a:prstGeom>
          <a:ln w="11430">
            <a:solidFill>
              <a:srgbClr val="C8C8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udies to tokenizers"/>
          <p:cNvCxnSpPr/>
          <p:nvPr/>
        </p:nvCxnSpPr>
        <p:spPr>
          <a:xfrm>
            <a:off x="2607468" y="1437679"/>
            <a:ext cx="392907" cy="0"/>
          </a:xfrm>
          <a:prstGeom prst="line">
            <a:avLst/>
          </a:prstGeom>
          <a:ln w="17145">
            <a:solidFill>
              <a:srgbClr val="35353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Tokenizers to online JEPA"/>
          <p:cNvCxnSpPr/>
          <p:nvPr/>
        </p:nvCxnSpPr>
        <p:spPr>
          <a:xfrm>
            <a:off x="4054078" y="1437679"/>
            <a:ext cx="330398" cy="0"/>
          </a:xfrm>
          <a:prstGeom prst="line">
            <a:avLst/>
          </a:prstGeom>
          <a:ln w="17145">
            <a:solidFill>
              <a:srgbClr val="35353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JEPA to dense 1"/>
          <p:cNvCxnSpPr/>
          <p:nvPr/>
        </p:nvCxnSpPr>
        <p:spPr>
          <a:xfrm>
            <a:off x="6125765" y="1526976"/>
            <a:ext cx="178594" cy="0"/>
          </a:xfrm>
          <a:prstGeom prst="line">
            <a:avLst/>
          </a:prstGeom>
          <a:ln w="1714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JEPA to dense 2"/>
          <p:cNvCxnSpPr/>
          <p:nvPr/>
        </p:nvCxnSpPr>
        <p:spPr>
          <a:xfrm flipV="1">
            <a:off x="6304359" y="964406"/>
            <a:ext cx="0" cy="562570"/>
          </a:xfrm>
          <a:prstGeom prst="line">
            <a:avLst/>
          </a:prstGeom>
          <a:ln w="1714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JEPA to dense 3"/>
          <p:cNvCxnSpPr/>
          <p:nvPr/>
        </p:nvCxnSpPr>
        <p:spPr>
          <a:xfrm>
            <a:off x="6304359" y="964406"/>
            <a:ext cx="312539" cy="0"/>
          </a:xfrm>
          <a:prstGeom prst="line">
            <a:avLst/>
          </a:prstGeom>
          <a:ln w="17145">
            <a:solidFill>
              <a:srgbClr val="174A9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JEPA to anatomy"/>
          <p:cNvCxnSpPr/>
          <p:nvPr/>
        </p:nvCxnSpPr>
        <p:spPr>
          <a:xfrm>
            <a:off x="6125765" y="1526976"/>
            <a:ext cx="491133" cy="0"/>
          </a:xfrm>
          <a:prstGeom prst="line">
            <a:avLst/>
          </a:prstGeom>
          <a:ln w="17145">
            <a:solidFill>
              <a:srgbClr val="174A9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JEPA to global 1"/>
          <p:cNvCxnSpPr/>
          <p:nvPr/>
        </p:nvCxnSpPr>
        <p:spPr>
          <a:xfrm>
            <a:off x="6125765" y="1526976"/>
            <a:ext cx="178594" cy="0"/>
          </a:xfrm>
          <a:prstGeom prst="line">
            <a:avLst/>
          </a:prstGeom>
          <a:ln w="1714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JEPA to global 2"/>
          <p:cNvCxnSpPr/>
          <p:nvPr/>
        </p:nvCxnSpPr>
        <p:spPr>
          <a:xfrm>
            <a:off x="6304359" y="1526976"/>
            <a:ext cx="0" cy="723305"/>
          </a:xfrm>
          <a:prstGeom prst="line">
            <a:avLst/>
          </a:prstGeom>
          <a:ln w="1714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JEPA to global 3"/>
          <p:cNvCxnSpPr/>
          <p:nvPr/>
        </p:nvCxnSpPr>
        <p:spPr>
          <a:xfrm>
            <a:off x="6304359" y="2250281"/>
            <a:ext cx="241101" cy="0"/>
          </a:xfrm>
          <a:prstGeom prst="line">
            <a:avLst/>
          </a:prstGeom>
          <a:ln w="17145">
            <a:solidFill>
              <a:srgbClr val="174A9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JEPA to fusion"/>
          <p:cNvCxnSpPr/>
          <p:nvPr/>
        </p:nvCxnSpPr>
        <p:spPr>
          <a:xfrm>
            <a:off x="6045398" y="2294929"/>
            <a:ext cx="0" cy="598289"/>
          </a:xfrm>
          <a:prstGeom prst="line">
            <a:avLst/>
          </a:prstGeom>
          <a:ln w="17145">
            <a:solidFill>
              <a:srgbClr val="174A9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lobal state to fusion"/>
          <p:cNvCxnSpPr/>
          <p:nvPr/>
        </p:nvCxnSpPr>
        <p:spPr>
          <a:xfrm>
            <a:off x="7000875" y="2428875"/>
            <a:ext cx="0" cy="464343"/>
          </a:xfrm>
          <a:prstGeom prst="line">
            <a:avLst/>
          </a:prstGeom>
          <a:ln w="17145">
            <a:solidFill>
              <a:srgbClr val="174A9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port to text encoder 1"/>
          <p:cNvCxnSpPr/>
          <p:nvPr/>
        </p:nvCxnSpPr>
        <p:spPr>
          <a:xfrm>
            <a:off x="1777007" y="3036093"/>
            <a:ext cx="187524" cy="0"/>
          </a:xfrm>
          <a:prstGeom prst="line">
            <a:avLst/>
          </a:prstGeom>
          <a:ln w="18415">
            <a:solidFill>
              <a:srgbClr val="542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port to text encoder 2"/>
          <p:cNvCxnSpPr/>
          <p:nvPr/>
        </p:nvCxnSpPr>
        <p:spPr>
          <a:xfrm flipV="1">
            <a:off x="1964531" y="2750343"/>
            <a:ext cx="0" cy="285750"/>
          </a:xfrm>
          <a:prstGeom prst="line">
            <a:avLst/>
          </a:prstGeom>
          <a:ln w="18415">
            <a:solidFill>
              <a:srgbClr val="542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port to text encoder 3"/>
          <p:cNvCxnSpPr/>
          <p:nvPr/>
        </p:nvCxnSpPr>
        <p:spPr>
          <a:xfrm>
            <a:off x="1964531" y="2750343"/>
            <a:ext cx="258961" cy="0"/>
          </a:xfrm>
          <a:prstGeom prst="line">
            <a:avLst/>
          </a:prstGeom>
          <a:ln w="18415">
            <a:solidFill>
              <a:srgbClr val="5424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linical context to fusion 1"/>
          <p:cNvCxnSpPr/>
          <p:nvPr/>
        </p:nvCxnSpPr>
        <p:spPr>
          <a:xfrm>
            <a:off x="1777007" y="3036093"/>
            <a:ext cx="187524" cy="0"/>
          </a:xfrm>
          <a:prstGeom prst="line">
            <a:avLst/>
          </a:prstGeom>
          <a:ln w="18415">
            <a:solidFill>
              <a:srgbClr val="542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linical context to fusion 2"/>
          <p:cNvCxnSpPr/>
          <p:nvPr/>
        </p:nvCxnSpPr>
        <p:spPr>
          <a:xfrm>
            <a:off x="1964531" y="3036093"/>
            <a:ext cx="0" cy="330399"/>
          </a:xfrm>
          <a:prstGeom prst="line">
            <a:avLst/>
          </a:prstGeom>
          <a:ln w="18415">
            <a:solidFill>
              <a:srgbClr val="542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linical context to fusion 3"/>
          <p:cNvCxnSpPr/>
          <p:nvPr/>
        </p:nvCxnSpPr>
        <p:spPr>
          <a:xfrm>
            <a:off x="1964531" y="3366492"/>
            <a:ext cx="3446859" cy="0"/>
          </a:xfrm>
          <a:prstGeom prst="line">
            <a:avLst/>
          </a:prstGeom>
          <a:ln w="18415">
            <a:solidFill>
              <a:srgbClr val="5424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Text encoder to text tokens"/>
          <p:cNvCxnSpPr/>
          <p:nvPr/>
        </p:nvCxnSpPr>
        <p:spPr>
          <a:xfrm>
            <a:off x="3312914" y="2759273"/>
            <a:ext cx="500062" cy="0"/>
          </a:xfrm>
          <a:prstGeom prst="line">
            <a:avLst/>
          </a:prstGeom>
          <a:ln w="18415">
            <a:solidFill>
              <a:srgbClr val="5424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Text tokens to fusion 1"/>
          <p:cNvCxnSpPr/>
          <p:nvPr/>
        </p:nvCxnSpPr>
        <p:spPr>
          <a:xfrm>
            <a:off x="5018484" y="2786062"/>
            <a:ext cx="160734" cy="0"/>
          </a:xfrm>
          <a:prstGeom prst="line">
            <a:avLst/>
          </a:prstGeom>
          <a:ln w="18415">
            <a:solidFill>
              <a:srgbClr val="542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ext tokens to fusion 2"/>
          <p:cNvCxnSpPr/>
          <p:nvPr/>
        </p:nvCxnSpPr>
        <p:spPr>
          <a:xfrm>
            <a:off x="5179218" y="2786062"/>
            <a:ext cx="0" cy="303609"/>
          </a:xfrm>
          <a:prstGeom prst="line">
            <a:avLst/>
          </a:prstGeom>
          <a:ln w="18415">
            <a:solidFill>
              <a:srgbClr val="54248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ext tokens to fusion 3"/>
          <p:cNvCxnSpPr/>
          <p:nvPr/>
        </p:nvCxnSpPr>
        <p:spPr>
          <a:xfrm>
            <a:off x="5179218" y="3089671"/>
            <a:ext cx="232172" cy="0"/>
          </a:xfrm>
          <a:prstGeom prst="line">
            <a:avLst/>
          </a:prstGeom>
          <a:ln w="18415">
            <a:solidFill>
              <a:srgbClr val="5424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Fusion to multimodal tokens"/>
          <p:cNvCxnSpPr/>
          <p:nvPr/>
        </p:nvCxnSpPr>
        <p:spPr>
          <a:xfrm>
            <a:off x="7233046" y="3205757"/>
            <a:ext cx="357188" cy="0"/>
          </a:xfrm>
          <a:prstGeom prst="line">
            <a:avLst/>
          </a:prstGeom>
          <a:ln w="18415">
            <a:solidFill>
              <a:srgbClr val="5424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rent state to dynamics"/>
          <p:cNvCxnSpPr/>
          <p:nvPr/>
        </p:nvCxnSpPr>
        <p:spPr>
          <a:xfrm>
            <a:off x="9036843" y="3205757"/>
            <a:ext cx="375047" cy="0"/>
          </a:xfrm>
          <a:prstGeom prst="line">
            <a:avLst/>
          </a:prstGeom>
          <a:ln w="18415">
            <a:solidFill>
              <a:srgbClr val="5424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Horizon to dynamics"/>
          <p:cNvCxnSpPr/>
          <p:nvPr/>
        </p:nvCxnSpPr>
        <p:spPr>
          <a:xfrm>
            <a:off x="9876234" y="1214437"/>
            <a:ext cx="0" cy="419695"/>
          </a:xfrm>
          <a:prstGeom prst="line">
            <a:avLst/>
          </a:prstGeom>
          <a:ln w="17145">
            <a:solidFill>
              <a:srgbClr val="C943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Intervention to dynamics"/>
          <p:cNvCxnSpPr/>
          <p:nvPr/>
        </p:nvCxnSpPr>
        <p:spPr>
          <a:xfrm>
            <a:off x="10778132" y="1214437"/>
            <a:ext cx="0" cy="419695"/>
          </a:xfrm>
          <a:prstGeom prst="line">
            <a:avLst/>
          </a:prstGeom>
          <a:ln w="17145">
            <a:solidFill>
              <a:srgbClr val="C943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ynamics to transition"/>
          <p:cNvCxnSpPr/>
          <p:nvPr/>
        </p:nvCxnSpPr>
        <p:spPr>
          <a:xfrm>
            <a:off x="11215687" y="1830585"/>
            <a:ext cx="339328" cy="0"/>
          </a:xfrm>
          <a:prstGeom prst="line">
            <a:avLst/>
          </a:prstGeom>
          <a:ln w="17145">
            <a:solidFill>
              <a:srgbClr val="C943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ynamics to future distribution"/>
          <p:cNvCxnSpPr/>
          <p:nvPr/>
        </p:nvCxnSpPr>
        <p:spPr>
          <a:xfrm>
            <a:off x="11215687" y="2875359"/>
            <a:ext cx="339328" cy="0"/>
          </a:xfrm>
          <a:prstGeom prst="line">
            <a:avLst/>
          </a:prstGeom>
          <a:ln w="17145">
            <a:solidFill>
              <a:srgbClr val="C943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rrent studies card"/>
          <p:cNvSpPr/>
          <p:nvPr/>
        </p:nvSpPr>
        <p:spPr>
          <a:xfrm>
            <a:off x="160734" y="759023"/>
            <a:ext cx="2446734" cy="12501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urrent studies label"/>
          <p:cNvSpPr txBox="1"/>
          <p:nvPr/>
        </p:nvSpPr>
        <p:spPr>
          <a:xfrm>
            <a:off x="303609" y="875109"/>
            <a:ext cx="2160984" cy="25003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11111"/>
                </a:solidFill>
                <a:latin typeface="Arial"/>
              </a:rPr>
              <a:t>Current study · XR · CT · MRI</a:t>
            </a:r>
          </a:p>
        </p:txBody>
      </p:sp>
      <p:pic>
        <p:nvPicPr>
          <p:cNvPr id="32" name="Current X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60" y="1196578"/>
            <a:ext cx="589359" cy="660796"/>
          </a:xfrm>
          <a:prstGeom prst="rect">
            <a:avLst/>
          </a:prstGeom>
          <a:ln w="5715">
            <a:solidFill>
              <a:srgbClr val="E3E3E3"/>
            </a:solidFill>
          </a:ln>
          <a:effectLst/>
        </p:spPr>
      </p:pic>
      <p:pic>
        <p:nvPicPr>
          <p:cNvPr id="33" name="Current C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546" y="1196578"/>
            <a:ext cx="616148" cy="660796"/>
          </a:xfrm>
          <a:prstGeom prst="rect">
            <a:avLst/>
          </a:prstGeom>
          <a:ln w="5715">
            <a:solidFill>
              <a:srgbClr val="E3E3E3"/>
            </a:solidFill>
          </a:ln>
          <a:effectLst/>
        </p:spPr>
      </p:pic>
      <p:pic>
        <p:nvPicPr>
          <p:cNvPr id="34" name="Current MRI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062" y="1196578"/>
            <a:ext cx="616148" cy="660796"/>
          </a:xfrm>
          <a:prstGeom prst="rect">
            <a:avLst/>
          </a:prstGeom>
          <a:ln w="5715">
            <a:solidFill>
              <a:srgbClr val="E3E3E3"/>
            </a:solidFill>
          </a:ln>
          <a:effectLst/>
        </p:spPr>
      </p:pic>
      <p:sp>
        <p:nvSpPr>
          <p:cNvPr id="35" name="Current studies ellipsis"/>
          <p:cNvSpPr txBox="1"/>
          <p:nvPr/>
        </p:nvSpPr>
        <p:spPr>
          <a:xfrm>
            <a:off x="2312789" y="1294804"/>
            <a:ext cx="232171" cy="40183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36" name="Tokenizer module"/>
          <p:cNvSpPr/>
          <p:nvPr/>
        </p:nvSpPr>
        <p:spPr>
          <a:xfrm>
            <a:off x="3018234" y="937617"/>
            <a:ext cx="1035843" cy="1080492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397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okenizer label"/>
          <p:cNvSpPr txBox="1"/>
          <p:nvPr/>
        </p:nvSpPr>
        <p:spPr>
          <a:xfrm>
            <a:off x="3107531" y="1062632"/>
            <a:ext cx="857250" cy="392906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2D / 3D
tokenizers</a:t>
            </a:r>
          </a:p>
        </p:txBody>
      </p:sp>
      <p:sp>
        <p:nvSpPr>
          <p:cNvPr id="38" name="Tokenizer icon 2D 0-0"/>
          <p:cNvSpPr/>
          <p:nvPr/>
        </p:nvSpPr>
        <p:spPr>
          <a:xfrm>
            <a:off x="3161109" y="1580554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okenizer icon 3D front 0-0"/>
          <p:cNvSpPr/>
          <p:nvPr/>
        </p:nvSpPr>
        <p:spPr>
          <a:xfrm>
            <a:off x="3616523" y="1580554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okenizer icon 2D 0-1"/>
          <p:cNvSpPr/>
          <p:nvPr/>
        </p:nvSpPr>
        <p:spPr>
          <a:xfrm>
            <a:off x="3250406" y="1580554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okenizer icon 3D front 0-1"/>
          <p:cNvSpPr/>
          <p:nvPr/>
        </p:nvSpPr>
        <p:spPr>
          <a:xfrm>
            <a:off x="3705820" y="1580554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okenizer icon 2D 0-2"/>
          <p:cNvSpPr/>
          <p:nvPr/>
        </p:nvSpPr>
        <p:spPr>
          <a:xfrm>
            <a:off x="3339703" y="1580554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okenizer icon 3D front 0-2"/>
          <p:cNvSpPr/>
          <p:nvPr/>
        </p:nvSpPr>
        <p:spPr>
          <a:xfrm>
            <a:off x="3795117" y="1580554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okenizer icon 2D 1-0"/>
          <p:cNvSpPr/>
          <p:nvPr/>
        </p:nvSpPr>
        <p:spPr>
          <a:xfrm>
            <a:off x="3161109" y="1669851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okenizer icon 3D front 1-0"/>
          <p:cNvSpPr/>
          <p:nvPr/>
        </p:nvSpPr>
        <p:spPr>
          <a:xfrm>
            <a:off x="3616523" y="1669851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okenizer icon 2D 1-1"/>
          <p:cNvSpPr/>
          <p:nvPr/>
        </p:nvSpPr>
        <p:spPr>
          <a:xfrm>
            <a:off x="3250406" y="1669851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okenizer icon 3D front 1-1"/>
          <p:cNvSpPr/>
          <p:nvPr/>
        </p:nvSpPr>
        <p:spPr>
          <a:xfrm>
            <a:off x="3705820" y="1669851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okenizer icon 2D 1-2"/>
          <p:cNvSpPr/>
          <p:nvPr/>
        </p:nvSpPr>
        <p:spPr>
          <a:xfrm>
            <a:off x="3339703" y="1669851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okenizer icon 3D front 1-2"/>
          <p:cNvSpPr/>
          <p:nvPr/>
        </p:nvSpPr>
        <p:spPr>
          <a:xfrm>
            <a:off x="3795117" y="1669851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okenizer icon 2D 2-0"/>
          <p:cNvSpPr/>
          <p:nvPr/>
        </p:nvSpPr>
        <p:spPr>
          <a:xfrm>
            <a:off x="3161109" y="1759148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okenizer icon 3D front 2-0"/>
          <p:cNvSpPr/>
          <p:nvPr/>
        </p:nvSpPr>
        <p:spPr>
          <a:xfrm>
            <a:off x="3616523" y="1759148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okenizer icon 2D 2-1"/>
          <p:cNvSpPr/>
          <p:nvPr/>
        </p:nvSpPr>
        <p:spPr>
          <a:xfrm>
            <a:off x="3250406" y="1759148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okenizer icon 3D front 2-1"/>
          <p:cNvSpPr/>
          <p:nvPr/>
        </p:nvSpPr>
        <p:spPr>
          <a:xfrm>
            <a:off x="3705820" y="1759148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okenizer icon 2D 2-2"/>
          <p:cNvSpPr/>
          <p:nvPr/>
        </p:nvSpPr>
        <p:spPr>
          <a:xfrm>
            <a:off x="3339703" y="1759148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okenizer icon 3D front 2-2"/>
          <p:cNvSpPr/>
          <p:nvPr/>
        </p:nvSpPr>
        <p:spPr>
          <a:xfrm>
            <a:off x="3795117" y="1759148"/>
            <a:ext cx="80367" cy="80367"/>
          </a:xfrm>
          <a:prstGeom prst="rect">
            <a:avLst/>
          </a:prstGeom>
          <a:solidFill>
            <a:srgbClr val="315E9E"/>
          </a:solidFill>
          <a:ln w="444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Tokenizer icon depth top 0"/>
          <p:cNvCxnSpPr/>
          <p:nvPr/>
        </p:nvCxnSpPr>
        <p:spPr>
          <a:xfrm flipV="1">
            <a:off x="3616523" y="1526976"/>
            <a:ext cx="62508" cy="53578"/>
          </a:xfrm>
          <a:prstGeom prst="line">
            <a:avLst/>
          </a:prstGeom>
          <a:ln w="7620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Tokenizer icon depth side 0"/>
          <p:cNvCxnSpPr/>
          <p:nvPr/>
        </p:nvCxnSpPr>
        <p:spPr>
          <a:xfrm flipV="1">
            <a:off x="3875484" y="1526976"/>
            <a:ext cx="62508" cy="53578"/>
          </a:xfrm>
          <a:prstGeom prst="line">
            <a:avLst/>
          </a:prstGeom>
          <a:ln w="7620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Tokenizer icon depth top 1"/>
          <p:cNvCxnSpPr/>
          <p:nvPr/>
        </p:nvCxnSpPr>
        <p:spPr>
          <a:xfrm flipV="1">
            <a:off x="3705820" y="1526976"/>
            <a:ext cx="62508" cy="53578"/>
          </a:xfrm>
          <a:prstGeom prst="line">
            <a:avLst/>
          </a:prstGeom>
          <a:ln w="7620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Tokenizer icon depth side 1"/>
          <p:cNvCxnSpPr/>
          <p:nvPr/>
        </p:nvCxnSpPr>
        <p:spPr>
          <a:xfrm flipV="1">
            <a:off x="3875484" y="1616273"/>
            <a:ext cx="62508" cy="53578"/>
          </a:xfrm>
          <a:prstGeom prst="line">
            <a:avLst/>
          </a:prstGeom>
          <a:ln w="7620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Tokenizer icon depth top 2"/>
          <p:cNvCxnSpPr/>
          <p:nvPr/>
        </p:nvCxnSpPr>
        <p:spPr>
          <a:xfrm flipV="1">
            <a:off x="3795117" y="1526976"/>
            <a:ext cx="62508" cy="53578"/>
          </a:xfrm>
          <a:prstGeom prst="line">
            <a:avLst/>
          </a:prstGeom>
          <a:ln w="7620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Tokenizer icon depth side 2"/>
          <p:cNvCxnSpPr/>
          <p:nvPr/>
        </p:nvCxnSpPr>
        <p:spPr>
          <a:xfrm flipV="1">
            <a:off x="3875484" y="1705570"/>
            <a:ext cx="62508" cy="53578"/>
          </a:xfrm>
          <a:prstGeom prst="line">
            <a:avLst/>
          </a:prstGeom>
          <a:ln w="7620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nline volume JEPA"/>
          <p:cNvSpPr/>
          <p:nvPr/>
        </p:nvSpPr>
        <p:spPr>
          <a:xfrm>
            <a:off x="4420195" y="776882"/>
            <a:ext cx="1705570" cy="1526976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5875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nline volume JEPA label"/>
          <p:cNvSpPr txBox="1"/>
          <p:nvPr/>
        </p:nvSpPr>
        <p:spPr>
          <a:xfrm>
            <a:off x="4545210" y="884039"/>
            <a:ext cx="1446609" cy="392906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TRAINABLE ·
Online volume JEPA</a:t>
            </a:r>
          </a:p>
        </p:txBody>
      </p:sp>
      <p:sp>
        <p:nvSpPr>
          <p:cNvPr id="64" name="Online volume cube 1 top"/>
          <p:cNvSpPr/>
          <p:nvPr/>
        </p:nvSpPr>
        <p:spPr>
          <a:xfrm>
            <a:off x="5080992" y="1330523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nline volume cube 1 side"/>
          <p:cNvSpPr/>
          <p:nvPr/>
        </p:nvSpPr>
        <p:spPr>
          <a:xfrm>
            <a:off x="5304234" y="1330523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nline volume cube 1 front"/>
          <p:cNvSpPr/>
          <p:nvPr/>
        </p:nvSpPr>
        <p:spPr>
          <a:xfrm>
            <a:off x="5080992" y="1401960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nline volume cube 2 top"/>
          <p:cNvSpPr/>
          <p:nvPr/>
        </p:nvSpPr>
        <p:spPr>
          <a:xfrm>
            <a:off x="5313164" y="1401960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nline volume cube 2 side"/>
          <p:cNvSpPr/>
          <p:nvPr/>
        </p:nvSpPr>
        <p:spPr>
          <a:xfrm>
            <a:off x="5536406" y="1401960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nline volume cube 2 front"/>
          <p:cNvSpPr/>
          <p:nvPr/>
        </p:nvSpPr>
        <p:spPr>
          <a:xfrm>
            <a:off x="5313164" y="1473398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nline volume cube 3 top"/>
          <p:cNvSpPr/>
          <p:nvPr/>
        </p:nvSpPr>
        <p:spPr>
          <a:xfrm>
            <a:off x="4884539" y="1535906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nline volume cube 3 side"/>
          <p:cNvSpPr/>
          <p:nvPr/>
        </p:nvSpPr>
        <p:spPr>
          <a:xfrm>
            <a:off x="5107781" y="1535906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nline volume cube 3 front"/>
          <p:cNvSpPr/>
          <p:nvPr/>
        </p:nvSpPr>
        <p:spPr>
          <a:xfrm>
            <a:off x="4884539" y="1607343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nline volume cube 4 top"/>
          <p:cNvSpPr/>
          <p:nvPr/>
        </p:nvSpPr>
        <p:spPr>
          <a:xfrm>
            <a:off x="5116710" y="1589484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nline volume cube 4 side"/>
          <p:cNvSpPr/>
          <p:nvPr/>
        </p:nvSpPr>
        <p:spPr>
          <a:xfrm>
            <a:off x="5339953" y="1589484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nline volume cube 4 front"/>
          <p:cNvSpPr/>
          <p:nvPr/>
        </p:nvSpPr>
        <p:spPr>
          <a:xfrm>
            <a:off x="5116710" y="1660921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nline volume cube 5 top"/>
          <p:cNvSpPr/>
          <p:nvPr/>
        </p:nvSpPr>
        <p:spPr>
          <a:xfrm>
            <a:off x="5366742" y="1544835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nline volume cube 5 side"/>
          <p:cNvSpPr/>
          <p:nvPr/>
        </p:nvSpPr>
        <p:spPr>
          <a:xfrm>
            <a:off x="5589984" y="1544835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nline volume cube 5 front"/>
          <p:cNvSpPr/>
          <p:nvPr/>
        </p:nvSpPr>
        <p:spPr>
          <a:xfrm>
            <a:off x="5366742" y="1616273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nline volume cube 6 top"/>
          <p:cNvSpPr/>
          <p:nvPr/>
        </p:nvSpPr>
        <p:spPr>
          <a:xfrm>
            <a:off x="4688085" y="1768078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nline volume cube 6 side"/>
          <p:cNvSpPr/>
          <p:nvPr/>
        </p:nvSpPr>
        <p:spPr>
          <a:xfrm>
            <a:off x="4911328" y="1768078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nline volume cube 6 front"/>
          <p:cNvSpPr/>
          <p:nvPr/>
        </p:nvSpPr>
        <p:spPr>
          <a:xfrm>
            <a:off x="4688085" y="1839515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nline volume cube 7 top"/>
          <p:cNvSpPr/>
          <p:nvPr/>
        </p:nvSpPr>
        <p:spPr>
          <a:xfrm>
            <a:off x="4947046" y="1759148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nline volume cube 7 side"/>
          <p:cNvSpPr/>
          <p:nvPr/>
        </p:nvSpPr>
        <p:spPr>
          <a:xfrm>
            <a:off x="5170289" y="1759148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nline volume cube 7 front"/>
          <p:cNvSpPr/>
          <p:nvPr/>
        </p:nvSpPr>
        <p:spPr>
          <a:xfrm>
            <a:off x="4947046" y="1830585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nline volume cube 8 top"/>
          <p:cNvSpPr/>
          <p:nvPr/>
        </p:nvSpPr>
        <p:spPr>
          <a:xfrm>
            <a:off x="5206007" y="1794867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nline volume cube 8 side"/>
          <p:cNvSpPr/>
          <p:nvPr/>
        </p:nvSpPr>
        <p:spPr>
          <a:xfrm>
            <a:off x="5429250" y="1794867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nline volume cube 8 front"/>
          <p:cNvSpPr/>
          <p:nvPr/>
        </p:nvSpPr>
        <p:spPr>
          <a:xfrm>
            <a:off x="5206007" y="1866304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nline volume cube 9 top"/>
          <p:cNvSpPr/>
          <p:nvPr/>
        </p:nvSpPr>
        <p:spPr>
          <a:xfrm>
            <a:off x="5464968" y="1714500"/>
            <a:ext cx="294680" cy="71438"/>
          </a:xfrm>
          <a:custGeom>
            <a:avLst/>
            <a:gdLst/>
            <a:ahLst/>
            <a:cxnLst/>
            <a:rect l="l" t="t" r="r" b="b"/>
            <a:pathLst>
              <a:path w="33" h="8">
                <a:moveTo>
                  <a:pt x="0" y="8"/>
                </a:moveTo>
                <a:lnTo>
                  <a:pt x="8" y="0"/>
                </a:lnTo>
                <a:lnTo>
                  <a:pt x="33" y="0"/>
                </a:lnTo>
                <a:lnTo>
                  <a:pt x="25" y="8"/>
                </a:lnTo>
                <a:close/>
              </a:path>
            </a:pathLst>
          </a:custGeom>
          <a:solidFill>
            <a:srgbClr val="769DE0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nline volume cube 9 side"/>
          <p:cNvSpPr/>
          <p:nvPr/>
        </p:nvSpPr>
        <p:spPr>
          <a:xfrm>
            <a:off x="5688210" y="1714500"/>
            <a:ext cx="71438" cy="294680"/>
          </a:xfrm>
          <a:custGeom>
            <a:avLst/>
            <a:gdLst/>
            <a:ahLst/>
            <a:cxnLst/>
            <a:rect l="l" t="t" r="r" b="b"/>
            <a:pathLst>
              <a:path w="8" h="33">
                <a:moveTo>
                  <a:pt x="0" y="8"/>
                </a:moveTo>
                <a:lnTo>
                  <a:pt x="8" y="0"/>
                </a:lnTo>
                <a:lnTo>
                  <a:pt x="8" y="25"/>
                </a:lnTo>
                <a:lnTo>
                  <a:pt x="0" y="33"/>
                </a:lnTo>
                <a:close/>
              </a:path>
            </a:pathLst>
          </a:custGeom>
          <a:solidFill>
            <a:srgbClr val="27539C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nline volume cube 9 front"/>
          <p:cNvSpPr/>
          <p:nvPr/>
        </p:nvSpPr>
        <p:spPr>
          <a:xfrm>
            <a:off x="5464968" y="1785937"/>
            <a:ext cx="223242" cy="223242"/>
          </a:xfrm>
          <a:prstGeom prst="rect">
            <a:avLst/>
          </a:prstGeom>
          <a:solidFill>
            <a:srgbClr val="4C79C6"/>
          </a:solidFill>
          <a:ln w="6985">
            <a:solidFill>
              <a:srgbClr val="EAF1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ense-state glyph card"/>
          <p:cNvSpPr/>
          <p:nvPr/>
        </p:nvSpPr>
        <p:spPr>
          <a:xfrm>
            <a:off x="6625828" y="660796"/>
            <a:ext cx="884039" cy="607218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270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ense-state maps layer 1"/>
          <p:cNvSpPr/>
          <p:nvPr/>
        </p:nvSpPr>
        <p:spPr>
          <a:xfrm>
            <a:off x="6715125" y="1078259"/>
            <a:ext cx="696516" cy="107156"/>
          </a:xfrm>
          <a:custGeom>
            <a:avLst/>
            <a:gdLst/>
            <a:ahLst/>
            <a:cxnLst/>
            <a:rect l="l" t="t" r="r" b="b"/>
            <a:pathLst>
              <a:path w="78" h="12">
                <a:moveTo>
                  <a:pt x="0" y="12"/>
                </a:moveTo>
                <a:lnTo>
                  <a:pt x="16" y="0"/>
                </a:lnTo>
                <a:lnTo>
                  <a:pt x="78" y="0"/>
                </a:lnTo>
                <a:lnTo>
                  <a:pt x="62" y="12"/>
                </a:lnTo>
                <a:close/>
              </a:path>
            </a:pathLst>
          </a:custGeom>
          <a:solidFill>
            <a:srgbClr val="A9C3ED"/>
          </a:solidFill>
          <a:ln w="1016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Dense-state maps detail 1"/>
          <p:cNvCxnSpPr/>
          <p:nvPr/>
        </p:nvCxnSpPr>
        <p:spPr>
          <a:xfrm>
            <a:off x="6899076" y="1105606"/>
            <a:ext cx="450056" cy="0"/>
          </a:xfrm>
          <a:prstGeom prst="line">
            <a:avLst/>
          </a:prstGeom>
          <a:ln w="571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Dense-state maps layer 2"/>
          <p:cNvSpPr/>
          <p:nvPr/>
        </p:nvSpPr>
        <p:spPr>
          <a:xfrm>
            <a:off x="6749950" y="977622"/>
            <a:ext cx="696516" cy="107156"/>
          </a:xfrm>
          <a:custGeom>
            <a:avLst/>
            <a:gdLst/>
            <a:ahLst/>
            <a:cxnLst/>
            <a:rect l="l" t="t" r="r" b="b"/>
            <a:pathLst>
              <a:path w="78" h="12">
                <a:moveTo>
                  <a:pt x="0" y="12"/>
                </a:moveTo>
                <a:lnTo>
                  <a:pt x="16" y="0"/>
                </a:lnTo>
                <a:lnTo>
                  <a:pt x="78" y="0"/>
                </a:lnTo>
                <a:lnTo>
                  <a:pt x="62" y="12"/>
                </a:lnTo>
                <a:close/>
              </a:path>
            </a:pathLst>
          </a:custGeom>
          <a:solidFill>
            <a:srgbClr val="6F97D7"/>
          </a:solidFill>
          <a:ln w="1016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Dense-state maps detail 2"/>
          <p:cNvCxnSpPr/>
          <p:nvPr/>
        </p:nvCxnSpPr>
        <p:spPr>
          <a:xfrm>
            <a:off x="6933902" y="1004969"/>
            <a:ext cx="450056" cy="0"/>
          </a:xfrm>
          <a:prstGeom prst="line">
            <a:avLst/>
          </a:prstGeom>
          <a:ln w="571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Dense-state maps layer 3"/>
          <p:cNvSpPr/>
          <p:nvPr/>
        </p:nvSpPr>
        <p:spPr>
          <a:xfrm>
            <a:off x="6784776" y="876984"/>
            <a:ext cx="696516" cy="107156"/>
          </a:xfrm>
          <a:custGeom>
            <a:avLst/>
            <a:gdLst/>
            <a:ahLst/>
            <a:cxnLst/>
            <a:rect l="l" t="t" r="r" b="b"/>
            <a:pathLst>
              <a:path w="78" h="12">
                <a:moveTo>
                  <a:pt x="0" y="12"/>
                </a:moveTo>
                <a:lnTo>
                  <a:pt x="16" y="0"/>
                </a:lnTo>
                <a:lnTo>
                  <a:pt x="78" y="0"/>
                </a:lnTo>
                <a:lnTo>
                  <a:pt x="62" y="12"/>
                </a:lnTo>
                <a:close/>
              </a:path>
            </a:pathLst>
          </a:custGeom>
          <a:solidFill>
            <a:srgbClr val="3D6DBD"/>
          </a:solidFill>
          <a:ln w="1016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Dense-state maps detail 3"/>
          <p:cNvCxnSpPr/>
          <p:nvPr/>
        </p:nvCxnSpPr>
        <p:spPr>
          <a:xfrm>
            <a:off x="6968728" y="904331"/>
            <a:ext cx="450056" cy="0"/>
          </a:xfrm>
          <a:prstGeom prst="line">
            <a:avLst/>
          </a:prstGeom>
          <a:ln w="571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Dense-state label card"/>
          <p:cNvSpPr/>
          <p:nvPr/>
        </p:nvSpPr>
        <p:spPr>
          <a:xfrm>
            <a:off x="7697390" y="732234"/>
            <a:ext cx="1241226" cy="357187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270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ense-state label"/>
          <p:cNvSpPr txBox="1"/>
          <p:nvPr/>
        </p:nvSpPr>
        <p:spPr>
          <a:xfrm>
            <a:off x="7759898" y="741164"/>
            <a:ext cx="1116210" cy="33932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111"/>
                </a:solidFill>
                <a:latin typeface="Arial"/>
              </a:rPr>
              <a:t>Dₜ · Dense</a:t>
            </a:r>
          </a:p>
        </p:txBody>
      </p:sp>
      <p:sp>
        <p:nvSpPr>
          <p:cNvPr id="100" name="Anatomy-state glyph card"/>
          <p:cNvSpPr/>
          <p:nvPr/>
        </p:nvSpPr>
        <p:spPr>
          <a:xfrm>
            <a:off x="6634757" y="1357312"/>
            <a:ext cx="884039" cy="625078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270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natomy-state grid front"/>
          <p:cNvSpPr/>
          <p:nvPr/>
        </p:nvSpPr>
        <p:spPr>
          <a:xfrm>
            <a:off x="6804421" y="1509117"/>
            <a:ext cx="392906" cy="392906"/>
          </a:xfrm>
          <a:prstGeom prst="rect">
            <a:avLst/>
          </a:prstGeom>
          <a:noFill/>
          <a:ln w="10795">
            <a:solidFill>
              <a:srgbClr val="0C2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natomy-state grid back"/>
          <p:cNvSpPr/>
          <p:nvPr/>
        </p:nvSpPr>
        <p:spPr>
          <a:xfrm>
            <a:off x="6902648" y="1410890"/>
            <a:ext cx="392906" cy="392906"/>
          </a:xfrm>
          <a:prstGeom prst="rect">
            <a:avLst/>
          </a:prstGeom>
          <a:noFill/>
          <a:ln w="9525">
            <a:solidFill>
              <a:srgbClr val="0C2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Anatomy-state grid corner 1"/>
          <p:cNvCxnSpPr/>
          <p:nvPr/>
        </p:nvCxnSpPr>
        <p:spPr>
          <a:xfrm flipV="1">
            <a:off x="6804421" y="1410890"/>
            <a:ext cx="98227" cy="9822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Anatomy-state grid corner 2"/>
          <p:cNvCxnSpPr/>
          <p:nvPr/>
        </p:nvCxnSpPr>
        <p:spPr>
          <a:xfrm flipV="1">
            <a:off x="7197328" y="1410890"/>
            <a:ext cx="98226" cy="9822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Anatomy-state grid corner 3"/>
          <p:cNvCxnSpPr/>
          <p:nvPr/>
        </p:nvCxnSpPr>
        <p:spPr>
          <a:xfrm flipV="1">
            <a:off x="6804421" y="1803796"/>
            <a:ext cx="98227" cy="9822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Anatomy-state grid corner 4"/>
          <p:cNvCxnSpPr/>
          <p:nvPr/>
        </p:nvCxnSpPr>
        <p:spPr>
          <a:xfrm flipV="1">
            <a:off x="7197328" y="1803796"/>
            <a:ext cx="98226" cy="9822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Anatomy-state grid vertical 1"/>
          <p:cNvCxnSpPr/>
          <p:nvPr/>
        </p:nvCxnSpPr>
        <p:spPr>
          <a:xfrm>
            <a:off x="6935390" y="1509117"/>
            <a:ext cx="0" cy="392906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Anatomy-state grid horizontal 1"/>
          <p:cNvCxnSpPr/>
          <p:nvPr/>
        </p:nvCxnSpPr>
        <p:spPr>
          <a:xfrm>
            <a:off x="6804421" y="1640085"/>
            <a:ext cx="392907" cy="0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Anatomy-state grid back vertical 1"/>
          <p:cNvCxnSpPr/>
          <p:nvPr/>
        </p:nvCxnSpPr>
        <p:spPr>
          <a:xfrm>
            <a:off x="7033617" y="1410890"/>
            <a:ext cx="0" cy="392906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Anatomy-state grid back horizontal 1"/>
          <p:cNvCxnSpPr/>
          <p:nvPr/>
        </p:nvCxnSpPr>
        <p:spPr>
          <a:xfrm>
            <a:off x="6902648" y="1541859"/>
            <a:ext cx="392906" cy="0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Anatomy-state grid vertical 2"/>
          <p:cNvCxnSpPr/>
          <p:nvPr/>
        </p:nvCxnSpPr>
        <p:spPr>
          <a:xfrm>
            <a:off x="7066359" y="1509117"/>
            <a:ext cx="0" cy="392906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Anatomy-state grid horizontal 2"/>
          <p:cNvCxnSpPr/>
          <p:nvPr/>
        </p:nvCxnSpPr>
        <p:spPr>
          <a:xfrm>
            <a:off x="6804421" y="1771054"/>
            <a:ext cx="392907" cy="0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Anatomy-state grid back vertical 2"/>
          <p:cNvCxnSpPr/>
          <p:nvPr/>
        </p:nvCxnSpPr>
        <p:spPr>
          <a:xfrm>
            <a:off x="7164585" y="1410890"/>
            <a:ext cx="0" cy="392906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Anatomy-state grid back horizontal 2"/>
          <p:cNvCxnSpPr/>
          <p:nvPr/>
        </p:nvCxnSpPr>
        <p:spPr>
          <a:xfrm>
            <a:off x="6902648" y="1672828"/>
            <a:ext cx="392906" cy="0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Anatomy-state label card"/>
          <p:cNvSpPr/>
          <p:nvPr/>
        </p:nvSpPr>
        <p:spPr>
          <a:xfrm>
            <a:off x="7706320" y="1393031"/>
            <a:ext cx="1232296" cy="357187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270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natomy-state label"/>
          <p:cNvSpPr txBox="1"/>
          <p:nvPr/>
        </p:nvSpPr>
        <p:spPr>
          <a:xfrm>
            <a:off x="7768828" y="1401960"/>
            <a:ext cx="1107281" cy="33932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111"/>
                </a:solidFill>
                <a:latin typeface="Arial"/>
              </a:rPr>
              <a:t>Aₜ · Anatomy</a:t>
            </a:r>
          </a:p>
        </p:txBody>
      </p:sp>
      <p:sp>
        <p:nvSpPr>
          <p:cNvPr id="117" name="Global-state tokens"/>
          <p:cNvSpPr/>
          <p:nvPr/>
        </p:nvSpPr>
        <p:spPr>
          <a:xfrm>
            <a:off x="6563320" y="2080617"/>
            <a:ext cx="1017984" cy="3482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Global-state tokens token 1"/>
          <p:cNvSpPr/>
          <p:nvPr/>
        </p:nvSpPr>
        <p:spPr>
          <a:xfrm>
            <a:off x="6643687" y="2174378"/>
            <a:ext cx="160734" cy="160734"/>
          </a:xfrm>
          <a:prstGeom prst="rect">
            <a:avLst/>
          </a:prstGeom>
          <a:solidFill>
            <a:srgbClr val="9DBCEB"/>
          </a:solidFill>
          <a:ln w="889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Global-state tokens token 2"/>
          <p:cNvSpPr/>
          <p:nvPr/>
        </p:nvSpPr>
        <p:spPr>
          <a:xfrm>
            <a:off x="6875859" y="2174378"/>
            <a:ext cx="160734" cy="160734"/>
          </a:xfrm>
          <a:prstGeom prst="rect">
            <a:avLst/>
          </a:prstGeom>
          <a:solidFill>
            <a:srgbClr val="9DBCEB"/>
          </a:solidFill>
          <a:ln w="889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Global-state tokens token 3"/>
          <p:cNvSpPr/>
          <p:nvPr/>
        </p:nvSpPr>
        <p:spPr>
          <a:xfrm>
            <a:off x="7108031" y="2174378"/>
            <a:ext cx="160734" cy="160734"/>
          </a:xfrm>
          <a:prstGeom prst="rect">
            <a:avLst/>
          </a:prstGeom>
          <a:solidFill>
            <a:srgbClr val="9DBCEB"/>
          </a:solidFill>
          <a:ln w="889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Global-state tokens ellipsis"/>
          <p:cNvSpPr txBox="1"/>
          <p:nvPr/>
        </p:nvSpPr>
        <p:spPr>
          <a:xfrm>
            <a:off x="7304484" y="2089546"/>
            <a:ext cx="223242" cy="33039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4A91"/>
                </a:solidFill>
                <a:latin typeface="Arial"/>
              </a:rPr>
              <a:t>···</a:t>
            </a:r>
          </a:p>
        </p:txBody>
      </p:sp>
      <p:sp>
        <p:nvSpPr>
          <p:cNvPr id="122" name="Global-state label card"/>
          <p:cNvSpPr/>
          <p:nvPr/>
        </p:nvSpPr>
        <p:spPr>
          <a:xfrm>
            <a:off x="7768828" y="2071687"/>
            <a:ext cx="1116210" cy="357187"/>
          </a:xfrm>
          <a:prstGeom prst="roundRect">
            <a:avLst>
              <a:gd name="adj" fmla="val 8000"/>
            </a:avLst>
          </a:prstGeom>
          <a:solidFill>
            <a:srgbClr val="F0F4FB"/>
          </a:solidFill>
          <a:ln w="1270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Global-state label"/>
          <p:cNvSpPr txBox="1"/>
          <p:nvPr/>
        </p:nvSpPr>
        <p:spPr>
          <a:xfrm>
            <a:off x="7822406" y="2080617"/>
            <a:ext cx="1009054" cy="33932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11111"/>
                </a:solidFill>
                <a:latin typeface="Arial"/>
              </a:rPr>
              <a:t>Gₜ · Global</a:t>
            </a:r>
          </a:p>
        </p:txBody>
      </p:sp>
      <p:sp>
        <p:nvSpPr>
          <p:cNvPr id="124" name="Clinical context card"/>
          <p:cNvSpPr/>
          <p:nvPr/>
        </p:nvSpPr>
        <p:spPr>
          <a:xfrm>
            <a:off x="133945" y="2518171"/>
            <a:ext cx="1643062" cy="10804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Clinical context label"/>
          <p:cNvSpPr txBox="1"/>
          <p:nvPr/>
        </p:nvSpPr>
        <p:spPr>
          <a:xfrm>
            <a:off x="258960" y="2598539"/>
            <a:ext cx="1401960" cy="41076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Arial"/>
              </a:rPr>
              <a:t>Report + history /
clinical context</a:t>
            </a:r>
          </a:p>
        </p:txBody>
      </p:sp>
      <p:sp>
        <p:nvSpPr>
          <p:cNvPr id="126" name="Clinical context icons document"/>
          <p:cNvSpPr/>
          <p:nvPr/>
        </p:nvSpPr>
        <p:spPr>
          <a:xfrm>
            <a:off x="348257" y="3053953"/>
            <a:ext cx="294679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linical context icons document line 1"/>
          <p:cNvCxnSpPr/>
          <p:nvPr/>
        </p:nvCxnSpPr>
        <p:spPr>
          <a:xfrm>
            <a:off x="410765" y="3143250"/>
            <a:ext cx="178594" cy="0"/>
          </a:xfrm>
          <a:prstGeom prst="line">
            <a:avLst/>
          </a:prstGeom>
          <a:ln w="8890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linical context icons document line 2"/>
          <p:cNvCxnSpPr/>
          <p:nvPr/>
        </p:nvCxnSpPr>
        <p:spPr>
          <a:xfrm>
            <a:off x="410765" y="3205757"/>
            <a:ext cx="178594" cy="0"/>
          </a:xfrm>
          <a:prstGeom prst="line">
            <a:avLst/>
          </a:prstGeom>
          <a:ln w="8890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linical context icons document line 3"/>
          <p:cNvCxnSpPr/>
          <p:nvPr/>
        </p:nvCxnSpPr>
        <p:spPr>
          <a:xfrm>
            <a:off x="410765" y="3268265"/>
            <a:ext cx="178594" cy="0"/>
          </a:xfrm>
          <a:prstGeom prst="line">
            <a:avLst/>
          </a:prstGeom>
          <a:ln w="8890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linical context icons document line 4"/>
          <p:cNvCxnSpPr/>
          <p:nvPr/>
        </p:nvCxnSpPr>
        <p:spPr>
          <a:xfrm>
            <a:off x="410765" y="3330773"/>
            <a:ext cx="178594" cy="0"/>
          </a:xfrm>
          <a:prstGeom prst="line">
            <a:avLst/>
          </a:prstGeom>
          <a:ln w="8890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Clinical context icons waveform frame"/>
          <p:cNvSpPr/>
          <p:nvPr/>
        </p:nvSpPr>
        <p:spPr>
          <a:xfrm>
            <a:off x="866179" y="3143250"/>
            <a:ext cx="464343" cy="25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linical context icons waveform 1"/>
          <p:cNvCxnSpPr/>
          <p:nvPr/>
        </p:nvCxnSpPr>
        <p:spPr>
          <a:xfrm flipV="1">
            <a:off x="910828" y="3277195"/>
            <a:ext cx="44648" cy="8930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linical context icons waveform 2"/>
          <p:cNvCxnSpPr/>
          <p:nvPr/>
        </p:nvCxnSpPr>
        <p:spPr>
          <a:xfrm flipV="1">
            <a:off x="955476" y="3214687"/>
            <a:ext cx="35719" cy="62508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linical context icons waveform 3"/>
          <p:cNvCxnSpPr/>
          <p:nvPr/>
        </p:nvCxnSpPr>
        <p:spPr>
          <a:xfrm>
            <a:off x="991195" y="3214687"/>
            <a:ext cx="44648" cy="125016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linical context icons waveform 4"/>
          <p:cNvCxnSpPr/>
          <p:nvPr/>
        </p:nvCxnSpPr>
        <p:spPr>
          <a:xfrm flipV="1">
            <a:off x="1035843" y="3187898"/>
            <a:ext cx="44649" cy="151805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linical context icons waveform 5"/>
          <p:cNvCxnSpPr/>
          <p:nvPr/>
        </p:nvCxnSpPr>
        <p:spPr>
          <a:xfrm>
            <a:off x="1080492" y="3187898"/>
            <a:ext cx="44648" cy="107156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linical context icons waveform 6"/>
          <p:cNvCxnSpPr/>
          <p:nvPr/>
        </p:nvCxnSpPr>
        <p:spPr>
          <a:xfrm flipV="1">
            <a:off x="1125140" y="3232546"/>
            <a:ext cx="53578" cy="62508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linical context icons waveform 7"/>
          <p:cNvCxnSpPr/>
          <p:nvPr/>
        </p:nvCxnSpPr>
        <p:spPr>
          <a:xfrm>
            <a:off x="1178718" y="3232546"/>
            <a:ext cx="62508" cy="44649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linical context icons waveform 8"/>
          <p:cNvCxnSpPr/>
          <p:nvPr/>
        </p:nvCxnSpPr>
        <p:spPr>
          <a:xfrm flipV="1">
            <a:off x="1241226" y="3268265"/>
            <a:ext cx="44649" cy="8930"/>
          </a:xfrm>
          <a:prstGeom prst="line">
            <a:avLst/>
          </a:prstGeom>
          <a:ln w="9525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Clinical context icons context grid"/>
          <p:cNvSpPr/>
          <p:nvPr/>
        </p:nvSpPr>
        <p:spPr>
          <a:xfrm>
            <a:off x="1330523" y="3143250"/>
            <a:ext cx="276820" cy="25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linical context icons context vertical"/>
          <p:cNvCxnSpPr/>
          <p:nvPr/>
        </p:nvCxnSpPr>
        <p:spPr>
          <a:xfrm>
            <a:off x="1464468" y="3143250"/>
            <a:ext cx="0" cy="258960"/>
          </a:xfrm>
          <a:prstGeom prst="line">
            <a:avLst/>
          </a:prstGeom>
          <a:ln w="7620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linical context icons context horizontal"/>
          <p:cNvCxnSpPr/>
          <p:nvPr/>
        </p:nvCxnSpPr>
        <p:spPr>
          <a:xfrm>
            <a:off x="1330523" y="3268265"/>
            <a:ext cx="276820" cy="0"/>
          </a:xfrm>
          <a:prstGeom prst="line">
            <a:avLst/>
          </a:prstGeom>
          <a:ln w="7620">
            <a:solidFill>
              <a:srgbClr val="3535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Clinical context icons dot 1"/>
          <p:cNvSpPr/>
          <p:nvPr/>
        </p:nvSpPr>
        <p:spPr>
          <a:xfrm>
            <a:off x="1375171" y="3196828"/>
            <a:ext cx="26789" cy="26789"/>
          </a:xfrm>
          <a:prstGeom prst="ellipse">
            <a:avLst/>
          </a:prstGeom>
          <a:solidFill>
            <a:srgbClr val="353535"/>
          </a:solidFill>
          <a:ln w="381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Clinical context icons dot 2"/>
          <p:cNvSpPr/>
          <p:nvPr/>
        </p:nvSpPr>
        <p:spPr>
          <a:xfrm>
            <a:off x="1509117" y="3312914"/>
            <a:ext cx="26789" cy="26789"/>
          </a:xfrm>
          <a:prstGeom prst="ellipse">
            <a:avLst/>
          </a:prstGeom>
          <a:solidFill>
            <a:srgbClr val="353535"/>
          </a:solidFill>
          <a:ln w="3810">
            <a:solidFill>
              <a:srgbClr val="35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Medical text encoder"/>
          <p:cNvSpPr/>
          <p:nvPr/>
        </p:nvSpPr>
        <p:spPr>
          <a:xfrm>
            <a:off x="2232421" y="2482453"/>
            <a:ext cx="1080492" cy="562570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397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Medical text encoder label"/>
          <p:cNvSpPr txBox="1"/>
          <p:nvPr/>
        </p:nvSpPr>
        <p:spPr>
          <a:xfrm>
            <a:off x="2339578" y="2527101"/>
            <a:ext cx="866179" cy="464343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11111"/>
                </a:solidFill>
                <a:latin typeface="Arial"/>
              </a:rPr>
              <a:t>Medical
text encoder</a:t>
            </a:r>
          </a:p>
        </p:txBody>
      </p:sp>
      <p:sp>
        <p:nvSpPr>
          <p:cNvPr id="147" name="Report tokens"/>
          <p:cNvSpPr/>
          <p:nvPr/>
        </p:nvSpPr>
        <p:spPr>
          <a:xfrm>
            <a:off x="3821906" y="2661046"/>
            <a:ext cx="1196578" cy="25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port tokens token 1"/>
          <p:cNvSpPr/>
          <p:nvPr/>
        </p:nvSpPr>
        <p:spPr>
          <a:xfrm>
            <a:off x="3902273" y="2723554"/>
            <a:ext cx="133945" cy="133945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port tokens token 2"/>
          <p:cNvSpPr/>
          <p:nvPr/>
        </p:nvSpPr>
        <p:spPr>
          <a:xfrm>
            <a:off x="4107656" y="2723554"/>
            <a:ext cx="133945" cy="133945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port tokens token 3"/>
          <p:cNvSpPr/>
          <p:nvPr/>
        </p:nvSpPr>
        <p:spPr>
          <a:xfrm>
            <a:off x="4313039" y="2723554"/>
            <a:ext cx="133945" cy="133945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port tokens token 4"/>
          <p:cNvSpPr/>
          <p:nvPr/>
        </p:nvSpPr>
        <p:spPr>
          <a:xfrm>
            <a:off x="4518421" y="2723554"/>
            <a:ext cx="133945" cy="133945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port tokens ellipsis"/>
          <p:cNvSpPr txBox="1"/>
          <p:nvPr/>
        </p:nvSpPr>
        <p:spPr>
          <a:xfrm>
            <a:off x="4741664" y="2669976"/>
            <a:ext cx="223242" cy="24110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2482"/>
                </a:solidFill>
                <a:latin typeface="Arial"/>
              </a:rPr>
              <a:t>···</a:t>
            </a:r>
          </a:p>
        </p:txBody>
      </p:sp>
      <p:sp>
        <p:nvSpPr>
          <p:cNvPr id="153" name="Cross-modal fusion"/>
          <p:cNvSpPr/>
          <p:nvPr/>
        </p:nvSpPr>
        <p:spPr>
          <a:xfrm>
            <a:off x="5420320" y="2902148"/>
            <a:ext cx="1812726" cy="616148"/>
          </a:xfrm>
          <a:prstGeom prst="roundRect">
            <a:avLst>
              <a:gd name="adj" fmla="val 8000"/>
            </a:avLst>
          </a:prstGeom>
          <a:solidFill>
            <a:srgbClr val="F3EEF8"/>
          </a:solidFill>
          <a:ln w="1524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Cross-modal fusion label"/>
          <p:cNvSpPr txBox="1"/>
          <p:nvPr/>
        </p:nvSpPr>
        <p:spPr>
          <a:xfrm>
            <a:off x="5527476" y="3000375"/>
            <a:ext cx="1607343" cy="41076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11111"/>
                </a:solidFill>
                <a:latin typeface="Arial"/>
              </a:rPr>
              <a:t>Cross-modal fusion</a:t>
            </a:r>
          </a:p>
        </p:txBody>
      </p:sp>
      <p:sp>
        <p:nvSpPr>
          <p:cNvPr id="155" name="Multimodal tokens"/>
          <p:cNvSpPr/>
          <p:nvPr/>
        </p:nvSpPr>
        <p:spPr>
          <a:xfrm>
            <a:off x="7599164" y="3053953"/>
            <a:ext cx="1437679" cy="3303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Multimodal tokens token 1"/>
          <p:cNvSpPr/>
          <p:nvPr/>
        </p:nvSpPr>
        <p:spPr>
          <a:xfrm>
            <a:off x="7679531" y="3138785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Multimodal tokens token 2"/>
          <p:cNvSpPr/>
          <p:nvPr/>
        </p:nvSpPr>
        <p:spPr>
          <a:xfrm>
            <a:off x="7911703" y="3138785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Multimodal tokens token 3"/>
          <p:cNvSpPr/>
          <p:nvPr/>
        </p:nvSpPr>
        <p:spPr>
          <a:xfrm>
            <a:off x="8143875" y="3138785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Multimodal tokens token 4"/>
          <p:cNvSpPr/>
          <p:nvPr/>
        </p:nvSpPr>
        <p:spPr>
          <a:xfrm>
            <a:off x="8376046" y="3138785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Multimodal tokens token 5"/>
          <p:cNvSpPr/>
          <p:nvPr/>
        </p:nvSpPr>
        <p:spPr>
          <a:xfrm>
            <a:off x="8608218" y="3138785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Multimodal tokens ellipsis"/>
          <p:cNvSpPr txBox="1"/>
          <p:nvPr/>
        </p:nvSpPr>
        <p:spPr>
          <a:xfrm>
            <a:off x="8760023" y="3062882"/>
            <a:ext cx="223242" cy="312539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2482"/>
                </a:solidFill>
                <a:latin typeface="Arial"/>
              </a:rPr>
              <a:t>···</a:t>
            </a:r>
          </a:p>
        </p:txBody>
      </p:sp>
      <p:sp>
        <p:nvSpPr>
          <p:cNvPr id="162" name="Multimodal-state label"/>
          <p:cNvSpPr txBox="1"/>
          <p:nvPr/>
        </p:nvSpPr>
        <p:spPr>
          <a:xfrm>
            <a:off x="7688460" y="3393281"/>
            <a:ext cx="1348382" cy="276820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Mₜ · Multimodal</a:t>
            </a:r>
          </a:p>
        </p:txBody>
      </p:sp>
      <p:cxnSp>
        <p:nvCxnSpPr>
          <p:cNvPr id="163" name="Current-state brace left 1"/>
          <p:cNvCxnSpPr/>
          <p:nvPr/>
        </p:nvCxnSpPr>
        <p:spPr>
          <a:xfrm>
            <a:off x="1866304" y="3705820"/>
            <a:ext cx="0" cy="53578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urrent-state brace left 2"/>
          <p:cNvCxnSpPr/>
          <p:nvPr/>
        </p:nvCxnSpPr>
        <p:spPr>
          <a:xfrm>
            <a:off x="1866304" y="3759398"/>
            <a:ext cx="62508" cy="62508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urrent-state brace left 3"/>
          <p:cNvCxnSpPr/>
          <p:nvPr/>
        </p:nvCxnSpPr>
        <p:spPr>
          <a:xfrm>
            <a:off x="1928812" y="3821906"/>
            <a:ext cx="2732484" cy="0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urrent-state brace left 4"/>
          <p:cNvCxnSpPr/>
          <p:nvPr/>
        </p:nvCxnSpPr>
        <p:spPr>
          <a:xfrm>
            <a:off x="4661296" y="3821906"/>
            <a:ext cx="89297" cy="62508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urrent-state brace right 1"/>
          <p:cNvCxnSpPr/>
          <p:nvPr/>
        </p:nvCxnSpPr>
        <p:spPr>
          <a:xfrm flipV="1">
            <a:off x="4750593" y="3821906"/>
            <a:ext cx="89297" cy="62508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urrent-state brace right 2"/>
          <p:cNvCxnSpPr/>
          <p:nvPr/>
        </p:nvCxnSpPr>
        <p:spPr>
          <a:xfrm>
            <a:off x="4839890" y="3821906"/>
            <a:ext cx="2607469" cy="0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urrent-state brace right 3"/>
          <p:cNvCxnSpPr/>
          <p:nvPr/>
        </p:nvCxnSpPr>
        <p:spPr>
          <a:xfrm flipV="1">
            <a:off x="7447359" y="3759398"/>
            <a:ext cx="62508" cy="62508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urrent-state brace right 4"/>
          <p:cNvCxnSpPr/>
          <p:nvPr/>
        </p:nvCxnSpPr>
        <p:spPr>
          <a:xfrm flipV="1">
            <a:off x="7509867" y="3705820"/>
            <a:ext cx="0" cy="53578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Horizon-independent state label"/>
          <p:cNvSpPr txBox="1"/>
          <p:nvPr/>
        </p:nvSpPr>
        <p:spPr>
          <a:xfrm>
            <a:off x="3839765" y="3920132"/>
            <a:ext cx="2803921" cy="25003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11111"/>
                </a:solidFill>
                <a:latin typeface="Arial"/>
              </a:rPr>
              <a:t>HORIZON-INDEPENDENT Sₜ</a:t>
            </a:r>
          </a:p>
        </p:txBody>
      </p:sp>
      <p:sp>
        <p:nvSpPr>
          <p:cNvPr id="172" name="Horizon card"/>
          <p:cNvSpPr/>
          <p:nvPr/>
        </p:nvSpPr>
        <p:spPr>
          <a:xfrm>
            <a:off x="9420820" y="732234"/>
            <a:ext cx="910828" cy="482203"/>
          </a:xfrm>
          <a:prstGeom prst="roundRect">
            <a:avLst>
              <a:gd name="adj" fmla="val 8000"/>
            </a:avLst>
          </a:prstGeom>
          <a:solidFill>
            <a:srgbClr val="FFF2EA"/>
          </a:solidFill>
          <a:ln w="1270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Horizon label"/>
          <p:cNvSpPr txBox="1"/>
          <p:nvPr/>
        </p:nvSpPr>
        <p:spPr>
          <a:xfrm>
            <a:off x="9510117" y="794742"/>
            <a:ext cx="732234" cy="357187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11111"/>
                </a:solidFill>
                <a:latin typeface="Arial"/>
              </a:rPr>
              <a:t>Horizon h</a:t>
            </a:r>
          </a:p>
        </p:txBody>
      </p:sp>
      <p:sp>
        <p:nvSpPr>
          <p:cNvPr id="174" name="Recorded intervention card"/>
          <p:cNvSpPr/>
          <p:nvPr/>
        </p:nvSpPr>
        <p:spPr>
          <a:xfrm>
            <a:off x="10501312" y="732234"/>
            <a:ext cx="1455539" cy="482203"/>
          </a:xfrm>
          <a:prstGeom prst="roundRect">
            <a:avLst>
              <a:gd name="adj" fmla="val 8000"/>
            </a:avLst>
          </a:prstGeom>
          <a:solidFill>
            <a:srgbClr val="FFF2EA"/>
          </a:solidFill>
          <a:ln w="1270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orded intervention label"/>
          <p:cNvSpPr txBox="1"/>
          <p:nvPr/>
        </p:nvSpPr>
        <p:spPr>
          <a:xfrm>
            <a:off x="10599539" y="776882"/>
            <a:ext cx="1259085" cy="392906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11111"/>
                </a:solidFill>
                <a:latin typeface="Arial"/>
              </a:rPr>
              <a:t>Optional recorded
intervention aₜ:ₜ₊ₕ</a:t>
            </a:r>
          </a:p>
        </p:txBody>
      </p:sp>
      <p:sp>
        <p:nvSpPr>
          <p:cNvPr id="176" name="Distributional dynamics"/>
          <p:cNvSpPr/>
          <p:nvPr/>
        </p:nvSpPr>
        <p:spPr>
          <a:xfrm>
            <a:off x="9420820" y="1651992"/>
            <a:ext cx="1794867" cy="1705570"/>
          </a:xfrm>
          <a:prstGeom prst="roundRect">
            <a:avLst>
              <a:gd name="adj" fmla="val 8000"/>
            </a:avLst>
          </a:prstGeom>
          <a:solidFill>
            <a:srgbClr val="FFF2EA"/>
          </a:solidFill>
          <a:ln w="1524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Distributional dynamics label"/>
          <p:cNvSpPr txBox="1"/>
          <p:nvPr/>
        </p:nvSpPr>
        <p:spPr>
          <a:xfrm>
            <a:off x="9510117" y="1750218"/>
            <a:ext cx="1616273" cy="42862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11111"/>
                </a:solidFill>
                <a:latin typeface="Arial"/>
              </a:rPr>
              <a:t>TRAINABLE ·
Distributional dynamics</a:t>
            </a:r>
          </a:p>
        </p:txBody>
      </p:sp>
      <p:sp>
        <p:nvSpPr>
          <p:cNvPr id="178" name="Distributional dynamics icon outer orbit"/>
          <p:cNvSpPr/>
          <p:nvPr/>
        </p:nvSpPr>
        <p:spPr>
          <a:xfrm>
            <a:off x="9858375" y="2268140"/>
            <a:ext cx="928687" cy="928687"/>
          </a:xfrm>
          <a:prstGeom prst="ellipse">
            <a:avLst/>
          </a:prstGeom>
          <a:noFill/>
          <a:ln w="12700">
            <a:solidFill>
              <a:srgbClr val="C9430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Distributional dynamics icon inner orbit"/>
          <p:cNvSpPr/>
          <p:nvPr/>
        </p:nvSpPr>
        <p:spPr>
          <a:xfrm>
            <a:off x="9992320" y="2437804"/>
            <a:ext cx="669726" cy="571500"/>
          </a:xfrm>
          <a:prstGeom prst="ellipse">
            <a:avLst/>
          </a:prstGeom>
          <a:noFill/>
          <a:ln w="8890">
            <a:solidFill>
              <a:srgbClr val="E9A6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Distributional dynamics icon spoke 1"/>
          <p:cNvCxnSpPr/>
          <p:nvPr/>
        </p:nvCxnSpPr>
        <p:spPr>
          <a:xfrm flipV="1">
            <a:off x="10322718" y="2428875"/>
            <a:ext cx="0" cy="303609"/>
          </a:xfrm>
          <a:prstGeom prst="line">
            <a:avLst/>
          </a:prstGeom>
          <a:ln w="952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Distributional dynamics icon spoke 2"/>
          <p:cNvCxnSpPr/>
          <p:nvPr/>
        </p:nvCxnSpPr>
        <p:spPr>
          <a:xfrm flipH="1" flipV="1">
            <a:off x="10028039" y="2714625"/>
            <a:ext cx="294679" cy="17859"/>
          </a:xfrm>
          <a:prstGeom prst="line">
            <a:avLst/>
          </a:prstGeom>
          <a:ln w="952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Distributional dynamics icon spoke 3"/>
          <p:cNvCxnSpPr/>
          <p:nvPr/>
        </p:nvCxnSpPr>
        <p:spPr>
          <a:xfrm flipV="1">
            <a:off x="10322718" y="2714625"/>
            <a:ext cx="303610" cy="17859"/>
          </a:xfrm>
          <a:prstGeom prst="line">
            <a:avLst/>
          </a:prstGeom>
          <a:ln w="952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Distributional dynamics icon spoke 4"/>
          <p:cNvCxnSpPr/>
          <p:nvPr/>
        </p:nvCxnSpPr>
        <p:spPr>
          <a:xfrm>
            <a:off x="10322718" y="2732484"/>
            <a:ext cx="0" cy="294680"/>
          </a:xfrm>
          <a:prstGeom prst="line">
            <a:avLst/>
          </a:prstGeom>
          <a:ln w="952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Distributional dynamics icon node 1"/>
          <p:cNvSpPr/>
          <p:nvPr/>
        </p:nvSpPr>
        <p:spPr>
          <a:xfrm>
            <a:off x="10251281" y="2661046"/>
            <a:ext cx="142875" cy="142875"/>
          </a:xfrm>
          <a:prstGeom prst="ellipse">
            <a:avLst/>
          </a:prstGeom>
          <a:solidFill>
            <a:srgbClr val="C85A1B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Distributional dynamics icon node 2"/>
          <p:cNvSpPr/>
          <p:nvPr/>
        </p:nvSpPr>
        <p:spPr>
          <a:xfrm>
            <a:off x="10251281" y="2357437"/>
            <a:ext cx="142875" cy="142875"/>
          </a:xfrm>
          <a:prstGeom prst="ellipse">
            <a:avLst/>
          </a:prstGeom>
          <a:solidFill>
            <a:srgbClr val="E98651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istributional dynamics icon node 3"/>
          <p:cNvSpPr/>
          <p:nvPr/>
        </p:nvSpPr>
        <p:spPr>
          <a:xfrm>
            <a:off x="9956601" y="2643187"/>
            <a:ext cx="142875" cy="142875"/>
          </a:xfrm>
          <a:prstGeom prst="ellipse">
            <a:avLst/>
          </a:prstGeom>
          <a:solidFill>
            <a:srgbClr val="E98651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Distributional dynamics icon node 4"/>
          <p:cNvSpPr/>
          <p:nvPr/>
        </p:nvSpPr>
        <p:spPr>
          <a:xfrm>
            <a:off x="10554890" y="2643187"/>
            <a:ext cx="142875" cy="142875"/>
          </a:xfrm>
          <a:prstGeom prst="ellipse">
            <a:avLst/>
          </a:prstGeom>
          <a:solidFill>
            <a:srgbClr val="E98651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istributional dynamics icon node 5"/>
          <p:cNvSpPr/>
          <p:nvPr/>
        </p:nvSpPr>
        <p:spPr>
          <a:xfrm>
            <a:off x="10251281" y="2955726"/>
            <a:ext cx="142875" cy="142875"/>
          </a:xfrm>
          <a:prstGeom prst="ellipse">
            <a:avLst/>
          </a:prstGeom>
          <a:solidFill>
            <a:srgbClr val="E98651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ransition tokens"/>
          <p:cNvSpPr/>
          <p:nvPr/>
        </p:nvSpPr>
        <p:spPr>
          <a:xfrm>
            <a:off x="11563945" y="1651992"/>
            <a:ext cx="1982390" cy="3750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ransition tokens token 1"/>
          <p:cNvSpPr/>
          <p:nvPr/>
        </p:nvSpPr>
        <p:spPr>
          <a:xfrm>
            <a:off x="11644312" y="1759148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ransition tokens token 2"/>
          <p:cNvSpPr/>
          <p:nvPr/>
        </p:nvSpPr>
        <p:spPr>
          <a:xfrm>
            <a:off x="11876484" y="1759148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ransition tokens token 3"/>
          <p:cNvSpPr/>
          <p:nvPr/>
        </p:nvSpPr>
        <p:spPr>
          <a:xfrm>
            <a:off x="12108656" y="1759148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ransition tokens token 4"/>
          <p:cNvSpPr/>
          <p:nvPr/>
        </p:nvSpPr>
        <p:spPr>
          <a:xfrm>
            <a:off x="12340828" y="1759148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ransition tokens token 5"/>
          <p:cNvSpPr/>
          <p:nvPr/>
        </p:nvSpPr>
        <p:spPr>
          <a:xfrm>
            <a:off x="12573000" y="1759148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ransition tokens token 6"/>
          <p:cNvSpPr/>
          <p:nvPr/>
        </p:nvSpPr>
        <p:spPr>
          <a:xfrm>
            <a:off x="12805171" y="1759148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ransition tokens ellipsis"/>
          <p:cNvSpPr txBox="1"/>
          <p:nvPr/>
        </p:nvSpPr>
        <p:spPr>
          <a:xfrm>
            <a:off x="13269515" y="1660921"/>
            <a:ext cx="223242" cy="357187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sp>
        <p:nvSpPr>
          <p:cNvPr id="197" name="Transition label"/>
          <p:cNvSpPr txBox="1"/>
          <p:nvPr/>
        </p:nvSpPr>
        <p:spPr>
          <a:xfrm>
            <a:off x="11733609" y="2071687"/>
            <a:ext cx="1616273" cy="267890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Δₜ,ₕ · Transition</a:t>
            </a:r>
          </a:p>
        </p:txBody>
      </p:sp>
      <p:sp>
        <p:nvSpPr>
          <p:cNvPr id="198" name="Future-state GMM"/>
          <p:cNvSpPr/>
          <p:nvPr/>
        </p:nvSpPr>
        <p:spPr>
          <a:xfrm>
            <a:off x="11563945" y="2428875"/>
            <a:ext cx="1964531" cy="9197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uture-state GMM origin"/>
          <p:cNvSpPr/>
          <p:nvPr/>
        </p:nvSpPr>
        <p:spPr>
          <a:xfrm>
            <a:off x="11688960" y="2853035"/>
            <a:ext cx="71437" cy="71437"/>
          </a:xfrm>
          <a:prstGeom prst="ellipse">
            <a:avLst/>
          </a:prstGeom>
          <a:solidFill>
            <a:srgbClr val="E88650"/>
          </a:solidFill>
          <a:ln w="635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Future-state GMM branch 1"/>
          <p:cNvCxnSpPr/>
          <p:nvPr/>
        </p:nvCxnSpPr>
        <p:spPr>
          <a:xfrm flipV="1">
            <a:off x="11724679" y="2643187"/>
            <a:ext cx="267891" cy="245566"/>
          </a:xfrm>
          <a:prstGeom prst="line">
            <a:avLst/>
          </a:prstGeom>
          <a:ln w="8255">
            <a:solidFill>
              <a:srgbClr val="C9430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Future-state GMM row 1 token 1"/>
          <p:cNvSpPr/>
          <p:nvPr/>
        </p:nvSpPr>
        <p:spPr>
          <a:xfrm>
            <a:off x="12072937" y="2562820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Future-state GMM row 1 token 2"/>
          <p:cNvSpPr/>
          <p:nvPr/>
        </p:nvSpPr>
        <p:spPr>
          <a:xfrm>
            <a:off x="12331898" y="2562820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Future-state GMM row 1 token 3"/>
          <p:cNvSpPr/>
          <p:nvPr/>
        </p:nvSpPr>
        <p:spPr>
          <a:xfrm>
            <a:off x="12590859" y="2562820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uture-state GMM row 1 token 4"/>
          <p:cNvSpPr/>
          <p:nvPr/>
        </p:nvSpPr>
        <p:spPr>
          <a:xfrm>
            <a:off x="12849820" y="2562820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uture-state GMM row 1 ellipsis"/>
          <p:cNvSpPr txBox="1"/>
          <p:nvPr/>
        </p:nvSpPr>
        <p:spPr>
          <a:xfrm>
            <a:off x="13144500" y="2536031"/>
            <a:ext cx="187523" cy="214312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cxnSp>
        <p:nvCxnSpPr>
          <p:cNvPr id="206" name="Future-state GMM branch 2"/>
          <p:cNvCxnSpPr/>
          <p:nvPr/>
        </p:nvCxnSpPr>
        <p:spPr>
          <a:xfrm>
            <a:off x="11724679" y="2888753"/>
            <a:ext cx="267891" cy="4465"/>
          </a:xfrm>
          <a:prstGeom prst="line">
            <a:avLst/>
          </a:prstGeom>
          <a:ln w="8255">
            <a:solidFill>
              <a:srgbClr val="C9430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Future-state GMM row 2 token 1"/>
          <p:cNvSpPr/>
          <p:nvPr/>
        </p:nvSpPr>
        <p:spPr>
          <a:xfrm>
            <a:off x="12072937" y="2812851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uture-state GMM row 2 token 2"/>
          <p:cNvSpPr/>
          <p:nvPr/>
        </p:nvSpPr>
        <p:spPr>
          <a:xfrm>
            <a:off x="12331898" y="2812851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uture-state GMM row 2 token 3"/>
          <p:cNvSpPr/>
          <p:nvPr/>
        </p:nvSpPr>
        <p:spPr>
          <a:xfrm>
            <a:off x="12590859" y="2812851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uture-state GMM row 2 token 4"/>
          <p:cNvSpPr/>
          <p:nvPr/>
        </p:nvSpPr>
        <p:spPr>
          <a:xfrm>
            <a:off x="12849820" y="2812851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uture-state GMM row 2 ellipsis"/>
          <p:cNvSpPr txBox="1"/>
          <p:nvPr/>
        </p:nvSpPr>
        <p:spPr>
          <a:xfrm>
            <a:off x="13144500" y="2786062"/>
            <a:ext cx="187523" cy="214312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cxnSp>
        <p:nvCxnSpPr>
          <p:cNvPr id="212" name="Future-state GMM branch 3"/>
          <p:cNvCxnSpPr/>
          <p:nvPr/>
        </p:nvCxnSpPr>
        <p:spPr>
          <a:xfrm>
            <a:off x="11724679" y="2888753"/>
            <a:ext cx="267891" cy="254497"/>
          </a:xfrm>
          <a:prstGeom prst="line">
            <a:avLst/>
          </a:prstGeom>
          <a:ln w="8255">
            <a:solidFill>
              <a:srgbClr val="C9430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Future-state GMM row 3 token 1"/>
          <p:cNvSpPr/>
          <p:nvPr/>
        </p:nvSpPr>
        <p:spPr>
          <a:xfrm>
            <a:off x="12072937" y="3062882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Future-state GMM row 3 token 2"/>
          <p:cNvSpPr/>
          <p:nvPr/>
        </p:nvSpPr>
        <p:spPr>
          <a:xfrm>
            <a:off x="12331898" y="3062882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Future-state GMM row 3 token 3"/>
          <p:cNvSpPr/>
          <p:nvPr/>
        </p:nvSpPr>
        <p:spPr>
          <a:xfrm>
            <a:off x="12590859" y="3062882"/>
            <a:ext cx="169664" cy="160734"/>
          </a:xfrm>
          <a:prstGeom prst="rect">
            <a:avLst/>
          </a:prstGeom>
          <a:solidFill>
            <a:srgbClr val="FFF2EA"/>
          </a:solidFill>
          <a:ln w="825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uture-state GMM row 3 ellipsis"/>
          <p:cNvSpPr txBox="1"/>
          <p:nvPr/>
        </p:nvSpPr>
        <p:spPr>
          <a:xfrm>
            <a:off x="13144500" y="3036093"/>
            <a:ext cx="187523" cy="214312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sp>
        <p:nvSpPr>
          <p:cNvPr id="217" name="Future-state GMM A"/>
          <p:cNvSpPr txBox="1"/>
          <p:nvPr/>
        </p:nvSpPr>
        <p:spPr>
          <a:xfrm>
            <a:off x="13251656" y="2518171"/>
            <a:ext cx="196453" cy="205382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sp>
        <p:nvSpPr>
          <p:cNvPr id="218" name="Future-state GMM G"/>
          <p:cNvSpPr txBox="1"/>
          <p:nvPr/>
        </p:nvSpPr>
        <p:spPr>
          <a:xfrm>
            <a:off x="13251656" y="2768203"/>
            <a:ext cx="196453" cy="205382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11111"/>
                </a:solidFill>
                <a:latin typeface="Arial"/>
              </a:rPr>
              <a:t>G</a:t>
            </a:r>
          </a:p>
        </p:txBody>
      </p:sp>
      <p:sp>
        <p:nvSpPr>
          <p:cNvPr id="219" name="Future-state GMM M"/>
          <p:cNvSpPr txBox="1"/>
          <p:nvPr/>
        </p:nvSpPr>
        <p:spPr>
          <a:xfrm>
            <a:off x="13251656" y="3018234"/>
            <a:ext cx="196453" cy="205382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11111"/>
                </a:solidFill>
                <a:latin typeface="Arial"/>
              </a:rPr>
              <a:t>M</a:t>
            </a:r>
          </a:p>
        </p:txBody>
      </p:sp>
      <p:sp>
        <p:nvSpPr>
          <p:cNvPr id="220" name="Future-state GMM label"/>
          <p:cNvSpPr txBox="1"/>
          <p:nvPr/>
        </p:nvSpPr>
        <p:spPr>
          <a:xfrm>
            <a:off x="11671101" y="3393281"/>
            <a:ext cx="1732359" cy="375046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Arial"/>
              </a:rPr>
              <a:t>K-component GMM ·
predicted A / G / M</a:t>
            </a:r>
          </a:p>
        </p:txBody>
      </p:sp>
      <p:cxnSp>
        <p:nvCxnSpPr>
          <p:cNvPr id="221" name="Multi-step rollout arrow 1"/>
          <p:cNvCxnSpPr/>
          <p:nvPr/>
        </p:nvCxnSpPr>
        <p:spPr>
          <a:xfrm>
            <a:off x="10519171" y="3437929"/>
            <a:ext cx="8930" cy="125016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Multi-step rollout arrow 2"/>
          <p:cNvCxnSpPr/>
          <p:nvPr/>
        </p:nvCxnSpPr>
        <p:spPr>
          <a:xfrm flipH="1">
            <a:off x="10519171" y="3562945"/>
            <a:ext cx="8930" cy="107156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Multi-step rollout arrow 3"/>
          <p:cNvCxnSpPr/>
          <p:nvPr/>
        </p:nvCxnSpPr>
        <p:spPr>
          <a:xfrm flipH="1">
            <a:off x="10474523" y="3670101"/>
            <a:ext cx="44648" cy="107156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Multi-step rollout arrow 4"/>
          <p:cNvCxnSpPr/>
          <p:nvPr/>
        </p:nvCxnSpPr>
        <p:spPr>
          <a:xfrm flipH="1">
            <a:off x="10403085" y="3777257"/>
            <a:ext cx="71438" cy="71438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Multi-step rollout arrow 5"/>
          <p:cNvCxnSpPr/>
          <p:nvPr/>
        </p:nvCxnSpPr>
        <p:spPr>
          <a:xfrm flipH="1">
            <a:off x="10304859" y="3848695"/>
            <a:ext cx="98226" cy="35719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Multi-step rollout arrow 6"/>
          <p:cNvCxnSpPr/>
          <p:nvPr/>
        </p:nvCxnSpPr>
        <p:spPr>
          <a:xfrm flipH="1" flipV="1">
            <a:off x="10206632" y="3875484"/>
            <a:ext cx="98227" cy="8930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Multi-step rollout arrow 7"/>
          <p:cNvCxnSpPr/>
          <p:nvPr/>
        </p:nvCxnSpPr>
        <p:spPr>
          <a:xfrm flipH="1" flipV="1">
            <a:off x="10117335" y="3830835"/>
            <a:ext cx="89297" cy="44649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Multi-step rollout arrow 8"/>
          <p:cNvCxnSpPr/>
          <p:nvPr/>
        </p:nvCxnSpPr>
        <p:spPr>
          <a:xfrm flipH="1" flipV="1">
            <a:off x="10054828" y="3750468"/>
            <a:ext cx="62507" cy="80367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Multi-step rollout arrow 9"/>
          <p:cNvCxnSpPr/>
          <p:nvPr/>
        </p:nvCxnSpPr>
        <p:spPr>
          <a:xfrm flipH="1" flipV="1">
            <a:off x="10019109" y="3652242"/>
            <a:ext cx="35719" cy="98226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Multi-step rollout arrow 10"/>
          <p:cNvCxnSpPr/>
          <p:nvPr/>
        </p:nvCxnSpPr>
        <p:spPr>
          <a:xfrm flipH="1" flipV="1">
            <a:off x="10010179" y="3554015"/>
            <a:ext cx="8930" cy="98227"/>
          </a:xfrm>
          <a:prstGeom prst="line">
            <a:avLst/>
          </a:prstGeom>
          <a:ln w="19685">
            <a:solidFill>
              <a:srgbClr val="C943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Multi-step rollout arrow 11"/>
          <p:cNvCxnSpPr/>
          <p:nvPr/>
        </p:nvCxnSpPr>
        <p:spPr>
          <a:xfrm flipV="1">
            <a:off x="10010179" y="3437929"/>
            <a:ext cx="0" cy="116086"/>
          </a:xfrm>
          <a:prstGeom prst="line">
            <a:avLst/>
          </a:prstGeom>
          <a:ln w="19685">
            <a:solidFill>
              <a:srgbClr val="C9430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Multi-step rollout label"/>
          <p:cNvSpPr txBox="1"/>
          <p:nvPr/>
        </p:nvSpPr>
        <p:spPr>
          <a:xfrm>
            <a:off x="9706570" y="3937992"/>
            <a:ext cx="1437679" cy="24110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11111"/>
                </a:solidFill>
                <a:latin typeface="Arial"/>
              </a:rPr>
              <a:t>multi-step rollout</a:t>
            </a:r>
          </a:p>
        </p:txBody>
      </p:sp>
      <p:sp>
        <p:nvSpPr>
          <p:cNvPr id="233" name="Panel A title"/>
          <p:cNvSpPr txBox="1"/>
          <p:nvPr/>
        </p:nvSpPr>
        <p:spPr>
          <a:xfrm>
            <a:off x="178593" y="133945"/>
            <a:ext cx="2857500" cy="312539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C2A60"/>
                </a:solidFill>
                <a:latin typeface="Arial"/>
              </a:rPr>
              <a:t>(a) Structured current state</a:t>
            </a:r>
          </a:p>
        </p:txBody>
      </p:sp>
      <p:sp>
        <p:nvSpPr>
          <p:cNvPr id="234" name="Panel B title"/>
          <p:cNvSpPr txBox="1"/>
          <p:nvPr/>
        </p:nvSpPr>
        <p:spPr>
          <a:xfrm>
            <a:off x="9411890" y="133945"/>
            <a:ext cx="3071812" cy="312539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C94308"/>
                </a:solidFill>
                <a:latin typeface="Arial"/>
              </a:rPr>
              <a:t>(b) Predictive world model</a:t>
            </a:r>
          </a:p>
        </p:txBody>
      </p:sp>
      <p:sp>
        <p:nvSpPr>
          <p:cNvPr id="235" name="Training-only frame"/>
          <p:cNvSpPr/>
          <p:nvPr/>
        </p:nvSpPr>
        <p:spPr>
          <a:xfrm>
            <a:off x="71437" y="4277320"/>
            <a:ext cx="13501687" cy="3321843"/>
          </a:xfrm>
          <a:prstGeom prst="roundRect">
            <a:avLst>
              <a:gd name="adj" fmla="val 1500"/>
            </a:avLst>
          </a:prstGeom>
          <a:solidFill>
            <a:srgbClr val="FEFFFD"/>
          </a:solidFill>
          <a:ln w="15875">
            <a:solidFill>
              <a:srgbClr val="216A2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Target studies to EMA encoder"/>
          <p:cNvCxnSpPr/>
          <p:nvPr/>
        </p:nvCxnSpPr>
        <p:spPr>
          <a:xfrm>
            <a:off x="2232421" y="5536406"/>
            <a:ext cx="455414" cy="0"/>
          </a:xfrm>
          <a:prstGeom prst="line">
            <a:avLst/>
          </a:prstGeom>
          <a:ln w="1714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EMA encoder to dense targets 1"/>
          <p:cNvCxnSpPr/>
          <p:nvPr/>
        </p:nvCxnSpPr>
        <p:spPr>
          <a:xfrm>
            <a:off x="4196953" y="5098851"/>
            <a:ext cx="178593" cy="0"/>
          </a:xfrm>
          <a:prstGeom prst="line">
            <a:avLst/>
          </a:prstGeom>
          <a:ln w="1587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MA encoder to dense targets 2"/>
          <p:cNvCxnSpPr/>
          <p:nvPr/>
        </p:nvCxnSpPr>
        <p:spPr>
          <a:xfrm flipV="1">
            <a:off x="4375546" y="5045273"/>
            <a:ext cx="0" cy="53578"/>
          </a:xfrm>
          <a:prstGeom prst="line">
            <a:avLst/>
          </a:prstGeom>
          <a:ln w="1587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EMA encoder to dense targets 3"/>
          <p:cNvCxnSpPr/>
          <p:nvPr/>
        </p:nvCxnSpPr>
        <p:spPr>
          <a:xfrm>
            <a:off x="4375546" y="5045273"/>
            <a:ext cx="258961" cy="0"/>
          </a:xfrm>
          <a:prstGeom prst="line">
            <a:avLst/>
          </a:prstGeom>
          <a:ln w="1587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EMA encoder to anatomy targets"/>
          <p:cNvCxnSpPr/>
          <p:nvPr/>
        </p:nvCxnSpPr>
        <p:spPr>
          <a:xfrm>
            <a:off x="4196953" y="5554265"/>
            <a:ext cx="437554" cy="0"/>
          </a:xfrm>
          <a:prstGeom prst="line">
            <a:avLst/>
          </a:prstGeom>
          <a:ln w="1587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EMA encoder to global targets 1"/>
          <p:cNvCxnSpPr/>
          <p:nvPr/>
        </p:nvCxnSpPr>
        <p:spPr>
          <a:xfrm>
            <a:off x="4196953" y="6000750"/>
            <a:ext cx="178593" cy="0"/>
          </a:xfrm>
          <a:prstGeom prst="line">
            <a:avLst/>
          </a:prstGeom>
          <a:ln w="1587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EMA encoder to global targets 2"/>
          <p:cNvCxnSpPr/>
          <p:nvPr/>
        </p:nvCxnSpPr>
        <p:spPr>
          <a:xfrm>
            <a:off x="4375546" y="6000750"/>
            <a:ext cx="0" cy="160734"/>
          </a:xfrm>
          <a:prstGeom prst="line">
            <a:avLst/>
          </a:prstGeom>
          <a:ln w="1587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EMA encoder to global targets 3"/>
          <p:cNvCxnSpPr/>
          <p:nvPr/>
        </p:nvCxnSpPr>
        <p:spPr>
          <a:xfrm>
            <a:off x="4375546" y="6161484"/>
            <a:ext cx="258961" cy="0"/>
          </a:xfrm>
          <a:prstGeom prst="line">
            <a:avLst/>
          </a:prstGeom>
          <a:ln w="1587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Dense target to target fusion 1"/>
          <p:cNvCxnSpPr/>
          <p:nvPr/>
        </p:nvCxnSpPr>
        <p:spPr>
          <a:xfrm>
            <a:off x="6607968" y="5009554"/>
            <a:ext cx="142875" cy="0"/>
          </a:xfrm>
          <a:prstGeom prst="line">
            <a:avLst/>
          </a:prstGeom>
          <a:ln w="14604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Dense target to target fusion 2"/>
          <p:cNvCxnSpPr/>
          <p:nvPr/>
        </p:nvCxnSpPr>
        <p:spPr>
          <a:xfrm>
            <a:off x="6750843" y="5009554"/>
            <a:ext cx="0" cy="830461"/>
          </a:xfrm>
          <a:prstGeom prst="line">
            <a:avLst/>
          </a:prstGeom>
          <a:ln w="14604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Dense target to target fusion 3"/>
          <p:cNvCxnSpPr/>
          <p:nvPr/>
        </p:nvCxnSpPr>
        <p:spPr>
          <a:xfrm>
            <a:off x="6750843" y="5840015"/>
            <a:ext cx="276821" cy="0"/>
          </a:xfrm>
          <a:prstGeom prst="line">
            <a:avLst/>
          </a:prstGeom>
          <a:ln w="14604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Anatomy target join 1"/>
          <p:cNvCxnSpPr/>
          <p:nvPr/>
        </p:nvCxnSpPr>
        <p:spPr>
          <a:xfrm>
            <a:off x="6607968" y="5589984"/>
            <a:ext cx="142875" cy="0"/>
          </a:xfrm>
          <a:prstGeom prst="line">
            <a:avLst/>
          </a:prstGeom>
          <a:ln w="14604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Anatomy target join 2"/>
          <p:cNvCxnSpPr/>
          <p:nvPr/>
        </p:nvCxnSpPr>
        <p:spPr>
          <a:xfrm>
            <a:off x="6750843" y="5589984"/>
            <a:ext cx="0" cy="250031"/>
          </a:xfrm>
          <a:prstGeom prst="line">
            <a:avLst/>
          </a:prstGeom>
          <a:ln w="14604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lobal target join 1"/>
          <p:cNvCxnSpPr/>
          <p:nvPr/>
        </p:nvCxnSpPr>
        <p:spPr>
          <a:xfrm>
            <a:off x="6607968" y="6161484"/>
            <a:ext cx="142875" cy="0"/>
          </a:xfrm>
          <a:prstGeom prst="line">
            <a:avLst/>
          </a:prstGeom>
          <a:ln w="14604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Global target join 2"/>
          <p:cNvCxnSpPr/>
          <p:nvPr/>
        </p:nvCxnSpPr>
        <p:spPr>
          <a:xfrm flipV="1">
            <a:off x="6750843" y="5840015"/>
            <a:ext cx="0" cy="321469"/>
          </a:xfrm>
          <a:prstGeom prst="line">
            <a:avLst/>
          </a:prstGeom>
          <a:ln w="14604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Future report to target fusion"/>
          <p:cNvCxnSpPr/>
          <p:nvPr/>
        </p:nvCxnSpPr>
        <p:spPr>
          <a:xfrm>
            <a:off x="7867054" y="5277445"/>
            <a:ext cx="0" cy="258961"/>
          </a:xfrm>
          <a:prstGeom prst="line">
            <a:avLst/>
          </a:prstGeom>
          <a:ln w="1587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Target fusion to future tokens"/>
          <p:cNvCxnSpPr/>
          <p:nvPr/>
        </p:nvCxnSpPr>
        <p:spPr>
          <a:xfrm>
            <a:off x="8670726" y="5840015"/>
            <a:ext cx="419695" cy="0"/>
          </a:xfrm>
          <a:prstGeom prst="line">
            <a:avLst/>
          </a:prstGeom>
          <a:ln w="1587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Future targets to stop-gradient card"/>
          <p:cNvCxnSpPr/>
          <p:nvPr/>
        </p:nvCxnSpPr>
        <p:spPr>
          <a:xfrm>
            <a:off x="10215562" y="5777507"/>
            <a:ext cx="214313" cy="0"/>
          </a:xfrm>
          <a:prstGeom prst="line">
            <a:avLst/>
          </a:prstGeom>
          <a:ln w="15875">
            <a:solidFill>
              <a:srgbClr val="216A2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EMA update arrow"/>
          <p:cNvCxnSpPr/>
          <p:nvPr/>
        </p:nvCxnSpPr>
        <p:spPr>
          <a:xfrm flipV="1">
            <a:off x="3429000" y="4286250"/>
            <a:ext cx="0" cy="544710"/>
          </a:xfrm>
          <a:prstGeom prst="line">
            <a:avLst/>
          </a:prstGeom>
          <a:ln w="12700">
            <a:solidFill>
              <a:srgbClr val="737373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upervision to volume loss 1"/>
          <p:cNvCxnSpPr/>
          <p:nvPr/>
        </p:nvCxnSpPr>
        <p:spPr>
          <a:xfrm>
            <a:off x="11001375" y="6125765"/>
            <a:ext cx="0" cy="491133"/>
          </a:xfrm>
          <a:prstGeom prst="line">
            <a:avLst/>
          </a:prstGeom>
          <a:ln w="13970">
            <a:solidFill>
              <a:srgbClr val="216A2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upervision to volume loss 2"/>
          <p:cNvCxnSpPr/>
          <p:nvPr/>
        </p:nvCxnSpPr>
        <p:spPr>
          <a:xfrm flipH="1">
            <a:off x="2000250" y="6616898"/>
            <a:ext cx="9001125" cy="0"/>
          </a:xfrm>
          <a:prstGeom prst="line">
            <a:avLst/>
          </a:prstGeom>
          <a:ln w="13970">
            <a:solidFill>
              <a:srgbClr val="216A2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upervision to volume loss 3"/>
          <p:cNvCxnSpPr/>
          <p:nvPr/>
        </p:nvCxnSpPr>
        <p:spPr>
          <a:xfrm>
            <a:off x="2000250" y="6616898"/>
            <a:ext cx="0" cy="285750"/>
          </a:xfrm>
          <a:prstGeom prst="line">
            <a:avLst/>
          </a:prstGeom>
          <a:ln w="13970">
            <a:solidFill>
              <a:srgbClr val="216A21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upervision to VL loss"/>
          <p:cNvCxnSpPr/>
          <p:nvPr/>
        </p:nvCxnSpPr>
        <p:spPr>
          <a:xfrm>
            <a:off x="4955976" y="6616898"/>
            <a:ext cx="0" cy="285750"/>
          </a:xfrm>
          <a:prstGeom prst="line">
            <a:avLst/>
          </a:prstGeom>
          <a:ln w="13970">
            <a:solidFill>
              <a:srgbClr val="216A21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upervision to future loss"/>
          <p:cNvCxnSpPr/>
          <p:nvPr/>
        </p:nvCxnSpPr>
        <p:spPr>
          <a:xfrm>
            <a:off x="8152804" y="6616898"/>
            <a:ext cx="0" cy="285750"/>
          </a:xfrm>
          <a:prstGeom prst="line">
            <a:avLst/>
          </a:prstGeom>
          <a:ln w="13970">
            <a:solidFill>
              <a:srgbClr val="216A21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upervision to rollout loss 1"/>
          <p:cNvCxnSpPr/>
          <p:nvPr/>
        </p:nvCxnSpPr>
        <p:spPr>
          <a:xfrm>
            <a:off x="12421195" y="6125765"/>
            <a:ext cx="0" cy="491133"/>
          </a:xfrm>
          <a:prstGeom prst="line">
            <a:avLst/>
          </a:prstGeom>
          <a:ln w="13970">
            <a:solidFill>
              <a:srgbClr val="216A2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upervision to rollout loss 2"/>
          <p:cNvCxnSpPr/>
          <p:nvPr/>
        </p:nvCxnSpPr>
        <p:spPr>
          <a:xfrm flipH="1">
            <a:off x="11787187" y="6616898"/>
            <a:ext cx="634008" cy="0"/>
          </a:xfrm>
          <a:prstGeom prst="line">
            <a:avLst/>
          </a:prstGeom>
          <a:ln w="13970">
            <a:solidFill>
              <a:srgbClr val="216A2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upervision to rollout loss 3"/>
          <p:cNvCxnSpPr/>
          <p:nvPr/>
        </p:nvCxnSpPr>
        <p:spPr>
          <a:xfrm>
            <a:off x="11787187" y="6616898"/>
            <a:ext cx="0" cy="285750"/>
          </a:xfrm>
          <a:prstGeom prst="line">
            <a:avLst/>
          </a:prstGeom>
          <a:ln w="13970">
            <a:solidFill>
              <a:srgbClr val="216A21"/>
            </a:solidFill>
            <a:tailEnd type="triangle" w="sm" len="sm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arget studies card"/>
          <p:cNvSpPr/>
          <p:nvPr/>
        </p:nvSpPr>
        <p:spPr>
          <a:xfrm>
            <a:off x="178593" y="4830960"/>
            <a:ext cx="2053828" cy="14376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arget studies label"/>
          <p:cNvSpPr txBox="1"/>
          <p:nvPr/>
        </p:nvSpPr>
        <p:spPr>
          <a:xfrm>
            <a:off x="339328" y="4929187"/>
            <a:ext cx="1732359" cy="42862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Target studies
xₜ  and  xₜ₊ₕ</a:t>
            </a:r>
          </a:p>
        </p:txBody>
      </p:sp>
      <p:pic>
        <p:nvPicPr>
          <p:cNvPr id="265" name="Target X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20" y="5473898"/>
            <a:ext cx="535781" cy="598289"/>
          </a:xfrm>
          <a:prstGeom prst="rect">
            <a:avLst/>
          </a:prstGeom>
          <a:ln w="5715">
            <a:solidFill>
              <a:srgbClr val="E3E3E3"/>
            </a:solidFill>
          </a:ln>
          <a:effectLst/>
        </p:spPr>
      </p:pic>
      <p:pic>
        <p:nvPicPr>
          <p:cNvPr id="266" name="Target C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39" y="5473898"/>
            <a:ext cx="544710" cy="598289"/>
          </a:xfrm>
          <a:prstGeom prst="rect">
            <a:avLst/>
          </a:prstGeom>
          <a:ln w="5715">
            <a:solidFill>
              <a:srgbClr val="E3E3E3"/>
            </a:solidFill>
          </a:ln>
          <a:effectLst/>
        </p:spPr>
      </p:pic>
      <p:pic>
        <p:nvPicPr>
          <p:cNvPr id="267" name="Target MRI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9117" y="5473898"/>
            <a:ext cx="535781" cy="598289"/>
          </a:xfrm>
          <a:prstGeom prst="rect">
            <a:avLst/>
          </a:prstGeom>
          <a:ln w="5715">
            <a:solidFill>
              <a:srgbClr val="E3E3E3"/>
            </a:solidFill>
          </a:ln>
          <a:effectLst/>
        </p:spPr>
      </p:pic>
      <p:sp>
        <p:nvSpPr>
          <p:cNvPr id="268" name="Target studies ellipsis"/>
          <p:cNvSpPr txBox="1"/>
          <p:nvPr/>
        </p:nvSpPr>
        <p:spPr>
          <a:xfrm>
            <a:off x="2000250" y="5572125"/>
            <a:ext cx="205382" cy="32146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···</a:t>
            </a:r>
          </a:p>
        </p:txBody>
      </p:sp>
      <p:sp>
        <p:nvSpPr>
          <p:cNvPr id="269" name="EMA visual target encoder"/>
          <p:cNvSpPr/>
          <p:nvPr/>
        </p:nvSpPr>
        <p:spPr>
          <a:xfrm>
            <a:off x="2705695" y="4830960"/>
            <a:ext cx="1491257" cy="1446609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EMA visual target encoder label"/>
          <p:cNvSpPr txBox="1"/>
          <p:nvPr/>
        </p:nvSpPr>
        <p:spPr>
          <a:xfrm>
            <a:off x="2830710" y="4920257"/>
            <a:ext cx="1241226" cy="42862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EMA visual
target encoder</a:t>
            </a:r>
          </a:p>
        </p:txBody>
      </p:sp>
      <p:sp>
        <p:nvSpPr>
          <p:cNvPr id="271" name="EMA target volume cube 1 top"/>
          <p:cNvSpPr/>
          <p:nvPr/>
        </p:nvSpPr>
        <p:spPr>
          <a:xfrm>
            <a:off x="3295054" y="5384601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MA target volume cube 1 side"/>
          <p:cNvSpPr/>
          <p:nvPr/>
        </p:nvSpPr>
        <p:spPr>
          <a:xfrm>
            <a:off x="3462486" y="5384601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EMA target volume cube 1 front"/>
          <p:cNvSpPr/>
          <p:nvPr/>
        </p:nvSpPr>
        <p:spPr>
          <a:xfrm>
            <a:off x="3295054" y="5438179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EMA target volume cube 2 top"/>
          <p:cNvSpPr/>
          <p:nvPr/>
        </p:nvSpPr>
        <p:spPr>
          <a:xfrm>
            <a:off x="3469183" y="5438179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MA target volume cube 2 side"/>
          <p:cNvSpPr/>
          <p:nvPr/>
        </p:nvSpPr>
        <p:spPr>
          <a:xfrm>
            <a:off x="3636615" y="5438179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EMA target volume cube 2 front"/>
          <p:cNvSpPr/>
          <p:nvPr/>
        </p:nvSpPr>
        <p:spPr>
          <a:xfrm>
            <a:off x="3469183" y="5491757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EMA target volume cube 3 top"/>
          <p:cNvSpPr/>
          <p:nvPr/>
        </p:nvSpPr>
        <p:spPr>
          <a:xfrm>
            <a:off x="3147714" y="5538638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MA target volume cube 3 side"/>
          <p:cNvSpPr/>
          <p:nvPr/>
        </p:nvSpPr>
        <p:spPr>
          <a:xfrm>
            <a:off x="3315146" y="5538638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EMA target volume cube 3 front"/>
          <p:cNvSpPr/>
          <p:nvPr/>
        </p:nvSpPr>
        <p:spPr>
          <a:xfrm>
            <a:off x="3147714" y="5592216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EMA target volume cube 4 top"/>
          <p:cNvSpPr/>
          <p:nvPr/>
        </p:nvSpPr>
        <p:spPr>
          <a:xfrm>
            <a:off x="3321843" y="5578822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MA target volume cube 4 side"/>
          <p:cNvSpPr/>
          <p:nvPr/>
        </p:nvSpPr>
        <p:spPr>
          <a:xfrm>
            <a:off x="3489275" y="5578822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MA target volume cube 4 front"/>
          <p:cNvSpPr/>
          <p:nvPr/>
        </p:nvSpPr>
        <p:spPr>
          <a:xfrm>
            <a:off x="3321843" y="5632400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MA target volume cube 5 top"/>
          <p:cNvSpPr/>
          <p:nvPr/>
        </p:nvSpPr>
        <p:spPr>
          <a:xfrm>
            <a:off x="3509367" y="5545335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MA target volume cube 5 side"/>
          <p:cNvSpPr/>
          <p:nvPr/>
        </p:nvSpPr>
        <p:spPr>
          <a:xfrm>
            <a:off x="3676798" y="5545335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MA target volume cube 5 front"/>
          <p:cNvSpPr/>
          <p:nvPr/>
        </p:nvSpPr>
        <p:spPr>
          <a:xfrm>
            <a:off x="3509367" y="5598914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MA target volume cube 6 top"/>
          <p:cNvSpPr/>
          <p:nvPr/>
        </p:nvSpPr>
        <p:spPr>
          <a:xfrm>
            <a:off x="3000375" y="5712767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MA target volume cube 6 side"/>
          <p:cNvSpPr/>
          <p:nvPr/>
        </p:nvSpPr>
        <p:spPr>
          <a:xfrm>
            <a:off x="3167806" y="5712767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EMA target volume cube 6 front"/>
          <p:cNvSpPr/>
          <p:nvPr/>
        </p:nvSpPr>
        <p:spPr>
          <a:xfrm>
            <a:off x="3000375" y="5766345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EMA target volume cube 7 top"/>
          <p:cNvSpPr/>
          <p:nvPr/>
        </p:nvSpPr>
        <p:spPr>
          <a:xfrm>
            <a:off x="3194595" y="5706070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EMA target volume cube 7 side"/>
          <p:cNvSpPr/>
          <p:nvPr/>
        </p:nvSpPr>
        <p:spPr>
          <a:xfrm>
            <a:off x="3362027" y="5706070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EMA target volume cube 7 front"/>
          <p:cNvSpPr/>
          <p:nvPr/>
        </p:nvSpPr>
        <p:spPr>
          <a:xfrm>
            <a:off x="3194595" y="5759648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EMA target volume cube 8 top"/>
          <p:cNvSpPr/>
          <p:nvPr/>
        </p:nvSpPr>
        <p:spPr>
          <a:xfrm>
            <a:off x="3388816" y="5732859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EMA target volume cube 8 side"/>
          <p:cNvSpPr/>
          <p:nvPr/>
        </p:nvSpPr>
        <p:spPr>
          <a:xfrm>
            <a:off x="3556248" y="5732859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EMA target volume cube 8 front"/>
          <p:cNvSpPr/>
          <p:nvPr/>
        </p:nvSpPr>
        <p:spPr>
          <a:xfrm>
            <a:off x="3388816" y="5786437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EMA target volume cube 9 top"/>
          <p:cNvSpPr/>
          <p:nvPr/>
        </p:nvSpPr>
        <p:spPr>
          <a:xfrm>
            <a:off x="3583037" y="5672583"/>
            <a:ext cx="223242" cy="53578"/>
          </a:xfrm>
          <a:custGeom>
            <a:avLst/>
            <a:gdLst/>
            <a:ahLst/>
            <a:cxnLst/>
            <a:rect l="l" t="t" r="r" b="b"/>
            <a:pathLst>
              <a:path w="25" h="6">
                <a:moveTo>
                  <a:pt x="0" y="6"/>
                </a:moveTo>
                <a:lnTo>
                  <a:pt x="6" y="0"/>
                </a:lnTo>
                <a:lnTo>
                  <a:pt x="25" y="0"/>
                </a:lnTo>
                <a:lnTo>
                  <a:pt x="19" y="6"/>
                </a:lnTo>
                <a:close/>
              </a:path>
            </a:pathLst>
          </a:custGeom>
          <a:solidFill>
            <a:srgbClr val="8DB78A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EMA target volume cube 9 side"/>
          <p:cNvSpPr/>
          <p:nvPr/>
        </p:nvSpPr>
        <p:spPr>
          <a:xfrm>
            <a:off x="3750468" y="5672583"/>
            <a:ext cx="53578" cy="223242"/>
          </a:xfrm>
          <a:custGeom>
            <a:avLst/>
            <a:gdLst/>
            <a:ahLst/>
            <a:cxnLst/>
            <a:rect l="l" t="t" r="r" b="b"/>
            <a:pathLst>
              <a:path w="6" h="25">
                <a:moveTo>
                  <a:pt x="0" y="6"/>
                </a:moveTo>
                <a:lnTo>
                  <a:pt x="6" y="0"/>
                </a:lnTo>
                <a:lnTo>
                  <a:pt x="6" y="19"/>
                </a:lnTo>
                <a:lnTo>
                  <a:pt x="0" y="25"/>
                </a:lnTo>
                <a:close/>
              </a:path>
            </a:pathLst>
          </a:custGeom>
          <a:solidFill>
            <a:srgbClr val="3D793D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EMA target volume cube 9 front"/>
          <p:cNvSpPr/>
          <p:nvPr/>
        </p:nvSpPr>
        <p:spPr>
          <a:xfrm>
            <a:off x="3583037" y="5726162"/>
            <a:ext cx="167431" cy="167431"/>
          </a:xfrm>
          <a:prstGeom prst="rect">
            <a:avLst/>
          </a:prstGeom>
          <a:solidFill>
            <a:srgbClr val="679E64"/>
          </a:solidFill>
          <a:ln w="6985">
            <a:solidFill>
              <a:srgbClr val="EAF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arget dense glyph card"/>
          <p:cNvSpPr/>
          <p:nvPr/>
        </p:nvSpPr>
        <p:spPr>
          <a:xfrm>
            <a:off x="4643437" y="4795242"/>
            <a:ext cx="830460" cy="500062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arget dense maps layer 1"/>
          <p:cNvSpPr/>
          <p:nvPr/>
        </p:nvSpPr>
        <p:spPr>
          <a:xfrm>
            <a:off x="4741664" y="5152429"/>
            <a:ext cx="625078" cy="98227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11"/>
                </a:moveTo>
                <a:lnTo>
                  <a:pt x="14" y="0"/>
                </a:lnTo>
                <a:lnTo>
                  <a:pt x="70" y="0"/>
                </a:lnTo>
                <a:lnTo>
                  <a:pt x="56" y="11"/>
                </a:lnTo>
                <a:close/>
              </a:path>
            </a:pathLst>
          </a:custGeom>
          <a:solidFill>
            <a:srgbClr val="BBD8B7"/>
          </a:solidFill>
          <a:ln w="1016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Target dense maps detail 1"/>
          <p:cNvCxnSpPr/>
          <p:nvPr/>
        </p:nvCxnSpPr>
        <p:spPr>
          <a:xfrm>
            <a:off x="4911328" y="5176986"/>
            <a:ext cx="392906" cy="0"/>
          </a:xfrm>
          <a:prstGeom prst="line">
            <a:avLst/>
          </a:prstGeom>
          <a:ln w="571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Target dense maps layer 2"/>
          <p:cNvSpPr/>
          <p:nvPr/>
        </p:nvSpPr>
        <p:spPr>
          <a:xfrm>
            <a:off x="4772917" y="5066168"/>
            <a:ext cx="625078" cy="98227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11"/>
                </a:moveTo>
                <a:lnTo>
                  <a:pt x="14" y="0"/>
                </a:lnTo>
                <a:lnTo>
                  <a:pt x="70" y="0"/>
                </a:lnTo>
                <a:lnTo>
                  <a:pt x="56" y="11"/>
                </a:lnTo>
                <a:close/>
              </a:path>
            </a:pathLst>
          </a:custGeom>
          <a:solidFill>
            <a:srgbClr val="8DBA88"/>
          </a:solidFill>
          <a:ln w="1016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Target dense maps detail 2"/>
          <p:cNvCxnSpPr/>
          <p:nvPr/>
        </p:nvCxnSpPr>
        <p:spPr>
          <a:xfrm>
            <a:off x="4942582" y="5090725"/>
            <a:ext cx="392906" cy="0"/>
          </a:xfrm>
          <a:prstGeom prst="line">
            <a:avLst/>
          </a:prstGeom>
          <a:ln w="571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Target dense maps layer 3"/>
          <p:cNvSpPr/>
          <p:nvPr/>
        </p:nvSpPr>
        <p:spPr>
          <a:xfrm>
            <a:off x="4804171" y="4979908"/>
            <a:ext cx="625078" cy="98227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11"/>
                </a:moveTo>
                <a:lnTo>
                  <a:pt x="14" y="0"/>
                </a:lnTo>
                <a:lnTo>
                  <a:pt x="70" y="0"/>
                </a:lnTo>
                <a:lnTo>
                  <a:pt x="56" y="11"/>
                </a:lnTo>
                <a:close/>
              </a:path>
            </a:pathLst>
          </a:custGeom>
          <a:solidFill>
            <a:srgbClr val="5B9658"/>
          </a:solidFill>
          <a:ln w="1016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Target dense maps detail 3"/>
          <p:cNvCxnSpPr/>
          <p:nvPr/>
        </p:nvCxnSpPr>
        <p:spPr>
          <a:xfrm>
            <a:off x="4973835" y="5004464"/>
            <a:ext cx="392907" cy="0"/>
          </a:xfrm>
          <a:prstGeom prst="line">
            <a:avLst/>
          </a:prstGeom>
          <a:ln w="571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Target dense tokens"/>
          <p:cNvSpPr/>
          <p:nvPr/>
        </p:nvSpPr>
        <p:spPr>
          <a:xfrm>
            <a:off x="5545335" y="4875609"/>
            <a:ext cx="1062632" cy="25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arget dense tokens token 1"/>
          <p:cNvSpPr/>
          <p:nvPr/>
        </p:nvSpPr>
        <p:spPr>
          <a:xfrm>
            <a:off x="5625703" y="4938117"/>
            <a:ext cx="133945" cy="133945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arget dense tokens token 2"/>
          <p:cNvSpPr/>
          <p:nvPr/>
        </p:nvSpPr>
        <p:spPr>
          <a:xfrm>
            <a:off x="5831085" y="4938117"/>
            <a:ext cx="133945" cy="133945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arget dense tokens token 3"/>
          <p:cNvSpPr/>
          <p:nvPr/>
        </p:nvSpPr>
        <p:spPr>
          <a:xfrm>
            <a:off x="6036468" y="4938117"/>
            <a:ext cx="133945" cy="133945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arget dense tokens ellipsis"/>
          <p:cNvSpPr txBox="1"/>
          <p:nvPr/>
        </p:nvSpPr>
        <p:spPr>
          <a:xfrm>
            <a:off x="6331148" y="4884539"/>
            <a:ext cx="223242" cy="24110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6A21"/>
                </a:solidFill>
                <a:latin typeface="Arial"/>
              </a:rPr>
              <a:t>···</a:t>
            </a:r>
          </a:p>
        </p:txBody>
      </p:sp>
      <p:sp>
        <p:nvSpPr>
          <p:cNvPr id="310" name="Target anatomy glyph card"/>
          <p:cNvSpPr/>
          <p:nvPr/>
        </p:nvSpPr>
        <p:spPr>
          <a:xfrm>
            <a:off x="4643437" y="5402460"/>
            <a:ext cx="830460" cy="508992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arget anatomy grid front"/>
          <p:cNvSpPr/>
          <p:nvPr/>
        </p:nvSpPr>
        <p:spPr>
          <a:xfrm>
            <a:off x="4813101" y="5527476"/>
            <a:ext cx="357187" cy="357187"/>
          </a:xfrm>
          <a:prstGeom prst="rect">
            <a:avLst/>
          </a:prstGeom>
          <a:noFill/>
          <a:ln w="10795">
            <a:solidFill>
              <a:srgbClr val="1859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arget anatomy grid back"/>
          <p:cNvSpPr/>
          <p:nvPr/>
        </p:nvSpPr>
        <p:spPr>
          <a:xfrm>
            <a:off x="4902398" y="5438179"/>
            <a:ext cx="357187" cy="357187"/>
          </a:xfrm>
          <a:prstGeom prst="rect">
            <a:avLst/>
          </a:prstGeom>
          <a:noFill/>
          <a:ln w="9525">
            <a:solidFill>
              <a:srgbClr val="1859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3" name="Target anatomy grid corner 1"/>
          <p:cNvCxnSpPr/>
          <p:nvPr/>
        </p:nvCxnSpPr>
        <p:spPr>
          <a:xfrm flipV="1">
            <a:off x="4813101" y="5438179"/>
            <a:ext cx="89297" cy="89297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Target anatomy grid corner 2"/>
          <p:cNvCxnSpPr/>
          <p:nvPr/>
        </p:nvCxnSpPr>
        <p:spPr>
          <a:xfrm flipV="1">
            <a:off x="5170289" y="5438179"/>
            <a:ext cx="89296" cy="89297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Target anatomy grid corner 3"/>
          <p:cNvCxnSpPr/>
          <p:nvPr/>
        </p:nvCxnSpPr>
        <p:spPr>
          <a:xfrm flipV="1">
            <a:off x="4813101" y="5795367"/>
            <a:ext cx="89297" cy="89297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Target anatomy grid corner 4"/>
          <p:cNvCxnSpPr/>
          <p:nvPr/>
        </p:nvCxnSpPr>
        <p:spPr>
          <a:xfrm flipV="1">
            <a:off x="5170289" y="5795367"/>
            <a:ext cx="89296" cy="89297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Target anatomy grid vertical 1"/>
          <p:cNvCxnSpPr/>
          <p:nvPr/>
        </p:nvCxnSpPr>
        <p:spPr>
          <a:xfrm>
            <a:off x="4932164" y="5527476"/>
            <a:ext cx="0" cy="357188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Target anatomy grid horizontal 1"/>
          <p:cNvCxnSpPr/>
          <p:nvPr/>
        </p:nvCxnSpPr>
        <p:spPr>
          <a:xfrm>
            <a:off x="4813101" y="5646539"/>
            <a:ext cx="357188" cy="0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Target anatomy grid back vertical 1"/>
          <p:cNvCxnSpPr/>
          <p:nvPr/>
        </p:nvCxnSpPr>
        <p:spPr>
          <a:xfrm>
            <a:off x="5021460" y="5438179"/>
            <a:ext cx="0" cy="357188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Target anatomy grid back horizontal 1"/>
          <p:cNvCxnSpPr/>
          <p:nvPr/>
        </p:nvCxnSpPr>
        <p:spPr>
          <a:xfrm>
            <a:off x="4902398" y="5557242"/>
            <a:ext cx="357187" cy="0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Target anatomy grid vertical 2"/>
          <p:cNvCxnSpPr/>
          <p:nvPr/>
        </p:nvCxnSpPr>
        <p:spPr>
          <a:xfrm>
            <a:off x="5051226" y="5527476"/>
            <a:ext cx="0" cy="357188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Target anatomy grid horizontal 2"/>
          <p:cNvCxnSpPr/>
          <p:nvPr/>
        </p:nvCxnSpPr>
        <p:spPr>
          <a:xfrm>
            <a:off x="4813101" y="5765601"/>
            <a:ext cx="357188" cy="0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Target anatomy grid back vertical 2"/>
          <p:cNvCxnSpPr/>
          <p:nvPr/>
        </p:nvCxnSpPr>
        <p:spPr>
          <a:xfrm>
            <a:off x="5140523" y="5438179"/>
            <a:ext cx="0" cy="357188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Target anatomy grid back horizontal 2"/>
          <p:cNvCxnSpPr/>
          <p:nvPr/>
        </p:nvCxnSpPr>
        <p:spPr>
          <a:xfrm>
            <a:off x="4902398" y="5676304"/>
            <a:ext cx="357187" cy="0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arget anatomy tokens"/>
          <p:cNvSpPr/>
          <p:nvPr/>
        </p:nvSpPr>
        <p:spPr>
          <a:xfrm>
            <a:off x="5545335" y="5473898"/>
            <a:ext cx="1062632" cy="25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arget anatomy tokens token 1"/>
          <p:cNvSpPr/>
          <p:nvPr/>
        </p:nvSpPr>
        <p:spPr>
          <a:xfrm>
            <a:off x="5625703" y="5536406"/>
            <a:ext cx="133945" cy="133945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arget anatomy tokens token 2"/>
          <p:cNvSpPr/>
          <p:nvPr/>
        </p:nvSpPr>
        <p:spPr>
          <a:xfrm>
            <a:off x="5831085" y="5536406"/>
            <a:ext cx="133945" cy="133945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arget anatomy tokens token 3"/>
          <p:cNvSpPr/>
          <p:nvPr/>
        </p:nvSpPr>
        <p:spPr>
          <a:xfrm>
            <a:off x="6036468" y="5536406"/>
            <a:ext cx="133945" cy="133945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arget anatomy tokens ellipsis"/>
          <p:cNvSpPr txBox="1"/>
          <p:nvPr/>
        </p:nvSpPr>
        <p:spPr>
          <a:xfrm>
            <a:off x="6331148" y="5482828"/>
            <a:ext cx="223242" cy="24110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6A21"/>
                </a:solidFill>
                <a:latin typeface="Arial"/>
              </a:rPr>
              <a:t>···</a:t>
            </a:r>
          </a:p>
        </p:txBody>
      </p:sp>
      <p:sp>
        <p:nvSpPr>
          <p:cNvPr id="330" name="Target global tokens"/>
          <p:cNvSpPr/>
          <p:nvPr/>
        </p:nvSpPr>
        <p:spPr>
          <a:xfrm>
            <a:off x="4643437" y="5965031"/>
            <a:ext cx="1964531" cy="383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arget global tokens token 1"/>
          <p:cNvSpPr/>
          <p:nvPr/>
        </p:nvSpPr>
        <p:spPr>
          <a:xfrm>
            <a:off x="4723804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arget global tokens token 2"/>
          <p:cNvSpPr/>
          <p:nvPr/>
        </p:nvSpPr>
        <p:spPr>
          <a:xfrm>
            <a:off x="4955976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arget global tokens token 3"/>
          <p:cNvSpPr/>
          <p:nvPr/>
        </p:nvSpPr>
        <p:spPr>
          <a:xfrm>
            <a:off x="5188148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arget global tokens token 4"/>
          <p:cNvSpPr/>
          <p:nvPr/>
        </p:nvSpPr>
        <p:spPr>
          <a:xfrm>
            <a:off x="5420320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arget global tokens token 5"/>
          <p:cNvSpPr/>
          <p:nvPr/>
        </p:nvSpPr>
        <p:spPr>
          <a:xfrm>
            <a:off x="5652492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arget global tokens token 6"/>
          <p:cNvSpPr/>
          <p:nvPr/>
        </p:nvSpPr>
        <p:spPr>
          <a:xfrm>
            <a:off x="5884664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arget global tokens token 7"/>
          <p:cNvSpPr/>
          <p:nvPr/>
        </p:nvSpPr>
        <p:spPr>
          <a:xfrm>
            <a:off x="6116835" y="6076652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arget global tokens ellipsis"/>
          <p:cNvSpPr txBox="1"/>
          <p:nvPr/>
        </p:nvSpPr>
        <p:spPr>
          <a:xfrm>
            <a:off x="6331148" y="5973960"/>
            <a:ext cx="223242" cy="366117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6A21"/>
                </a:solidFill>
                <a:latin typeface="Arial"/>
              </a:rPr>
              <a:t>···</a:t>
            </a:r>
          </a:p>
        </p:txBody>
      </p:sp>
      <p:sp>
        <p:nvSpPr>
          <p:cNvPr id="339" name="Optional future report"/>
          <p:cNvSpPr/>
          <p:nvPr/>
        </p:nvSpPr>
        <p:spPr>
          <a:xfrm>
            <a:off x="7036593" y="4804171"/>
            <a:ext cx="1651992" cy="473273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ptional future report label"/>
          <p:cNvSpPr txBox="1"/>
          <p:nvPr/>
        </p:nvSpPr>
        <p:spPr>
          <a:xfrm>
            <a:off x="7116960" y="4848820"/>
            <a:ext cx="1491257" cy="383976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11111"/>
                </a:solidFill>
                <a:latin typeface="Arial"/>
              </a:rPr>
              <a:t>Optional future report ·
TARGET SIDE ONLY</a:t>
            </a:r>
          </a:p>
        </p:txBody>
      </p:sp>
      <p:sp>
        <p:nvSpPr>
          <p:cNvPr id="341" name="Target-side cross-modal fusion"/>
          <p:cNvSpPr/>
          <p:nvPr/>
        </p:nvSpPr>
        <p:spPr>
          <a:xfrm>
            <a:off x="7036593" y="5554265"/>
            <a:ext cx="1634132" cy="580429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arget-side fusion label"/>
          <p:cNvSpPr txBox="1"/>
          <p:nvPr/>
        </p:nvSpPr>
        <p:spPr>
          <a:xfrm>
            <a:off x="7143750" y="5607843"/>
            <a:ext cx="1419820" cy="464343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11111"/>
                </a:solidFill>
                <a:latin typeface="Arial"/>
              </a:rPr>
              <a:t>Target-side
cross-modal fusion</a:t>
            </a:r>
          </a:p>
        </p:txBody>
      </p:sp>
      <p:sp>
        <p:nvSpPr>
          <p:cNvPr id="343" name="Future multimodal target tokens"/>
          <p:cNvSpPr/>
          <p:nvPr/>
        </p:nvSpPr>
        <p:spPr>
          <a:xfrm>
            <a:off x="9099351" y="5607843"/>
            <a:ext cx="1116210" cy="339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uture multimodal target tokens token 1"/>
          <p:cNvSpPr/>
          <p:nvPr/>
        </p:nvSpPr>
        <p:spPr>
          <a:xfrm>
            <a:off x="9179718" y="5697140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uture multimodal target tokens token 2"/>
          <p:cNvSpPr/>
          <p:nvPr/>
        </p:nvSpPr>
        <p:spPr>
          <a:xfrm>
            <a:off x="9411890" y="5697140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uture multimodal target tokens token 3"/>
          <p:cNvSpPr/>
          <p:nvPr/>
        </p:nvSpPr>
        <p:spPr>
          <a:xfrm>
            <a:off x="9644062" y="5697140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Future multimodal target tokens ellipsis"/>
          <p:cNvSpPr txBox="1"/>
          <p:nvPr/>
        </p:nvSpPr>
        <p:spPr>
          <a:xfrm>
            <a:off x="9938742" y="5616773"/>
            <a:ext cx="223242" cy="32146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6A21"/>
                </a:solidFill>
                <a:latin typeface="Arial"/>
              </a:rPr>
              <a:t>···</a:t>
            </a:r>
          </a:p>
        </p:txBody>
      </p:sp>
      <p:sp>
        <p:nvSpPr>
          <p:cNvPr id="348" name="Stop-gradient targets"/>
          <p:cNvSpPr/>
          <p:nvPr/>
        </p:nvSpPr>
        <p:spPr>
          <a:xfrm>
            <a:off x="10438804" y="4848820"/>
            <a:ext cx="2857500" cy="1276945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333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top-gradient targets label"/>
          <p:cNvSpPr txBox="1"/>
          <p:nvPr/>
        </p:nvSpPr>
        <p:spPr>
          <a:xfrm>
            <a:off x="10679906" y="4920257"/>
            <a:ext cx="2375296" cy="383976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11111"/>
                </a:solidFill>
                <a:latin typeface="Arial"/>
              </a:rPr>
              <a:t>STOP-GRADIENT
DENSE + FUTURE TARGETS</a:t>
            </a:r>
          </a:p>
        </p:txBody>
      </p:sp>
      <p:sp>
        <p:nvSpPr>
          <p:cNvPr id="350" name="Stop-gradient dense maps layer 1"/>
          <p:cNvSpPr/>
          <p:nvPr/>
        </p:nvSpPr>
        <p:spPr>
          <a:xfrm>
            <a:off x="10590609" y="5759648"/>
            <a:ext cx="714375" cy="133945"/>
          </a:xfrm>
          <a:custGeom>
            <a:avLst/>
            <a:gdLst/>
            <a:ahLst/>
            <a:cxnLst/>
            <a:rect l="l" t="t" r="r" b="b"/>
            <a:pathLst>
              <a:path w="80" h="15">
                <a:moveTo>
                  <a:pt x="0" y="15"/>
                </a:moveTo>
                <a:lnTo>
                  <a:pt x="16" y="0"/>
                </a:lnTo>
                <a:lnTo>
                  <a:pt x="80" y="0"/>
                </a:lnTo>
                <a:lnTo>
                  <a:pt x="64" y="15"/>
                </a:lnTo>
                <a:close/>
              </a:path>
            </a:pathLst>
          </a:custGeom>
          <a:solidFill>
            <a:srgbClr val="BBD8B7"/>
          </a:solidFill>
          <a:ln w="1016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1" name="Stop-gradient dense maps detail 1"/>
          <p:cNvCxnSpPr/>
          <p:nvPr/>
        </p:nvCxnSpPr>
        <p:spPr>
          <a:xfrm>
            <a:off x="10778132" y="5793134"/>
            <a:ext cx="464344" cy="0"/>
          </a:xfrm>
          <a:prstGeom prst="line">
            <a:avLst/>
          </a:prstGeom>
          <a:ln w="571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Stop-gradient dense maps layer 2"/>
          <p:cNvSpPr/>
          <p:nvPr/>
        </p:nvSpPr>
        <p:spPr>
          <a:xfrm>
            <a:off x="10626328" y="5636418"/>
            <a:ext cx="714375" cy="133945"/>
          </a:xfrm>
          <a:custGeom>
            <a:avLst/>
            <a:gdLst/>
            <a:ahLst/>
            <a:cxnLst/>
            <a:rect l="l" t="t" r="r" b="b"/>
            <a:pathLst>
              <a:path w="80" h="15">
                <a:moveTo>
                  <a:pt x="0" y="15"/>
                </a:moveTo>
                <a:lnTo>
                  <a:pt x="16" y="0"/>
                </a:lnTo>
                <a:lnTo>
                  <a:pt x="80" y="0"/>
                </a:lnTo>
                <a:lnTo>
                  <a:pt x="64" y="15"/>
                </a:lnTo>
                <a:close/>
              </a:path>
            </a:pathLst>
          </a:custGeom>
          <a:solidFill>
            <a:srgbClr val="8DBA88"/>
          </a:solidFill>
          <a:ln w="1016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Stop-gradient dense maps detail 2"/>
          <p:cNvCxnSpPr/>
          <p:nvPr/>
        </p:nvCxnSpPr>
        <p:spPr>
          <a:xfrm>
            <a:off x="10813851" y="5669905"/>
            <a:ext cx="464344" cy="0"/>
          </a:xfrm>
          <a:prstGeom prst="line">
            <a:avLst/>
          </a:prstGeom>
          <a:ln w="571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Stop-gradient dense maps layer 3"/>
          <p:cNvSpPr/>
          <p:nvPr/>
        </p:nvSpPr>
        <p:spPr>
          <a:xfrm>
            <a:off x="10662046" y="5513189"/>
            <a:ext cx="714375" cy="133945"/>
          </a:xfrm>
          <a:custGeom>
            <a:avLst/>
            <a:gdLst/>
            <a:ahLst/>
            <a:cxnLst/>
            <a:rect l="l" t="t" r="r" b="b"/>
            <a:pathLst>
              <a:path w="80" h="15">
                <a:moveTo>
                  <a:pt x="0" y="15"/>
                </a:moveTo>
                <a:lnTo>
                  <a:pt x="16" y="0"/>
                </a:lnTo>
                <a:lnTo>
                  <a:pt x="80" y="0"/>
                </a:lnTo>
                <a:lnTo>
                  <a:pt x="64" y="15"/>
                </a:lnTo>
                <a:close/>
              </a:path>
            </a:pathLst>
          </a:custGeom>
          <a:solidFill>
            <a:srgbClr val="5B9658"/>
          </a:solidFill>
          <a:ln w="1016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Stop-gradient dense maps detail 3"/>
          <p:cNvCxnSpPr/>
          <p:nvPr/>
        </p:nvCxnSpPr>
        <p:spPr>
          <a:xfrm>
            <a:off x="10849570" y="5546675"/>
            <a:ext cx="464344" cy="0"/>
          </a:xfrm>
          <a:prstGeom prst="line">
            <a:avLst/>
          </a:prstGeom>
          <a:ln w="5715">
            <a:solidFill>
              <a:srgbClr val="216A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Stop-gradient anatomy grid front"/>
          <p:cNvSpPr/>
          <p:nvPr/>
        </p:nvSpPr>
        <p:spPr>
          <a:xfrm>
            <a:off x="11510367" y="5464968"/>
            <a:ext cx="428625" cy="428625"/>
          </a:xfrm>
          <a:prstGeom prst="rect">
            <a:avLst/>
          </a:prstGeom>
          <a:noFill/>
          <a:ln w="10795">
            <a:solidFill>
              <a:srgbClr val="1859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Stop-gradient anatomy grid back"/>
          <p:cNvSpPr/>
          <p:nvPr/>
        </p:nvSpPr>
        <p:spPr>
          <a:xfrm>
            <a:off x="11617523" y="5357812"/>
            <a:ext cx="428625" cy="428625"/>
          </a:xfrm>
          <a:prstGeom prst="rect">
            <a:avLst/>
          </a:prstGeom>
          <a:noFill/>
          <a:ln w="9525">
            <a:solidFill>
              <a:srgbClr val="1859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8" name="Stop-gradient anatomy grid corner 1"/>
          <p:cNvCxnSpPr/>
          <p:nvPr/>
        </p:nvCxnSpPr>
        <p:spPr>
          <a:xfrm flipV="1">
            <a:off x="11510367" y="5357812"/>
            <a:ext cx="107156" cy="107156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op-gradient anatomy grid corner 2"/>
          <p:cNvCxnSpPr/>
          <p:nvPr/>
        </p:nvCxnSpPr>
        <p:spPr>
          <a:xfrm flipV="1">
            <a:off x="11938992" y="5357812"/>
            <a:ext cx="107156" cy="107156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op-gradient anatomy grid corner 3"/>
          <p:cNvCxnSpPr/>
          <p:nvPr/>
        </p:nvCxnSpPr>
        <p:spPr>
          <a:xfrm flipV="1">
            <a:off x="11510367" y="5786437"/>
            <a:ext cx="107156" cy="107156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op-gradient anatomy grid corner 4"/>
          <p:cNvCxnSpPr/>
          <p:nvPr/>
        </p:nvCxnSpPr>
        <p:spPr>
          <a:xfrm flipV="1">
            <a:off x="11938992" y="5786437"/>
            <a:ext cx="107156" cy="107156"/>
          </a:xfrm>
          <a:prstGeom prst="line">
            <a:avLst/>
          </a:prstGeom>
          <a:ln w="889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op-gradient anatomy grid vertical 1"/>
          <p:cNvCxnSpPr/>
          <p:nvPr/>
        </p:nvCxnSpPr>
        <p:spPr>
          <a:xfrm>
            <a:off x="11653242" y="5464968"/>
            <a:ext cx="0" cy="428625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op-gradient anatomy grid horizontal 1"/>
          <p:cNvCxnSpPr/>
          <p:nvPr/>
        </p:nvCxnSpPr>
        <p:spPr>
          <a:xfrm>
            <a:off x="11510367" y="5607843"/>
            <a:ext cx="428625" cy="0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op-gradient anatomy grid back vertical 1"/>
          <p:cNvCxnSpPr/>
          <p:nvPr/>
        </p:nvCxnSpPr>
        <p:spPr>
          <a:xfrm>
            <a:off x="11760398" y="5357812"/>
            <a:ext cx="0" cy="428625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op-gradient anatomy grid back horizontal 1"/>
          <p:cNvCxnSpPr/>
          <p:nvPr/>
        </p:nvCxnSpPr>
        <p:spPr>
          <a:xfrm>
            <a:off x="11617523" y="5500687"/>
            <a:ext cx="428625" cy="0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op-gradient anatomy grid vertical 2"/>
          <p:cNvCxnSpPr/>
          <p:nvPr/>
        </p:nvCxnSpPr>
        <p:spPr>
          <a:xfrm>
            <a:off x="11796117" y="5464968"/>
            <a:ext cx="0" cy="428625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op-gradient anatomy grid horizontal 2"/>
          <p:cNvCxnSpPr/>
          <p:nvPr/>
        </p:nvCxnSpPr>
        <p:spPr>
          <a:xfrm>
            <a:off x="11510367" y="5750718"/>
            <a:ext cx="428625" cy="0"/>
          </a:xfrm>
          <a:prstGeom prst="line">
            <a:avLst/>
          </a:prstGeom>
          <a:ln w="5715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op-gradient anatomy grid back vertical 2"/>
          <p:cNvCxnSpPr/>
          <p:nvPr/>
        </p:nvCxnSpPr>
        <p:spPr>
          <a:xfrm>
            <a:off x="11903273" y="5357812"/>
            <a:ext cx="0" cy="428625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op-gradient anatomy grid back horizontal 2"/>
          <p:cNvCxnSpPr/>
          <p:nvPr/>
        </p:nvCxnSpPr>
        <p:spPr>
          <a:xfrm>
            <a:off x="11617523" y="5643562"/>
            <a:ext cx="428625" cy="0"/>
          </a:xfrm>
          <a:prstGeom prst="line">
            <a:avLst/>
          </a:prstGeom>
          <a:ln w="5080">
            <a:solidFill>
              <a:srgbClr val="18591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Stop-gradient future tokens"/>
          <p:cNvSpPr/>
          <p:nvPr/>
        </p:nvSpPr>
        <p:spPr>
          <a:xfrm>
            <a:off x="12144375" y="5536406"/>
            <a:ext cx="1080492" cy="3482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Stop-gradient future tokens token 1"/>
          <p:cNvSpPr/>
          <p:nvPr/>
        </p:nvSpPr>
        <p:spPr>
          <a:xfrm>
            <a:off x="12224742" y="5630167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Stop-gradient future tokens token 2"/>
          <p:cNvSpPr/>
          <p:nvPr/>
        </p:nvSpPr>
        <p:spPr>
          <a:xfrm>
            <a:off x="12456914" y="5630167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Stop-gradient future tokens token 3"/>
          <p:cNvSpPr/>
          <p:nvPr/>
        </p:nvSpPr>
        <p:spPr>
          <a:xfrm>
            <a:off x="12689085" y="5630167"/>
            <a:ext cx="160734" cy="160734"/>
          </a:xfrm>
          <a:prstGeom prst="rect">
            <a:avLst/>
          </a:prstGeom>
          <a:solidFill>
            <a:srgbClr val="AFCDAA"/>
          </a:solidFill>
          <a:ln w="8890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Stop-gradient future tokens ellipsis"/>
          <p:cNvSpPr txBox="1"/>
          <p:nvPr/>
        </p:nvSpPr>
        <p:spPr>
          <a:xfrm>
            <a:off x="12948046" y="5545335"/>
            <a:ext cx="223242" cy="33039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16A21"/>
                </a:solidFill>
                <a:latin typeface="Arial"/>
              </a:rPr>
              <a:t>···</a:t>
            </a:r>
          </a:p>
        </p:txBody>
      </p:sp>
      <p:sp>
        <p:nvSpPr>
          <p:cNvPr id="375" name="Masked-volume loss"/>
          <p:cNvSpPr/>
          <p:nvPr/>
        </p:nvSpPr>
        <p:spPr>
          <a:xfrm>
            <a:off x="776882" y="6911578"/>
            <a:ext cx="2437804" cy="455414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Masked-volume loss label"/>
          <p:cNvSpPr txBox="1"/>
          <p:nvPr/>
        </p:nvSpPr>
        <p:spPr>
          <a:xfrm>
            <a:off x="848320" y="7000875"/>
            <a:ext cx="2294929" cy="285750"/>
          </a:xfrm>
          <a:prstGeom prst="rect">
            <a:avLst/>
          </a:prstGeom>
          <a:noFill/>
          <a:effectLst/>
        </p:spPr>
        <p:txBody>
          <a:bodyPr wrap="none" lIns="8929" rIns="8929" tIns="8929" bIns="892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i="1">
                <a:solidFill>
                  <a:srgbClr val="111111"/>
                </a:solidFill>
                <a:latin typeface="Times New Roman"/>
              </a:rPr>
              <a:t>L</a:t>
            </a:r>
            <a:r>
              <a:rPr sz="1050" i="1" baseline="-25000">
                <a:solidFill>
                  <a:srgbClr val="111111"/>
                </a:solidFill>
                <a:latin typeface="Times New Roman"/>
              </a:rPr>
              <a:t>vol</a:t>
            </a:r>
            <a:r>
              <a:rPr sz="1120" b="1">
                <a:solidFill>
                  <a:srgbClr val="111111"/>
                </a:solidFill>
                <a:latin typeface="Arial"/>
              </a:rPr>
              <a:t>  ·  masked volume</a:t>
            </a:r>
          </a:p>
        </p:txBody>
      </p:sp>
      <p:sp>
        <p:nvSpPr>
          <p:cNvPr id="377" name="Image-text loss"/>
          <p:cNvSpPr/>
          <p:nvPr/>
        </p:nvSpPr>
        <p:spPr>
          <a:xfrm>
            <a:off x="3625453" y="6911578"/>
            <a:ext cx="2553890" cy="455414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Image-text loss label"/>
          <p:cNvSpPr txBox="1"/>
          <p:nvPr/>
        </p:nvSpPr>
        <p:spPr>
          <a:xfrm>
            <a:off x="3696890" y="7000875"/>
            <a:ext cx="2411015" cy="285750"/>
          </a:xfrm>
          <a:prstGeom prst="rect">
            <a:avLst/>
          </a:prstGeom>
          <a:noFill/>
          <a:effectLst/>
        </p:spPr>
        <p:txBody>
          <a:bodyPr wrap="none" lIns="8929" rIns="8929" tIns="8929" bIns="892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i="1">
                <a:solidFill>
                  <a:srgbClr val="111111"/>
                </a:solidFill>
                <a:latin typeface="Times New Roman"/>
              </a:rPr>
              <a:t>L</a:t>
            </a:r>
            <a:r>
              <a:rPr sz="1050" i="1" baseline="-25000">
                <a:solidFill>
                  <a:srgbClr val="111111"/>
                </a:solidFill>
                <a:latin typeface="Times New Roman"/>
              </a:rPr>
              <a:t>VL</a:t>
            </a:r>
            <a:r>
              <a:rPr sz="1120" b="1">
                <a:solidFill>
                  <a:srgbClr val="111111"/>
                </a:solidFill>
                <a:latin typeface="Arial"/>
              </a:rPr>
              <a:t>  ·  image–text</a:t>
            </a:r>
          </a:p>
        </p:txBody>
      </p:sp>
      <p:sp>
        <p:nvSpPr>
          <p:cNvPr id="379" name="Future-state loss"/>
          <p:cNvSpPr/>
          <p:nvPr/>
        </p:nvSpPr>
        <p:spPr>
          <a:xfrm>
            <a:off x="6983015" y="6911578"/>
            <a:ext cx="2741414" cy="455414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uture-state loss label"/>
          <p:cNvSpPr txBox="1"/>
          <p:nvPr/>
        </p:nvSpPr>
        <p:spPr>
          <a:xfrm>
            <a:off x="7054453" y="7000875"/>
            <a:ext cx="2598539" cy="285750"/>
          </a:xfrm>
          <a:prstGeom prst="rect">
            <a:avLst/>
          </a:prstGeom>
          <a:noFill/>
          <a:effectLst/>
        </p:spPr>
        <p:txBody>
          <a:bodyPr wrap="none" lIns="8929" rIns="8929" tIns="8929" bIns="892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i="1">
                <a:solidFill>
                  <a:srgbClr val="111111"/>
                </a:solidFill>
                <a:latin typeface="Times New Roman"/>
              </a:rPr>
              <a:t>L</a:t>
            </a:r>
            <a:r>
              <a:rPr sz="1050" i="1" baseline="-25000">
                <a:solidFill>
                  <a:srgbClr val="111111"/>
                </a:solidFill>
                <a:latin typeface="Times New Roman"/>
              </a:rPr>
              <a:t>future</a:t>
            </a:r>
            <a:r>
              <a:rPr sz="1120" b="1">
                <a:solidFill>
                  <a:srgbClr val="111111"/>
                </a:solidFill>
                <a:latin typeface="Arial"/>
              </a:rPr>
              <a:t>  ·  future-state NLL</a:t>
            </a:r>
          </a:p>
        </p:txBody>
      </p:sp>
      <p:sp>
        <p:nvSpPr>
          <p:cNvPr id="381" name="Rollout loss"/>
          <p:cNvSpPr/>
          <p:nvPr/>
        </p:nvSpPr>
        <p:spPr>
          <a:xfrm>
            <a:off x="10313789" y="6911578"/>
            <a:ext cx="2616398" cy="455414"/>
          </a:xfrm>
          <a:prstGeom prst="roundRect">
            <a:avLst>
              <a:gd name="adj" fmla="val 8000"/>
            </a:avLst>
          </a:prstGeom>
          <a:solidFill>
            <a:srgbClr val="F1F7EF"/>
          </a:solidFill>
          <a:ln w="12065">
            <a:solidFill>
              <a:srgbClr val="216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ollout loss label"/>
          <p:cNvSpPr txBox="1"/>
          <p:nvPr/>
        </p:nvSpPr>
        <p:spPr>
          <a:xfrm>
            <a:off x="10385226" y="7000875"/>
            <a:ext cx="2473523" cy="285750"/>
          </a:xfrm>
          <a:prstGeom prst="rect">
            <a:avLst/>
          </a:prstGeom>
          <a:noFill/>
          <a:effectLst/>
        </p:spPr>
        <p:txBody>
          <a:bodyPr wrap="none" lIns="8929" rIns="8929" tIns="8929" bIns="8929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i="1">
                <a:solidFill>
                  <a:srgbClr val="111111"/>
                </a:solidFill>
                <a:latin typeface="Times New Roman"/>
              </a:rPr>
              <a:t>L</a:t>
            </a:r>
            <a:r>
              <a:rPr sz="1050" i="1" baseline="-25000">
                <a:solidFill>
                  <a:srgbClr val="111111"/>
                </a:solidFill>
                <a:latin typeface="Times New Roman"/>
              </a:rPr>
              <a:t>roll</a:t>
            </a:r>
            <a:r>
              <a:rPr sz="1120" b="1">
                <a:solidFill>
                  <a:srgbClr val="111111"/>
                </a:solidFill>
                <a:latin typeface="Arial"/>
              </a:rPr>
              <a:t>  ·  rollout</a:t>
            </a:r>
          </a:p>
        </p:txBody>
      </p:sp>
      <p:sp>
        <p:nvSpPr>
          <p:cNvPr id="383" name="EMA update label"/>
          <p:cNvSpPr txBox="1"/>
          <p:nvPr/>
        </p:nvSpPr>
        <p:spPr>
          <a:xfrm>
            <a:off x="3545085" y="4429125"/>
            <a:ext cx="928687" cy="250031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11111"/>
                </a:solidFill>
                <a:latin typeface="Arial"/>
              </a:rPr>
              <a:t>EMA update</a:t>
            </a:r>
          </a:p>
        </p:txBody>
      </p:sp>
      <p:sp>
        <p:nvSpPr>
          <p:cNvPr id="384" name="Training-only title"/>
          <p:cNvSpPr txBox="1"/>
          <p:nvPr/>
        </p:nvSpPr>
        <p:spPr>
          <a:xfrm>
            <a:off x="4598789" y="4411265"/>
            <a:ext cx="4518421" cy="267890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85918"/>
                </a:solidFill>
                <a:latin typeface="Arial"/>
              </a:rPr>
              <a:t>TRAINING ONLY · EMA TARGETS AND JOINT SUPERVISION</a:t>
            </a:r>
          </a:p>
        </p:txBody>
      </p:sp>
      <p:sp>
        <p:nvSpPr>
          <p:cNvPr id="385" name="Panel C title"/>
          <p:cNvSpPr txBox="1"/>
          <p:nvPr/>
        </p:nvSpPr>
        <p:spPr>
          <a:xfrm>
            <a:off x="178593" y="7706320"/>
            <a:ext cx="4107656" cy="312539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53535"/>
                </a:solidFill>
                <a:latin typeface="Arial"/>
              </a:rPr>
              <a:t>(c) Frozen state · lightweight readouts</a:t>
            </a:r>
          </a:p>
        </p:txBody>
      </p:sp>
      <p:sp>
        <p:nvSpPr>
          <p:cNvPr id="386" name="Readout card 1"/>
          <p:cNvSpPr/>
          <p:nvPr/>
        </p:nvSpPr>
        <p:spPr>
          <a:xfrm>
            <a:off x="187523" y="8134945"/>
            <a:ext cx="2848570" cy="848320"/>
          </a:xfrm>
          <a:prstGeom prst="roundRect">
            <a:avLst>
              <a:gd name="adj" fmla="val 8000"/>
            </a:avLst>
          </a:prstGeom>
          <a:solidFill>
            <a:srgbClr val="FCFCFC"/>
          </a:solidFill>
          <a:ln w="1143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adout card 2"/>
          <p:cNvSpPr/>
          <p:nvPr/>
        </p:nvSpPr>
        <p:spPr>
          <a:xfrm>
            <a:off x="3402210" y="8134945"/>
            <a:ext cx="3205757" cy="848320"/>
          </a:xfrm>
          <a:prstGeom prst="roundRect">
            <a:avLst>
              <a:gd name="adj" fmla="val 8000"/>
            </a:avLst>
          </a:prstGeom>
          <a:solidFill>
            <a:srgbClr val="FCFCFC"/>
          </a:solidFill>
          <a:ln w="1143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adout card 3"/>
          <p:cNvSpPr/>
          <p:nvPr/>
        </p:nvSpPr>
        <p:spPr>
          <a:xfrm>
            <a:off x="6974085" y="8134945"/>
            <a:ext cx="2705695" cy="848320"/>
          </a:xfrm>
          <a:prstGeom prst="roundRect">
            <a:avLst>
              <a:gd name="adj" fmla="val 8000"/>
            </a:avLst>
          </a:prstGeom>
          <a:solidFill>
            <a:srgbClr val="FCFCFC"/>
          </a:solidFill>
          <a:ln w="1143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adout card 4"/>
          <p:cNvSpPr/>
          <p:nvPr/>
        </p:nvSpPr>
        <p:spPr>
          <a:xfrm>
            <a:off x="10036968" y="8134945"/>
            <a:ext cx="3464718" cy="848320"/>
          </a:xfrm>
          <a:prstGeom prst="roundRect">
            <a:avLst>
              <a:gd name="adj" fmla="val 8000"/>
            </a:avLst>
          </a:prstGeom>
          <a:solidFill>
            <a:srgbClr val="FCFCFC"/>
          </a:solidFill>
          <a:ln w="1143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adout dense maps layer 1"/>
          <p:cNvSpPr/>
          <p:nvPr/>
        </p:nvSpPr>
        <p:spPr>
          <a:xfrm>
            <a:off x="312539" y="8603753"/>
            <a:ext cx="634008" cy="125016"/>
          </a:xfrm>
          <a:custGeom>
            <a:avLst/>
            <a:gdLst/>
            <a:ahLst/>
            <a:cxnLst/>
            <a:rect l="l" t="t" r="r" b="b"/>
            <a:pathLst>
              <a:path w="71" h="14">
                <a:moveTo>
                  <a:pt x="0" y="14"/>
                </a:moveTo>
                <a:lnTo>
                  <a:pt x="14" y="0"/>
                </a:lnTo>
                <a:lnTo>
                  <a:pt x="71" y="0"/>
                </a:lnTo>
                <a:lnTo>
                  <a:pt x="57" y="14"/>
                </a:lnTo>
                <a:close/>
              </a:path>
            </a:pathLst>
          </a:custGeom>
          <a:solidFill>
            <a:srgbClr val="A9C3ED"/>
          </a:solidFill>
          <a:ln w="1016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Readout dense maps detail 1"/>
          <p:cNvCxnSpPr/>
          <p:nvPr/>
        </p:nvCxnSpPr>
        <p:spPr>
          <a:xfrm>
            <a:off x="483989" y="8633891"/>
            <a:ext cx="400050" cy="0"/>
          </a:xfrm>
          <a:prstGeom prst="line">
            <a:avLst/>
          </a:prstGeom>
          <a:ln w="571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Readout dense maps layer 2"/>
          <p:cNvSpPr/>
          <p:nvPr/>
        </p:nvSpPr>
        <p:spPr>
          <a:xfrm>
            <a:off x="344239" y="8492847"/>
            <a:ext cx="634008" cy="125016"/>
          </a:xfrm>
          <a:custGeom>
            <a:avLst/>
            <a:gdLst/>
            <a:ahLst/>
            <a:cxnLst/>
            <a:rect l="l" t="t" r="r" b="b"/>
            <a:pathLst>
              <a:path w="71" h="14">
                <a:moveTo>
                  <a:pt x="0" y="14"/>
                </a:moveTo>
                <a:lnTo>
                  <a:pt x="14" y="0"/>
                </a:lnTo>
                <a:lnTo>
                  <a:pt x="71" y="0"/>
                </a:lnTo>
                <a:lnTo>
                  <a:pt x="57" y="14"/>
                </a:lnTo>
                <a:close/>
              </a:path>
            </a:pathLst>
          </a:custGeom>
          <a:solidFill>
            <a:srgbClr val="6F97D7"/>
          </a:solidFill>
          <a:ln w="1016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Readout dense maps detail 2"/>
          <p:cNvCxnSpPr/>
          <p:nvPr/>
        </p:nvCxnSpPr>
        <p:spPr>
          <a:xfrm>
            <a:off x="515689" y="8522984"/>
            <a:ext cx="400050" cy="0"/>
          </a:xfrm>
          <a:prstGeom prst="line">
            <a:avLst/>
          </a:prstGeom>
          <a:ln w="571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adout dense maps layer 3"/>
          <p:cNvSpPr/>
          <p:nvPr/>
        </p:nvSpPr>
        <p:spPr>
          <a:xfrm>
            <a:off x="375939" y="8381940"/>
            <a:ext cx="634008" cy="125016"/>
          </a:xfrm>
          <a:custGeom>
            <a:avLst/>
            <a:gdLst/>
            <a:ahLst/>
            <a:cxnLst/>
            <a:rect l="l" t="t" r="r" b="b"/>
            <a:pathLst>
              <a:path w="71" h="14">
                <a:moveTo>
                  <a:pt x="0" y="14"/>
                </a:moveTo>
                <a:lnTo>
                  <a:pt x="14" y="0"/>
                </a:lnTo>
                <a:lnTo>
                  <a:pt x="71" y="0"/>
                </a:lnTo>
                <a:lnTo>
                  <a:pt x="57" y="14"/>
                </a:lnTo>
                <a:close/>
              </a:path>
            </a:pathLst>
          </a:custGeom>
          <a:solidFill>
            <a:srgbClr val="3D6DBD"/>
          </a:solidFill>
          <a:ln w="10160">
            <a:solidFill>
              <a:srgbClr val="174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Readout dense maps detail 3"/>
          <p:cNvCxnSpPr/>
          <p:nvPr/>
        </p:nvCxnSpPr>
        <p:spPr>
          <a:xfrm>
            <a:off x="547389" y="8412078"/>
            <a:ext cx="400050" cy="0"/>
          </a:xfrm>
          <a:prstGeom prst="line">
            <a:avLst/>
          </a:prstGeom>
          <a:ln w="5715">
            <a:solidFill>
              <a:srgbClr val="174A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Readout anatomy grid front"/>
          <p:cNvSpPr/>
          <p:nvPr/>
        </p:nvSpPr>
        <p:spPr>
          <a:xfrm>
            <a:off x="1062632" y="8367117"/>
            <a:ext cx="383976" cy="383976"/>
          </a:xfrm>
          <a:prstGeom prst="rect">
            <a:avLst/>
          </a:prstGeom>
          <a:noFill/>
          <a:ln w="10795">
            <a:solidFill>
              <a:srgbClr val="0C2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adout anatomy grid back"/>
          <p:cNvSpPr/>
          <p:nvPr/>
        </p:nvSpPr>
        <p:spPr>
          <a:xfrm>
            <a:off x="1151929" y="8277820"/>
            <a:ext cx="383976" cy="383976"/>
          </a:xfrm>
          <a:prstGeom prst="rect">
            <a:avLst/>
          </a:prstGeom>
          <a:noFill/>
          <a:ln w="9525">
            <a:solidFill>
              <a:srgbClr val="0C2A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8" name="Readout anatomy grid corner 1"/>
          <p:cNvCxnSpPr/>
          <p:nvPr/>
        </p:nvCxnSpPr>
        <p:spPr>
          <a:xfrm flipV="1">
            <a:off x="1062632" y="8277820"/>
            <a:ext cx="89297" cy="8929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Readout anatomy grid corner 2"/>
          <p:cNvCxnSpPr/>
          <p:nvPr/>
        </p:nvCxnSpPr>
        <p:spPr>
          <a:xfrm flipV="1">
            <a:off x="1446609" y="8277820"/>
            <a:ext cx="89297" cy="8929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Readout anatomy grid corner 3"/>
          <p:cNvCxnSpPr/>
          <p:nvPr/>
        </p:nvCxnSpPr>
        <p:spPr>
          <a:xfrm flipV="1">
            <a:off x="1062632" y="8661796"/>
            <a:ext cx="89297" cy="8929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Readout anatomy grid corner 4"/>
          <p:cNvCxnSpPr/>
          <p:nvPr/>
        </p:nvCxnSpPr>
        <p:spPr>
          <a:xfrm flipV="1">
            <a:off x="1446609" y="8661796"/>
            <a:ext cx="89297" cy="89297"/>
          </a:xfrm>
          <a:prstGeom prst="line">
            <a:avLst/>
          </a:prstGeom>
          <a:ln w="889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Readout anatomy grid vertical 1"/>
          <p:cNvCxnSpPr/>
          <p:nvPr/>
        </p:nvCxnSpPr>
        <p:spPr>
          <a:xfrm>
            <a:off x="1190625" y="8367117"/>
            <a:ext cx="0" cy="383976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Readout anatomy grid horizontal 1"/>
          <p:cNvCxnSpPr/>
          <p:nvPr/>
        </p:nvCxnSpPr>
        <p:spPr>
          <a:xfrm>
            <a:off x="1062632" y="8495109"/>
            <a:ext cx="383977" cy="0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Readout anatomy grid back vertical 1"/>
          <p:cNvCxnSpPr/>
          <p:nvPr/>
        </p:nvCxnSpPr>
        <p:spPr>
          <a:xfrm>
            <a:off x="1279921" y="8277820"/>
            <a:ext cx="0" cy="383976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Readout anatomy grid back horizontal 1"/>
          <p:cNvCxnSpPr/>
          <p:nvPr/>
        </p:nvCxnSpPr>
        <p:spPr>
          <a:xfrm>
            <a:off x="1151929" y="8405812"/>
            <a:ext cx="383977" cy="0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Readout anatomy grid vertical 2"/>
          <p:cNvCxnSpPr/>
          <p:nvPr/>
        </p:nvCxnSpPr>
        <p:spPr>
          <a:xfrm>
            <a:off x="1318617" y="8367117"/>
            <a:ext cx="0" cy="383976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Readout anatomy grid horizontal 2"/>
          <p:cNvCxnSpPr/>
          <p:nvPr/>
        </p:nvCxnSpPr>
        <p:spPr>
          <a:xfrm>
            <a:off x="1062632" y="8623101"/>
            <a:ext cx="383977" cy="0"/>
          </a:xfrm>
          <a:prstGeom prst="line">
            <a:avLst/>
          </a:prstGeom>
          <a:ln w="5715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Readout anatomy grid back vertical 2"/>
          <p:cNvCxnSpPr/>
          <p:nvPr/>
        </p:nvCxnSpPr>
        <p:spPr>
          <a:xfrm>
            <a:off x="1407914" y="8277820"/>
            <a:ext cx="0" cy="383976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Readout anatomy grid back horizontal 2"/>
          <p:cNvCxnSpPr/>
          <p:nvPr/>
        </p:nvCxnSpPr>
        <p:spPr>
          <a:xfrm>
            <a:off x="1151929" y="8533804"/>
            <a:ext cx="383977" cy="0"/>
          </a:xfrm>
          <a:prstGeom prst="line">
            <a:avLst/>
          </a:prstGeom>
          <a:ln w="5080">
            <a:solidFill>
              <a:srgbClr val="0C2A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Dense anatomy readout label"/>
          <p:cNvSpPr txBox="1"/>
          <p:nvPr/>
        </p:nvSpPr>
        <p:spPr>
          <a:xfrm>
            <a:off x="1741289" y="8197453"/>
            <a:ext cx="1187648" cy="68758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111111"/>
                </a:solidFill>
                <a:latin typeface="Arial"/>
              </a:rPr>
              <a:t>Dₜ / Aₜ  →
Segmentation ·
Localization</a:t>
            </a:r>
          </a:p>
        </p:txBody>
      </p:sp>
      <p:sp>
        <p:nvSpPr>
          <p:cNvPr id="411" name="Readout multimodal tokens"/>
          <p:cNvSpPr/>
          <p:nvPr/>
        </p:nvSpPr>
        <p:spPr>
          <a:xfrm>
            <a:off x="3536156" y="8411765"/>
            <a:ext cx="1455539" cy="3036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adout multimodal tokens token 1"/>
          <p:cNvSpPr/>
          <p:nvPr/>
        </p:nvSpPr>
        <p:spPr>
          <a:xfrm>
            <a:off x="3616523" y="8483203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adout multimodal tokens token 2"/>
          <p:cNvSpPr/>
          <p:nvPr/>
        </p:nvSpPr>
        <p:spPr>
          <a:xfrm>
            <a:off x="3848695" y="8483203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adout multimodal tokens token 3"/>
          <p:cNvSpPr/>
          <p:nvPr/>
        </p:nvSpPr>
        <p:spPr>
          <a:xfrm>
            <a:off x="4080867" y="8483203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adout multimodal tokens token 4"/>
          <p:cNvSpPr/>
          <p:nvPr/>
        </p:nvSpPr>
        <p:spPr>
          <a:xfrm>
            <a:off x="4313039" y="8483203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adout multimodal tokens token 5"/>
          <p:cNvSpPr/>
          <p:nvPr/>
        </p:nvSpPr>
        <p:spPr>
          <a:xfrm>
            <a:off x="4545210" y="8483203"/>
            <a:ext cx="160734" cy="160734"/>
          </a:xfrm>
          <a:prstGeom prst="rect">
            <a:avLst/>
          </a:prstGeom>
          <a:solidFill>
            <a:srgbClr val="C7ADDD"/>
          </a:solidFill>
          <a:ln w="8890">
            <a:solidFill>
              <a:srgbClr val="542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adout multimodal tokens ellipsis"/>
          <p:cNvSpPr txBox="1"/>
          <p:nvPr/>
        </p:nvSpPr>
        <p:spPr>
          <a:xfrm>
            <a:off x="4714875" y="8420695"/>
            <a:ext cx="223242" cy="285750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42482"/>
                </a:solidFill>
                <a:latin typeface="Arial"/>
              </a:rPr>
              <a:t>···</a:t>
            </a:r>
          </a:p>
        </p:txBody>
      </p:sp>
      <p:sp>
        <p:nvSpPr>
          <p:cNvPr id="418" name="Global multimodal readout label"/>
          <p:cNvSpPr txBox="1"/>
          <p:nvPr/>
        </p:nvSpPr>
        <p:spPr>
          <a:xfrm>
            <a:off x="5197078" y="8197453"/>
            <a:ext cx="1312664" cy="687585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Gₜ / Mₜ  →
Classification ·
Retrieval · VQA</a:t>
            </a:r>
          </a:p>
        </p:txBody>
      </p:sp>
      <p:sp>
        <p:nvSpPr>
          <p:cNvPr id="419" name="Readout transition tokens"/>
          <p:cNvSpPr/>
          <p:nvPr/>
        </p:nvSpPr>
        <p:spPr>
          <a:xfrm>
            <a:off x="7099101" y="8411765"/>
            <a:ext cx="1187648" cy="3036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adout transition tokens token 1"/>
          <p:cNvSpPr/>
          <p:nvPr/>
        </p:nvSpPr>
        <p:spPr>
          <a:xfrm>
            <a:off x="7179468" y="8483203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adout transition tokens token 2"/>
          <p:cNvSpPr/>
          <p:nvPr/>
        </p:nvSpPr>
        <p:spPr>
          <a:xfrm>
            <a:off x="7411640" y="8483203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adout transition tokens token 3"/>
          <p:cNvSpPr/>
          <p:nvPr/>
        </p:nvSpPr>
        <p:spPr>
          <a:xfrm>
            <a:off x="7643812" y="8483203"/>
            <a:ext cx="160734" cy="160734"/>
          </a:xfrm>
          <a:prstGeom prst="rect">
            <a:avLst/>
          </a:prstGeom>
          <a:solidFill>
            <a:srgbClr val="F4B18A"/>
          </a:solidFill>
          <a:ln w="889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adout transition tokens ellipsis"/>
          <p:cNvSpPr txBox="1"/>
          <p:nvPr/>
        </p:nvSpPr>
        <p:spPr>
          <a:xfrm>
            <a:off x="8009929" y="8420695"/>
            <a:ext cx="223242" cy="285750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sp>
        <p:nvSpPr>
          <p:cNvPr id="424" name="Transition readout label"/>
          <p:cNvSpPr txBox="1"/>
          <p:nvPr/>
        </p:nvSpPr>
        <p:spPr>
          <a:xfrm>
            <a:off x="8572500" y="8242101"/>
            <a:ext cx="1000125" cy="616148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111"/>
                </a:solidFill>
                <a:latin typeface="Arial"/>
              </a:rPr>
              <a:t>Δₜ,ₕ  →
Progression</a:t>
            </a:r>
          </a:p>
        </p:txBody>
      </p:sp>
      <p:sp>
        <p:nvSpPr>
          <p:cNvPr id="425" name="Readout future-state GMM origin"/>
          <p:cNvSpPr/>
          <p:nvPr/>
        </p:nvSpPr>
        <p:spPr>
          <a:xfrm>
            <a:off x="10170914" y="8509992"/>
            <a:ext cx="71437" cy="71437"/>
          </a:xfrm>
          <a:prstGeom prst="ellipse">
            <a:avLst/>
          </a:prstGeom>
          <a:solidFill>
            <a:srgbClr val="E88650"/>
          </a:solidFill>
          <a:ln w="6350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Readout future-state GMM branch 1"/>
          <p:cNvCxnSpPr/>
          <p:nvPr/>
        </p:nvCxnSpPr>
        <p:spPr>
          <a:xfrm flipV="1">
            <a:off x="10206632" y="8367117"/>
            <a:ext cx="214313" cy="178593"/>
          </a:xfrm>
          <a:prstGeom prst="line">
            <a:avLst/>
          </a:prstGeom>
          <a:ln w="6985">
            <a:solidFill>
              <a:srgbClr val="C9430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Readout future-state GMM token 1-1"/>
          <p:cNvSpPr/>
          <p:nvPr/>
        </p:nvSpPr>
        <p:spPr>
          <a:xfrm>
            <a:off x="10465593" y="8295679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adout future-state GMM token 1-2"/>
          <p:cNvSpPr/>
          <p:nvPr/>
        </p:nvSpPr>
        <p:spPr>
          <a:xfrm>
            <a:off x="10679906" y="8295679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adout future-state GMM token 1-3"/>
          <p:cNvSpPr/>
          <p:nvPr/>
        </p:nvSpPr>
        <p:spPr>
          <a:xfrm>
            <a:off x="10894218" y="8295679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adout future-state GMM token 1-4"/>
          <p:cNvSpPr/>
          <p:nvPr/>
        </p:nvSpPr>
        <p:spPr>
          <a:xfrm>
            <a:off x="11108531" y="8295679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adout future-state GMM ellipsis 1"/>
          <p:cNvSpPr txBox="1"/>
          <p:nvPr/>
        </p:nvSpPr>
        <p:spPr>
          <a:xfrm>
            <a:off x="11349632" y="8268890"/>
            <a:ext cx="187523" cy="196453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cxnSp>
        <p:nvCxnSpPr>
          <p:cNvPr id="432" name="Readout future-state GMM branch 2"/>
          <p:cNvCxnSpPr/>
          <p:nvPr/>
        </p:nvCxnSpPr>
        <p:spPr>
          <a:xfrm>
            <a:off x="10206632" y="8545710"/>
            <a:ext cx="214313" cy="17860"/>
          </a:xfrm>
          <a:prstGeom prst="line">
            <a:avLst/>
          </a:prstGeom>
          <a:ln w="6985">
            <a:solidFill>
              <a:srgbClr val="C9430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Readout future-state GMM token 2-1"/>
          <p:cNvSpPr/>
          <p:nvPr/>
        </p:nvSpPr>
        <p:spPr>
          <a:xfrm>
            <a:off x="10465593" y="8492132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adout future-state GMM token 2-2"/>
          <p:cNvSpPr/>
          <p:nvPr/>
        </p:nvSpPr>
        <p:spPr>
          <a:xfrm>
            <a:off x="10679906" y="8492132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adout future-state GMM token 2-3"/>
          <p:cNvSpPr/>
          <p:nvPr/>
        </p:nvSpPr>
        <p:spPr>
          <a:xfrm>
            <a:off x="10894218" y="8492132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adout future-state GMM token 2-4"/>
          <p:cNvSpPr/>
          <p:nvPr/>
        </p:nvSpPr>
        <p:spPr>
          <a:xfrm>
            <a:off x="11108531" y="8492132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adout future-state GMM ellipsis 2"/>
          <p:cNvSpPr txBox="1"/>
          <p:nvPr/>
        </p:nvSpPr>
        <p:spPr>
          <a:xfrm>
            <a:off x="11349632" y="8465343"/>
            <a:ext cx="187523" cy="196453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cxnSp>
        <p:nvCxnSpPr>
          <p:cNvPr id="438" name="Readout future-state GMM branch 3"/>
          <p:cNvCxnSpPr/>
          <p:nvPr/>
        </p:nvCxnSpPr>
        <p:spPr>
          <a:xfrm>
            <a:off x="10206632" y="8545710"/>
            <a:ext cx="214313" cy="214313"/>
          </a:xfrm>
          <a:prstGeom prst="line">
            <a:avLst/>
          </a:prstGeom>
          <a:ln w="6985">
            <a:solidFill>
              <a:srgbClr val="C9430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Readout future-state GMM token 3-1"/>
          <p:cNvSpPr/>
          <p:nvPr/>
        </p:nvSpPr>
        <p:spPr>
          <a:xfrm>
            <a:off x="10465593" y="8688585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adout future-state GMM token 3-2"/>
          <p:cNvSpPr/>
          <p:nvPr/>
        </p:nvSpPr>
        <p:spPr>
          <a:xfrm>
            <a:off x="10679906" y="8688585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adout future-state GMM token 3-3"/>
          <p:cNvSpPr/>
          <p:nvPr/>
        </p:nvSpPr>
        <p:spPr>
          <a:xfrm>
            <a:off x="10894218" y="8688585"/>
            <a:ext cx="160734" cy="142875"/>
          </a:xfrm>
          <a:prstGeom prst="rect">
            <a:avLst/>
          </a:prstGeom>
          <a:solidFill>
            <a:srgbClr val="FFF2EA"/>
          </a:solidFill>
          <a:ln w="6985">
            <a:solidFill>
              <a:srgbClr val="C943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adout future-state GMM ellipsis 3"/>
          <p:cNvSpPr txBox="1"/>
          <p:nvPr/>
        </p:nvSpPr>
        <p:spPr>
          <a:xfrm>
            <a:off x="11349632" y="8661796"/>
            <a:ext cx="187523" cy="196453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4308"/>
                </a:solidFill>
                <a:latin typeface="Arial"/>
              </a:rPr>
              <a:t>···</a:t>
            </a:r>
          </a:p>
        </p:txBody>
      </p:sp>
      <p:sp>
        <p:nvSpPr>
          <p:cNvPr id="443" name="Forecasting readout label"/>
          <p:cNvSpPr txBox="1"/>
          <p:nvPr/>
        </p:nvSpPr>
        <p:spPr>
          <a:xfrm>
            <a:off x="11849695" y="8224242"/>
            <a:ext cx="1553765" cy="642937"/>
          </a:xfrm>
          <a:prstGeom prst="rect">
            <a:avLst/>
          </a:prstGeom>
          <a:noFill/>
          <a:effectLst/>
        </p:spPr>
        <p:txBody>
          <a:bodyPr wrap="square" lIns="8929" rIns="8929" tIns="8929" bIns="8929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11111"/>
                </a:solidFill>
                <a:latin typeface="Arial"/>
              </a:rPr>
              <a:t>Predicted future state  →
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Figure 1</dc:title>
  <dc:subject>Editable recreation of fig1_v1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