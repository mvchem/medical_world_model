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46920" cy="136337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se A current heading"/>
          <p:cNvSpPr txBox="1"/>
          <p:nvPr/>
        </p:nvSpPr>
        <p:spPr>
          <a:xfrm>
            <a:off x="1901952" y="201168"/>
            <a:ext cx="3154680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92D52"/>
                </a:solidFill>
                <a:latin typeface="Arial"/>
              </a:rPr>
              <a:t>Current</a:t>
            </a:r>
          </a:p>
        </p:txBody>
      </p:sp>
      <p:sp>
        <p:nvSpPr>
          <p:cNvPr id="3" name="Case A follow-up heading"/>
          <p:cNvSpPr txBox="1"/>
          <p:nvPr/>
        </p:nvSpPr>
        <p:spPr>
          <a:xfrm>
            <a:off x="5943600" y="201168"/>
            <a:ext cx="3447288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92D52"/>
                </a:solidFill>
                <a:latin typeface="Arial"/>
              </a:rPr>
              <a:t>Observed follow-up</a:t>
            </a:r>
          </a:p>
        </p:txBody>
      </p:sp>
      <p:pic>
        <p:nvPicPr>
          <p:cNvPr id="4" name="Case A current radiograph" descr="case_a_current_cx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502920"/>
            <a:ext cx="3154680" cy="3968496"/>
          </a:xfrm>
          <a:prstGeom prst="rect">
            <a:avLst/>
          </a:prstGeom>
          <a:effectLst/>
        </p:spPr>
      </p:pic>
      <p:sp>
        <p:nvSpPr>
          <p:cNvPr id="5" name="Case A current radiograph border"/>
          <p:cNvSpPr/>
          <p:nvPr/>
        </p:nvSpPr>
        <p:spPr>
          <a:xfrm>
            <a:off x="1956816" y="502920"/>
            <a:ext cx="3154680" cy="3968496"/>
          </a:xfrm>
          <a:prstGeom prst="roundRect">
            <a:avLst>
              <a:gd name="adj" fmla="val 1799"/>
            </a:avLst>
          </a:prstGeom>
          <a:noFill/>
          <a:ln w="12700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Case A observed follow-up" descr="case_a_observed_followup_cx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02920"/>
            <a:ext cx="3447288" cy="3968496"/>
          </a:xfrm>
          <a:prstGeom prst="rect">
            <a:avLst/>
          </a:prstGeom>
          <a:effectLst/>
        </p:spPr>
      </p:pic>
      <p:sp>
        <p:nvSpPr>
          <p:cNvPr id="7" name="Case A observed follow-up border"/>
          <p:cNvSpPr/>
          <p:nvPr/>
        </p:nvSpPr>
        <p:spPr>
          <a:xfrm>
            <a:off x="5943600" y="502920"/>
            <a:ext cx="3447288" cy="3968496"/>
          </a:xfrm>
          <a:prstGeom prst="roundRect">
            <a:avLst>
              <a:gd name="adj" fmla="val 1799"/>
            </a:avLst>
          </a:prstGeom>
          <a:noFill/>
          <a:ln w="12700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ase A upper accent"/>
          <p:cNvCxnSpPr/>
          <p:nvPr/>
        </p:nvCxnSpPr>
        <p:spPr>
          <a:xfrm>
            <a:off x="210312" y="603504"/>
            <a:ext cx="0" cy="329184"/>
          </a:xfrm>
          <a:prstGeom prst="line">
            <a:avLst/>
          </a:prstGeom>
          <a:ln w="12700">
            <a:solidFill>
              <a:srgbClr val="09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ase A lower accent"/>
          <p:cNvCxnSpPr/>
          <p:nvPr/>
        </p:nvCxnSpPr>
        <p:spPr>
          <a:xfrm>
            <a:off x="210312" y="932688"/>
            <a:ext cx="0" cy="713232"/>
          </a:xfrm>
          <a:prstGeom prst="line">
            <a:avLst/>
          </a:prstGeom>
          <a:ln w="12700">
            <a:solidFill>
              <a:srgbClr val="789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 A label"/>
          <p:cNvSpPr txBox="1"/>
          <p:nvPr/>
        </p:nvSpPr>
        <p:spPr>
          <a:xfrm>
            <a:off x="338328" y="420624"/>
            <a:ext cx="502920" cy="603504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92D52"/>
                </a:solidFill>
                <a:latin typeface="Roboto Condensed"/>
              </a:rPr>
              <a:t>A</a:t>
            </a:r>
          </a:p>
        </p:txBody>
      </p:sp>
      <p:sp>
        <p:nvSpPr>
          <p:cNvPr id="11" name="Case A status"/>
          <p:cNvSpPr txBox="1"/>
          <p:nvPr/>
        </p:nvSpPr>
        <p:spPr>
          <a:xfrm>
            <a:off x="292608" y="1188720"/>
            <a:ext cx="1417320" cy="228600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2321"/>
                </a:solidFill>
                <a:latin typeface="Roboto Condensed"/>
              </a:rPr>
              <a:t>Clear change</a:t>
            </a:r>
          </a:p>
        </p:txBody>
      </p:sp>
      <p:sp>
        <p:nvSpPr>
          <p:cNvPr id="12" name="Case A metadata"/>
          <p:cNvSpPr txBox="1"/>
          <p:nvPr/>
        </p:nvSpPr>
        <p:spPr>
          <a:xfrm>
            <a:off x="292608" y="1417320"/>
            <a:ext cx="1508760" cy="420624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42321"/>
                </a:solidFill>
                <a:latin typeface="Roboto Condensed"/>
              </a:rPr>
              <a:t>20.1 h · 0–24 h · SICU</a:t>
            </a:r>
          </a:p>
        </p:txBody>
      </p:sp>
      <p:cxnSp>
        <p:nvCxnSpPr>
          <p:cNvPr id="13" name="Case A summary divider"/>
          <p:cNvCxnSpPr/>
          <p:nvPr/>
        </p:nvCxnSpPr>
        <p:spPr>
          <a:xfrm>
            <a:off x="210312" y="1892807"/>
            <a:ext cx="1472184" cy="0"/>
          </a:xfrm>
          <a:prstGeom prst="line">
            <a:avLst/>
          </a:prstGeom>
          <a:ln w="8890">
            <a:solidFill>
              <a:srgbClr val="CBC8C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 A summary"/>
          <p:cNvSpPr txBox="1"/>
          <p:nvPr/>
        </p:nvSpPr>
        <p:spPr>
          <a:xfrm>
            <a:off x="201168" y="2139696"/>
            <a:ext cx="1700784" cy="1664208"/>
          </a:xfrm>
          <a:prstGeom prst="rect">
            <a:avLst/>
          </a:prstGeom>
          <a:noFill/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No reported edema or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pleural effusion →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marked bilateral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opacity and pulmonary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edema; small right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pleural effusion.</a:t>
            </a:r>
          </a:p>
        </p:txBody>
      </p:sp>
      <p:cxnSp>
        <p:nvCxnSpPr>
          <p:cNvPr id="15" name="Case A trajectory arrow shaft"/>
          <p:cNvCxnSpPr/>
          <p:nvPr/>
        </p:nvCxnSpPr>
        <p:spPr>
          <a:xfrm>
            <a:off x="5285232" y="2121408"/>
            <a:ext cx="475488" cy="0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ase A trajectory arrow upper head"/>
          <p:cNvCxnSpPr/>
          <p:nvPr/>
        </p:nvCxnSpPr>
        <p:spPr>
          <a:xfrm>
            <a:off x="5687568" y="2048256"/>
            <a:ext cx="73152" cy="73152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ase A trajectory arrow lower head"/>
          <p:cNvCxnSpPr/>
          <p:nvPr/>
        </p:nvCxnSpPr>
        <p:spPr>
          <a:xfrm flipH="1">
            <a:off x="5687568" y="2121408"/>
            <a:ext cx="73152" cy="73152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 A clock"/>
          <p:cNvSpPr/>
          <p:nvPr/>
        </p:nvSpPr>
        <p:spPr>
          <a:xfrm>
            <a:off x="5404104" y="2359152"/>
            <a:ext cx="246888" cy="246888"/>
          </a:xfrm>
          <a:prstGeom prst="ellipse">
            <a:avLst/>
          </a:prstGeom>
          <a:noFill/>
          <a:ln w="11430">
            <a:solidFill>
              <a:srgbClr val="526F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ase A clock minute hand"/>
          <p:cNvCxnSpPr/>
          <p:nvPr/>
        </p:nvCxnSpPr>
        <p:spPr>
          <a:xfrm>
            <a:off x="5527548" y="2404872"/>
            <a:ext cx="0" cy="82296"/>
          </a:xfrm>
          <a:prstGeom prst="line">
            <a:avLst/>
          </a:prstGeom>
          <a:ln w="1143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ase A clock hour hand"/>
          <p:cNvCxnSpPr/>
          <p:nvPr/>
        </p:nvCxnSpPr>
        <p:spPr>
          <a:xfrm>
            <a:off x="5527548" y="2487168"/>
            <a:ext cx="54864" cy="36576"/>
          </a:xfrm>
          <a:prstGeom prst="line">
            <a:avLst/>
          </a:prstGeom>
          <a:ln w="1143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 A elapsed time"/>
          <p:cNvSpPr txBox="1"/>
          <p:nvPr/>
        </p:nvSpPr>
        <p:spPr>
          <a:xfrm>
            <a:off x="5212080" y="2651760"/>
            <a:ext cx="612648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F8D"/>
                </a:solidFill>
                <a:latin typeface="Roboto Condensed"/>
              </a:rPr>
              <a:t>20.1 h</a:t>
            </a:r>
          </a:p>
        </p:txBody>
      </p:sp>
      <p:cxnSp>
        <p:nvCxnSpPr>
          <p:cNvPr id="22" name="Case A row divider"/>
          <p:cNvCxnSpPr/>
          <p:nvPr/>
        </p:nvCxnSpPr>
        <p:spPr>
          <a:xfrm>
            <a:off x="210312" y="4590288"/>
            <a:ext cx="9217152" cy="0"/>
          </a:xfrm>
          <a:prstGeom prst="line">
            <a:avLst/>
          </a:prstGeom>
          <a:ln w="8890">
            <a:solidFill>
              <a:srgbClr val="D4D2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 B current heading"/>
          <p:cNvSpPr txBox="1"/>
          <p:nvPr/>
        </p:nvSpPr>
        <p:spPr>
          <a:xfrm>
            <a:off x="1874519" y="4718304"/>
            <a:ext cx="3182112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92D52"/>
                </a:solidFill>
                <a:latin typeface="Arial"/>
              </a:rPr>
              <a:t>Current</a:t>
            </a:r>
          </a:p>
        </p:txBody>
      </p:sp>
      <p:sp>
        <p:nvSpPr>
          <p:cNvPr id="24" name="Case B follow-up heading"/>
          <p:cNvSpPr txBox="1"/>
          <p:nvPr/>
        </p:nvSpPr>
        <p:spPr>
          <a:xfrm>
            <a:off x="5943600" y="4718304"/>
            <a:ext cx="3456432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92D52"/>
                </a:solidFill>
                <a:latin typeface="Arial"/>
              </a:rPr>
              <a:t>Observed follow-up</a:t>
            </a:r>
          </a:p>
        </p:txBody>
      </p:sp>
      <p:pic>
        <p:nvPicPr>
          <p:cNvPr id="25" name="Case B current radiograph" descr="case_b_current_cx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5020056"/>
            <a:ext cx="3182112" cy="3877056"/>
          </a:xfrm>
          <a:prstGeom prst="rect">
            <a:avLst/>
          </a:prstGeom>
          <a:effectLst/>
        </p:spPr>
      </p:pic>
      <p:sp>
        <p:nvSpPr>
          <p:cNvPr id="26" name="Case B current radiograph border"/>
          <p:cNvSpPr/>
          <p:nvPr/>
        </p:nvSpPr>
        <p:spPr>
          <a:xfrm>
            <a:off x="1929384" y="5020056"/>
            <a:ext cx="3182112" cy="3877056"/>
          </a:xfrm>
          <a:prstGeom prst="roundRect">
            <a:avLst>
              <a:gd name="adj" fmla="val 1799"/>
            </a:avLst>
          </a:prstGeom>
          <a:noFill/>
          <a:ln w="12700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Case B observed follow-up" descr="case_b_observed_followup_cx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5020056"/>
            <a:ext cx="3456432" cy="3877056"/>
          </a:xfrm>
          <a:prstGeom prst="rect">
            <a:avLst/>
          </a:prstGeom>
          <a:effectLst/>
        </p:spPr>
      </p:pic>
      <p:sp>
        <p:nvSpPr>
          <p:cNvPr id="28" name="Case B observed follow-up border"/>
          <p:cNvSpPr/>
          <p:nvPr/>
        </p:nvSpPr>
        <p:spPr>
          <a:xfrm>
            <a:off x="5943600" y="5020056"/>
            <a:ext cx="3456432" cy="3877056"/>
          </a:xfrm>
          <a:prstGeom prst="roundRect">
            <a:avLst>
              <a:gd name="adj" fmla="val 1799"/>
            </a:avLst>
          </a:prstGeom>
          <a:noFill/>
          <a:ln w="12700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ase B upper accent"/>
          <p:cNvCxnSpPr/>
          <p:nvPr/>
        </p:nvCxnSpPr>
        <p:spPr>
          <a:xfrm>
            <a:off x="210312" y="5093208"/>
            <a:ext cx="0" cy="329184"/>
          </a:xfrm>
          <a:prstGeom prst="line">
            <a:avLst/>
          </a:prstGeom>
          <a:ln w="12700">
            <a:solidFill>
              <a:srgbClr val="09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ase B lower accent"/>
          <p:cNvCxnSpPr/>
          <p:nvPr/>
        </p:nvCxnSpPr>
        <p:spPr>
          <a:xfrm>
            <a:off x="210312" y="5422392"/>
            <a:ext cx="0" cy="731520"/>
          </a:xfrm>
          <a:prstGeom prst="line">
            <a:avLst/>
          </a:prstGeom>
          <a:ln w="12700">
            <a:solidFill>
              <a:srgbClr val="789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 B label"/>
          <p:cNvSpPr txBox="1"/>
          <p:nvPr/>
        </p:nvSpPr>
        <p:spPr>
          <a:xfrm>
            <a:off x="338328" y="4910328"/>
            <a:ext cx="502920" cy="603504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92D52"/>
                </a:solidFill>
                <a:latin typeface="Roboto Condensed"/>
              </a:rPr>
              <a:t>B</a:t>
            </a:r>
          </a:p>
        </p:txBody>
      </p:sp>
      <p:sp>
        <p:nvSpPr>
          <p:cNvPr id="32" name="Case B status"/>
          <p:cNvSpPr txBox="1"/>
          <p:nvPr/>
        </p:nvSpPr>
        <p:spPr>
          <a:xfrm>
            <a:off x="292608" y="5678424"/>
            <a:ext cx="1417320" cy="228600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2321"/>
                </a:solidFill>
                <a:latin typeface="Roboto Condensed"/>
              </a:rPr>
              <a:t>Stable follow-up</a:t>
            </a:r>
          </a:p>
        </p:txBody>
      </p:sp>
      <p:sp>
        <p:nvSpPr>
          <p:cNvPr id="33" name="Case B metadata"/>
          <p:cNvSpPr txBox="1"/>
          <p:nvPr/>
        </p:nvSpPr>
        <p:spPr>
          <a:xfrm>
            <a:off x="292608" y="5916168"/>
            <a:ext cx="1508760" cy="420624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42321"/>
                </a:solidFill>
                <a:latin typeface="Roboto Condensed"/>
              </a:rPr>
              <a:t>24.0 h · 0–24 h · SICU</a:t>
            </a:r>
          </a:p>
        </p:txBody>
      </p:sp>
      <p:cxnSp>
        <p:nvCxnSpPr>
          <p:cNvPr id="34" name="Case B summary divider"/>
          <p:cNvCxnSpPr/>
          <p:nvPr/>
        </p:nvCxnSpPr>
        <p:spPr>
          <a:xfrm>
            <a:off x="210312" y="6382512"/>
            <a:ext cx="1472184" cy="0"/>
          </a:xfrm>
          <a:prstGeom prst="line">
            <a:avLst/>
          </a:prstGeom>
          <a:ln w="8890">
            <a:solidFill>
              <a:srgbClr val="CBC8C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 B summary"/>
          <p:cNvSpPr txBox="1"/>
          <p:nvPr/>
        </p:nvSpPr>
        <p:spPr>
          <a:xfrm>
            <a:off x="201168" y="6629400"/>
            <a:ext cx="1700784" cy="1664208"/>
          </a:xfrm>
          <a:prstGeom prst="rect">
            <a:avLst/>
          </a:prstGeom>
          <a:noFill/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Persistent bibasal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opacification, pleural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effusions, and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compressive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atelectasis with little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242321"/>
                </a:solidFill>
                <a:latin typeface="Roboto Condensed"/>
              </a:rPr>
              <a:t>interval change.</a:t>
            </a:r>
          </a:p>
        </p:txBody>
      </p:sp>
      <p:cxnSp>
        <p:nvCxnSpPr>
          <p:cNvPr id="36" name="Case B trajectory arrow shaft"/>
          <p:cNvCxnSpPr/>
          <p:nvPr/>
        </p:nvCxnSpPr>
        <p:spPr>
          <a:xfrm>
            <a:off x="5285232" y="6620256"/>
            <a:ext cx="475488" cy="0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ase B trajectory arrow upper head"/>
          <p:cNvCxnSpPr/>
          <p:nvPr/>
        </p:nvCxnSpPr>
        <p:spPr>
          <a:xfrm>
            <a:off x="5687568" y="6547104"/>
            <a:ext cx="73152" cy="73152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ase B trajectory arrow lower head"/>
          <p:cNvCxnSpPr/>
          <p:nvPr/>
        </p:nvCxnSpPr>
        <p:spPr>
          <a:xfrm flipH="1">
            <a:off x="5687568" y="6620256"/>
            <a:ext cx="73152" cy="73152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 B clock"/>
          <p:cNvSpPr/>
          <p:nvPr/>
        </p:nvSpPr>
        <p:spPr>
          <a:xfrm>
            <a:off x="5404104" y="6858000"/>
            <a:ext cx="246888" cy="246888"/>
          </a:xfrm>
          <a:prstGeom prst="ellipse">
            <a:avLst/>
          </a:prstGeom>
          <a:noFill/>
          <a:ln w="11430">
            <a:solidFill>
              <a:srgbClr val="526F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ase B clock minute hand"/>
          <p:cNvCxnSpPr/>
          <p:nvPr/>
        </p:nvCxnSpPr>
        <p:spPr>
          <a:xfrm>
            <a:off x="5527548" y="6903720"/>
            <a:ext cx="0" cy="82296"/>
          </a:xfrm>
          <a:prstGeom prst="line">
            <a:avLst/>
          </a:prstGeom>
          <a:ln w="1143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ase B clock hour hand"/>
          <p:cNvCxnSpPr/>
          <p:nvPr/>
        </p:nvCxnSpPr>
        <p:spPr>
          <a:xfrm>
            <a:off x="5527548" y="6986016"/>
            <a:ext cx="54864" cy="36576"/>
          </a:xfrm>
          <a:prstGeom prst="line">
            <a:avLst/>
          </a:prstGeom>
          <a:ln w="1143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 B elapsed time"/>
          <p:cNvSpPr txBox="1"/>
          <p:nvPr/>
        </p:nvSpPr>
        <p:spPr>
          <a:xfrm>
            <a:off x="5212080" y="7150608"/>
            <a:ext cx="612648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F8D"/>
                </a:solidFill>
                <a:latin typeface="Roboto Condensed"/>
              </a:rPr>
              <a:t>24.0 h</a:t>
            </a:r>
          </a:p>
        </p:txBody>
      </p:sp>
      <p:cxnSp>
        <p:nvCxnSpPr>
          <p:cNvPr id="43" name="Case B row divider"/>
          <p:cNvCxnSpPr/>
          <p:nvPr/>
        </p:nvCxnSpPr>
        <p:spPr>
          <a:xfrm>
            <a:off x="210312" y="9006840"/>
            <a:ext cx="9217152" cy="0"/>
          </a:xfrm>
          <a:prstGeom prst="line">
            <a:avLst/>
          </a:prstGeom>
          <a:ln w="8890">
            <a:solidFill>
              <a:srgbClr val="D4D2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se C current heading"/>
          <p:cNvSpPr txBox="1"/>
          <p:nvPr/>
        </p:nvSpPr>
        <p:spPr>
          <a:xfrm>
            <a:off x="1865376" y="9098280"/>
            <a:ext cx="3191256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92D52"/>
                </a:solidFill>
                <a:latin typeface="Arial"/>
              </a:rPr>
              <a:t>Current</a:t>
            </a:r>
          </a:p>
        </p:txBody>
      </p:sp>
      <p:sp>
        <p:nvSpPr>
          <p:cNvPr id="45" name="Case C follow-up heading"/>
          <p:cNvSpPr txBox="1"/>
          <p:nvPr/>
        </p:nvSpPr>
        <p:spPr>
          <a:xfrm>
            <a:off x="5943600" y="9098280"/>
            <a:ext cx="3456432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92D52"/>
                </a:solidFill>
                <a:latin typeface="Arial"/>
              </a:rPr>
              <a:t>Observed follow-up</a:t>
            </a:r>
          </a:p>
        </p:txBody>
      </p:sp>
      <p:pic>
        <p:nvPicPr>
          <p:cNvPr id="46" name="Case C current radiograph" descr="case_c_current_cx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9400032"/>
            <a:ext cx="3191256" cy="3950208"/>
          </a:xfrm>
          <a:prstGeom prst="rect">
            <a:avLst/>
          </a:prstGeom>
          <a:effectLst/>
        </p:spPr>
      </p:pic>
      <p:sp>
        <p:nvSpPr>
          <p:cNvPr id="47" name="Case C current radiograph border"/>
          <p:cNvSpPr/>
          <p:nvPr/>
        </p:nvSpPr>
        <p:spPr>
          <a:xfrm>
            <a:off x="1920240" y="9400032"/>
            <a:ext cx="3191256" cy="3950208"/>
          </a:xfrm>
          <a:prstGeom prst="roundRect">
            <a:avLst>
              <a:gd name="adj" fmla="val 1799"/>
            </a:avLst>
          </a:prstGeom>
          <a:noFill/>
          <a:ln w="12700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Case C observed follow-up" descr="case_c_observed_followup_cx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9400032"/>
            <a:ext cx="3456432" cy="3950208"/>
          </a:xfrm>
          <a:prstGeom prst="rect">
            <a:avLst/>
          </a:prstGeom>
          <a:effectLst/>
        </p:spPr>
      </p:pic>
      <p:sp>
        <p:nvSpPr>
          <p:cNvPr id="49" name="Case C observed follow-up border"/>
          <p:cNvSpPr/>
          <p:nvPr/>
        </p:nvSpPr>
        <p:spPr>
          <a:xfrm>
            <a:off x="5943600" y="9400032"/>
            <a:ext cx="3456432" cy="3950208"/>
          </a:xfrm>
          <a:prstGeom prst="roundRect">
            <a:avLst>
              <a:gd name="adj" fmla="val 1799"/>
            </a:avLst>
          </a:prstGeom>
          <a:noFill/>
          <a:ln w="12700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ase C upper accent"/>
          <p:cNvCxnSpPr/>
          <p:nvPr/>
        </p:nvCxnSpPr>
        <p:spPr>
          <a:xfrm>
            <a:off x="210312" y="9482328"/>
            <a:ext cx="0" cy="329184"/>
          </a:xfrm>
          <a:prstGeom prst="line">
            <a:avLst/>
          </a:prstGeom>
          <a:ln w="12700">
            <a:solidFill>
              <a:srgbClr val="09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ase C lower accent"/>
          <p:cNvCxnSpPr/>
          <p:nvPr/>
        </p:nvCxnSpPr>
        <p:spPr>
          <a:xfrm>
            <a:off x="210312" y="9811512"/>
            <a:ext cx="0" cy="923544"/>
          </a:xfrm>
          <a:prstGeom prst="line">
            <a:avLst/>
          </a:prstGeom>
          <a:ln w="12700">
            <a:solidFill>
              <a:srgbClr val="789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se C label"/>
          <p:cNvSpPr txBox="1"/>
          <p:nvPr/>
        </p:nvSpPr>
        <p:spPr>
          <a:xfrm>
            <a:off x="338328" y="9299448"/>
            <a:ext cx="502920" cy="603504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92D52"/>
                </a:solidFill>
                <a:latin typeface="Roboto Condensed"/>
              </a:rPr>
              <a:t>C</a:t>
            </a:r>
          </a:p>
        </p:txBody>
      </p:sp>
      <p:sp>
        <p:nvSpPr>
          <p:cNvPr id="53" name="Case C status"/>
          <p:cNvSpPr txBox="1"/>
          <p:nvPr/>
        </p:nvSpPr>
        <p:spPr>
          <a:xfrm>
            <a:off x="292608" y="10067544"/>
            <a:ext cx="1417320" cy="228600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2321"/>
                </a:solidFill>
                <a:latin typeface="Roboto Condensed"/>
              </a:rPr>
              <a:t>Clear change</a:t>
            </a:r>
          </a:p>
        </p:txBody>
      </p:sp>
      <p:sp>
        <p:nvSpPr>
          <p:cNvPr id="54" name="Case C metadata"/>
          <p:cNvSpPr txBox="1"/>
          <p:nvPr/>
        </p:nvSpPr>
        <p:spPr>
          <a:xfrm>
            <a:off x="292608" y="10314432"/>
            <a:ext cx="1508760" cy="420624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42321"/>
                </a:solidFill>
                <a:latin typeface="Roboto Condensed"/>
              </a:rPr>
              <a:t>50.5 h · 24–72 h ·
Trauma SICU</a:t>
            </a:r>
          </a:p>
        </p:txBody>
      </p:sp>
      <p:cxnSp>
        <p:nvCxnSpPr>
          <p:cNvPr id="55" name="Case C summary divider"/>
          <p:cNvCxnSpPr/>
          <p:nvPr/>
        </p:nvCxnSpPr>
        <p:spPr>
          <a:xfrm>
            <a:off x="210312" y="10863072"/>
            <a:ext cx="1472184" cy="0"/>
          </a:xfrm>
          <a:prstGeom prst="line">
            <a:avLst/>
          </a:prstGeom>
          <a:ln w="8890">
            <a:solidFill>
              <a:srgbClr val="CBC8C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se C summary"/>
          <p:cNvSpPr txBox="1"/>
          <p:nvPr/>
        </p:nvSpPr>
        <p:spPr>
          <a:xfrm>
            <a:off x="201168" y="11091672"/>
            <a:ext cx="1700784" cy="1874519"/>
          </a:xfrm>
          <a:prstGeom prst="rect">
            <a:avLst/>
          </a:prstGeom>
          <a:noFill/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No focal opacity or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pleural effusion →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extensive bilateral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parenchymal opacities,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greatest in the right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upper lung; probable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multifocal pneumonia,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>
                <a:solidFill>
                  <a:srgbClr val="242321"/>
                </a:solidFill>
                <a:latin typeface="Roboto Condensed"/>
              </a:rPr>
              <a:t>possible effusion.</a:t>
            </a:r>
          </a:p>
        </p:txBody>
      </p:sp>
      <p:cxnSp>
        <p:nvCxnSpPr>
          <p:cNvPr id="57" name="Case C trajectory arrow shaft"/>
          <p:cNvCxnSpPr/>
          <p:nvPr/>
        </p:nvCxnSpPr>
        <p:spPr>
          <a:xfrm>
            <a:off x="5285232" y="10963656"/>
            <a:ext cx="475488" cy="0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ase C trajectory arrow upper head"/>
          <p:cNvCxnSpPr/>
          <p:nvPr/>
        </p:nvCxnSpPr>
        <p:spPr>
          <a:xfrm>
            <a:off x="5687568" y="10890504"/>
            <a:ext cx="73152" cy="73152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ase C trajectory arrow lower head"/>
          <p:cNvCxnSpPr/>
          <p:nvPr/>
        </p:nvCxnSpPr>
        <p:spPr>
          <a:xfrm flipH="1">
            <a:off x="5687568" y="10963656"/>
            <a:ext cx="73152" cy="73152"/>
          </a:xfrm>
          <a:prstGeom prst="line">
            <a:avLst/>
          </a:prstGeom>
          <a:ln w="1016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se C clock"/>
          <p:cNvSpPr/>
          <p:nvPr/>
        </p:nvSpPr>
        <p:spPr>
          <a:xfrm>
            <a:off x="5404104" y="11201400"/>
            <a:ext cx="246888" cy="246888"/>
          </a:xfrm>
          <a:prstGeom prst="ellipse">
            <a:avLst/>
          </a:prstGeom>
          <a:noFill/>
          <a:ln w="11430">
            <a:solidFill>
              <a:srgbClr val="526F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ase C clock minute hand"/>
          <p:cNvCxnSpPr/>
          <p:nvPr/>
        </p:nvCxnSpPr>
        <p:spPr>
          <a:xfrm>
            <a:off x="5527548" y="11247120"/>
            <a:ext cx="0" cy="82296"/>
          </a:xfrm>
          <a:prstGeom prst="line">
            <a:avLst/>
          </a:prstGeom>
          <a:ln w="1143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ase C clock hour hand"/>
          <p:cNvCxnSpPr/>
          <p:nvPr/>
        </p:nvCxnSpPr>
        <p:spPr>
          <a:xfrm>
            <a:off x="5527548" y="11329416"/>
            <a:ext cx="54864" cy="36576"/>
          </a:xfrm>
          <a:prstGeom prst="line">
            <a:avLst/>
          </a:prstGeom>
          <a:ln w="11430">
            <a:solidFill>
              <a:srgbClr val="526F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se C elapsed time"/>
          <p:cNvSpPr txBox="1"/>
          <p:nvPr/>
        </p:nvSpPr>
        <p:spPr>
          <a:xfrm>
            <a:off x="5212080" y="11494008"/>
            <a:ext cx="612648" cy="246888"/>
          </a:xfrm>
          <a:prstGeom prst="rect">
            <a:avLst/>
          </a:prstGeom>
          <a:noFill/>
          <a:effectLst/>
        </p:spPr>
        <p:txBody>
          <a:bodyPr wrap="square" lIns="9144" rIns="9144" tIns="4572" bIns="457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F8D"/>
                </a:solidFill>
                <a:latin typeface="Roboto Condensed"/>
              </a:rPr>
              <a:t>50.5 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Representative longitudinal MIMIC trajectories</dc:title>
  <dc:subject>Editable portrait appendix figure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