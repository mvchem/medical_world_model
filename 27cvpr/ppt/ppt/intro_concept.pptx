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726912" cy="69677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atent patient space — cloud"/>
          <p:cNvSpPr/>
          <p:nvPr/>
        </p:nvSpPr>
        <p:spPr>
          <a:xfrm>
            <a:off x="4599432" y="512064"/>
            <a:ext cx="9555480" cy="5303520"/>
          </a:xfrm>
          <a:custGeom>
            <a:avLst/>
            <a:gdLst/>
            <a:ahLst/>
            <a:cxnLst/>
            <a:rect l="0" t="0" r="r" b="b"/>
            <a:pathLst>
              <a:path w="1045" h="580">
                <a:moveTo>
                  <a:pt x="6" y="311"/>
                </a:moveTo>
                <a:cubicBezTo>
                  <a:pt x="1" y="235"/>
                  <a:pt x="89" y="204"/>
                  <a:pt x="198" y="176"/>
                </a:cubicBezTo>
                <a:cubicBezTo>
                  <a:pt x="296" y="152"/>
                  <a:pt x="294" y="88"/>
                  <a:pt x="401" y="47"/>
                </a:cubicBezTo>
                <a:cubicBezTo>
                  <a:pt x="482" y="14"/>
                  <a:pt x="591" y="0"/>
                  <a:pt x="667" y="22"/>
                </a:cubicBezTo>
                <a:cubicBezTo>
                  <a:pt x="742" y="35"/>
                  <a:pt x="748" y="91"/>
                  <a:pt x="831" y="118"/>
                </a:cubicBezTo>
                <a:cubicBezTo>
                  <a:pt x="889" y="138"/>
                  <a:pt x="922" y="129"/>
                  <a:pt x="971" y="178"/>
                </a:cubicBezTo>
                <a:cubicBezTo>
                  <a:pt x="1018" y="227"/>
                  <a:pt x="1042" y="298"/>
                  <a:pt x="1042" y="370"/>
                </a:cubicBezTo>
                <a:cubicBezTo>
                  <a:pt x="1045" y="470"/>
                  <a:pt x="980" y="537"/>
                  <a:pt x="879" y="557"/>
                </a:cubicBezTo>
                <a:cubicBezTo>
                  <a:pt x="799" y="580"/>
                  <a:pt x="690" y="567"/>
                  <a:pt x="597" y="569"/>
                </a:cubicBezTo>
                <a:cubicBezTo>
                  <a:pt x="462" y="574"/>
                  <a:pt x="388" y="576"/>
                  <a:pt x="332" y="515"/>
                </a:cubicBezTo>
                <a:cubicBezTo>
                  <a:pt x="286" y="462"/>
                  <a:pt x="272" y="454"/>
                  <a:pt x="214" y="440"/>
                </a:cubicBezTo>
                <a:cubicBezTo>
                  <a:pt x="109" y="426"/>
                  <a:pt x="0" y="425"/>
                  <a:pt x="6" y="311"/>
                </a:cubicBezTo>
                <a:close/>
              </a:path>
            </a:pathLst>
          </a:custGeom>
          <a:solidFill>
            <a:srgbClr val="F2F7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Upper blue trajectory"/>
          <p:cNvSpPr/>
          <p:nvPr/>
        </p:nvSpPr>
        <p:spPr>
          <a:xfrm>
            <a:off x="5760720" y="1581912"/>
            <a:ext cx="6757416" cy="1316736"/>
          </a:xfrm>
          <a:custGeom>
            <a:avLst/>
            <a:gdLst/>
            <a:ahLst/>
            <a:cxnLst/>
            <a:rect l="0" t="0" r="r" b="b"/>
            <a:pathLst>
              <a:path w="739" h="144">
                <a:moveTo>
                  <a:pt x="0" y="144"/>
                </a:moveTo>
                <a:cubicBezTo>
                  <a:pt x="53" y="117"/>
                  <a:pt x="86" y="123"/>
                  <a:pt x="140" y="124"/>
                </a:cubicBezTo>
                <a:cubicBezTo>
                  <a:pt x="186" y="113"/>
                  <a:pt x="209" y="47"/>
                  <a:pt x="240" y="38"/>
                </a:cubicBezTo>
                <a:cubicBezTo>
                  <a:pt x="291" y="25"/>
                  <a:pt x="339" y="94"/>
                  <a:pt x="426" y="89"/>
                </a:cubicBezTo>
                <a:cubicBezTo>
                  <a:pt x="504" y="88"/>
                  <a:pt x="540" y="0"/>
                  <a:pt x="610" y="7"/>
                </a:cubicBezTo>
                <a:cubicBezTo>
                  <a:pt x="644" y="17"/>
                  <a:pt x="678" y="73"/>
                  <a:pt x="739" y="77"/>
                </a:cubicBezTo>
              </a:path>
            </a:pathLst>
          </a:custGeom>
          <a:noFill/>
          <a:ln w="18288">
            <a:solidFill>
              <a:srgbClr val="B8D2F2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Upper blue node 1"/>
          <p:cNvSpPr/>
          <p:nvPr/>
        </p:nvSpPr>
        <p:spPr>
          <a:xfrm>
            <a:off x="5650992" y="2788920"/>
            <a:ext cx="219456" cy="219456"/>
          </a:xfrm>
          <a:prstGeom prst="ellipse">
            <a:avLst/>
          </a:prstGeom>
          <a:solidFill>
            <a:srgbClr val="B8D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Upper blue node 2"/>
          <p:cNvSpPr/>
          <p:nvPr/>
        </p:nvSpPr>
        <p:spPr>
          <a:xfrm>
            <a:off x="6931152" y="2606040"/>
            <a:ext cx="219456" cy="219456"/>
          </a:xfrm>
          <a:prstGeom prst="ellipse">
            <a:avLst/>
          </a:prstGeom>
          <a:solidFill>
            <a:srgbClr val="B8D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Upper blue node 3"/>
          <p:cNvSpPr/>
          <p:nvPr/>
        </p:nvSpPr>
        <p:spPr>
          <a:xfrm>
            <a:off x="7845552" y="1819656"/>
            <a:ext cx="219456" cy="219456"/>
          </a:xfrm>
          <a:prstGeom prst="ellipse">
            <a:avLst/>
          </a:prstGeom>
          <a:solidFill>
            <a:srgbClr val="B8D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Upper blue node 4"/>
          <p:cNvSpPr/>
          <p:nvPr/>
        </p:nvSpPr>
        <p:spPr>
          <a:xfrm>
            <a:off x="9546336" y="2286000"/>
            <a:ext cx="219456" cy="219456"/>
          </a:xfrm>
          <a:prstGeom prst="ellipse">
            <a:avLst/>
          </a:prstGeom>
          <a:solidFill>
            <a:srgbClr val="B8D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Upper blue node 5"/>
          <p:cNvSpPr/>
          <p:nvPr/>
        </p:nvSpPr>
        <p:spPr>
          <a:xfrm>
            <a:off x="11228832" y="1536192"/>
            <a:ext cx="219456" cy="219456"/>
          </a:xfrm>
          <a:prstGeom prst="ellipse">
            <a:avLst/>
          </a:prstGeom>
          <a:solidFill>
            <a:srgbClr val="B8D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Upper blue node 6"/>
          <p:cNvSpPr/>
          <p:nvPr/>
        </p:nvSpPr>
        <p:spPr>
          <a:xfrm>
            <a:off x="12408408" y="2176272"/>
            <a:ext cx="219456" cy="219456"/>
          </a:xfrm>
          <a:prstGeom prst="ellipse">
            <a:avLst/>
          </a:prstGeom>
          <a:solidFill>
            <a:srgbClr val="B8D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Upper branch trajectory"/>
          <p:cNvSpPr/>
          <p:nvPr/>
        </p:nvSpPr>
        <p:spPr>
          <a:xfrm>
            <a:off x="8705088" y="1051560"/>
            <a:ext cx="1700784" cy="822960"/>
          </a:xfrm>
          <a:custGeom>
            <a:avLst/>
            <a:gdLst/>
            <a:ahLst/>
            <a:cxnLst/>
            <a:rect l="0" t="0" r="r" b="b"/>
            <a:pathLst>
              <a:path w="186" h="90">
                <a:moveTo>
                  <a:pt x="0" y="90"/>
                </a:moveTo>
                <a:cubicBezTo>
                  <a:pt x="20" y="68"/>
                  <a:pt x="25" y="59"/>
                  <a:pt x="38" y="57"/>
                </a:cubicBezTo>
                <a:cubicBezTo>
                  <a:pt x="99" y="58"/>
                  <a:pt x="132" y="0"/>
                  <a:pt x="186" y="0"/>
                </a:cubicBezTo>
              </a:path>
            </a:pathLst>
          </a:custGeom>
          <a:noFill/>
          <a:ln w="18288">
            <a:solidFill>
              <a:srgbClr val="C5D2E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Upper branch node 1"/>
          <p:cNvSpPr/>
          <p:nvPr/>
        </p:nvSpPr>
        <p:spPr>
          <a:xfrm>
            <a:off x="8942832" y="1463040"/>
            <a:ext cx="219456" cy="219456"/>
          </a:xfrm>
          <a:prstGeom prst="ellipse">
            <a:avLst/>
          </a:prstGeom>
          <a:solidFill>
            <a:srgbClr val="C5D2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Upper branch node 2"/>
          <p:cNvSpPr/>
          <p:nvPr/>
        </p:nvSpPr>
        <p:spPr>
          <a:xfrm>
            <a:off x="10296144" y="941832"/>
            <a:ext cx="219456" cy="219456"/>
          </a:xfrm>
          <a:prstGeom prst="ellipse">
            <a:avLst/>
          </a:prstGeom>
          <a:solidFill>
            <a:srgbClr val="C5D2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Upper pink trajectory"/>
          <p:cNvSpPr/>
          <p:nvPr/>
        </p:nvSpPr>
        <p:spPr>
          <a:xfrm>
            <a:off x="11018520" y="2697480"/>
            <a:ext cx="2066544" cy="356616"/>
          </a:xfrm>
          <a:custGeom>
            <a:avLst/>
            <a:gdLst/>
            <a:ahLst/>
            <a:cxnLst/>
            <a:rect l="0" t="0" r="r" b="b"/>
            <a:pathLst>
              <a:path w="226" h="39">
                <a:moveTo>
                  <a:pt x="0" y="9"/>
                </a:moveTo>
                <a:cubicBezTo>
                  <a:pt x="75" y="0"/>
                  <a:pt x="81" y="39"/>
                  <a:pt x="226" y="9"/>
                </a:cubicBezTo>
              </a:path>
            </a:pathLst>
          </a:custGeom>
          <a:noFill/>
          <a:ln w="18288">
            <a:solidFill>
              <a:srgbClr val="F2C6D9"/>
            </a:solidFill>
            <a:prstDash val="dash"/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Upper pink node 1"/>
          <p:cNvSpPr/>
          <p:nvPr/>
        </p:nvSpPr>
        <p:spPr>
          <a:xfrm>
            <a:off x="10908792" y="2670048"/>
            <a:ext cx="219456" cy="219456"/>
          </a:xfrm>
          <a:prstGeom prst="ellipse">
            <a:avLst/>
          </a:prstGeom>
          <a:solidFill>
            <a:srgbClr val="F2C6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Upper pink node 2"/>
          <p:cNvSpPr/>
          <p:nvPr/>
        </p:nvSpPr>
        <p:spPr>
          <a:xfrm>
            <a:off x="12975336" y="2670048"/>
            <a:ext cx="219456" cy="219456"/>
          </a:xfrm>
          <a:prstGeom prst="ellipse">
            <a:avLst/>
          </a:prstGeom>
          <a:solidFill>
            <a:srgbClr val="F2C6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iddle trajectory"/>
          <p:cNvSpPr/>
          <p:nvPr/>
        </p:nvSpPr>
        <p:spPr>
          <a:xfrm>
            <a:off x="6775704" y="3648456"/>
            <a:ext cx="4507992" cy="1014984"/>
          </a:xfrm>
          <a:custGeom>
            <a:avLst/>
            <a:gdLst/>
            <a:ahLst/>
            <a:cxnLst/>
            <a:rect l="0" t="0" r="r" b="b"/>
            <a:pathLst>
              <a:path w="493" h="111">
                <a:moveTo>
                  <a:pt x="0" y="49"/>
                </a:moveTo>
                <a:cubicBezTo>
                  <a:pt x="88" y="0"/>
                  <a:pt x="102" y="111"/>
                  <a:pt x="191" y="48"/>
                </a:cubicBezTo>
                <a:cubicBezTo>
                  <a:pt x="237" y="27"/>
                  <a:pt x="268" y="0"/>
                  <a:pt x="305" y="10"/>
                </a:cubicBezTo>
                <a:cubicBezTo>
                  <a:pt x="372" y="53"/>
                  <a:pt x="431" y="81"/>
                  <a:pt x="493" y="78"/>
                </a:cubicBezTo>
              </a:path>
            </a:pathLst>
          </a:custGeom>
          <a:noFill/>
          <a:ln w="18288">
            <a:solidFill>
              <a:srgbClr val="B8D0EC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iddle node 1"/>
          <p:cNvSpPr/>
          <p:nvPr/>
        </p:nvSpPr>
        <p:spPr>
          <a:xfrm>
            <a:off x="6665976" y="3986784"/>
            <a:ext cx="219456" cy="219456"/>
          </a:xfrm>
          <a:prstGeom prst="ellipse">
            <a:avLst/>
          </a:prstGeom>
          <a:solidFill>
            <a:srgbClr val="B8D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Middle node 2"/>
          <p:cNvSpPr/>
          <p:nvPr/>
        </p:nvSpPr>
        <p:spPr>
          <a:xfrm>
            <a:off x="8412480" y="3977640"/>
            <a:ext cx="219456" cy="219456"/>
          </a:xfrm>
          <a:prstGeom prst="ellipse">
            <a:avLst/>
          </a:prstGeom>
          <a:solidFill>
            <a:srgbClr val="B8D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iddle node 3"/>
          <p:cNvSpPr/>
          <p:nvPr/>
        </p:nvSpPr>
        <p:spPr>
          <a:xfrm>
            <a:off x="9454896" y="3630168"/>
            <a:ext cx="219456" cy="219456"/>
          </a:xfrm>
          <a:prstGeom prst="ellipse">
            <a:avLst/>
          </a:prstGeom>
          <a:solidFill>
            <a:srgbClr val="B8D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Middle node 4"/>
          <p:cNvSpPr/>
          <p:nvPr/>
        </p:nvSpPr>
        <p:spPr>
          <a:xfrm>
            <a:off x="11173968" y="4251960"/>
            <a:ext cx="219456" cy="219456"/>
          </a:xfrm>
          <a:prstGeom prst="ellipse">
            <a:avLst/>
          </a:prstGeom>
          <a:solidFill>
            <a:srgbClr val="B8D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iddle pink trajectory"/>
          <p:cNvSpPr/>
          <p:nvPr/>
        </p:nvSpPr>
        <p:spPr>
          <a:xfrm>
            <a:off x="11283696" y="4059936"/>
            <a:ext cx="914400" cy="301752"/>
          </a:xfrm>
          <a:custGeom>
            <a:avLst/>
            <a:gdLst/>
            <a:ahLst/>
            <a:cxnLst/>
            <a:rect l="0" t="0" r="r" b="b"/>
            <a:pathLst>
              <a:path w="100" h="33">
                <a:moveTo>
                  <a:pt x="0" y="33"/>
                </a:moveTo>
                <a:cubicBezTo>
                  <a:pt x="49" y="26"/>
                  <a:pt x="61" y="4"/>
                  <a:pt x="100" y="0"/>
                </a:cubicBezTo>
              </a:path>
            </a:pathLst>
          </a:custGeom>
          <a:noFill/>
          <a:ln w="18288">
            <a:solidFill>
              <a:srgbClr val="F1C8D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iddle pink node 1"/>
          <p:cNvSpPr/>
          <p:nvPr/>
        </p:nvSpPr>
        <p:spPr>
          <a:xfrm>
            <a:off x="12088368" y="3950208"/>
            <a:ext cx="219456" cy="219456"/>
          </a:xfrm>
          <a:prstGeom prst="ellipse">
            <a:avLst/>
          </a:prstGeom>
          <a:solidFill>
            <a:srgbClr val="F1C8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Bottom pink trajectory"/>
          <p:cNvSpPr/>
          <p:nvPr/>
        </p:nvSpPr>
        <p:spPr>
          <a:xfrm>
            <a:off x="8019288" y="4690872"/>
            <a:ext cx="2505456" cy="438912"/>
          </a:xfrm>
          <a:custGeom>
            <a:avLst/>
            <a:gdLst/>
            <a:ahLst/>
            <a:cxnLst/>
            <a:rect l="0" t="0" r="r" b="b"/>
            <a:pathLst>
              <a:path w="274" h="48">
                <a:moveTo>
                  <a:pt x="0" y="30"/>
                </a:moveTo>
                <a:cubicBezTo>
                  <a:pt x="66" y="0"/>
                  <a:pt x="109" y="48"/>
                  <a:pt x="159" y="48"/>
                </a:cubicBezTo>
                <a:cubicBezTo>
                  <a:pt x="207" y="48"/>
                  <a:pt x="235" y="18"/>
                  <a:pt x="274" y="10"/>
                </a:cubicBezTo>
              </a:path>
            </a:pathLst>
          </a:custGeom>
          <a:noFill/>
          <a:ln w="18288">
            <a:solidFill>
              <a:srgbClr val="F2C8DB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ttom pink node 1"/>
          <p:cNvSpPr/>
          <p:nvPr/>
        </p:nvSpPr>
        <p:spPr>
          <a:xfrm>
            <a:off x="7909560" y="4855464"/>
            <a:ext cx="219456" cy="219456"/>
          </a:xfrm>
          <a:prstGeom prst="ellipse">
            <a:avLst/>
          </a:prstGeom>
          <a:solidFill>
            <a:srgbClr val="F2C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Bottom pink node 2"/>
          <p:cNvSpPr/>
          <p:nvPr/>
        </p:nvSpPr>
        <p:spPr>
          <a:xfrm>
            <a:off x="9363456" y="5020056"/>
            <a:ext cx="219456" cy="219456"/>
          </a:xfrm>
          <a:prstGeom prst="ellipse">
            <a:avLst/>
          </a:prstGeom>
          <a:solidFill>
            <a:srgbClr val="F2C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ttom gray trajectory"/>
          <p:cNvSpPr/>
          <p:nvPr/>
        </p:nvSpPr>
        <p:spPr>
          <a:xfrm>
            <a:off x="10524744" y="4782312"/>
            <a:ext cx="1801368" cy="594360"/>
          </a:xfrm>
          <a:custGeom>
            <a:avLst/>
            <a:gdLst/>
            <a:ahLst/>
            <a:cxnLst/>
            <a:rect l="0" t="0" r="r" b="b"/>
            <a:pathLst>
              <a:path w="197" h="65">
                <a:moveTo>
                  <a:pt x="0" y="0"/>
                </a:moveTo>
                <a:cubicBezTo>
                  <a:pt x="68" y="27"/>
                  <a:pt x="100" y="65"/>
                  <a:pt x="197" y="35"/>
                </a:cubicBezTo>
              </a:path>
            </a:pathLst>
          </a:custGeom>
          <a:noFill/>
          <a:ln w="18288">
            <a:solidFill>
              <a:srgbClr val="CBD4D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Bottom gray node 1"/>
          <p:cNvSpPr/>
          <p:nvPr/>
        </p:nvSpPr>
        <p:spPr>
          <a:xfrm>
            <a:off x="10415016" y="4672584"/>
            <a:ext cx="219456" cy="219456"/>
          </a:xfrm>
          <a:prstGeom prst="ellipse">
            <a:avLst/>
          </a:prstGeom>
          <a:solidFill>
            <a:srgbClr val="CBD4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ttom gray node 2"/>
          <p:cNvSpPr/>
          <p:nvPr/>
        </p:nvSpPr>
        <p:spPr>
          <a:xfrm>
            <a:off x="12216384" y="4992624"/>
            <a:ext cx="219456" cy="219456"/>
          </a:xfrm>
          <a:prstGeom prst="ellipse">
            <a:avLst/>
          </a:prstGeom>
          <a:solidFill>
            <a:srgbClr val="CBD4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xray" descr="x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618488"/>
            <a:ext cx="1901952" cy="1627632"/>
          </a:xfrm>
          <a:prstGeom prst="rect">
            <a:avLst/>
          </a:prstGeom>
        </p:spPr>
      </p:pic>
      <p:pic>
        <p:nvPicPr>
          <p:cNvPr id="30" name="future_xray" descr="future_x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5616" y="1746504"/>
            <a:ext cx="978408" cy="941832"/>
          </a:xfrm>
          <a:prstGeom prst="rect">
            <a:avLst/>
          </a:prstGeom>
        </p:spPr>
      </p:pic>
      <p:sp>
        <p:nvSpPr>
          <p:cNvPr id="31" name="X-ray label"/>
          <p:cNvSpPr txBox="1"/>
          <p:nvPr/>
        </p:nvSpPr>
        <p:spPr>
          <a:xfrm>
            <a:off x="640080" y="3282696"/>
            <a:ext cx="1920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43" i="0">
                <a:solidFill>
                  <a:srgbClr val="182234"/>
                </a:solidFill>
                <a:latin typeface="DejaVu Sans"/>
              </a:rPr>
              <a:t>X-ray</a:t>
            </a:r>
          </a:p>
        </p:txBody>
      </p:sp>
      <p:sp>
        <p:nvSpPr>
          <p:cNvPr id="32" name="Clinical report card"/>
          <p:cNvSpPr/>
          <p:nvPr/>
        </p:nvSpPr>
        <p:spPr>
          <a:xfrm>
            <a:off x="539496" y="3813048"/>
            <a:ext cx="2194560" cy="1271016"/>
          </a:xfrm>
          <a:prstGeom prst="roundRect">
            <a:avLst/>
          </a:prstGeom>
          <a:solidFill>
            <a:srgbClr val="FCF3F6"/>
          </a:solidFill>
          <a:ln w="18288">
            <a:solidFill>
              <a:srgbClr val="A7A8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linical findings"/>
          <p:cNvSpPr txBox="1"/>
          <p:nvPr/>
        </p:nvSpPr>
        <p:spPr>
          <a:xfrm>
            <a:off x="713232" y="3959352"/>
            <a:ext cx="1975104" cy="1042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8" i="0">
                <a:solidFill>
                  <a:srgbClr val="182234"/>
                </a:solidFill>
                <a:latin typeface="DejaVu Sans"/>
              </a:rPr>
              <a:t>Findings: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8" i="0">
                <a:solidFill>
                  <a:srgbClr val="182234"/>
                </a:solidFill>
                <a:latin typeface="DejaVu Sans"/>
              </a:rPr>
              <a:t>Mild cardiomegaly.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8" i="0">
                <a:solidFill>
                  <a:srgbClr val="182234"/>
                </a:solidFill>
                <a:latin typeface="DejaVu Sans"/>
              </a:rPr>
              <a:t>No focal consolidation.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8" i="0">
                <a:solidFill>
                  <a:srgbClr val="182234"/>
                </a:solidFill>
                <a:latin typeface="DejaVu Sans"/>
              </a:rPr>
              <a:t>…</a:t>
            </a:r>
          </a:p>
        </p:txBody>
      </p:sp>
      <p:sp>
        <p:nvSpPr>
          <p:cNvPr id="34" name="Clinical report label"/>
          <p:cNvSpPr txBox="1"/>
          <p:nvPr/>
        </p:nvSpPr>
        <p:spPr>
          <a:xfrm>
            <a:off x="530352" y="5129784"/>
            <a:ext cx="2212848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2" i="0">
                <a:solidFill>
                  <a:srgbClr val="182234"/>
                </a:solidFill>
                <a:latin typeface="DejaVu Sans"/>
              </a:rPr>
              <a:t>Clinical report</a:t>
            </a:r>
          </a:p>
        </p:txBody>
      </p:sp>
      <p:sp>
        <p:nvSpPr>
          <p:cNvPr id="35" name="Image input"/>
          <p:cNvSpPr/>
          <p:nvPr/>
        </p:nvSpPr>
        <p:spPr>
          <a:xfrm>
            <a:off x="2615184" y="2386584"/>
            <a:ext cx="2002536" cy="1024128"/>
          </a:xfrm>
          <a:custGeom>
            <a:avLst/>
            <a:gdLst/>
            <a:ahLst/>
            <a:cxnLst/>
            <a:rect l="0" t="0" r="r" b="b"/>
            <a:pathLst>
              <a:path w="219" h="112">
                <a:moveTo>
                  <a:pt x="0" y="1"/>
                </a:moveTo>
                <a:cubicBezTo>
                  <a:pt x="24" y="1"/>
                  <a:pt x="38" y="1"/>
                  <a:pt x="44" y="1"/>
                </a:cubicBezTo>
                <a:cubicBezTo>
                  <a:pt x="103" y="0"/>
                  <a:pt x="46" y="112"/>
                  <a:pt x="151" y="112"/>
                </a:cubicBezTo>
                <a:cubicBezTo>
                  <a:pt x="180" y="112"/>
                  <a:pt x="195" y="112"/>
                  <a:pt x="219" y="112"/>
                </a:cubicBezTo>
              </a:path>
            </a:pathLst>
          </a:custGeom>
          <a:noFill/>
          <a:ln w="27432">
            <a:solidFill>
              <a:srgbClr val="3585C6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port input"/>
          <p:cNvSpPr/>
          <p:nvPr/>
        </p:nvSpPr>
        <p:spPr>
          <a:xfrm>
            <a:off x="2734056" y="3337560"/>
            <a:ext cx="1280160" cy="1078992"/>
          </a:xfrm>
          <a:custGeom>
            <a:avLst/>
            <a:gdLst/>
            <a:ahLst/>
            <a:cxnLst/>
            <a:rect l="0" t="0" r="r" b="b"/>
            <a:pathLst>
              <a:path w="140" h="118">
                <a:moveTo>
                  <a:pt x="0" y="118"/>
                </a:moveTo>
                <a:cubicBezTo>
                  <a:pt x="69" y="118"/>
                  <a:pt x="54" y="113"/>
                  <a:pt x="68" y="52"/>
                </a:cubicBezTo>
                <a:cubicBezTo>
                  <a:pt x="81" y="0"/>
                  <a:pt x="108" y="8"/>
                  <a:pt x="140" y="8"/>
                </a:cubicBezTo>
              </a:path>
            </a:pathLst>
          </a:custGeom>
          <a:noFill/>
          <a:ln w="27432">
            <a:solidFill>
              <a:srgbClr val="DA669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mporal evolution h"/>
          <p:cNvSpPr/>
          <p:nvPr/>
        </p:nvSpPr>
        <p:spPr>
          <a:xfrm>
            <a:off x="5788152" y="2880360"/>
            <a:ext cx="7132320" cy="576072"/>
          </a:xfrm>
          <a:custGeom>
            <a:avLst/>
            <a:gdLst/>
            <a:ahLst/>
            <a:cxnLst/>
            <a:rect l="0" t="0" r="r" b="b"/>
            <a:pathLst>
              <a:path w="780" h="63">
                <a:moveTo>
                  <a:pt x="0" y="63"/>
                </a:moveTo>
                <a:cubicBezTo>
                  <a:pt x="223" y="0"/>
                  <a:pt x="551" y="9"/>
                  <a:pt x="780" y="63"/>
                </a:cubicBezTo>
              </a:path>
            </a:pathLst>
          </a:custGeom>
          <a:noFill/>
          <a:ln w="29260">
            <a:solidFill>
              <a:srgbClr val="606B7B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Horizon h"/>
          <p:cNvSpPr txBox="1"/>
          <p:nvPr/>
        </p:nvSpPr>
        <p:spPr>
          <a:xfrm>
            <a:off x="9015984" y="2615184"/>
            <a:ext cx="49377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68" i="1">
                <a:solidFill>
                  <a:srgbClr val="121212"/>
                </a:solidFill>
                <a:latin typeface="STIX Two Math"/>
              </a:rPr>
              <a:t>h</a:t>
            </a:r>
          </a:p>
        </p:txBody>
      </p:sp>
      <p:sp>
        <p:nvSpPr>
          <p:cNvPr id="39" name="Patient state t"/>
          <p:cNvSpPr/>
          <p:nvPr/>
        </p:nvSpPr>
        <p:spPr>
          <a:xfrm>
            <a:off x="5065776" y="3200400"/>
            <a:ext cx="603504" cy="585216"/>
          </a:xfrm>
          <a:prstGeom prst="ellipse">
            <a:avLst/>
          </a:prstGeom>
          <a:gradFill rotWithShape="1">
            <a:gsLst>
              <a:gs pos="0">
                <a:srgbClr val="83B8F1"/>
              </a:gs>
              <a:gs pos="49000">
                <a:srgbClr val="E7F0FE"/>
              </a:gs>
              <a:gs pos="51000">
                <a:srgbClr val="FCE6EE"/>
              </a:gs>
              <a:gs pos="100000">
                <a:srgbClr val="E386AE"/>
              </a:gs>
            </a:gsLst>
            <a:lin ang="0" scaled="1"/>
          </a:gradFill>
          <a:ln w="27432">
            <a:solidFill>
              <a:srgbClr val="718B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State label t"/>
          <p:cNvSpPr txBox="1"/>
          <p:nvPr/>
        </p:nvSpPr>
        <p:spPr>
          <a:xfrm>
            <a:off x="4965192" y="3840480"/>
            <a:ext cx="91440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79" i="1">
                <a:solidFill>
                  <a:srgbClr val="111111"/>
                </a:solidFill>
                <a:latin typeface="STIX Two Math"/>
              </a:rPr>
              <a:t>S</a:t>
            </a:r>
            <a:r>
              <a:rPr sz="2300" i="1" baseline="-25000">
                <a:latin typeface="STIX Two Math"/>
              </a:rPr>
              <a:t>t</a:t>
            </a:r>
          </a:p>
        </p:txBody>
      </p:sp>
      <p:sp>
        <p:nvSpPr>
          <p:cNvPr id="41" name="Patient state t+h"/>
          <p:cNvSpPr/>
          <p:nvPr/>
        </p:nvSpPr>
        <p:spPr>
          <a:xfrm>
            <a:off x="13158216" y="3200400"/>
            <a:ext cx="603504" cy="585216"/>
          </a:xfrm>
          <a:prstGeom prst="ellipse">
            <a:avLst/>
          </a:prstGeom>
          <a:gradFill rotWithShape="1">
            <a:gsLst>
              <a:gs pos="0">
                <a:srgbClr val="83B8F1"/>
              </a:gs>
              <a:gs pos="49000">
                <a:srgbClr val="E7F0FE"/>
              </a:gs>
              <a:gs pos="51000">
                <a:srgbClr val="FCE6EE"/>
              </a:gs>
              <a:gs pos="100000">
                <a:srgbClr val="E386AE"/>
              </a:gs>
            </a:gsLst>
            <a:lin ang="0" scaled="1"/>
          </a:gradFill>
          <a:ln w="27432">
            <a:solidFill>
              <a:srgbClr val="718B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State label t+h"/>
          <p:cNvSpPr txBox="1"/>
          <p:nvPr/>
        </p:nvSpPr>
        <p:spPr>
          <a:xfrm>
            <a:off x="13057632" y="3840480"/>
            <a:ext cx="91440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79" i="1">
                <a:solidFill>
                  <a:srgbClr val="111111"/>
                </a:solidFill>
                <a:latin typeface="STIX Two Math"/>
              </a:rPr>
              <a:t>S</a:t>
            </a:r>
            <a:r>
              <a:rPr sz="2300" i="1" baseline="-25000">
                <a:latin typeface="STIX Two Math"/>
              </a:rPr>
              <a:t>t+h</a:t>
            </a:r>
          </a:p>
        </p:txBody>
      </p:sp>
      <p:sp>
        <p:nvSpPr>
          <p:cNvPr id="43" name="State modalities"/>
          <p:cNvSpPr txBox="1"/>
          <p:nvPr/>
        </p:nvSpPr>
        <p:spPr>
          <a:xfrm>
            <a:off x="4462272" y="4270248"/>
            <a:ext cx="181965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12" i="0">
                <a:solidFill>
                  <a:srgbClr val="657183"/>
                </a:solidFill>
                <a:latin typeface="DejaVu Sans"/>
              </a:rPr>
              <a:t>(visual + clinical)</a:t>
            </a:r>
          </a:p>
        </p:txBody>
      </p:sp>
      <p:sp>
        <p:nvSpPr>
          <p:cNvPr id="44" name="Latent space label"/>
          <p:cNvSpPr txBox="1"/>
          <p:nvPr/>
        </p:nvSpPr>
        <p:spPr>
          <a:xfrm>
            <a:off x="8266176" y="5806440"/>
            <a:ext cx="3648456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76" i="0">
                <a:solidFill>
                  <a:srgbClr val="657183"/>
                </a:solidFill>
                <a:latin typeface="DejaVu Sans"/>
              </a:rPr>
              <a:t>Latent patient space</a:t>
            </a:r>
          </a:p>
        </p:txBody>
      </p:sp>
      <p:sp>
        <p:nvSpPr>
          <p:cNvPr id="45" name="Recognition task arrow"/>
          <p:cNvSpPr/>
          <p:nvPr/>
        </p:nvSpPr>
        <p:spPr>
          <a:xfrm>
            <a:off x="3950208" y="4014216"/>
            <a:ext cx="777240" cy="877824"/>
          </a:xfrm>
          <a:custGeom>
            <a:avLst/>
            <a:gdLst/>
            <a:ahLst/>
            <a:cxnLst/>
            <a:rect l="0" t="0" r="r" b="b"/>
            <a:pathLst>
              <a:path w="85" h="96">
                <a:moveTo>
                  <a:pt x="85" y="0"/>
                </a:moveTo>
                <a:cubicBezTo>
                  <a:pt x="24" y="16"/>
                  <a:pt x="6" y="56"/>
                  <a:pt x="0" y="96"/>
                </a:cubicBezTo>
              </a:path>
            </a:pathLst>
          </a:custGeom>
          <a:noFill/>
          <a:ln w="14630">
            <a:solidFill>
              <a:srgbClr val="657183"/>
            </a:solidFill>
            <a:prstDash val="dash"/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QA task arrow"/>
          <p:cNvSpPr/>
          <p:nvPr/>
        </p:nvSpPr>
        <p:spPr>
          <a:xfrm>
            <a:off x="5276088" y="4517136"/>
            <a:ext cx="27432" cy="393192"/>
          </a:xfrm>
          <a:custGeom>
            <a:avLst/>
            <a:gdLst/>
            <a:ahLst/>
            <a:cxnLst/>
            <a:rect l="0" t="0" r="r" b="b"/>
            <a:pathLst>
              <a:path w="3" h="43">
                <a:moveTo>
                  <a:pt x="3" y="0"/>
                </a:moveTo>
                <a:cubicBezTo>
                  <a:pt x="2" y="17"/>
                  <a:pt x="0" y="27"/>
                  <a:pt x="0" y="43"/>
                </a:cubicBezTo>
              </a:path>
            </a:pathLst>
          </a:custGeom>
          <a:noFill/>
          <a:ln w="14630">
            <a:solidFill>
              <a:srgbClr val="657183"/>
            </a:solidFill>
            <a:prstDash val="dash"/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Spatial task arrow"/>
          <p:cNvSpPr/>
          <p:nvPr/>
        </p:nvSpPr>
        <p:spPr>
          <a:xfrm>
            <a:off x="5815584" y="4014216"/>
            <a:ext cx="768096" cy="896112"/>
          </a:xfrm>
          <a:custGeom>
            <a:avLst/>
            <a:gdLst/>
            <a:ahLst/>
            <a:cxnLst/>
            <a:rect l="0" t="0" r="r" b="b"/>
            <a:pathLst>
              <a:path w="84" h="98">
                <a:moveTo>
                  <a:pt x="0" y="0"/>
                </a:moveTo>
                <a:cubicBezTo>
                  <a:pt x="57" y="20"/>
                  <a:pt x="75" y="57"/>
                  <a:pt x="84" y="98"/>
                </a:cubicBezTo>
              </a:path>
            </a:pathLst>
          </a:custGeom>
          <a:noFill/>
          <a:ln w="14630">
            <a:solidFill>
              <a:srgbClr val="657183"/>
            </a:solidFill>
            <a:prstDash val="dash"/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Future findings task arrow"/>
          <p:cNvSpPr/>
          <p:nvPr/>
        </p:nvSpPr>
        <p:spPr>
          <a:xfrm>
            <a:off x="13844016" y="2359152"/>
            <a:ext cx="1252728" cy="1133856"/>
          </a:xfrm>
          <a:custGeom>
            <a:avLst/>
            <a:gdLst/>
            <a:ahLst/>
            <a:cxnLst/>
            <a:rect l="0" t="0" r="r" b="b"/>
            <a:pathLst>
              <a:path w="137" h="124">
                <a:moveTo>
                  <a:pt x="0" y="124"/>
                </a:moveTo>
                <a:cubicBezTo>
                  <a:pt x="76" y="122"/>
                  <a:pt x="54" y="31"/>
                  <a:pt x="137" y="0"/>
                </a:cubicBezTo>
              </a:path>
            </a:pathLst>
          </a:custGeom>
          <a:noFill/>
          <a:ln w="14630">
            <a:solidFill>
              <a:srgbClr val="657183"/>
            </a:solidFill>
            <a:prstDash val="dash"/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Disease progression task arrow"/>
          <p:cNvSpPr/>
          <p:nvPr/>
        </p:nvSpPr>
        <p:spPr>
          <a:xfrm>
            <a:off x="13844016" y="3493008"/>
            <a:ext cx="1591056" cy="9144"/>
          </a:xfrm>
          <a:custGeom>
            <a:avLst/>
            <a:gdLst/>
            <a:ahLst/>
            <a:cxnLst/>
            <a:rect l="0" t="0" r="r" b="b"/>
            <a:pathLst>
              <a:path w="174" h="1">
                <a:moveTo>
                  <a:pt x="0" y="0"/>
                </a:moveTo>
                <a:cubicBezTo>
                  <a:pt x="70" y="0"/>
                  <a:pt x="124" y="1"/>
                  <a:pt x="174" y="1"/>
                </a:cubicBezTo>
              </a:path>
            </a:pathLst>
          </a:custGeom>
          <a:noFill/>
          <a:ln w="14630">
            <a:solidFill>
              <a:srgbClr val="657183"/>
            </a:solidFill>
            <a:prstDash val="dash"/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Future report task arrow"/>
          <p:cNvSpPr/>
          <p:nvPr/>
        </p:nvSpPr>
        <p:spPr>
          <a:xfrm>
            <a:off x="13844016" y="3493008"/>
            <a:ext cx="1252728" cy="1234440"/>
          </a:xfrm>
          <a:custGeom>
            <a:avLst/>
            <a:gdLst/>
            <a:ahLst/>
            <a:cxnLst/>
            <a:rect l="0" t="0" r="r" b="b"/>
            <a:pathLst>
              <a:path w="137" h="135">
                <a:moveTo>
                  <a:pt x="0" y="0"/>
                </a:moveTo>
                <a:cubicBezTo>
                  <a:pt x="76" y="10"/>
                  <a:pt x="55" y="101"/>
                  <a:pt x="137" y="135"/>
                </a:cubicBezTo>
              </a:path>
            </a:pathLst>
          </a:custGeom>
          <a:noFill/>
          <a:ln w="14630">
            <a:solidFill>
              <a:srgbClr val="657183"/>
            </a:solidFill>
            <a:prstDash val="dash"/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51" name="Recognition icon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2" name="Recognition background"/>
          <p:cNvSpPr/>
          <p:nvPr/>
        </p:nvSpPr>
        <p:spPr>
          <a:xfrm>
            <a:off x="3575304" y="4992624"/>
            <a:ext cx="731520" cy="731520"/>
          </a:xfrm>
          <a:prstGeom prst="roundRect">
            <a:avLst/>
          </a:prstGeom>
          <a:solidFill>
            <a:srgbClr val="EDF5FD"/>
          </a:solidFill>
          <a:ln w="16459">
            <a:solidFill>
              <a:srgbClr val="D4E0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ognition left"/>
          <p:cNvSpPr/>
          <p:nvPr/>
        </p:nvSpPr>
        <p:spPr>
          <a:xfrm>
            <a:off x="3648456" y="5084064"/>
            <a:ext cx="246888" cy="475488"/>
          </a:xfrm>
          <a:custGeom>
            <a:avLst/>
            <a:gdLst/>
            <a:ahLst/>
            <a:cxnLst/>
            <a:rect l="0" t="0" r="r" b="b"/>
            <a:pathLst>
              <a:path w="27" h="52">
                <a:moveTo>
                  <a:pt x="27" y="8"/>
                </a:moveTo>
                <a:cubicBezTo>
                  <a:pt x="9" y="0"/>
                  <a:pt x="0" y="39"/>
                  <a:pt x="6" y="52"/>
                </a:cubicBezTo>
                <a:cubicBezTo>
                  <a:pt x="17" y="50"/>
                  <a:pt x="25" y="46"/>
                  <a:pt x="27" y="38"/>
                </a:cubicBezTo>
                <a:close/>
              </a:path>
            </a:pathLst>
          </a:custGeom>
          <a:solidFill>
            <a:srgbClr val="A5CDF5"/>
          </a:solidFill>
          <a:ln w="18288">
            <a:solidFill>
              <a:srgbClr val="7AA9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ognition right"/>
          <p:cNvSpPr/>
          <p:nvPr/>
        </p:nvSpPr>
        <p:spPr>
          <a:xfrm>
            <a:off x="3986784" y="5084064"/>
            <a:ext cx="228600" cy="475488"/>
          </a:xfrm>
          <a:custGeom>
            <a:avLst/>
            <a:gdLst/>
            <a:ahLst/>
            <a:cxnLst/>
            <a:rect l="0" t="0" r="r" b="b"/>
            <a:pathLst>
              <a:path w="25" h="52">
                <a:moveTo>
                  <a:pt x="0" y="8"/>
                </a:moveTo>
                <a:cubicBezTo>
                  <a:pt x="16" y="0"/>
                  <a:pt x="25" y="39"/>
                  <a:pt x="20" y="52"/>
                </a:cubicBezTo>
                <a:cubicBezTo>
                  <a:pt x="9" y="50"/>
                  <a:pt x="1" y="46"/>
                  <a:pt x="0" y="38"/>
                </a:cubicBezTo>
                <a:close/>
              </a:path>
            </a:pathLst>
          </a:custGeom>
          <a:solidFill>
            <a:srgbClr val="A5CDF5"/>
          </a:solidFill>
          <a:ln w="18288">
            <a:solidFill>
              <a:srgbClr val="7AA9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ognition trachea"/>
          <p:cNvSpPr/>
          <p:nvPr/>
        </p:nvSpPr>
        <p:spPr>
          <a:xfrm>
            <a:off x="3922776" y="5093208"/>
            <a:ext cx="45720" cy="201168"/>
          </a:xfrm>
          <a:prstGeom prst="roundRect">
            <a:avLst/>
          </a:prstGeom>
          <a:solidFill>
            <a:srgbClr val="7AA9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56" name="Spatial understanding icon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7" name="Spatial understanding background"/>
          <p:cNvSpPr/>
          <p:nvPr/>
        </p:nvSpPr>
        <p:spPr>
          <a:xfrm>
            <a:off x="6227064" y="4992624"/>
            <a:ext cx="731520" cy="731520"/>
          </a:xfrm>
          <a:prstGeom prst="roundRect">
            <a:avLst/>
          </a:prstGeom>
          <a:solidFill>
            <a:srgbClr val="EDF5FD"/>
          </a:solidFill>
          <a:ln w="16459">
            <a:solidFill>
              <a:srgbClr val="D4E0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Spatial understanding left"/>
          <p:cNvSpPr/>
          <p:nvPr/>
        </p:nvSpPr>
        <p:spPr>
          <a:xfrm>
            <a:off x="6300216" y="5084064"/>
            <a:ext cx="246888" cy="475488"/>
          </a:xfrm>
          <a:custGeom>
            <a:avLst/>
            <a:gdLst/>
            <a:ahLst/>
            <a:cxnLst/>
            <a:rect l="0" t="0" r="r" b="b"/>
            <a:pathLst>
              <a:path w="27" h="52">
                <a:moveTo>
                  <a:pt x="27" y="8"/>
                </a:moveTo>
                <a:cubicBezTo>
                  <a:pt x="9" y="0"/>
                  <a:pt x="0" y="39"/>
                  <a:pt x="6" y="52"/>
                </a:cubicBezTo>
                <a:cubicBezTo>
                  <a:pt x="17" y="50"/>
                  <a:pt x="25" y="46"/>
                  <a:pt x="27" y="38"/>
                </a:cubicBezTo>
                <a:close/>
              </a:path>
            </a:pathLst>
          </a:custGeom>
          <a:solidFill>
            <a:srgbClr val="A5CDF5"/>
          </a:solidFill>
          <a:ln w="18288">
            <a:solidFill>
              <a:srgbClr val="7AA9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Spatial understanding right"/>
          <p:cNvSpPr/>
          <p:nvPr/>
        </p:nvSpPr>
        <p:spPr>
          <a:xfrm>
            <a:off x="6638544" y="5084064"/>
            <a:ext cx="228600" cy="475488"/>
          </a:xfrm>
          <a:custGeom>
            <a:avLst/>
            <a:gdLst/>
            <a:ahLst/>
            <a:cxnLst/>
            <a:rect l="0" t="0" r="r" b="b"/>
            <a:pathLst>
              <a:path w="25" h="52">
                <a:moveTo>
                  <a:pt x="0" y="8"/>
                </a:moveTo>
                <a:cubicBezTo>
                  <a:pt x="16" y="0"/>
                  <a:pt x="25" y="39"/>
                  <a:pt x="20" y="52"/>
                </a:cubicBezTo>
                <a:cubicBezTo>
                  <a:pt x="9" y="50"/>
                  <a:pt x="1" y="46"/>
                  <a:pt x="0" y="38"/>
                </a:cubicBezTo>
                <a:close/>
              </a:path>
            </a:pathLst>
          </a:custGeom>
          <a:solidFill>
            <a:srgbClr val="A5CDF5"/>
          </a:solidFill>
          <a:ln w="18288">
            <a:solidFill>
              <a:srgbClr val="7AA9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Spatial understanding trachea"/>
          <p:cNvSpPr/>
          <p:nvPr/>
        </p:nvSpPr>
        <p:spPr>
          <a:xfrm>
            <a:off x="6574536" y="5093208"/>
            <a:ext cx="45720" cy="201168"/>
          </a:xfrm>
          <a:prstGeom prst="roundRect">
            <a:avLst/>
          </a:prstGeom>
          <a:solidFill>
            <a:srgbClr val="7AA9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Spatial understanding heat 0"/>
          <p:cNvSpPr/>
          <p:nvPr/>
        </p:nvSpPr>
        <p:spPr>
          <a:xfrm>
            <a:off x="6615684" y="5207508"/>
            <a:ext cx="228600" cy="356616"/>
          </a:xfrm>
          <a:prstGeom prst="ellipse">
            <a:avLst/>
          </a:prstGeom>
          <a:solidFill>
            <a:srgbClr val="B5DBA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Spatial understanding heat 1"/>
          <p:cNvSpPr/>
          <p:nvPr/>
        </p:nvSpPr>
        <p:spPr>
          <a:xfrm>
            <a:off x="6643116" y="5244084"/>
            <a:ext cx="173736" cy="283464"/>
          </a:xfrm>
          <a:prstGeom prst="ellipse">
            <a:avLst/>
          </a:prstGeom>
          <a:solidFill>
            <a:srgbClr val="F4E6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Spatial understanding heat 2"/>
          <p:cNvSpPr/>
          <p:nvPr/>
        </p:nvSpPr>
        <p:spPr>
          <a:xfrm>
            <a:off x="6670548" y="5280660"/>
            <a:ext cx="118872" cy="210312"/>
          </a:xfrm>
          <a:prstGeom prst="ellipse">
            <a:avLst/>
          </a:prstGeom>
          <a:solidFill>
            <a:srgbClr val="F6BB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Spatial understanding heat 3"/>
          <p:cNvSpPr/>
          <p:nvPr/>
        </p:nvSpPr>
        <p:spPr>
          <a:xfrm>
            <a:off x="6697980" y="5317236"/>
            <a:ext cx="64008" cy="137160"/>
          </a:xfrm>
          <a:prstGeom prst="ellipse">
            <a:avLst/>
          </a:prstGeom>
          <a:solidFill>
            <a:srgbClr val="EF8C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65" name="VQA icon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66" name="VQA background"/>
          <p:cNvSpPr/>
          <p:nvPr/>
        </p:nvSpPr>
        <p:spPr>
          <a:xfrm>
            <a:off x="4892040" y="4992624"/>
            <a:ext cx="731520" cy="731520"/>
          </a:xfrm>
          <a:prstGeom prst="roundRect">
            <a:avLst/>
          </a:prstGeom>
          <a:solidFill>
            <a:srgbClr val="EDF5FD"/>
          </a:solidFill>
          <a:ln w="16459">
            <a:solidFill>
              <a:srgbClr val="D4E0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VQA bubble"/>
          <p:cNvSpPr/>
          <p:nvPr/>
        </p:nvSpPr>
        <p:spPr>
          <a:xfrm>
            <a:off x="5029200" y="5138928"/>
            <a:ext cx="457200" cy="402336"/>
          </a:xfrm>
          <a:prstGeom prst="ellipse">
            <a:avLst/>
          </a:prstGeom>
          <a:solidFill>
            <a:srgbClr val="FFFFFF"/>
          </a:solidFill>
          <a:ln w="27432">
            <a:solidFill>
              <a:srgbClr val="7AA9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VQA bubble tail"/>
          <p:cNvSpPr/>
          <p:nvPr/>
        </p:nvSpPr>
        <p:spPr>
          <a:xfrm>
            <a:off x="5029200" y="5431536"/>
            <a:ext cx="155448" cy="137160"/>
          </a:xfrm>
          <a:custGeom>
            <a:avLst/>
            <a:gdLst/>
            <a:ahLst/>
            <a:cxnLst/>
            <a:rect l="0" t="0" r="r" b="b"/>
            <a:pathLst>
              <a:path w="17" h="15">
                <a:moveTo>
                  <a:pt x="7" y="0"/>
                </a:moveTo>
                <a:lnTo>
                  <a:pt x="0" y="15"/>
                </a:lnTo>
                <a:lnTo>
                  <a:pt x="17" y="10"/>
                </a:lnTo>
              </a:path>
            </a:pathLst>
          </a:custGeom>
          <a:solidFill>
            <a:srgbClr val="FFFFFF"/>
          </a:solidFill>
          <a:ln w="27432">
            <a:solidFill>
              <a:srgbClr val="7AA9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VQA question mark"/>
          <p:cNvSpPr txBox="1"/>
          <p:nvPr/>
        </p:nvSpPr>
        <p:spPr>
          <a:xfrm>
            <a:off x="5102352" y="5166360"/>
            <a:ext cx="32004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76" i="0">
                <a:solidFill>
                  <a:srgbClr val="6D9EE3"/>
                </a:solidFill>
                <a:latin typeface="DejaVu Sans"/>
              </a:rPr>
              <a:t>?</a:t>
            </a:r>
          </a:p>
        </p:txBody>
      </p:sp>
      <p:sp>
        <p:nvSpPr>
          <p:cNvPr id="70" name="Recognition label"/>
          <p:cNvSpPr txBox="1"/>
          <p:nvPr/>
        </p:nvSpPr>
        <p:spPr>
          <a:xfrm>
            <a:off x="3209544" y="5815584"/>
            <a:ext cx="1472184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i="0">
                <a:solidFill>
                  <a:srgbClr val="182234"/>
                </a:solidFill>
                <a:latin typeface="DejaVu Sans"/>
              </a:rPr>
              <a:t>Recognition</a:t>
            </a:r>
          </a:p>
        </p:txBody>
      </p:sp>
      <p:sp>
        <p:nvSpPr>
          <p:cNvPr id="71" name="VQA label"/>
          <p:cNvSpPr txBox="1"/>
          <p:nvPr/>
        </p:nvSpPr>
        <p:spPr>
          <a:xfrm>
            <a:off x="4864608" y="5815584"/>
            <a:ext cx="813816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i="0">
                <a:solidFill>
                  <a:srgbClr val="182234"/>
                </a:solidFill>
                <a:latin typeface="DejaVu Sans"/>
              </a:rPr>
              <a:t>VQA</a:t>
            </a:r>
          </a:p>
        </p:txBody>
      </p:sp>
      <p:sp>
        <p:nvSpPr>
          <p:cNvPr id="72" name="Spatial understanding label"/>
          <p:cNvSpPr txBox="1"/>
          <p:nvPr/>
        </p:nvSpPr>
        <p:spPr>
          <a:xfrm>
            <a:off x="5815584" y="5815584"/>
            <a:ext cx="156362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i="0">
                <a:solidFill>
                  <a:srgbClr val="182234"/>
                </a:solidFill>
                <a:latin typeface="DejaVu Sans"/>
              </a:rPr>
              <a:t>Spatial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i="0">
                <a:solidFill>
                  <a:srgbClr val="182234"/>
                </a:solidFill>
                <a:latin typeface="DejaVu Sans"/>
              </a:rPr>
              <a:t>understanding</a:t>
            </a:r>
          </a:p>
        </p:txBody>
      </p:sp>
      <p:sp>
        <p:nvSpPr>
          <p:cNvPr id="73" name="Future findings label"/>
          <p:cNvSpPr txBox="1"/>
          <p:nvPr/>
        </p:nvSpPr>
        <p:spPr>
          <a:xfrm>
            <a:off x="16331184" y="1929384"/>
            <a:ext cx="23774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9" i="0">
                <a:solidFill>
                  <a:srgbClr val="182234"/>
                </a:solidFill>
                <a:latin typeface="DejaVu Sans"/>
              </a:rPr>
              <a:t>Future findings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9" i="0">
                <a:solidFill>
                  <a:srgbClr val="182234"/>
                </a:solidFill>
                <a:latin typeface="DejaVu Sans"/>
              </a:rPr>
              <a:t>(e.g., increased opacity)</a:t>
            </a:r>
          </a:p>
        </p:txBody>
      </p:sp>
      <p:grpSp>
        <p:nvGrpSpPr>
          <p:cNvPr id="74" name="Disease progression icon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75" name="Disease progression background"/>
          <p:cNvSpPr/>
          <p:nvPr/>
        </p:nvSpPr>
        <p:spPr>
          <a:xfrm>
            <a:off x="15563088" y="3154680"/>
            <a:ext cx="941832" cy="731520"/>
          </a:xfrm>
          <a:prstGeom prst="roundRect">
            <a:avLst/>
          </a:prstGeom>
          <a:solidFill>
            <a:srgbClr val="EDF5FD"/>
          </a:solidFill>
          <a:ln w="16459">
            <a:solidFill>
              <a:srgbClr val="D4E0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Chart axes"/>
          <p:cNvSpPr/>
          <p:nvPr/>
        </p:nvSpPr>
        <p:spPr>
          <a:xfrm>
            <a:off x="15645384" y="3246120"/>
            <a:ext cx="768096" cy="557784"/>
          </a:xfrm>
          <a:custGeom>
            <a:avLst/>
            <a:gdLst/>
            <a:ahLst/>
            <a:cxnLst/>
            <a:rect l="0" t="0" r="r" b="b"/>
            <a:pathLst>
              <a:path w="84" h="61">
                <a:moveTo>
                  <a:pt x="0" y="0"/>
                </a:moveTo>
                <a:lnTo>
                  <a:pt x="0" y="61"/>
                </a:lnTo>
                <a:lnTo>
                  <a:pt x="84" y="61"/>
                </a:lnTo>
              </a:path>
            </a:pathLst>
          </a:custGeom>
          <a:noFill/>
          <a:ln w="15544">
            <a:solidFill>
              <a:srgbClr val="BD82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Progression chart line"/>
          <p:cNvSpPr/>
          <p:nvPr/>
        </p:nvSpPr>
        <p:spPr>
          <a:xfrm>
            <a:off x="15718536" y="3319272"/>
            <a:ext cx="630936" cy="393192"/>
          </a:xfrm>
          <a:custGeom>
            <a:avLst/>
            <a:gdLst/>
            <a:ahLst/>
            <a:cxnLst/>
            <a:rect l="0" t="0" r="r" b="b"/>
            <a:pathLst>
              <a:path w="69" h="43">
                <a:moveTo>
                  <a:pt x="0" y="43"/>
                </a:moveTo>
                <a:lnTo>
                  <a:pt x="17" y="27"/>
                </a:lnTo>
                <a:lnTo>
                  <a:pt x="34" y="32"/>
                </a:lnTo>
                <a:lnTo>
                  <a:pt x="50" y="16"/>
                </a:lnTo>
                <a:lnTo>
                  <a:pt x="69" y="0"/>
                </a:lnTo>
              </a:path>
            </a:pathLst>
          </a:custGeom>
          <a:noFill/>
          <a:ln w="23774">
            <a:solidFill>
              <a:srgbClr val="CB588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Progression marker 0"/>
          <p:cNvSpPr/>
          <p:nvPr/>
        </p:nvSpPr>
        <p:spPr>
          <a:xfrm>
            <a:off x="15691104" y="3685032"/>
            <a:ext cx="54864" cy="54864"/>
          </a:xfrm>
          <a:prstGeom prst="ellipse">
            <a:avLst/>
          </a:prstGeom>
          <a:solidFill>
            <a:srgbClr val="CB58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Progression marker 1"/>
          <p:cNvSpPr/>
          <p:nvPr/>
        </p:nvSpPr>
        <p:spPr>
          <a:xfrm>
            <a:off x="15846552" y="3538728"/>
            <a:ext cx="54864" cy="54864"/>
          </a:xfrm>
          <a:prstGeom prst="ellipse">
            <a:avLst/>
          </a:prstGeom>
          <a:solidFill>
            <a:srgbClr val="CB58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Progression marker 2"/>
          <p:cNvSpPr/>
          <p:nvPr/>
        </p:nvSpPr>
        <p:spPr>
          <a:xfrm>
            <a:off x="16002000" y="3584448"/>
            <a:ext cx="54864" cy="54864"/>
          </a:xfrm>
          <a:prstGeom prst="ellipse">
            <a:avLst/>
          </a:prstGeom>
          <a:solidFill>
            <a:srgbClr val="CB58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Progression marker 3"/>
          <p:cNvSpPr/>
          <p:nvPr/>
        </p:nvSpPr>
        <p:spPr>
          <a:xfrm>
            <a:off x="16148304" y="3438144"/>
            <a:ext cx="54864" cy="54864"/>
          </a:xfrm>
          <a:prstGeom prst="ellipse">
            <a:avLst/>
          </a:prstGeom>
          <a:solidFill>
            <a:srgbClr val="CB58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Progression marker 4"/>
          <p:cNvSpPr/>
          <p:nvPr/>
        </p:nvSpPr>
        <p:spPr>
          <a:xfrm>
            <a:off x="16322040" y="3291840"/>
            <a:ext cx="54864" cy="54864"/>
          </a:xfrm>
          <a:prstGeom prst="ellipse">
            <a:avLst/>
          </a:prstGeom>
          <a:solidFill>
            <a:srgbClr val="CB58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Disease progression label"/>
          <p:cNvSpPr txBox="1"/>
          <p:nvPr/>
        </p:nvSpPr>
        <p:spPr>
          <a:xfrm>
            <a:off x="16669512" y="3383280"/>
            <a:ext cx="2039112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5" i="0">
                <a:solidFill>
                  <a:srgbClr val="182234"/>
                </a:solidFill>
                <a:latin typeface="DejaVu Sans"/>
              </a:rPr>
              <a:t>Disease progression</a:t>
            </a:r>
          </a:p>
        </p:txBody>
      </p:sp>
      <p:grpSp>
        <p:nvGrpSpPr>
          <p:cNvPr id="84" name="Future report icon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85" name="Future report background"/>
          <p:cNvSpPr/>
          <p:nvPr/>
        </p:nvSpPr>
        <p:spPr>
          <a:xfrm>
            <a:off x="15224760" y="4379976"/>
            <a:ext cx="777240" cy="804672"/>
          </a:xfrm>
          <a:prstGeom prst="roundRect">
            <a:avLst/>
          </a:prstGeom>
          <a:solidFill>
            <a:srgbClr val="EDF5FD"/>
          </a:solidFill>
          <a:ln w="16459">
            <a:solidFill>
              <a:srgbClr val="D4E0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port page"/>
          <p:cNvSpPr/>
          <p:nvPr/>
        </p:nvSpPr>
        <p:spPr>
          <a:xfrm>
            <a:off x="15425928" y="4535424"/>
            <a:ext cx="365760" cy="502920"/>
          </a:xfrm>
          <a:custGeom>
            <a:avLst/>
            <a:gdLst/>
            <a:ahLst/>
            <a:cxnLst/>
            <a:rect l="0" t="0" r="r" b="b"/>
            <a:pathLst>
              <a:path w="40" h="55">
                <a:moveTo>
                  <a:pt x="0" y="0"/>
                </a:moveTo>
                <a:lnTo>
                  <a:pt x="27" y="0"/>
                </a:lnTo>
                <a:lnTo>
                  <a:pt x="40" y="13"/>
                </a:lnTo>
                <a:lnTo>
                  <a:pt x="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FFFFFF"/>
          </a:solidFill>
          <a:ln w="27432">
            <a:solidFill>
              <a:srgbClr val="6A9F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port page fold"/>
          <p:cNvSpPr/>
          <p:nvPr/>
        </p:nvSpPr>
        <p:spPr>
          <a:xfrm>
            <a:off x="15672816" y="4535424"/>
            <a:ext cx="118872" cy="118872"/>
          </a:xfrm>
          <a:custGeom>
            <a:avLst/>
            <a:gdLst/>
            <a:ahLst/>
            <a:cxnLst/>
            <a:rect l="0" t="0" r="r" b="b"/>
            <a:pathLst>
              <a:path w="13" h="13">
                <a:moveTo>
                  <a:pt x="0" y="0"/>
                </a:moveTo>
                <a:lnTo>
                  <a:pt x="0" y="13"/>
                </a:lnTo>
                <a:lnTo>
                  <a:pt x="13" y="13"/>
                </a:lnTo>
              </a:path>
            </a:pathLst>
          </a:custGeom>
          <a:noFill/>
          <a:ln w="27432">
            <a:solidFill>
              <a:srgbClr val="6A9F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port text line 0"/>
          <p:cNvSpPr/>
          <p:nvPr/>
        </p:nvSpPr>
        <p:spPr>
          <a:xfrm>
            <a:off x="15489936" y="4727448"/>
            <a:ext cx="237744" cy="9144"/>
          </a:xfrm>
          <a:custGeom>
            <a:avLst/>
            <a:gdLst/>
            <a:ahLst/>
            <a:cxnLst/>
            <a:rect l="0" t="0" r="r" b="b"/>
            <a:pathLst>
              <a:path w="26" h="1">
                <a:moveTo>
                  <a:pt x="0" y="0"/>
                </a:moveTo>
                <a:lnTo>
                  <a:pt x="26" y="0"/>
                </a:lnTo>
              </a:path>
            </a:pathLst>
          </a:custGeom>
          <a:noFill/>
          <a:ln w="27432">
            <a:solidFill>
              <a:srgbClr val="6A9F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eport text line 1"/>
          <p:cNvSpPr/>
          <p:nvPr/>
        </p:nvSpPr>
        <p:spPr>
          <a:xfrm>
            <a:off x="15489936" y="4809744"/>
            <a:ext cx="237744" cy="9144"/>
          </a:xfrm>
          <a:custGeom>
            <a:avLst/>
            <a:gdLst/>
            <a:ahLst/>
            <a:cxnLst/>
            <a:rect l="0" t="0" r="r" b="b"/>
            <a:pathLst>
              <a:path w="26" h="1">
                <a:moveTo>
                  <a:pt x="0" y="0"/>
                </a:moveTo>
                <a:lnTo>
                  <a:pt x="26" y="0"/>
                </a:lnTo>
              </a:path>
            </a:pathLst>
          </a:custGeom>
          <a:noFill/>
          <a:ln w="27432">
            <a:solidFill>
              <a:srgbClr val="6A9F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port text line 2"/>
          <p:cNvSpPr/>
          <p:nvPr/>
        </p:nvSpPr>
        <p:spPr>
          <a:xfrm>
            <a:off x="15489936" y="4892040"/>
            <a:ext cx="237744" cy="9144"/>
          </a:xfrm>
          <a:custGeom>
            <a:avLst/>
            <a:gdLst/>
            <a:ahLst/>
            <a:cxnLst/>
            <a:rect l="0" t="0" r="r" b="b"/>
            <a:pathLst>
              <a:path w="26" h="1">
                <a:moveTo>
                  <a:pt x="0" y="0"/>
                </a:moveTo>
                <a:lnTo>
                  <a:pt x="26" y="0"/>
                </a:lnTo>
              </a:path>
            </a:pathLst>
          </a:custGeom>
          <a:noFill/>
          <a:ln w="27432">
            <a:solidFill>
              <a:srgbClr val="6A9F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Future report label"/>
          <p:cNvSpPr txBox="1"/>
          <p:nvPr/>
        </p:nvSpPr>
        <p:spPr>
          <a:xfrm>
            <a:off x="16221456" y="4562856"/>
            <a:ext cx="2340864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i="0">
                <a:solidFill>
                  <a:srgbClr val="182234"/>
                </a:solidFill>
                <a:latin typeface="DejaVu Sans"/>
              </a:rPr>
              <a:t>Future report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i="0">
                <a:solidFill>
                  <a:srgbClr val="182234"/>
                </a:solidFill>
                <a:latin typeface="DejaVu Sans"/>
              </a:rPr>
              <a:t>generation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