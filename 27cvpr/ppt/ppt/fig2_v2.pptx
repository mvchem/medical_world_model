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00375" cy="1244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: vision-language"/>
          <p:cNvSpPr/>
          <p:nvPr/>
        </p:nvSpPr>
        <p:spPr>
          <a:xfrm>
            <a:off x="25400" y="228600"/>
            <a:ext cx="787400" cy="368300"/>
          </a:xfrm>
          <a:prstGeom prst="roundRect">
            <a:avLst>
              <a:gd name="adj" fmla="val 12000"/>
            </a:avLst>
          </a:prstGeom>
          <a:solidFill>
            <a:srgbClr val="FCEFFB"/>
          </a:solidFill>
          <a:ln w="6985">
            <a:solidFill>
              <a:srgbClr val="8F3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 vision-language"/>
          <p:cNvSpPr txBox="1"/>
          <p:nvPr/>
        </p:nvSpPr>
        <p:spPr>
          <a:xfrm>
            <a:off x="63500" y="246379"/>
            <a:ext cx="7112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01010"/>
                </a:solidFill>
                <a:latin typeface="Comic Sans MS"/>
              </a:rPr>
              <a:t>Vision-language</a:t>
            </a:r>
          </a:p>
        </p:txBody>
      </p:sp>
      <p:grpSp>
        <p:nvGrpSpPr>
          <p:cNvPr id="4" name="Depth samples: vision-language"/>
          <p:cNvGrpSpPr/>
          <p:nvPr/>
        </p:nvGrpSpPr>
        <p:grpSpPr>
          <a:xfrm>
            <a:off x="113030" y="431800"/>
            <a:ext cx="612140" cy="107950"/>
            <a:chOff x="113030" y="431800"/>
            <a:chExt cx="612140" cy="107950"/>
          </a:xfrm>
        </p:grpSpPr>
        <p:sp>
          <p:nvSpPr>
            <p:cNvPr id="5" name="Layer: vision-language selected 1"/>
            <p:cNvSpPr/>
            <p:nvPr/>
          </p:nvSpPr>
          <p:spPr>
            <a:xfrm>
              <a:off x="113030" y="431800"/>
              <a:ext cx="67310" cy="107950"/>
            </a:xfrm>
            <a:prstGeom prst="roundRect">
              <a:avLst>
                <a:gd name="adj" fmla="val 12000"/>
              </a:avLst>
            </a:prstGeom>
            <a:solidFill>
              <a:srgbClr val="EFA9D2"/>
            </a:solidFill>
            <a:ln w="5080">
              <a:solidFill>
                <a:srgbClr val="CD45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ayer: vision-language omitted 2"/>
            <p:cNvSpPr/>
            <p:nvPr/>
          </p:nvSpPr>
          <p:spPr>
            <a:xfrm>
              <a:off x="218440" y="431800"/>
              <a:ext cx="38100" cy="107950"/>
            </a:xfrm>
            <a:prstGeom prst="roundRect">
              <a:avLst>
                <a:gd name="adj" fmla="val 12000"/>
              </a:avLst>
            </a:prstGeom>
            <a:solidFill>
              <a:srgbClr val="D1D1D1"/>
            </a:solidFill>
            <a:ln w="5080">
              <a:solidFill>
                <a:srgbClr val="A3A3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ayer: vision-language selected 3"/>
            <p:cNvSpPr/>
            <p:nvPr/>
          </p:nvSpPr>
          <p:spPr>
            <a:xfrm>
              <a:off x="294640" y="431800"/>
              <a:ext cx="67310" cy="107950"/>
            </a:xfrm>
            <a:prstGeom prst="roundRect">
              <a:avLst>
                <a:gd name="adj" fmla="val 12000"/>
              </a:avLst>
            </a:prstGeom>
            <a:solidFill>
              <a:srgbClr val="EFA9D2"/>
            </a:solidFill>
            <a:ln w="5080">
              <a:solidFill>
                <a:srgbClr val="CD45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ayer: vision-language omitted 4"/>
            <p:cNvSpPr/>
            <p:nvPr/>
          </p:nvSpPr>
          <p:spPr>
            <a:xfrm>
              <a:off x="400050" y="431800"/>
              <a:ext cx="38100" cy="107950"/>
            </a:xfrm>
            <a:prstGeom prst="roundRect">
              <a:avLst>
                <a:gd name="adj" fmla="val 12000"/>
              </a:avLst>
            </a:prstGeom>
            <a:solidFill>
              <a:srgbClr val="D1D1D1"/>
            </a:solidFill>
            <a:ln w="5080">
              <a:solidFill>
                <a:srgbClr val="A3A3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ayer: vision-language selected 5"/>
            <p:cNvSpPr/>
            <p:nvPr/>
          </p:nvSpPr>
          <p:spPr>
            <a:xfrm>
              <a:off x="476250" y="431800"/>
              <a:ext cx="67310" cy="107950"/>
            </a:xfrm>
            <a:prstGeom prst="roundRect">
              <a:avLst>
                <a:gd name="adj" fmla="val 12000"/>
              </a:avLst>
            </a:prstGeom>
            <a:solidFill>
              <a:srgbClr val="EFA9D2"/>
            </a:solidFill>
            <a:ln w="5080">
              <a:solidFill>
                <a:srgbClr val="CD45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ayer: vision-language omitted 6"/>
            <p:cNvSpPr/>
            <p:nvPr/>
          </p:nvSpPr>
          <p:spPr>
            <a:xfrm>
              <a:off x="581660" y="431800"/>
              <a:ext cx="38100" cy="107950"/>
            </a:xfrm>
            <a:prstGeom prst="roundRect">
              <a:avLst>
                <a:gd name="adj" fmla="val 12000"/>
              </a:avLst>
            </a:prstGeom>
            <a:solidFill>
              <a:srgbClr val="D1D1D1"/>
            </a:solidFill>
            <a:ln w="5080">
              <a:solidFill>
                <a:srgbClr val="A3A3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ayer: vision-language selected 7"/>
            <p:cNvSpPr/>
            <p:nvPr/>
          </p:nvSpPr>
          <p:spPr>
            <a:xfrm>
              <a:off x="657860" y="431800"/>
              <a:ext cx="67310" cy="107950"/>
            </a:xfrm>
            <a:prstGeom prst="roundRect">
              <a:avLst>
                <a:gd name="adj" fmla="val 12000"/>
              </a:avLst>
            </a:prstGeom>
            <a:solidFill>
              <a:srgbClr val="EFA9D2"/>
            </a:solidFill>
            <a:ln w="5080">
              <a:solidFill>
                <a:srgbClr val="CD45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Panel: vision encoder"/>
          <p:cNvSpPr/>
          <p:nvPr/>
        </p:nvSpPr>
        <p:spPr>
          <a:xfrm>
            <a:off x="25400" y="660400"/>
            <a:ext cx="787400" cy="368300"/>
          </a:xfrm>
          <a:prstGeom prst="roundRect">
            <a:avLst>
              <a:gd name="adj" fmla="val 12000"/>
            </a:avLst>
          </a:prstGeom>
          <a:solidFill>
            <a:srgbClr val="E6F3FF"/>
          </a:solidFill>
          <a:ln w="6985">
            <a:solidFill>
              <a:srgbClr val="087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: vision encoder"/>
          <p:cNvSpPr txBox="1"/>
          <p:nvPr/>
        </p:nvSpPr>
        <p:spPr>
          <a:xfrm>
            <a:off x="63500" y="678180"/>
            <a:ext cx="7112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01010"/>
                </a:solidFill>
                <a:latin typeface="Comic Sans MS"/>
              </a:rPr>
              <a:t>Vision encoder</a:t>
            </a:r>
          </a:p>
        </p:txBody>
      </p:sp>
      <p:grpSp>
        <p:nvGrpSpPr>
          <p:cNvPr id="14" name="Depth samples: vision encoder"/>
          <p:cNvGrpSpPr/>
          <p:nvPr/>
        </p:nvGrpSpPr>
        <p:grpSpPr>
          <a:xfrm>
            <a:off x="113030" y="863600"/>
            <a:ext cx="612140" cy="107950"/>
            <a:chOff x="113030" y="863600"/>
            <a:chExt cx="612140" cy="107950"/>
          </a:xfrm>
        </p:grpSpPr>
        <p:sp>
          <p:nvSpPr>
            <p:cNvPr id="15" name="Layer: vision encoder selected 1"/>
            <p:cNvSpPr/>
            <p:nvPr/>
          </p:nvSpPr>
          <p:spPr>
            <a:xfrm>
              <a:off x="113030" y="863600"/>
              <a:ext cx="67310" cy="107950"/>
            </a:xfrm>
            <a:prstGeom prst="roundRect">
              <a:avLst>
                <a:gd name="adj" fmla="val 12000"/>
              </a:avLst>
            </a:prstGeom>
            <a:solidFill>
              <a:srgbClr val="9FD5F5"/>
            </a:solidFill>
            <a:ln w="5080">
              <a:solidFill>
                <a:srgbClr val="05A6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Layer: vision encoder omitted 2"/>
            <p:cNvSpPr/>
            <p:nvPr/>
          </p:nvSpPr>
          <p:spPr>
            <a:xfrm>
              <a:off x="218440" y="863600"/>
              <a:ext cx="38100" cy="107950"/>
            </a:xfrm>
            <a:prstGeom prst="roundRect">
              <a:avLst>
                <a:gd name="adj" fmla="val 12000"/>
              </a:avLst>
            </a:prstGeom>
            <a:solidFill>
              <a:srgbClr val="D1D1D1"/>
            </a:solidFill>
            <a:ln w="5080">
              <a:solidFill>
                <a:srgbClr val="A3A3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Layer: vision encoder selected 3"/>
            <p:cNvSpPr/>
            <p:nvPr/>
          </p:nvSpPr>
          <p:spPr>
            <a:xfrm>
              <a:off x="294640" y="863600"/>
              <a:ext cx="67310" cy="107950"/>
            </a:xfrm>
            <a:prstGeom prst="roundRect">
              <a:avLst>
                <a:gd name="adj" fmla="val 12000"/>
              </a:avLst>
            </a:prstGeom>
            <a:solidFill>
              <a:srgbClr val="9FD5F5"/>
            </a:solidFill>
            <a:ln w="5080">
              <a:solidFill>
                <a:srgbClr val="05A6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Layer: vision encoder omitted 4"/>
            <p:cNvSpPr/>
            <p:nvPr/>
          </p:nvSpPr>
          <p:spPr>
            <a:xfrm>
              <a:off x="400050" y="863600"/>
              <a:ext cx="38100" cy="107950"/>
            </a:xfrm>
            <a:prstGeom prst="roundRect">
              <a:avLst>
                <a:gd name="adj" fmla="val 12000"/>
              </a:avLst>
            </a:prstGeom>
            <a:solidFill>
              <a:srgbClr val="D1D1D1"/>
            </a:solidFill>
            <a:ln w="5080">
              <a:solidFill>
                <a:srgbClr val="A3A3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Layer: vision encoder selected 5"/>
            <p:cNvSpPr/>
            <p:nvPr/>
          </p:nvSpPr>
          <p:spPr>
            <a:xfrm>
              <a:off x="476250" y="863600"/>
              <a:ext cx="67310" cy="107950"/>
            </a:xfrm>
            <a:prstGeom prst="roundRect">
              <a:avLst>
                <a:gd name="adj" fmla="val 12000"/>
              </a:avLst>
            </a:prstGeom>
            <a:solidFill>
              <a:srgbClr val="9FD5F5"/>
            </a:solidFill>
            <a:ln w="5080">
              <a:solidFill>
                <a:srgbClr val="05A6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Layer: vision encoder omitted 6"/>
            <p:cNvSpPr/>
            <p:nvPr/>
          </p:nvSpPr>
          <p:spPr>
            <a:xfrm>
              <a:off x="581660" y="863600"/>
              <a:ext cx="38100" cy="107950"/>
            </a:xfrm>
            <a:prstGeom prst="roundRect">
              <a:avLst>
                <a:gd name="adj" fmla="val 12000"/>
              </a:avLst>
            </a:prstGeom>
            <a:solidFill>
              <a:srgbClr val="D1D1D1"/>
            </a:solidFill>
            <a:ln w="5080">
              <a:solidFill>
                <a:srgbClr val="A3A3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Layer: vision encoder selected 7"/>
            <p:cNvSpPr/>
            <p:nvPr/>
          </p:nvSpPr>
          <p:spPr>
            <a:xfrm>
              <a:off x="657860" y="863600"/>
              <a:ext cx="67310" cy="107950"/>
            </a:xfrm>
            <a:prstGeom prst="roundRect">
              <a:avLst>
                <a:gd name="adj" fmla="val 12000"/>
              </a:avLst>
            </a:prstGeom>
            <a:solidFill>
              <a:srgbClr val="9FD5F5"/>
            </a:solidFill>
            <a:ln w="5080">
              <a:solidFill>
                <a:srgbClr val="05A6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Label: VLM"/>
          <p:cNvSpPr txBox="1"/>
          <p:nvPr/>
        </p:nvSpPr>
        <p:spPr>
          <a:xfrm>
            <a:off x="228600" y="25400"/>
            <a:ext cx="3810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010"/>
                </a:solidFill>
                <a:latin typeface="Comic Sans MS"/>
              </a:rPr>
              <a:t>VLM</a:t>
            </a:r>
          </a:p>
        </p:txBody>
      </p:sp>
      <p:sp>
        <p:nvSpPr>
          <p:cNvPr id="23" name="Module: lightweight adapter"/>
          <p:cNvSpPr/>
          <p:nvPr/>
        </p:nvSpPr>
        <p:spPr>
          <a:xfrm>
            <a:off x="977900" y="495300"/>
            <a:ext cx="546100" cy="419100"/>
          </a:xfrm>
          <a:prstGeom prst="roundRect">
            <a:avLst>
              <a:gd name="adj" fmla="val 12000"/>
            </a:avLst>
          </a:prstGeom>
          <a:solidFill>
            <a:srgbClr val="FFFADB"/>
          </a:solidFill>
          <a:ln w="6985">
            <a:solidFill>
              <a:srgbClr val="998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abel: lightweight adapter"/>
          <p:cNvSpPr txBox="1"/>
          <p:nvPr/>
        </p:nvSpPr>
        <p:spPr>
          <a:xfrm>
            <a:off x="990600" y="558800"/>
            <a:ext cx="520700" cy="292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01010"/>
                </a:solidFill>
                <a:latin typeface="Comic Sans MS"/>
              </a:rPr>
              <a:t>Lightweight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01010"/>
                </a:solidFill>
                <a:latin typeface="Comic Sans MS"/>
              </a:rPr>
              <a:t>adapter</a:t>
            </a:r>
          </a:p>
        </p:txBody>
      </p:sp>
      <p:sp>
        <p:nvSpPr>
          <p:cNvPr id="25" name="Module: task decoder"/>
          <p:cNvSpPr/>
          <p:nvPr/>
        </p:nvSpPr>
        <p:spPr>
          <a:xfrm>
            <a:off x="2260600" y="495300"/>
            <a:ext cx="444500" cy="419100"/>
          </a:xfrm>
          <a:prstGeom prst="roundRect">
            <a:avLst>
              <a:gd name="adj" fmla="val 12000"/>
            </a:avLst>
          </a:prstGeom>
          <a:solidFill>
            <a:srgbClr val="DDEFD5"/>
          </a:solidFill>
          <a:ln w="6985">
            <a:solidFill>
              <a:srgbClr val="287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abel: task decoder"/>
          <p:cNvSpPr txBox="1"/>
          <p:nvPr/>
        </p:nvSpPr>
        <p:spPr>
          <a:xfrm>
            <a:off x="2273300" y="558800"/>
            <a:ext cx="419100" cy="292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101010"/>
                </a:solidFill>
                <a:latin typeface="Comic Sans MS"/>
              </a:rPr>
              <a:t>Task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101010"/>
                </a:solidFill>
                <a:latin typeface="Comic Sans MS"/>
              </a:rPr>
              <a:t>decoder</a:t>
            </a:r>
          </a:p>
        </p:txBody>
      </p:sp>
      <p:grpSp>
        <p:nvGrpSpPr>
          <p:cNvPr id="27" name="Slot row: vision-language"/>
          <p:cNvGrpSpPr/>
          <p:nvPr/>
        </p:nvGrpSpPr>
        <p:grpSpPr>
          <a:xfrm>
            <a:off x="1676400" y="533400"/>
            <a:ext cx="374650" cy="127000"/>
            <a:chOff x="1676400" y="533400"/>
            <a:chExt cx="374650" cy="127000"/>
          </a:xfrm>
        </p:grpSpPr>
        <p:sp>
          <p:nvSpPr>
            <p:cNvPr id="28" name="Slot: vision-language 1"/>
            <p:cNvSpPr/>
            <p:nvPr/>
          </p:nvSpPr>
          <p:spPr>
            <a:xfrm>
              <a:off x="1676400" y="533400"/>
              <a:ext cx="69850" cy="127000"/>
            </a:xfrm>
            <a:prstGeom prst="roundRect">
              <a:avLst>
                <a:gd name="adj" fmla="val 12000"/>
              </a:avLst>
            </a:prstGeom>
            <a:solidFill>
              <a:srgbClr val="EFA9D2"/>
            </a:solidFill>
            <a:ln w="6350">
              <a:solidFill>
                <a:srgbClr val="CD45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lot: vision-language 2"/>
            <p:cNvSpPr/>
            <p:nvPr/>
          </p:nvSpPr>
          <p:spPr>
            <a:xfrm>
              <a:off x="1778000" y="533400"/>
              <a:ext cx="69850" cy="127000"/>
            </a:xfrm>
            <a:prstGeom prst="roundRect">
              <a:avLst>
                <a:gd name="adj" fmla="val 12000"/>
              </a:avLst>
            </a:prstGeom>
            <a:solidFill>
              <a:srgbClr val="EFA9D2"/>
            </a:solidFill>
            <a:ln w="6350">
              <a:solidFill>
                <a:srgbClr val="CD45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lot: vision-language 3"/>
            <p:cNvSpPr/>
            <p:nvPr/>
          </p:nvSpPr>
          <p:spPr>
            <a:xfrm>
              <a:off x="1879600" y="533400"/>
              <a:ext cx="69850" cy="127000"/>
            </a:xfrm>
            <a:prstGeom prst="roundRect">
              <a:avLst>
                <a:gd name="adj" fmla="val 12000"/>
              </a:avLst>
            </a:prstGeom>
            <a:solidFill>
              <a:srgbClr val="EFA9D2"/>
            </a:solidFill>
            <a:ln w="6350">
              <a:solidFill>
                <a:srgbClr val="CD45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lot: vision-language 4"/>
            <p:cNvSpPr/>
            <p:nvPr/>
          </p:nvSpPr>
          <p:spPr>
            <a:xfrm>
              <a:off x="1981200" y="533400"/>
              <a:ext cx="69850" cy="127000"/>
            </a:xfrm>
            <a:prstGeom prst="roundRect">
              <a:avLst>
                <a:gd name="adj" fmla="val 12000"/>
              </a:avLst>
            </a:prstGeom>
            <a:solidFill>
              <a:srgbClr val="EFA9D2"/>
            </a:solidFill>
            <a:ln w="6350">
              <a:solidFill>
                <a:srgbClr val="CD45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Slot row: vision encoder"/>
          <p:cNvGrpSpPr/>
          <p:nvPr/>
        </p:nvGrpSpPr>
        <p:grpSpPr>
          <a:xfrm>
            <a:off x="1676400" y="749300"/>
            <a:ext cx="374650" cy="127000"/>
            <a:chOff x="1676400" y="749300"/>
            <a:chExt cx="374650" cy="127000"/>
          </a:xfrm>
        </p:grpSpPr>
        <p:sp>
          <p:nvSpPr>
            <p:cNvPr id="33" name="Slot: vision encoder 1"/>
            <p:cNvSpPr/>
            <p:nvPr/>
          </p:nvSpPr>
          <p:spPr>
            <a:xfrm>
              <a:off x="1676400" y="749300"/>
              <a:ext cx="69850" cy="127000"/>
            </a:xfrm>
            <a:prstGeom prst="roundRect">
              <a:avLst>
                <a:gd name="adj" fmla="val 12000"/>
              </a:avLst>
            </a:prstGeom>
            <a:solidFill>
              <a:srgbClr val="9FD5F5"/>
            </a:solidFill>
            <a:ln w="6350">
              <a:solidFill>
                <a:srgbClr val="05A6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Slot: vision encoder 2"/>
            <p:cNvSpPr/>
            <p:nvPr/>
          </p:nvSpPr>
          <p:spPr>
            <a:xfrm>
              <a:off x="1778000" y="749300"/>
              <a:ext cx="69850" cy="127000"/>
            </a:xfrm>
            <a:prstGeom prst="roundRect">
              <a:avLst>
                <a:gd name="adj" fmla="val 12000"/>
              </a:avLst>
            </a:prstGeom>
            <a:solidFill>
              <a:srgbClr val="9FD5F5"/>
            </a:solidFill>
            <a:ln w="6350">
              <a:solidFill>
                <a:srgbClr val="05A6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lot: vision encoder 3"/>
            <p:cNvSpPr/>
            <p:nvPr/>
          </p:nvSpPr>
          <p:spPr>
            <a:xfrm>
              <a:off x="1879600" y="749300"/>
              <a:ext cx="69850" cy="127000"/>
            </a:xfrm>
            <a:prstGeom prst="roundRect">
              <a:avLst>
                <a:gd name="adj" fmla="val 12000"/>
              </a:avLst>
            </a:prstGeom>
            <a:solidFill>
              <a:srgbClr val="9FD5F5"/>
            </a:solidFill>
            <a:ln w="6350">
              <a:solidFill>
                <a:srgbClr val="05A6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lot: vision encoder 4"/>
            <p:cNvSpPr/>
            <p:nvPr/>
          </p:nvSpPr>
          <p:spPr>
            <a:xfrm>
              <a:off x="1981200" y="749300"/>
              <a:ext cx="69850" cy="127000"/>
            </a:xfrm>
            <a:prstGeom prst="roundRect">
              <a:avLst>
                <a:gd name="adj" fmla="val 12000"/>
              </a:avLst>
            </a:prstGeom>
            <a:solidFill>
              <a:srgbClr val="9FD5F5"/>
            </a:solidFill>
            <a:ln w="6350">
              <a:solidFill>
                <a:srgbClr val="05A6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7" name="Arrow: fusion layers to adapter"/>
          <p:cNvSpPr/>
          <p:nvPr/>
        </p:nvSpPr>
        <p:spPr>
          <a:xfrm>
            <a:off x="812800" y="469900"/>
            <a:ext cx="152400" cy="12700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0" y="0"/>
                </a:moveTo>
                <a:lnTo>
                  <a:pt x="6" y="0"/>
                </a:lnTo>
                <a:lnTo>
                  <a:pt x="6" y="10"/>
                </a:lnTo>
                <a:lnTo>
                  <a:pt x="12" y="10"/>
                </a:lnTo>
              </a:path>
            </a:pathLst>
          </a:custGeom>
          <a:noFill/>
          <a:ln w="8255">
            <a:solidFill>
              <a:srgbClr val="10101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row: visual layers to adapter"/>
          <p:cNvSpPr/>
          <p:nvPr/>
        </p:nvSpPr>
        <p:spPr>
          <a:xfrm>
            <a:off x="812800" y="812800"/>
            <a:ext cx="152400" cy="88900"/>
          </a:xfrm>
          <a:custGeom>
            <a:avLst/>
            <a:gdLst/>
            <a:ahLst/>
            <a:cxnLst/>
            <a:rect l="l" t="t" r="r" b="b"/>
            <a:pathLst>
              <a:path w="12" h="7">
                <a:moveTo>
                  <a:pt x="0" y="7"/>
                </a:moveTo>
                <a:lnTo>
                  <a:pt x="6" y="7"/>
                </a:lnTo>
                <a:lnTo>
                  <a:pt x="6" y="0"/>
                </a:lnTo>
                <a:lnTo>
                  <a:pt x="12" y="0"/>
                </a:lnTo>
              </a:path>
            </a:pathLst>
          </a:custGeom>
          <a:noFill/>
          <a:ln w="8255">
            <a:solidFill>
              <a:srgbClr val="101010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Arrow: adapter to fusion slots"/>
          <p:cNvCxnSpPr/>
          <p:nvPr/>
        </p:nvCxnSpPr>
        <p:spPr>
          <a:xfrm>
            <a:off x="1524000" y="596900"/>
            <a:ext cx="133350" cy="0"/>
          </a:xfrm>
          <a:prstGeom prst="line">
            <a:avLst/>
          </a:prstGeom>
          <a:ln w="8255">
            <a:solidFill>
              <a:srgbClr val="1010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Arrow: adapter to visual slots"/>
          <p:cNvCxnSpPr/>
          <p:nvPr/>
        </p:nvCxnSpPr>
        <p:spPr>
          <a:xfrm>
            <a:off x="1524000" y="812800"/>
            <a:ext cx="133350" cy="0"/>
          </a:xfrm>
          <a:prstGeom prst="line">
            <a:avLst/>
          </a:prstGeom>
          <a:ln w="8255">
            <a:solidFill>
              <a:srgbClr val="1010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Bracket: eight-slot state"/>
          <p:cNvSpPr/>
          <p:nvPr/>
        </p:nvSpPr>
        <p:spPr>
          <a:xfrm>
            <a:off x="2070100" y="596900"/>
            <a:ext cx="88900" cy="215900"/>
          </a:xfrm>
          <a:custGeom>
            <a:avLst/>
            <a:gdLst/>
            <a:ahLst/>
            <a:cxnLst/>
            <a:rect l="l" t="t" r="r" b="b"/>
            <a:pathLst>
              <a:path w="7" h="17">
                <a:moveTo>
                  <a:pt x="0" y="0"/>
                </a:moveTo>
                <a:lnTo>
                  <a:pt x="7" y="0"/>
                </a:lnTo>
                <a:lnTo>
                  <a:pt x="7" y="17"/>
                </a:lnTo>
                <a:lnTo>
                  <a:pt x="0" y="17"/>
                </a:lnTo>
              </a:path>
            </a:pathLst>
          </a:custGeom>
          <a:noFill/>
          <a:ln w="8255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Arrow: state to decoder"/>
          <p:cNvCxnSpPr/>
          <p:nvPr/>
        </p:nvCxnSpPr>
        <p:spPr>
          <a:xfrm>
            <a:off x="2159000" y="704850"/>
            <a:ext cx="82550" cy="0"/>
          </a:xfrm>
          <a:prstGeom prst="line">
            <a:avLst/>
          </a:prstGeom>
          <a:ln w="8255">
            <a:solidFill>
              <a:srgbClr val="1010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Arrow: decoder to loss"/>
          <p:cNvCxnSpPr/>
          <p:nvPr/>
        </p:nvCxnSpPr>
        <p:spPr>
          <a:xfrm>
            <a:off x="2705100" y="704850"/>
            <a:ext cx="76200" cy="0"/>
          </a:xfrm>
          <a:prstGeom prst="line">
            <a:avLst/>
          </a:prstGeom>
          <a:ln w="8255">
            <a:solidFill>
              <a:srgbClr val="1010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Label: eight slots"/>
          <p:cNvSpPr txBox="1"/>
          <p:nvPr/>
        </p:nvSpPr>
        <p:spPr>
          <a:xfrm>
            <a:off x="1638300" y="342900"/>
            <a:ext cx="4572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01010"/>
                </a:solidFill>
                <a:latin typeface="Comic Sans MS"/>
              </a:rPr>
              <a:t>8 slots</a:t>
            </a:r>
          </a:p>
        </p:txBody>
      </p:sp>
      <p:sp>
        <p:nvSpPr>
          <p:cNvPr id="45" name="Equation: state dimensions"/>
          <p:cNvSpPr txBox="1"/>
          <p:nvPr/>
        </p:nvSpPr>
        <p:spPr>
          <a:xfrm>
            <a:off x="1676400" y="927100"/>
            <a:ext cx="381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101010"/>
                </a:solidFill>
                <a:latin typeface="Times New Roman"/>
              </a:rPr>
              <a:t>8 × d</a:t>
            </a:r>
          </a:p>
        </p:txBody>
      </p:sp>
      <p:sp>
        <p:nvSpPr>
          <p:cNvPr id="46" name="Label: joint optimization"/>
          <p:cNvSpPr txBox="1"/>
          <p:nvPr/>
        </p:nvSpPr>
        <p:spPr>
          <a:xfrm>
            <a:off x="914400" y="1092200"/>
            <a:ext cx="11811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01010"/>
                </a:solidFill>
                <a:latin typeface="Comic Sans MS"/>
              </a:rPr>
              <a:t>Joint optimization</a:t>
            </a:r>
          </a:p>
        </p:txBody>
      </p:sp>
      <p:sp>
        <p:nvSpPr>
          <p:cNvPr id="47" name="Equation: task loss"/>
          <p:cNvSpPr txBox="1"/>
          <p:nvPr/>
        </p:nvSpPr>
        <p:spPr>
          <a:xfrm>
            <a:off x="2794000" y="596900"/>
            <a:ext cx="190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01010"/>
                </a:solidFill>
                <a:latin typeface="Times New Roman"/>
              </a:rPr>
              <a:t>L</a:t>
            </a:r>
            <a:r>
              <a:rPr sz="850" i="1" baseline="-23000">
                <a:solidFill>
                  <a:srgbClr val="101010"/>
                </a:solidFill>
                <a:latin typeface="Times New Roman"/>
              </a:rPr>
              <a:t>task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— Eight-slot state construction</dc:title>
  <dc:subject>Compact single-column method detail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