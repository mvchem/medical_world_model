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5605760" cy="520192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Reconstructed from assets/reference.png. All visible slide content is native PowerPoint geometry or editable text; no bitmap or SVG objects are embedded. Three named top-level groups correspond to the three panels. Ungroup or use the Selection Pane to edit parts. Glass transparency and light are vector approximations of the reference. Arial Bold matches the reference visually. The transparent reference is shown on a white slide background.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grpSp>
        <p:nvGrpSpPr>
          <p:cNvPr id="2" name="01 — Generative Trajectory Representation"/>
          <p:cNvGrpSpPr/>
          <p:nvPr/>
        </p:nvGrpSpPr>
        <p:grpSpPr>
          <a:xfrm>
            <a:off x="190500" y="609600"/>
            <a:ext cx="5135880" cy="4069080"/>
            <a:chOff x="190500" y="609600"/>
            <a:chExt cx="5135880" cy="4069080"/>
          </a:xfrm>
        </p:grpSpPr>
        <p:grpSp>
          <p:nvGrpSpPr>
            <p:cNvPr id="3" name="01: pale blue light"/>
            <p:cNvGrpSpPr/>
            <p:nvPr/>
          </p:nvGrpSpPr>
          <p:grpSpPr>
            <a:xfrm>
              <a:off x="274320" y="609600"/>
              <a:ext cx="4861560" cy="2895600"/>
              <a:chOff x="274320" y="609600"/>
              <a:chExt cx="4861560" cy="2895600"/>
            </a:xfrm>
          </p:grpSpPr>
          <p:sp>
            <p:nvSpPr>
              <p:cNvPr id="4" name="01: pale blue light: halo 01"/>
              <p:cNvSpPr/>
              <p:nvPr/>
            </p:nvSpPr>
            <p:spPr>
              <a:xfrm>
                <a:off x="274320" y="609600"/>
                <a:ext cx="4861560" cy="2895600"/>
              </a:xfrm>
              <a:prstGeom prst="ellipse">
                <a:avLst/>
              </a:prstGeom>
              <a:solidFill>
                <a:srgbClr val="7EB5FF">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01: pale blue light: halo 02"/>
              <p:cNvSpPr/>
              <p:nvPr/>
            </p:nvSpPr>
            <p:spPr>
              <a:xfrm>
                <a:off x="362436" y="662083"/>
                <a:ext cx="4685328" cy="2790634"/>
              </a:xfrm>
              <a:prstGeom prst="ellipse">
                <a:avLst/>
              </a:prstGeom>
              <a:solidFill>
                <a:srgbClr val="7EB5FF">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01: pale blue light: halo 03"/>
              <p:cNvSpPr/>
              <p:nvPr/>
            </p:nvSpPr>
            <p:spPr>
              <a:xfrm>
                <a:off x="450552" y="714566"/>
                <a:ext cx="4509097" cy="2685669"/>
              </a:xfrm>
              <a:prstGeom prst="ellipse">
                <a:avLst/>
              </a:prstGeom>
              <a:solidFill>
                <a:srgbClr val="7EB5FF">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01: pale blue light: halo 04"/>
              <p:cNvSpPr/>
              <p:nvPr/>
            </p:nvSpPr>
            <p:spPr>
              <a:xfrm>
                <a:off x="538667" y="767048"/>
                <a:ext cx="4332865" cy="2580704"/>
              </a:xfrm>
              <a:prstGeom prst="ellipse">
                <a:avLst/>
              </a:prstGeom>
              <a:solidFill>
                <a:srgbClr val="7EB5FF">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01: pale blue light: halo 05"/>
              <p:cNvSpPr/>
              <p:nvPr/>
            </p:nvSpPr>
            <p:spPr>
              <a:xfrm>
                <a:off x="626783" y="819531"/>
                <a:ext cx="4156634" cy="2475738"/>
              </a:xfrm>
              <a:prstGeom prst="ellipse">
                <a:avLst/>
              </a:prstGeom>
              <a:solidFill>
                <a:srgbClr val="7EB5FF">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01: pale blue light: halo 06"/>
              <p:cNvSpPr/>
              <p:nvPr/>
            </p:nvSpPr>
            <p:spPr>
              <a:xfrm>
                <a:off x="714899" y="872014"/>
                <a:ext cx="3980402" cy="2370772"/>
              </a:xfrm>
              <a:prstGeom prst="ellipse">
                <a:avLst/>
              </a:prstGeom>
              <a:solidFill>
                <a:srgbClr val="7EB5FF">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01: pale blue light: halo 07"/>
              <p:cNvSpPr/>
              <p:nvPr/>
            </p:nvSpPr>
            <p:spPr>
              <a:xfrm>
                <a:off x="803015" y="924497"/>
                <a:ext cx="3804171" cy="2265807"/>
              </a:xfrm>
              <a:prstGeom prst="ellipse">
                <a:avLst/>
              </a:prstGeom>
              <a:solidFill>
                <a:srgbClr val="7EB5FF">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01: pale blue light: halo 08"/>
              <p:cNvSpPr/>
              <p:nvPr/>
            </p:nvSpPr>
            <p:spPr>
              <a:xfrm>
                <a:off x="891130" y="976979"/>
                <a:ext cx="3627939" cy="2160842"/>
              </a:xfrm>
              <a:prstGeom prst="ellipse">
                <a:avLst/>
              </a:prstGeom>
              <a:solidFill>
                <a:srgbClr val="7EB5FF">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01: pale blue light: halo 09"/>
              <p:cNvSpPr/>
              <p:nvPr/>
            </p:nvSpPr>
            <p:spPr>
              <a:xfrm>
                <a:off x="979246" y="1029462"/>
                <a:ext cx="3451708" cy="2055876"/>
              </a:xfrm>
              <a:prstGeom prst="ellipse">
                <a:avLst/>
              </a:prstGeom>
              <a:solidFill>
                <a:srgbClr val="7EB5FF">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01: pale blue light: halo 10"/>
              <p:cNvSpPr/>
              <p:nvPr/>
            </p:nvSpPr>
            <p:spPr>
              <a:xfrm>
                <a:off x="1067362" y="1081945"/>
                <a:ext cx="3275476" cy="1950911"/>
              </a:xfrm>
              <a:prstGeom prst="ellipse">
                <a:avLst/>
              </a:prstGeom>
              <a:solidFill>
                <a:srgbClr val="7EB5FF">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01: pale blue light: halo 11"/>
              <p:cNvSpPr/>
              <p:nvPr/>
            </p:nvSpPr>
            <p:spPr>
              <a:xfrm>
                <a:off x="1155478" y="1134428"/>
                <a:ext cx="3099244" cy="1845945"/>
              </a:xfrm>
              <a:prstGeom prst="ellipse">
                <a:avLst/>
              </a:prstGeom>
              <a:solidFill>
                <a:srgbClr val="7EB5FF">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01: pale blue light: halo 12"/>
              <p:cNvSpPr/>
              <p:nvPr/>
            </p:nvSpPr>
            <p:spPr>
              <a:xfrm>
                <a:off x="1243594" y="1186910"/>
                <a:ext cx="2923013" cy="1740980"/>
              </a:xfrm>
              <a:prstGeom prst="ellipse">
                <a:avLst/>
              </a:prstGeom>
              <a:solidFill>
                <a:srgbClr val="7EB5FF">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01: pale blue light: halo 13"/>
              <p:cNvSpPr/>
              <p:nvPr/>
            </p:nvSpPr>
            <p:spPr>
              <a:xfrm>
                <a:off x="1331709" y="1239393"/>
                <a:ext cx="2746781" cy="1636014"/>
              </a:xfrm>
              <a:prstGeom prst="ellipse">
                <a:avLst/>
              </a:prstGeom>
              <a:solidFill>
                <a:srgbClr val="7EB5FF">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01: pale blue light: halo 14"/>
              <p:cNvSpPr/>
              <p:nvPr/>
            </p:nvSpPr>
            <p:spPr>
              <a:xfrm>
                <a:off x="1419825" y="1291876"/>
                <a:ext cx="2570550" cy="1531048"/>
              </a:xfrm>
              <a:prstGeom prst="ellipse">
                <a:avLst/>
              </a:prstGeom>
              <a:solidFill>
                <a:srgbClr val="7EB5FF">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01: pale blue light: halo 15"/>
              <p:cNvSpPr/>
              <p:nvPr/>
            </p:nvSpPr>
            <p:spPr>
              <a:xfrm>
                <a:off x="1507941" y="1344358"/>
                <a:ext cx="2394318" cy="1426083"/>
              </a:xfrm>
              <a:prstGeom prst="ellipse">
                <a:avLst/>
              </a:prstGeom>
              <a:solidFill>
                <a:srgbClr val="7EB5FF">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01: pale blue light: halo 16"/>
              <p:cNvSpPr/>
              <p:nvPr/>
            </p:nvSpPr>
            <p:spPr>
              <a:xfrm>
                <a:off x="1596057" y="1396841"/>
                <a:ext cx="2218087" cy="1321118"/>
              </a:xfrm>
              <a:prstGeom prst="ellipse">
                <a:avLst/>
              </a:prstGeom>
              <a:solidFill>
                <a:srgbClr val="7EB5FF">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20" name="01: frame 07 (rear to front)"/>
            <p:cNvGrpSpPr/>
            <p:nvPr/>
          </p:nvGrpSpPr>
          <p:grpSpPr>
            <a:xfrm>
              <a:off x="3482340" y="693420"/>
              <a:ext cx="1242060" cy="1280160"/>
              <a:chOff x="3482340" y="693420"/>
              <a:chExt cx="1242060" cy="1280160"/>
            </a:xfrm>
          </p:grpSpPr>
          <p:sp>
            <p:nvSpPr>
              <p:cNvPr id="21" name="Translucent image plane"/>
              <p:cNvSpPr/>
              <p:nvPr/>
            </p:nvSpPr>
            <p:spPr>
              <a:xfrm>
                <a:off x="3482340" y="693420"/>
                <a:ext cx="1242060" cy="1280160"/>
              </a:xfrm>
              <a:custGeom>
                <a:avLst/>
                <a:gdLst/>
                <a:ahLst/>
                <a:cxnLst/>
                <a:rect l="0" t="0" r="r" b="b"/>
                <a:pathLst>
                  <a:path w="1242060" h="1280160">
                    <a:moveTo>
                      <a:pt x="0" y="63894"/>
                    </a:moveTo>
                    <a:cubicBezTo>
                      <a:pt x="0" y="0"/>
                      <a:pt x="0" y="0"/>
                      <a:pt x="80734" y="14364"/>
                    </a:cubicBezTo>
                    <a:lnTo>
                      <a:pt x="1161326" y="206616"/>
                    </a:lnTo>
                    <a:cubicBezTo>
                      <a:pt x="1242060" y="220980"/>
                      <a:pt x="1242060" y="220980"/>
                      <a:pt x="1242060" y="289827"/>
                    </a:cubicBezTo>
                    <a:lnTo>
                      <a:pt x="1242060" y="1211313"/>
                    </a:lnTo>
                    <a:cubicBezTo>
                      <a:pt x="1242060" y="1280160"/>
                      <a:pt x="1242060" y="1280160"/>
                      <a:pt x="1161326" y="1260843"/>
                    </a:cubicBezTo>
                    <a:lnTo>
                      <a:pt x="80734" y="1002297"/>
                    </a:lnTo>
                    <a:cubicBezTo>
                      <a:pt x="0" y="982980"/>
                      <a:pt x="0" y="982980"/>
                      <a:pt x="0" y="919086"/>
                    </a:cubicBezTo>
                    <a:close/>
                  </a:path>
                </a:pathLst>
              </a:custGeom>
              <a:gradFill rotWithShape="1">
                <a:gsLst>
                  <a:gs pos="0">
                    <a:srgbClr val="D8E8FD">
                      <a:alpha val="69000"/>
                    </a:srgbClr>
                  </a:gs>
                  <a:gs pos="100000">
                    <a:srgbClr val="C9E3FF">
                      <a:alpha val="48300"/>
                    </a:srgbClr>
                  </a:gs>
                </a:gsLst>
                <a:lin ang="3900000" scaled="1"/>
              </a:gradFill>
              <a:ln w="7620" cap="rnd">
                <a:solidFill>
                  <a:srgbClr val="FFFFFF"/>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22" name="01: frame 06 (rear to front)"/>
            <p:cNvGrpSpPr/>
            <p:nvPr/>
          </p:nvGrpSpPr>
          <p:grpSpPr>
            <a:xfrm>
              <a:off x="2994660" y="868680"/>
              <a:ext cx="1303020" cy="1280160"/>
              <a:chOff x="2994660" y="868680"/>
              <a:chExt cx="1303020" cy="1280160"/>
            </a:xfrm>
          </p:grpSpPr>
          <p:sp>
            <p:nvSpPr>
              <p:cNvPr id="23" name="Translucent image plane"/>
              <p:cNvSpPr/>
              <p:nvPr/>
            </p:nvSpPr>
            <p:spPr>
              <a:xfrm>
                <a:off x="2994660" y="868680"/>
                <a:ext cx="1303020" cy="1280160"/>
              </a:xfrm>
              <a:custGeom>
                <a:avLst/>
                <a:gdLst/>
                <a:ahLst/>
                <a:cxnLst/>
                <a:rect l="0" t="0" r="r" b="b"/>
                <a:pathLst>
                  <a:path w="1303020" h="1280160">
                    <a:moveTo>
                      <a:pt x="0" y="63398"/>
                    </a:moveTo>
                    <a:cubicBezTo>
                      <a:pt x="0" y="0"/>
                      <a:pt x="0" y="0"/>
                      <a:pt x="84696" y="14364"/>
                    </a:cubicBezTo>
                    <a:lnTo>
                      <a:pt x="1218324" y="206616"/>
                    </a:lnTo>
                    <a:cubicBezTo>
                      <a:pt x="1303020" y="220980"/>
                      <a:pt x="1303020" y="220980"/>
                      <a:pt x="1302525" y="289827"/>
                    </a:cubicBezTo>
                    <a:lnTo>
                      <a:pt x="1295895" y="1211313"/>
                    </a:lnTo>
                    <a:cubicBezTo>
                      <a:pt x="1295400" y="1280160"/>
                      <a:pt x="1295400" y="1280160"/>
                      <a:pt x="1211199" y="1260348"/>
                    </a:cubicBezTo>
                    <a:lnTo>
                      <a:pt x="84201" y="995172"/>
                    </a:lnTo>
                    <a:cubicBezTo>
                      <a:pt x="0" y="975360"/>
                      <a:pt x="0" y="975360"/>
                      <a:pt x="0" y="911962"/>
                    </a:cubicBezTo>
                    <a:close/>
                  </a:path>
                </a:pathLst>
              </a:custGeom>
              <a:gradFill rotWithShape="1">
                <a:gsLst>
                  <a:gs pos="0">
                    <a:srgbClr val="C4DDFB">
                      <a:alpha val="67000"/>
                    </a:srgbClr>
                  </a:gs>
                  <a:gs pos="100000">
                    <a:srgbClr val="C9E3FF">
                      <a:alpha val="46900"/>
                    </a:srgbClr>
                  </a:gs>
                </a:gsLst>
                <a:lin ang="3900000" scaled="1"/>
              </a:gradFill>
              <a:ln w="7620" cap="rnd">
                <a:solidFill>
                  <a:srgbClr val="FFFFFF"/>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24" name="01: frame 05 (rear to front)"/>
            <p:cNvGrpSpPr/>
            <p:nvPr/>
          </p:nvGrpSpPr>
          <p:grpSpPr>
            <a:xfrm>
              <a:off x="2537460" y="1043940"/>
              <a:ext cx="1196340" cy="1249680"/>
              <a:chOff x="2537460" y="1043940"/>
              <a:chExt cx="1196340" cy="1249680"/>
            </a:xfrm>
          </p:grpSpPr>
          <p:sp>
            <p:nvSpPr>
              <p:cNvPr id="25" name="Translucent image plane"/>
              <p:cNvSpPr/>
              <p:nvPr/>
            </p:nvSpPr>
            <p:spPr>
              <a:xfrm>
                <a:off x="2537460" y="1043940"/>
                <a:ext cx="1196340" cy="1249680"/>
              </a:xfrm>
              <a:custGeom>
                <a:avLst/>
                <a:gdLst/>
                <a:ahLst/>
                <a:cxnLst/>
                <a:rect l="0" t="0" r="r" b="b"/>
                <a:pathLst>
                  <a:path w="1196340" h="1249680">
                    <a:moveTo>
                      <a:pt x="0" y="62408"/>
                    </a:moveTo>
                    <a:cubicBezTo>
                      <a:pt x="0" y="0"/>
                      <a:pt x="0" y="0"/>
                      <a:pt x="77762" y="12878"/>
                    </a:cubicBezTo>
                    <a:lnTo>
                      <a:pt x="1118578" y="185242"/>
                    </a:lnTo>
                    <a:cubicBezTo>
                      <a:pt x="1196340" y="198120"/>
                      <a:pt x="1196340" y="198120"/>
                      <a:pt x="1195845" y="266471"/>
                    </a:cubicBezTo>
                    <a:lnTo>
                      <a:pt x="1189215" y="1181329"/>
                    </a:lnTo>
                    <a:cubicBezTo>
                      <a:pt x="1188720" y="1249680"/>
                      <a:pt x="1188720" y="1249680"/>
                      <a:pt x="1111453" y="1230859"/>
                    </a:cubicBezTo>
                    <a:lnTo>
                      <a:pt x="77267" y="978941"/>
                    </a:lnTo>
                    <a:cubicBezTo>
                      <a:pt x="0" y="960120"/>
                      <a:pt x="0" y="960120"/>
                      <a:pt x="0" y="897712"/>
                    </a:cubicBezTo>
                    <a:close/>
                  </a:path>
                </a:pathLst>
              </a:custGeom>
              <a:gradFill rotWithShape="1">
                <a:gsLst>
                  <a:gs pos="0">
                    <a:srgbClr val="B1D4FB">
                      <a:alpha val="65000"/>
                    </a:srgbClr>
                  </a:gs>
                  <a:gs pos="100000">
                    <a:srgbClr val="C9E3FF">
                      <a:alpha val="45500"/>
                    </a:srgbClr>
                  </a:gs>
                </a:gsLst>
                <a:lin ang="3900000" scaled="1"/>
              </a:gradFill>
              <a:ln w="7620" cap="rnd">
                <a:solidFill>
                  <a:srgbClr val="FFFFFF"/>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26" name="01: frame 04 (rear to front)"/>
            <p:cNvGrpSpPr/>
            <p:nvPr/>
          </p:nvGrpSpPr>
          <p:grpSpPr>
            <a:xfrm>
              <a:off x="2065020" y="1203960"/>
              <a:ext cx="1120140" cy="1386840"/>
              <a:chOff x="2065020" y="1203960"/>
              <a:chExt cx="1120140" cy="1386840"/>
            </a:xfrm>
          </p:grpSpPr>
          <p:sp>
            <p:nvSpPr>
              <p:cNvPr id="27" name="Translucent image plane"/>
              <p:cNvSpPr/>
              <p:nvPr/>
            </p:nvSpPr>
            <p:spPr>
              <a:xfrm>
                <a:off x="2065020" y="1203960"/>
                <a:ext cx="1120140" cy="1386840"/>
              </a:xfrm>
              <a:custGeom>
                <a:avLst/>
                <a:gdLst/>
                <a:ahLst/>
                <a:cxnLst/>
                <a:rect l="0" t="0" r="r" b="b"/>
                <a:pathLst>
                  <a:path w="1120140" h="1386840">
                    <a:moveTo>
                      <a:pt x="0" y="70333"/>
                    </a:moveTo>
                    <a:cubicBezTo>
                      <a:pt x="0" y="0"/>
                      <a:pt x="0" y="0"/>
                      <a:pt x="72809" y="13373"/>
                    </a:cubicBezTo>
                    <a:lnTo>
                      <a:pt x="1047331" y="192367"/>
                    </a:lnTo>
                    <a:cubicBezTo>
                      <a:pt x="1120140" y="205740"/>
                      <a:pt x="1120140" y="205740"/>
                      <a:pt x="1119645" y="282511"/>
                    </a:cubicBezTo>
                    <a:lnTo>
                      <a:pt x="1113015" y="1310068"/>
                    </a:lnTo>
                    <a:cubicBezTo>
                      <a:pt x="1112520" y="1386840"/>
                      <a:pt x="1112520" y="1386840"/>
                      <a:pt x="1040206" y="1367028"/>
                    </a:cubicBezTo>
                    <a:lnTo>
                      <a:pt x="72314" y="1101852"/>
                    </a:lnTo>
                    <a:cubicBezTo>
                      <a:pt x="0" y="1082040"/>
                      <a:pt x="0" y="1082040"/>
                      <a:pt x="0" y="1011707"/>
                    </a:cubicBezTo>
                    <a:close/>
                  </a:path>
                </a:pathLst>
              </a:custGeom>
              <a:gradFill rotWithShape="1">
                <a:gsLst>
                  <a:gs pos="0">
                    <a:srgbClr val="9BC6F9">
                      <a:alpha val="65000"/>
                    </a:srgbClr>
                  </a:gs>
                  <a:gs pos="100000">
                    <a:srgbClr val="C9E3FF">
                      <a:alpha val="45500"/>
                    </a:srgbClr>
                  </a:gs>
                </a:gsLst>
                <a:lin ang="39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28" name="01: frame 03 (rear to front)"/>
            <p:cNvGrpSpPr/>
            <p:nvPr/>
          </p:nvGrpSpPr>
          <p:grpSpPr>
            <a:xfrm>
              <a:off x="1607820" y="1379220"/>
              <a:ext cx="1135380" cy="1402080"/>
              <a:chOff x="1607820" y="1379220"/>
              <a:chExt cx="1135380" cy="1402080"/>
            </a:xfrm>
          </p:grpSpPr>
          <p:sp>
            <p:nvSpPr>
              <p:cNvPr id="29" name="Translucent image plane"/>
              <p:cNvSpPr/>
              <p:nvPr/>
            </p:nvSpPr>
            <p:spPr>
              <a:xfrm>
                <a:off x="1607820" y="1379220"/>
                <a:ext cx="1135380" cy="1402080"/>
              </a:xfrm>
              <a:custGeom>
                <a:avLst/>
                <a:gdLst/>
                <a:ahLst/>
                <a:cxnLst/>
                <a:rect l="0" t="0" r="r" b="b"/>
                <a:pathLst>
                  <a:path w="1135380" h="1402080">
                    <a:moveTo>
                      <a:pt x="0" y="70828"/>
                    </a:moveTo>
                    <a:cubicBezTo>
                      <a:pt x="0" y="0"/>
                      <a:pt x="0" y="0"/>
                      <a:pt x="73800" y="13868"/>
                    </a:cubicBezTo>
                    <a:lnTo>
                      <a:pt x="1061580" y="199492"/>
                    </a:lnTo>
                    <a:cubicBezTo>
                      <a:pt x="1135380" y="213360"/>
                      <a:pt x="1135380" y="213360"/>
                      <a:pt x="1134389" y="290627"/>
                    </a:cubicBezTo>
                    <a:lnTo>
                      <a:pt x="1121131" y="1324813"/>
                    </a:lnTo>
                    <a:cubicBezTo>
                      <a:pt x="1120140" y="1402080"/>
                      <a:pt x="1120140" y="1402080"/>
                      <a:pt x="1047331" y="1381773"/>
                    </a:cubicBezTo>
                    <a:lnTo>
                      <a:pt x="72809" y="1109967"/>
                    </a:lnTo>
                    <a:cubicBezTo>
                      <a:pt x="0" y="1089660"/>
                      <a:pt x="0" y="1089660"/>
                      <a:pt x="0" y="1018832"/>
                    </a:cubicBezTo>
                    <a:close/>
                  </a:path>
                </a:pathLst>
              </a:custGeom>
              <a:gradFill rotWithShape="1">
                <a:gsLst>
                  <a:gs pos="0">
                    <a:srgbClr val="85B9F7">
                      <a:alpha val="63000"/>
                    </a:srgbClr>
                  </a:gs>
                  <a:gs pos="100000">
                    <a:srgbClr val="C9E3FF">
                      <a:alpha val="44100"/>
                    </a:srgbClr>
                  </a:gs>
                </a:gsLst>
                <a:lin ang="39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30" name="01: frame 02 (rear to front)"/>
            <p:cNvGrpSpPr/>
            <p:nvPr/>
          </p:nvGrpSpPr>
          <p:grpSpPr>
            <a:xfrm>
              <a:off x="1143000" y="1546860"/>
              <a:ext cx="1158240" cy="1440180"/>
              <a:chOff x="1143000" y="1546860"/>
              <a:chExt cx="1158240" cy="1440180"/>
            </a:xfrm>
          </p:grpSpPr>
          <p:sp>
            <p:nvSpPr>
              <p:cNvPr id="31" name="Translucent image plane"/>
              <p:cNvSpPr/>
              <p:nvPr/>
            </p:nvSpPr>
            <p:spPr>
              <a:xfrm>
                <a:off x="1143000" y="1546860"/>
                <a:ext cx="1158240" cy="1440180"/>
              </a:xfrm>
              <a:custGeom>
                <a:avLst/>
                <a:gdLst/>
                <a:ahLst/>
                <a:cxnLst/>
                <a:rect l="0" t="0" r="r" b="b"/>
                <a:pathLst>
                  <a:path w="1158240" h="1440180">
                    <a:moveTo>
                      <a:pt x="0" y="72809"/>
                    </a:moveTo>
                    <a:cubicBezTo>
                      <a:pt x="0" y="0"/>
                      <a:pt x="0" y="0"/>
                      <a:pt x="75286" y="14364"/>
                    </a:cubicBezTo>
                    <a:lnTo>
                      <a:pt x="1082954" y="206616"/>
                    </a:lnTo>
                    <a:cubicBezTo>
                      <a:pt x="1158240" y="220980"/>
                      <a:pt x="1158240" y="220980"/>
                      <a:pt x="1157745" y="300228"/>
                    </a:cubicBezTo>
                    <a:lnTo>
                      <a:pt x="1151115" y="1360932"/>
                    </a:lnTo>
                    <a:cubicBezTo>
                      <a:pt x="1150620" y="1440180"/>
                      <a:pt x="1150620" y="1440180"/>
                      <a:pt x="1075830" y="1419377"/>
                    </a:cubicBezTo>
                    <a:lnTo>
                      <a:pt x="74790" y="1140943"/>
                    </a:lnTo>
                    <a:cubicBezTo>
                      <a:pt x="0" y="1120140"/>
                      <a:pt x="0" y="1120140"/>
                      <a:pt x="0" y="1047331"/>
                    </a:cubicBezTo>
                    <a:close/>
                  </a:path>
                </a:pathLst>
              </a:custGeom>
              <a:gradFill rotWithShape="1">
                <a:gsLst>
                  <a:gs pos="0">
                    <a:srgbClr val="72AAF1">
                      <a:alpha val="65000"/>
                    </a:srgbClr>
                  </a:gs>
                  <a:gs pos="100000">
                    <a:srgbClr val="C9E3FF">
                      <a:alpha val="45500"/>
                    </a:srgbClr>
                  </a:gs>
                </a:gsLst>
                <a:lin ang="39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32" name="01: frame 01 (rear to front)"/>
            <p:cNvGrpSpPr/>
            <p:nvPr/>
          </p:nvGrpSpPr>
          <p:grpSpPr>
            <a:xfrm>
              <a:off x="685800" y="1722120"/>
              <a:ext cx="1150620" cy="1470660"/>
              <a:chOff x="685800" y="1722120"/>
              <a:chExt cx="1150620" cy="1470660"/>
            </a:xfrm>
          </p:grpSpPr>
          <p:sp>
            <p:nvSpPr>
              <p:cNvPr id="33" name="Translucent image plane"/>
              <p:cNvSpPr/>
              <p:nvPr/>
            </p:nvSpPr>
            <p:spPr>
              <a:xfrm>
                <a:off x="685800" y="1722120"/>
                <a:ext cx="1150620" cy="1470660"/>
              </a:xfrm>
              <a:custGeom>
                <a:avLst/>
                <a:gdLst/>
                <a:ahLst/>
                <a:cxnLst/>
                <a:rect l="0" t="0" r="r" b="b"/>
                <a:pathLst>
                  <a:path w="1150620" h="1470660">
                    <a:moveTo>
                      <a:pt x="0" y="74295"/>
                    </a:moveTo>
                    <a:cubicBezTo>
                      <a:pt x="0" y="0"/>
                      <a:pt x="0" y="0"/>
                      <a:pt x="74790" y="15850"/>
                    </a:cubicBezTo>
                    <a:lnTo>
                      <a:pt x="1075830" y="227990"/>
                    </a:lnTo>
                    <a:cubicBezTo>
                      <a:pt x="1150620" y="243840"/>
                      <a:pt x="1150620" y="243840"/>
                      <a:pt x="1150620" y="323583"/>
                    </a:cubicBezTo>
                    <a:lnTo>
                      <a:pt x="1150620" y="1390917"/>
                    </a:lnTo>
                    <a:cubicBezTo>
                      <a:pt x="1150620" y="1470660"/>
                      <a:pt x="1150620" y="1470660"/>
                      <a:pt x="1075830" y="1449362"/>
                    </a:cubicBezTo>
                    <a:lnTo>
                      <a:pt x="74790" y="1164298"/>
                    </a:lnTo>
                    <a:cubicBezTo>
                      <a:pt x="0" y="1143000"/>
                      <a:pt x="0" y="1143000"/>
                      <a:pt x="0" y="1068705"/>
                    </a:cubicBezTo>
                    <a:close/>
                  </a:path>
                </a:pathLst>
              </a:custGeom>
              <a:gradFill rotWithShape="1">
                <a:gsLst>
                  <a:gs pos="0">
                    <a:srgbClr val="66A6EF">
                      <a:alpha val="78000"/>
                    </a:srgbClr>
                  </a:gs>
                  <a:gs pos="100000">
                    <a:srgbClr val="C9E3FF">
                      <a:alpha val="54600"/>
                    </a:srgbClr>
                  </a:gs>
                </a:gsLst>
                <a:lin ang="39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Front image border"/>
              <p:cNvSpPr/>
              <p:nvPr/>
            </p:nvSpPr>
            <p:spPr>
              <a:xfrm>
                <a:off x="685800" y="1722120"/>
                <a:ext cx="1150620" cy="1470660"/>
              </a:xfrm>
              <a:custGeom>
                <a:avLst/>
                <a:gdLst/>
                <a:ahLst/>
                <a:cxnLst/>
                <a:rect l="0" t="0" r="r" b="b"/>
                <a:pathLst>
                  <a:path w="1150620" h="1470660" fill="none">
                    <a:moveTo>
                      <a:pt x="0" y="74295"/>
                    </a:moveTo>
                    <a:cubicBezTo>
                      <a:pt x="0" y="0"/>
                      <a:pt x="0" y="0"/>
                      <a:pt x="74790" y="15850"/>
                    </a:cubicBezTo>
                    <a:lnTo>
                      <a:pt x="1075830" y="227990"/>
                    </a:lnTo>
                    <a:cubicBezTo>
                      <a:pt x="1150620" y="243840"/>
                      <a:pt x="1150620" y="243840"/>
                      <a:pt x="1150620" y="323583"/>
                    </a:cubicBezTo>
                    <a:lnTo>
                      <a:pt x="1150620" y="1390917"/>
                    </a:lnTo>
                    <a:cubicBezTo>
                      <a:pt x="1150620" y="1470660"/>
                      <a:pt x="1150620" y="1470660"/>
                      <a:pt x="1075830" y="1449362"/>
                    </a:cubicBezTo>
                    <a:lnTo>
                      <a:pt x="74790" y="1164298"/>
                    </a:lnTo>
                    <a:cubicBezTo>
                      <a:pt x="0" y="1143000"/>
                      <a:pt x="0" y="1143000"/>
                      <a:pt x="0" y="1068705"/>
                    </a:cubicBezTo>
                    <a:close/>
                  </a:path>
                </a:pathLst>
              </a:custGeom>
              <a:noFill/>
              <a:ln w="45720" cap="rnd">
                <a:solidFill>
                  <a:srgbClr val="659EEE"/>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Front image mountains"/>
              <p:cNvSpPr/>
              <p:nvPr/>
            </p:nvSpPr>
            <p:spPr>
              <a:xfrm>
                <a:off x="784860" y="2255520"/>
                <a:ext cx="861060" cy="571500"/>
              </a:xfrm>
              <a:custGeom>
                <a:avLst/>
                <a:gdLst/>
                <a:ahLst/>
                <a:cxnLst/>
                <a:rect l="0" t="0" r="r" b="b"/>
                <a:pathLst>
                  <a:path w="861060" h="571500">
                    <a:moveTo>
                      <a:pt x="0" y="419100"/>
                    </a:moveTo>
                    <a:lnTo>
                      <a:pt x="243840" y="30480"/>
                    </a:lnTo>
                    <a:lnTo>
                      <a:pt x="281940" y="0"/>
                    </a:lnTo>
                    <a:lnTo>
                      <a:pt x="320040" y="15240"/>
                    </a:lnTo>
                    <a:lnTo>
                      <a:pt x="548640" y="396240"/>
                    </a:lnTo>
                    <a:lnTo>
                      <a:pt x="609600" y="266700"/>
                    </a:lnTo>
                    <a:lnTo>
                      <a:pt x="655320" y="228600"/>
                    </a:lnTo>
                    <a:lnTo>
                      <a:pt x="693420" y="259080"/>
                    </a:lnTo>
                    <a:lnTo>
                      <a:pt x="861060" y="571500"/>
                    </a:lnTo>
                    <a:close/>
                  </a:path>
                </a:pathLst>
              </a:custGeom>
              <a:gradFill rotWithShape="1">
                <a:gsLst>
                  <a:gs pos="0">
                    <a:srgbClr val="4B91E7">
                      <a:alpha val="70000"/>
                    </a:srgbClr>
                  </a:gs>
                  <a:gs pos="100000">
                    <a:srgbClr val="81B6F3">
                      <a:alpha val="75000"/>
                    </a:srgbClr>
                  </a:gs>
                </a:gsLst>
                <a:lin ang="54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Front image sun"/>
              <p:cNvSpPr/>
              <p:nvPr/>
            </p:nvSpPr>
            <p:spPr>
              <a:xfrm>
                <a:off x="1440180" y="2110740"/>
                <a:ext cx="182880" cy="198120"/>
              </a:xfrm>
              <a:prstGeom prst="ellipse">
                <a:avLst/>
              </a:prstGeom>
              <a:solidFill>
                <a:srgbClr val="D1E8FF">
                  <a:alpha val="940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Front frame lower highlight"/>
              <p:cNvSpPr/>
              <p:nvPr/>
            </p:nvSpPr>
            <p:spPr>
              <a:xfrm>
                <a:off x="746760" y="2865120"/>
                <a:ext cx="1013460" cy="274320"/>
              </a:xfrm>
              <a:custGeom>
                <a:avLst/>
                <a:gdLst/>
                <a:ahLst/>
                <a:cxnLst/>
                <a:rect l="0" t="0" r="r" b="b"/>
                <a:pathLst>
                  <a:path w="1013460" h="274320" fill="none">
                    <a:moveTo>
                      <a:pt x="0" y="0"/>
                    </a:moveTo>
                    <a:lnTo>
                      <a:pt x="1013460" y="274320"/>
                    </a:lnTo>
                  </a:path>
                </a:pathLst>
              </a:custGeom>
              <a:noFill/>
              <a:ln w="15240" cap="rnd">
                <a:solidFill>
                  <a:srgbClr val="C8E4FF"/>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38" name="01: forward generative trajectory"/>
            <p:cNvGrpSpPr/>
            <p:nvPr/>
          </p:nvGrpSpPr>
          <p:grpSpPr>
            <a:xfrm>
              <a:off x="1082040" y="1258908"/>
              <a:ext cx="3444240" cy="1636692"/>
              <a:chOff x="1082040" y="1258908"/>
              <a:chExt cx="3444240" cy="1636692"/>
            </a:xfrm>
          </p:grpSpPr>
          <p:sp>
            <p:nvSpPr>
              <p:cNvPr id="39" name="Trajectory white rim"/>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129539" cap="rnd">
                <a:solidFill>
                  <a:srgbClr val="FFFFFF"/>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rajectory blue Bezier"/>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83820" cap="rnd">
                <a:solidFill>
                  <a:srgbClr val="2582FA"/>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rajectory arrow head"/>
              <p:cNvSpPr/>
              <p:nvPr/>
            </p:nvSpPr>
            <p:spPr>
              <a:xfrm>
                <a:off x="4201999" y="1258908"/>
                <a:ext cx="324281" cy="283363"/>
              </a:xfrm>
              <a:custGeom>
                <a:avLst/>
                <a:gdLst/>
                <a:ahLst/>
                <a:cxnLst/>
                <a:rect l="0" t="0" r="r" b="b"/>
                <a:pathLst>
                  <a:path w="324281" h="283363">
                    <a:moveTo>
                      <a:pt x="0" y="144165"/>
                    </a:moveTo>
                    <a:lnTo>
                      <a:pt x="75411" y="104574"/>
                    </a:lnTo>
                    <a:lnTo>
                      <a:pt x="20510" y="0"/>
                    </a:lnTo>
                    <a:lnTo>
                      <a:pt x="324281" y="21252"/>
                    </a:lnTo>
                    <a:lnTo>
                      <a:pt x="169275" y="283363"/>
                    </a:lnTo>
                    <a:lnTo>
                      <a:pt x="114373" y="178788"/>
                    </a:lnTo>
                    <a:lnTo>
                      <a:pt x="38962" y="218379"/>
                    </a:lnTo>
                    <a:close/>
                  </a:path>
                </a:pathLst>
              </a:custGeom>
              <a:gradFill rotWithShape="1">
                <a:gsLst>
                  <a:gs pos="0">
                    <a:srgbClr val="267FFC"/>
                  </a:gs>
                  <a:gs pos="50000">
                    <a:srgbClr val="267FFC">
                      <a:alpha val="80000"/>
                    </a:srgbClr>
                  </a:gs>
                  <a:gs pos="100000">
                    <a:srgbClr val="267FFC"/>
                  </a:gs>
                </a:gsLst>
                <a:lin ang="19938032"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ime point 1: white rim"/>
              <p:cNvSpPr/>
              <p:nvPr/>
            </p:nvSpPr>
            <p:spPr>
              <a:xfrm>
                <a:off x="1699260" y="2506980"/>
                <a:ext cx="243840" cy="243840"/>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ime point 1: blue ring"/>
              <p:cNvSpPr/>
              <p:nvPr/>
            </p:nvSpPr>
            <p:spPr>
              <a:xfrm>
                <a:off x="1729740" y="2537460"/>
                <a:ext cx="182880" cy="182880"/>
              </a:xfrm>
              <a:prstGeom prst="ellipse">
                <a:avLst/>
              </a:prstGeom>
              <a:solidFill>
                <a:srgbClr val="2582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ime point 1: center"/>
              <p:cNvSpPr/>
              <p:nvPr/>
            </p:nvSpPr>
            <p:spPr>
              <a:xfrm>
                <a:off x="1788414" y="2596134"/>
                <a:ext cx="65532" cy="65532"/>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ime point 2: white rim"/>
              <p:cNvSpPr/>
              <p:nvPr/>
            </p:nvSpPr>
            <p:spPr>
              <a:xfrm>
                <a:off x="2560320" y="2095500"/>
                <a:ext cx="243840" cy="243840"/>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ime point 2: blue ring"/>
              <p:cNvSpPr/>
              <p:nvPr/>
            </p:nvSpPr>
            <p:spPr>
              <a:xfrm>
                <a:off x="2590800" y="2125980"/>
                <a:ext cx="182880" cy="182880"/>
              </a:xfrm>
              <a:prstGeom prst="ellipse">
                <a:avLst/>
              </a:prstGeom>
              <a:solidFill>
                <a:srgbClr val="2582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ime point 2: center"/>
              <p:cNvSpPr/>
              <p:nvPr/>
            </p:nvSpPr>
            <p:spPr>
              <a:xfrm>
                <a:off x="2649474" y="2184654"/>
                <a:ext cx="65532" cy="65532"/>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ime point 3: white rim"/>
              <p:cNvSpPr/>
              <p:nvPr/>
            </p:nvSpPr>
            <p:spPr>
              <a:xfrm>
                <a:off x="3352800" y="1668780"/>
                <a:ext cx="243840" cy="243840"/>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ime point 3: blue ring"/>
              <p:cNvSpPr/>
              <p:nvPr/>
            </p:nvSpPr>
            <p:spPr>
              <a:xfrm>
                <a:off x="3383280" y="1699260"/>
                <a:ext cx="182880" cy="182880"/>
              </a:xfrm>
              <a:prstGeom prst="ellipse">
                <a:avLst/>
              </a:prstGeom>
              <a:solidFill>
                <a:srgbClr val="2582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ime point 3: center"/>
              <p:cNvSpPr/>
              <p:nvPr/>
            </p:nvSpPr>
            <p:spPr>
              <a:xfrm>
                <a:off x="3441954" y="1757934"/>
                <a:ext cx="65532" cy="65532"/>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51" name="01: blue velocity mark"/>
            <p:cNvGrpSpPr/>
            <p:nvPr/>
          </p:nvGrpSpPr>
          <p:grpSpPr>
            <a:xfrm>
              <a:off x="2910840" y="2758440"/>
              <a:ext cx="1295400" cy="411480"/>
              <a:chOff x="2910840" y="2758440"/>
              <a:chExt cx="1295400" cy="411480"/>
            </a:xfrm>
          </p:grpSpPr>
          <p:sp>
            <p:nvSpPr>
              <p:cNvPr id="52" name="Velocity streak 1"/>
              <p:cNvSpPr/>
              <p:nvPr/>
            </p:nvSpPr>
            <p:spPr>
              <a:xfrm>
                <a:off x="3116580" y="2819400"/>
                <a:ext cx="601980" cy="68580"/>
              </a:xfrm>
              <a:prstGeom prst="roundRect">
                <a:avLst>
                  <a:gd name="adj" fmla="val 50000"/>
                </a:avLst>
              </a:prstGeom>
              <a:gradFill rotWithShape="1">
                <a:gsLst>
                  <a:gs pos="0">
                    <a:srgbClr val="81BBFD">
                      <a:alpha val="0"/>
                    </a:srgbClr>
                  </a:gs>
                  <a:gs pos="90000">
                    <a:srgbClr val="348AFF">
                      <a:alpha val="92000"/>
                    </a:srgbClr>
                  </a:gs>
                  <a:gs pos="100000">
                    <a:srgbClr val="348AFF">
                      <a:alpha val="94000"/>
                    </a:srgbClr>
                  </a:gs>
                </a:gsLst>
                <a:lin ang="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Velocity streak 2"/>
              <p:cNvSpPr/>
              <p:nvPr/>
            </p:nvSpPr>
            <p:spPr>
              <a:xfrm>
                <a:off x="3017520" y="2956560"/>
                <a:ext cx="655320" cy="68580"/>
              </a:xfrm>
              <a:prstGeom prst="roundRect">
                <a:avLst>
                  <a:gd name="adj" fmla="val 50000"/>
                </a:avLst>
              </a:prstGeom>
              <a:gradFill rotWithShape="1">
                <a:gsLst>
                  <a:gs pos="0">
                    <a:srgbClr val="81BBFD">
                      <a:alpha val="0"/>
                    </a:srgbClr>
                  </a:gs>
                  <a:gs pos="90000">
                    <a:srgbClr val="348AFF">
                      <a:alpha val="92000"/>
                    </a:srgbClr>
                  </a:gs>
                  <a:gs pos="100000">
                    <a:srgbClr val="348AFF">
                      <a:alpha val="94000"/>
                    </a:srgbClr>
                  </a:gs>
                </a:gsLst>
                <a:lin ang="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Velocity streak 3"/>
              <p:cNvSpPr/>
              <p:nvPr/>
            </p:nvSpPr>
            <p:spPr>
              <a:xfrm>
                <a:off x="2910840" y="3093720"/>
                <a:ext cx="769620" cy="68580"/>
              </a:xfrm>
              <a:prstGeom prst="roundRect">
                <a:avLst>
                  <a:gd name="adj" fmla="val 50000"/>
                </a:avLst>
              </a:prstGeom>
              <a:gradFill rotWithShape="1">
                <a:gsLst>
                  <a:gs pos="0">
                    <a:srgbClr val="81BBFD">
                      <a:alpha val="0"/>
                    </a:srgbClr>
                  </a:gs>
                  <a:gs pos="90000">
                    <a:srgbClr val="348AFF">
                      <a:alpha val="92000"/>
                    </a:srgbClr>
                  </a:gs>
                  <a:gs pos="100000">
                    <a:srgbClr val="348AFF">
                      <a:alpha val="94000"/>
                    </a:srgbClr>
                  </a:gs>
                </a:gsLst>
                <a:lin ang="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Velocity v: editable outline"/>
              <p:cNvSpPr/>
              <p:nvPr/>
            </p:nvSpPr>
            <p:spPr>
              <a:xfrm>
                <a:off x="3817620" y="2758440"/>
                <a:ext cx="388620" cy="411480"/>
              </a:xfrm>
              <a:custGeom>
                <a:avLst/>
                <a:gdLst/>
                <a:ahLst/>
                <a:cxnLst/>
                <a:rect l="0" t="0" r="r" b="b"/>
                <a:pathLst>
                  <a:path w="388620" h="411480">
                    <a:moveTo>
                      <a:pt x="0" y="30480"/>
                    </a:moveTo>
                    <a:cubicBezTo>
                      <a:pt x="38100" y="7620"/>
                      <a:pt x="76200" y="0"/>
                      <a:pt x="121920" y="0"/>
                    </a:cubicBezTo>
                    <a:lnTo>
                      <a:pt x="160020" y="304800"/>
                    </a:lnTo>
                    <a:cubicBezTo>
                      <a:pt x="236220" y="205740"/>
                      <a:pt x="281940" y="99060"/>
                      <a:pt x="289560" y="7620"/>
                    </a:cubicBezTo>
                    <a:lnTo>
                      <a:pt x="388620" y="7620"/>
                    </a:lnTo>
                    <a:cubicBezTo>
                      <a:pt x="358140" y="144780"/>
                      <a:pt x="274320" y="304800"/>
                      <a:pt x="167640" y="411480"/>
                    </a:cubicBezTo>
                    <a:lnTo>
                      <a:pt x="76200" y="411480"/>
                    </a:lnTo>
                    <a:lnTo>
                      <a:pt x="38100" y="83820"/>
                    </a:lnTo>
                    <a:lnTo>
                      <a:pt x="0" y="91440"/>
                    </a:lnTo>
                    <a:close/>
                  </a:path>
                </a:pathLst>
              </a:custGeom>
              <a:gradFill rotWithShape="1">
                <a:gsLst>
                  <a:gs pos="0">
                    <a:srgbClr val="3B90FF"/>
                  </a:gs>
                  <a:gs pos="100000">
                    <a:srgbClr val="257DF7"/>
                  </a:gs>
                </a:gsLst>
                <a:lin ang="42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56" name="01: title line 1"/>
            <p:cNvSpPr txBox="1"/>
            <p:nvPr/>
          </p:nvSpPr>
          <p:spPr>
            <a:xfrm>
              <a:off x="190500" y="3817620"/>
              <a:ext cx="5029200" cy="441960"/>
            </a:xfrm>
            <a:prstGeom prst="rect">
              <a:avLst/>
            </a:prstGeom>
            <a:noFill/>
          </p:spPr>
          <p:txBody>
            <a:bodyPr wrap="none" lIns="0" rIns="0" tIns="0" bIns="0" anchor="t">
              <a:noAutofit/>
            </a:bodyPr>
            <a:lstStyle/>
            <a:p>
              <a:pPr algn="ctr">
                <a:lnSpc>
                  <a:spcPct val="100000"/>
                </a:lnSpc>
                <a:spcBef>
                  <a:spcPts val="0"/>
                </a:spcBef>
                <a:spcAft>
                  <a:spcPts val="0"/>
                </a:spcAft>
              </a:pPr>
              <a:r>
                <a:rPr sz="2640" b="1">
                  <a:solidFill>
                    <a:srgbClr val="1C2941"/>
                  </a:solidFill>
                  <a:latin typeface="Arial"/>
                </a:rPr>
                <a:t>1)  Generative Trajectory</a:t>
              </a:r>
            </a:p>
          </p:txBody>
        </p:sp>
        <p:sp>
          <p:nvSpPr>
            <p:cNvPr id="57" name="01: title line 2"/>
            <p:cNvSpPr txBox="1"/>
            <p:nvPr/>
          </p:nvSpPr>
          <p:spPr>
            <a:xfrm>
              <a:off x="373380" y="4236720"/>
              <a:ext cx="4953000" cy="441960"/>
            </a:xfrm>
            <a:prstGeom prst="rect">
              <a:avLst/>
            </a:prstGeom>
            <a:noFill/>
          </p:spPr>
          <p:txBody>
            <a:bodyPr wrap="none" lIns="0" rIns="0" tIns="0" bIns="0" anchor="t">
              <a:noAutofit/>
            </a:bodyPr>
            <a:lstStyle/>
            <a:p>
              <a:pPr algn="ctr">
                <a:lnSpc>
                  <a:spcPct val="100000"/>
                </a:lnSpc>
                <a:spcBef>
                  <a:spcPts val="0"/>
                </a:spcBef>
                <a:spcAft>
                  <a:spcPts val="0"/>
                </a:spcAft>
              </a:pPr>
              <a:r>
                <a:rPr sz="2640" b="1">
                  <a:solidFill>
                    <a:srgbClr val="1C2941"/>
                  </a:solidFill>
                  <a:latin typeface="Arial"/>
                </a:rPr>
                <a:t>Representation</a:t>
              </a:r>
            </a:p>
          </p:txBody>
        </p:sp>
      </p:grpSp>
      <p:grpSp>
        <p:nvGrpSpPr>
          <p:cNvPr id="58" name="02 — Trajectory Consistency Evolution"/>
          <p:cNvGrpSpPr/>
          <p:nvPr/>
        </p:nvGrpSpPr>
        <p:grpSpPr>
          <a:xfrm>
            <a:off x="5212080" y="571500"/>
            <a:ext cx="5181600" cy="4137660"/>
            <a:chOff x="5212080" y="571500"/>
            <a:chExt cx="5181600" cy="4137660"/>
          </a:xfrm>
        </p:grpSpPr>
        <p:grpSp>
          <p:nvGrpSpPr>
            <p:cNvPr id="59" name="02: pale violet light"/>
            <p:cNvGrpSpPr/>
            <p:nvPr/>
          </p:nvGrpSpPr>
          <p:grpSpPr>
            <a:xfrm>
              <a:off x="5478780" y="571500"/>
              <a:ext cx="4648200" cy="3048000"/>
              <a:chOff x="5478780" y="571500"/>
              <a:chExt cx="4648200" cy="3048000"/>
            </a:xfrm>
          </p:grpSpPr>
          <p:sp>
            <p:nvSpPr>
              <p:cNvPr id="60" name="02: pale violet light: halo 01"/>
              <p:cNvSpPr/>
              <p:nvPr/>
            </p:nvSpPr>
            <p:spPr>
              <a:xfrm>
                <a:off x="5478780" y="571500"/>
                <a:ext cx="4648200" cy="3048000"/>
              </a:xfrm>
              <a:prstGeom prst="ellipse">
                <a:avLst/>
              </a:prstGeom>
              <a:solidFill>
                <a:srgbClr val="9DA8FA">
                  <a:alpha val="6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02: pale violet light: halo 02"/>
              <p:cNvSpPr/>
              <p:nvPr/>
            </p:nvSpPr>
            <p:spPr>
              <a:xfrm>
                <a:off x="5563029" y="626745"/>
                <a:ext cx="4479703" cy="2937510"/>
              </a:xfrm>
              <a:prstGeom prst="ellipse">
                <a:avLst/>
              </a:prstGeom>
              <a:solidFill>
                <a:srgbClr val="9DA8FA">
                  <a:alpha val="6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02: pale violet light: halo 03"/>
              <p:cNvSpPr/>
              <p:nvPr/>
            </p:nvSpPr>
            <p:spPr>
              <a:xfrm>
                <a:off x="5647277" y="681990"/>
                <a:ext cx="4311206" cy="2827020"/>
              </a:xfrm>
              <a:prstGeom prst="ellipse">
                <a:avLst/>
              </a:prstGeom>
              <a:solidFill>
                <a:srgbClr val="9DA8FA">
                  <a:alpha val="6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02: pale violet light: halo 04"/>
              <p:cNvSpPr/>
              <p:nvPr/>
            </p:nvSpPr>
            <p:spPr>
              <a:xfrm>
                <a:off x="5731526" y="737235"/>
                <a:ext cx="4142708" cy="2716530"/>
              </a:xfrm>
              <a:prstGeom prst="ellipse">
                <a:avLst/>
              </a:prstGeom>
              <a:solidFill>
                <a:srgbClr val="9DA8FA">
                  <a:alpha val="6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02: pale violet light: halo 05"/>
              <p:cNvSpPr/>
              <p:nvPr/>
            </p:nvSpPr>
            <p:spPr>
              <a:xfrm>
                <a:off x="5815774" y="792480"/>
                <a:ext cx="3974211" cy="2606040"/>
              </a:xfrm>
              <a:prstGeom prst="ellipse">
                <a:avLst/>
              </a:prstGeom>
              <a:solidFill>
                <a:srgbClr val="9DA8FA">
                  <a:alpha val="6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02: pale violet light: halo 06"/>
              <p:cNvSpPr/>
              <p:nvPr/>
            </p:nvSpPr>
            <p:spPr>
              <a:xfrm>
                <a:off x="5900023" y="847725"/>
                <a:ext cx="3805714" cy="2495550"/>
              </a:xfrm>
              <a:prstGeom prst="ellipse">
                <a:avLst/>
              </a:prstGeom>
              <a:solidFill>
                <a:srgbClr val="9DA8FA">
                  <a:alpha val="6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02: pale violet light: halo 07"/>
              <p:cNvSpPr/>
              <p:nvPr/>
            </p:nvSpPr>
            <p:spPr>
              <a:xfrm>
                <a:off x="5984272" y="902970"/>
                <a:ext cx="3637216" cy="2385060"/>
              </a:xfrm>
              <a:prstGeom prst="ellipse">
                <a:avLst/>
              </a:prstGeom>
              <a:solidFill>
                <a:srgbClr val="9DA8FA">
                  <a:alpha val="6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02: pale violet light: halo 08"/>
              <p:cNvSpPr/>
              <p:nvPr/>
            </p:nvSpPr>
            <p:spPr>
              <a:xfrm>
                <a:off x="6068520" y="958215"/>
                <a:ext cx="3468719" cy="2274570"/>
              </a:xfrm>
              <a:prstGeom prst="ellipse">
                <a:avLst/>
              </a:prstGeom>
              <a:solidFill>
                <a:srgbClr val="9DA8FA">
                  <a:alpha val="6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02: pale violet light: halo 09"/>
              <p:cNvSpPr/>
              <p:nvPr/>
            </p:nvSpPr>
            <p:spPr>
              <a:xfrm>
                <a:off x="6152769" y="1013460"/>
                <a:ext cx="3300222" cy="2164080"/>
              </a:xfrm>
              <a:prstGeom prst="ellipse">
                <a:avLst/>
              </a:prstGeom>
              <a:solidFill>
                <a:srgbClr val="9DA8FA">
                  <a:alpha val="6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02: pale violet light: halo 10"/>
              <p:cNvSpPr/>
              <p:nvPr/>
            </p:nvSpPr>
            <p:spPr>
              <a:xfrm>
                <a:off x="6237018" y="1068705"/>
                <a:ext cx="3131725" cy="2053590"/>
              </a:xfrm>
              <a:prstGeom prst="ellipse">
                <a:avLst/>
              </a:prstGeom>
              <a:solidFill>
                <a:srgbClr val="9DA8FA">
                  <a:alpha val="6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02: pale violet light: halo 11"/>
              <p:cNvSpPr/>
              <p:nvPr/>
            </p:nvSpPr>
            <p:spPr>
              <a:xfrm>
                <a:off x="6321266" y="1123950"/>
                <a:ext cx="2963228" cy="1943100"/>
              </a:xfrm>
              <a:prstGeom prst="ellipse">
                <a:avLst/>
              </a:prstGeom>
              <a:solidFill>
                <a:srgbClr val="9DA8FA">
                  <a:alpha val="6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02: pale violet light: halo 12"/>
              <p:cNvSpPr/>
              <p:nvPr/>
            </p:nvSpPr>
            <p:spPr>
              <a:xfrm>
                <a:off x="6405515" y="1179195"/>
                <a:ext cx="2794730" cy="1832610"/>
              </a:xfrm>
              <a:prstGeom prst="ellipse">
                <a:avLst/>
              </a:prstGeom>
              <a:solidFill>
                <a:srgbClr val="9DA8FA">
                  <a:alpha val="6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02: pale violet light: halo 13"/>
              <p:cNvSpPr/>
              <p:nvPr/>
            </p:nvSpPr>
            <p:spPr>
              <a:xfrm>
                <a:off x="6489764" y="1234440"/>
                <a:ext cx="2626233" cy="1722120"/>
              </a:xfrm>
              <a:prstGeom prst="ellipse">
                <a:avLst/>
              </a:prstGeom>
              <a:solidFill>
                <a:srgbClr val="9DA8FA">
                  <a:alpha val="6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02: pale violet light: halo 14"/>
              <p:cNvSpPr/>
              <p:nvPr/>
            </p:nvSpPr>
            <p:spPr>
              <a:xfrm>
                <a:off x="6574012" y="1289685"/>
                <a:ext cx="2457736" cy="1611630"/>
              </a:xfrm>
              <a:prstGeom prst="ellipse">
                <a:avLst/>
              </a:prstGeom>
              <a:solidFill>
                <a:srgbClr val="9DA8FA">
                  <a:alpha val="6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02: pale violet light: halo 15"/>
              <p:cNvSpPr/>
              <p:nvPr/>
            </p:nvSpPr>
            <p:spPr>
              <a:xfrm>
                <a:off x="6658261" y="1344930"/>
                <a:ext cx="2289238" cy="1501140"/>
              </a:xfrm>
              <a:prstGeom prst="ellipse">
                <a:avLst/>
              </a:prstGeom>
              <a:solidFill>
                <a:srgbClr val="9DA8FA">
                  <a:alpha val="6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02: pale violet light: halo 16"/>
              <p:cNvSpPr/>
              <p:nvPr/>
            </p:nvSpPr>
            <p:spPr>
              <a:xfrm>
                <a:off x="6742509" y="1400175"/>
                <a:ext cx="2120741" cy="1390650"/>
              </a:xfrm>
              <a:prstGeom prst="ellipse">
                <a:avLst/>
              </a:prstGeom>
              <a:solidFill>
                <a:srgbClr val="9DA8FA">
                  <a:alpha val="6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76" name="02: cycle arrows"/>
            <p:cNvGrpSpPr/>
            <p:nvPr/>
          </p:nvGrpSpPr>
          <p:grpSpPr>
            <a:xfrm>
              <a:off x="6423660" y="731520"/>
              <a:ext cx="2720340" cy="2712720"/>
              <a:chOff x="6423660" y="731520"/>
              <a:chExt cx="2720340" cy="2712720"/>
            </a:xfrm>
          </p:grpSpPr>
          <p:sp>
            <p:nvSpPr>
              <p:cNvPr id="77" name="Upper cycle ribbon: left to right"/>
              <p:cNvSpPr/>
              <p:nvPr/>
            </p:nvSpPr>
            <p:spPr>
              <a:xfrm>
                <a:off x="6423660" y="731520"/>
                <a:ext cx="2720340" cy="693420"/>
              </a:xfrm>
              <a:custGeom>
                <a:avLst/>
                <a:gdLst/>
                <a:ahLst/>
                <a:cxnLst/>
                <a:rect l="0" t="0" r="r" b="b"/>
                <a:pathLst>
                  <a:path w="2720340" h="693420">
                    <a:moveTo>
                      <a:pt x="45720" y="579120"/>
                    </a:moveTo>
                    <a:cubicBezTo>
                      <a:pt x="739140" y="53340"/>
                      <a:pt x="1882140" y="0"/>
                      <a:pt x="2583180" y="426720"/>
                    </a:cubicBezTo>
                    <a:lnTo>
                      <a:pt x="2621280" y="373380"/>
                    </a:lnTo>
                    <a:cubicBezTo>
                      <a:pt x="2636520" y="358140"/>
                      <a:pt x="2651760" y="381000"/>
                      <a:pt x="2659380" y="403860"/>
                    </a:cubicBezTo>
                    <a:lnTo>
                      <a:pt x="2712720" y="624840"/>
                    </a:lnTo>
                    <a:cubicBezTo>
                      <a:pt x="2720340" y="647700"/>
                      <a:pt x="2705100" y="662940"/>
                      <a:pt x="2682240" y="655320"/>
                    </a:cubicBezTo>
                    <a:lnTo>
                      <a:pt x="2430780" y="609600"/>
                    </a:lnTo>
                    <a:cubicBezTo>
                      <a:pt x="2400300" y="601980"/>
                      <a:pt x="2385060" y="586740"/>
                      <a:pt x="2407920" y="563880"/>
                    </a:cubicBezTo>
                    <a:lnTo>
                      <a:pt x="2476500" y="502920"/>
                    </a:lnTo>
                    <a:cubicBezTo>
                      <a:pt x="1798320" y="114300"/>
                      <a:pt x="784860" y="190500"/>
                      <a:pt x="106680" y="647700"/>
                    </a:cubicBezTo>
                    <a:cubicBezTo>
                      <a:pt x="53340" y="693420"/>
                      <a:pt x="0" y="640080"/>
                      <a:pt x="45720" y="579120"/>
                    </a:cubicBezTo>
                    <a:close/>
                  </a:path>
                </a:pathLst>
              </a:custGeom>
              <a:gradFill rotWithShape="1">
                <a:gsLst>
                  <a:gs pos="0">
                    <a:srgbClr val="8AC4FA"/>
                  </a:gs>
                  <a:gs pos="28000">
                    <a:srgbClr val="438FFC"/>
                  </a:gs>
                  <a:gs pos="100000">
                    <a:srgbClr val="8D66DF"/>
                  </a:gs>
                </a:gsLst>
                <a:lin ang="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Lower cycle ribbon: right to left"/>
              <p:cNvSpPr/>
              <p:nvPr/>
            </p:nvSpPr>
            <p:spPr>
              <a:xfrm>
                <a:off x="6454140" y="2735580"/>
                <a:ext cx="2682240" cy="708660"/>
              </a:xfrm>
              <a:custGeom>
                <a:avLst/>
                <a:gdLst/>
                <a:ahLst/>
                <a:cxnLst/>
                <a:rect l="0" t="0" r="r" b="b"/>
                <a:pathLst>
                  <a:path w="2682240" h="708660">
                    <a:moveTo>
                      <a:pt x="2567940" y="45720"/>
                    </a:moveTo>
                    <a:cubicBezTo>
                      <a:pt x="2628900" y="0"/>
                      <a:pt x="2682240" y="68580"/>
                      <a:pt x="2636520" y="121920"/>
                    </a:cubicBezTo>
                    <a:cubicBezTo>
                      <a:pt x="2004060" y="701040"/>
                      <a:pt x="838200" y="708660"/>
                      <a:pt x="175260" y="266700"/>
                    </a:cubicBezTo>
                    <a:lnTo>
                      <a:pt x="129540" y="327660"/>
                    </a:lnTo>
                    <a:cubicBezTo>
                      <a:pt x="114300" y="350520"/>
                      <a:pt x="91440" y="335280"/>
                      <a:pt x="83820" y="312420"/>
                    </a:cubicBezTo>
                    <a:lnTo>
                      <a:pt x="7620" y="91440"/>
                    </a:lnTo>
                    <a:cubicBezTo>
                      <a:pt x="0" y="60960"/>
                      <a:pt x="15240" y="38100"/>
                      <a:pt x="45720" y="45720"/>
                    </a:cubicBezTo>
                    <a:lnTo>
                      <a:pt x="289560" y="91440"/>
                    </a:lnTo>
                    <a:cubicBezTo>
                      <a:pt x="320040" y="99060"/>
                      <a:pt x="327660" y="121920"/>
                      <a:pt x="304800" y="137160"/>
                    </a:cubicBezTo>
                    <a:lnTo>
                      <a:pt x="251460" y="182880"/>
                    </a:lnTo>
                    <a:cubicBezTo>
                      <a:pt x="899160" y="601980"/>
                      <a:pt x="1996440" y="533400"/>
                      <a:pt x="2567940" y="45720"/>
                    </a:cubicBezTo>
                    <a:close/>
                  </a:path>
                </a:pathLst>
              </a:custGeom>
              <a:gradFill rotWithShape="1">
                <a:gsLst>
                  <a:gs pos="0">
                    <a:srgbClr val="8C67E0"/>
                  </a:gs>
                  <a:gs pos="75000">
                    <a:srgbClr val="4E90F9"/>
                  </a:gs>
                  <a:gs pos="100000">
                    <a:srgbClr val="A5CBF9"/>
                  </a:gs>
                </a:gsLst>
                <a:lin ang="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79" name="02: left image card"/>
            <p:cNvGrpSpPr/>
            <p:nvPr/>
          </p:nvGrpSpPr>
          <p:grpSpPr>
            <a:xfrm>
              <a:off x="5745480" y="1455420"/>
              <a:ext cx="1021080" cy="1219200"/>
              <a:chOff x="5745480" y="1455420"/>
              <a:chExt cx="1021080" cy="1219200"/>
            </a:xfrm>
          </p:grpSpPr>
          <p:sp>
            <p:nvSpPr>
              <p:cNvPr id="80" name="Image frame"/>
              <p:cNvSpPr/>
              <p:nvPr/>
            </p:nvSpPr>
            <p:spPr>
              <a:xfrm>
                <a:off x="5745480" y="1455420"/>
                <a:ext cx="1021080" cy="1219200"/>
              </a:xfrm>
              <a:custGeom>
                <a:avLst/>
                <a:gdLst/>
                <a:ahLst/>
                <a:cxnLst/>
                <a:rect l="0" t="0" r="r" b="b"/>
                <a:pathLst>
                  <a:path w="1021080" h="1219200">
                    <a:moveTo>
                      <a:pt x="0" y="42672"/>
                    </a:moveTo>
                    <a:cubicBezTo>
                      <a:pt x="0" y="0"/>
                      <a:pt x="0" y="0"/>
                      <a:pt x="35738" y="5601"/>
                    </a:cubicBezTo>
                    <a:lnTo>
                      <a:pt x="985342" y="154419"/>
                    </a:lnTo>
                    <a:cubicBezTo>
                      <a:pt x="1021080" y="160020"/>
                      <a:pt x="1021080" y="160020"/>
                      <a:pt x="1021080" y="192557"/>
                    </a:cubicBezTo>
                    <a:lnTo>
                      <a:pt x="1021080" y="1057123"/>
                    </a:lnTo>
                    <a:cubicBezTo>
                      <a:pt x="1021080" y="1089660"/>
                      <a:pt x="1021080" y="1089660"/>
                      <a:pt x="985342" y="1094194"/>
                    </a:cubicBezTo>
                    <a:lnTo>
                      <a:pt x="35738" y="1214666"/>
                    </a:lnTo>
                    <a:cubicBezTo>
                      <a:pt x="0" y="1219200"/>
                      <a:pt x="0" y="1219200"/>
                      <a:pt x="0" y="1176528"/>
                    </a:cubicBezTo>
                    <a:close/>
                  </a:path>
                </a:pathLst>
              </a:custGeom>
              <a:gradFill rotWithShape="1">
                <a:gsLst>
                  <a:gs pos="0">
                    <a:srgbClr val="DCEBFF"/>
                  </a:gs>
                  <a:gs pos="100000">
                    <a:srgbClr val="BCD7FE"/>
                  </a:gs>
                </a:gsLst>
                <a:lin ang="4200000" scaled="1"/>
              </a:gradFill>
              <a:ln w="53340" cap="rnd">
                <a:solidFill>
                  <a:srgbClr val="5697F3"/>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left landscape: mountains"/>
              <p:cNvSpPr/>
              <p:nvPr/>
            </p:nvSpPr>
            <p:spPr>
              <a:xfrm>
                <a:off x="5822061" y="1922263"/>
                <a:ext cx="852602" cy="515120"/>
              </a:xfrm>
              <a:custGeom>
                <a:avLst/>
                <a:gdLst/>
                <a:ahLst/>
                <a:cxnLst/>
                <a:rect l="0" t="0" r="r" b="b"/>
                <a:pathLst>
                  <a:path w="852602" h="515120">
                    <a:moveTo>
                      <a:pt x="0" y="515120"/>
                    </a:moveTo>
                    <a:lnTo>
                      <a:pt x="229743" y="17111"/>
                    </a:lnTo>
                    <a:lnTo>
                      <a:pt x="270586" y="0"/>
                    </a:lnTo>
                    <a:lnTo>
                      <a:pt x="311429" y="37632"/>
                    </a:lnTo>
                    <a:lnTo>
                      <a:pt x="490118" y="341745"/>
                    </a:lnTo>
                    <a:lnTo>
                      <a:pt x="571805" y="188671"/>
                    </a:lnTo>
                    <a:lnTo>
                      <a:pt x="612648" y="173519"/>
                    </a:lnTo>
                    <a:lnTo>
                      <a:pt x="646344" y="204257"/>
                    </a:lnTo>
                    <a:lnTo>
                      <a:pt x="852602" y="443336"/>
                    </a:lnTo>
                    <a:close/>
                  </a:path>
                </a:pathLst>
              </a:custGeom>
              <a:gradFill rotWithShape="1">
                <a:gsLst>
                  <a:gs pos="0">
                    <a:srgbClr val="89BDFA">
                      <a:alpha val="95000"/>
                    </a:srgbClr>
                  </a:gs>
                  <a:gs pos="100000">
                    <a:srgbClr val="66A1F5">
                      <a:alpha val="95000"/>
                    </a:srgbClr>
                  </a:gs>
                </a:gsLst>
                <a:lin ang="33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left landscape: sun"/>
              <p:cNvSpPr/>
              <p:nvPr/>
            </p:nvSpPr>
            <p:spPr>
              <a:xfrm>
                <a:off x="6410858" y="1779454"/>
                <a:ext cx="160020" cy="176022"/>
              </a:xfrm>
              <a:prstGeom prst="ellipse">
                <a:avLst/>
              </a:prstGeom>
              <a:gradFill rotWithShape="1">
                <a:gsLst>
                  <a:gs pos="0">
                    <a:srgbClr val="9DCBFE">
                      <a:alpha val="95000"/>
                    </a:srgbClr>
                  </a:gs>
                  <a:gs pos="100000">
                    <a:srgbClr val="66A1F5">
                      <a:alpha val="95000"/>
                    </a:srgbClr>
                  </a:gs>
                </a:gsLst>
                <a:lin ang="39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83" name="02: middle image card"/>
            <p:cNvGrpSpPr/>
            <p:nvPr/>
          </p:nvGrpSpPr>
          <p:grpSpPr>
            <a:xfrm>
              <a:off x="7269480" y="1584960"/>
              <a:ext cx="1021080" cy="990600"/>
              <a:chOff x="7269480" y="1584960"/>
              <a:chExt cx="1021080" cy="990600"/>
            </a:xfrm>
          </p:grpSpPr>
          <p:sp>
            <p:nvSpPr>
              <p:cNvPr id="84" name="Image frame"/>
              <p:cNvSpPr/>
              <p:nvPr/>
            </p:nvSpPr>
            <p:spPr>
              <a:xfrm>
                <a:off x="7269480" y="1584960"/>
                <a:ext cx="1021080" cy="990600"/>
              </a:xfrm>
              <a:custGeom>
                <a:avLst/>
                <a:gdLst/>
                <a:ahLst/>
                <a:cxnLst/>
                <a:rect l="0" t="0" r="r" b="b"/>
                <a:pathLst>
                  <a:path w="1021080" h="990600">
                    <a:moveTo>
                      <a:pt x="0" y="34671"/>
                    </a:moveTo>
                    <a:cubicBezTo>
                      <a:pt x="0" y="0"/>
                      <a:pt x="0" y="0"/>
                      <a:pt x="35738" y="1334"/>
                    </a:cubicBezTo>
                    <a:lnTo>
                      <a:pt x="985342" y="36766"/>
                    </a:lnTo>
                    <a:cubicBezTo>
                      <a:pt x="1021080" y="38100"/>
                      <a:pt x="1021080" y="38100"/>
                      <a:pt x="1021080" y="70371"/>
                    </a:cubicBezTo>
                    <a:lnTo>
                      <a:pt x="1021080" y="927849"/>
                    </a:lnTo>
                    <a:cubicBezTo>
                      <a:pt x="1021080" y="960120"/>
                      <a:pt x="1021080" y="960120"/>
                      <a:pt x="985342" y="961187"/>
                    </a:cubicBezTo>
                    <a:lnTo>
                      <a:pt x="35738" y="989533"/>
                    </a:lnTo>
                    <a:cubicBezTo>
                      <a:pt x="0" y="990600"/>
                      <a:pt x="0" y="990600"/>
                      <a:pt x="0" y="955929"/>
                    </a:cubicBezTo>
                    <a:close/>
                  </a:path>
                </a:pathLst>
              </a:custGeom>
              <a:gradFill rotWithShape="1">
                <a:gsLst>
                  <a:gs pos="0">
                    <a:srgbClr val="DCEBFF"/>
                  </a:gs>
                  <a:gs pos="100000">
                    <a:srgbClr val="BCD7FE"/>
                  </a:gs>
                </a:gsLst>
                <a:lin ang="4200000" scaled="1"/>
              </a:gradFill>
              <a:ln w="53340" cap="rnd">
                <a:solidFill>
                  <a:srgbClr val="7B71E9"/>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middle landscape: mountains"/>
              <p:cNvSpPr/>
              <p:nvPr/>
            </p:nvSpPr>
            <p:spPr>
              <a:xfrm>
                <a:off x="7346061" y="1953874"/>
                <a:ext cx="852602" cy="432163"/>
              </a:xfrm>
              <a:custGeom>
                <a:avLst/>
                <a:gdLst/>
                <a:ahLst/>
                <a:cxnLst/>
                <a:rect l="0" t="0" r="r" b="b"/>
                <a:pathLst>
                  <a:path w="852602" h="432163">
                    <a:moveTo>
                      <a:pt x="0" y="432163"/>
                    </a:moveTo>
                    <a:lnTo>
                      <a:pt x="229743" y="15976"/>
                    </a:lnTo>
                    <a:lnTo>
                      <a:pt x="270586" y="0"/>
                    </a:lnTo>
                    <a:lnTo>
                      <a:pt x="311429" y="31380"/>
                    </a:lnTo>
                    <a:lnTo>
                      <a:pt x="490118" y="299957"/>
                    </a:lnTo>
                    <a:lnTo>
                      <a:pt x="571805" y="161952"/>
                    </a:lnTo>
                    <a:lnTo>
                      <a:pt x="612648" y="147844"/>
                    </a:lnTo>
                    <a:lnTo>
                      <a:pt x="646344" y="176186"/>
                    </a:lnTo>
                    <a:lnTo>
                      <a:pt x="852602" y="408311"/>
                    </a:lnTo>
                    <a:close/>
                  </a:path>
                </a:pathLst>
              </a:custGeom>
              <a:gradFill rotWithShape="1">
                <a:gsLst>
                  <a:gs pos="0">
                    <a:srgbClr val="89BDFA">
                      <a:alpha val="95000"/>
                    </a:srgbClr>
                  </a:gs>
                  <a:gs pos="100000">
                    <a:srgbClr val="7675EA">
                      <a:alpha val="95000"/>
                    </a:srgbClr>
                  </a:gs>
                </a:gsLst>
                <a:lin ang="33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middle landscape: sun"/>
              <p:cNvSpPr/>
              <p:nvPr/>
            </p:nvSpPr>
            <p:spPr>
              <a:xfrm>
                <a:off x="7934858" y="1800816"/>
                <a:ext cx="160020" cy="176022"/>
              </a:xfrm>
              <a:prstGeom prst="ellipse">
                <a:avLst/>
              </a:prstGeom>
              <a:gradFill rotWithShape="1">
                <a:gsLst>
                  <a:gs pos="0">
                    <a:srgbClr val="9DCBFE">
                      <a:alpha val="95000"/>
                    </a:srgbClr>
                  </a:gs>
                  <a:gs pos="100000">
                    <a:srgbClr val="7675EA">
                      <a:alpha val="95000"/>
                    </a:srgbClr>
                  </a:gs>
                </a:gsLst>
                <a:lin ang="39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87" name="02: right image card"/>
            <p:cNvGrpSpPr/>
            <p:nvPr/>
          </p:nvGrpSpPr>
          <p:grpSpPr>
            <a:xfrm>
              <a:off x="8816340" y="1455420"/>
              <a:ext cx="1036320" cy="1219200"/>
              <a:chOff x="8816340" y="1455420"/>
              <a:chExt cx="1036320" cy="1219200"/>
            </a:xfrm>
          </p:grpSpPr>
          <p:sp>
            <p:nvSpPr>
              <p:cNvPr id="88" name="Image frame"/>
              <p:cNvSpPr/>
              <p:nvPr/>
            </p:nvSpPr>
            <p:spPr>
              <a:xfrm>
                <a:off x="8816340" y="1455420"/>
                <a:ext cx="1036320" cy="1219200"/>
              </a:xfrm>
              <a:custGeom>
                <a:avLst/>
                <a:gdLst/>
                <a:ahLst/>
                <a:cxnLst/>
                <a:rect l="0" t="0" r="r" b="b"/>
                <a:pathLst>
                  <a:path w="1036320" h="1219200">
                    <a:moveTo>
                      <a:pt x="0" y="192557"/>
                    </a:moveTo>
                    <a:cubicBezTo>
                      <a:pt x="0" y="160020"/>
                      <a:pt x="0" y="160020"/>
                      <a:pt x="36271" y="154419"/>
                    </a:cubicBezTo>
                    <a:lnTo>
                      <a:pt x="1000049" y="5601"/>
                    </a:lnTo>
                    <a:cubicBezTo>
                      <a:pt x="1036320" y="0"/>
                      <a:pt x="1036320" y="0"/>
                      <a:pt x="1036320" y="42672"/>
                    </a:cubicBezTo>
                    <a:lnTo>
                      <a:pt x="1036320" y="1176528"/>
                    </a:lnTo>
                    <a:cubicBezTo>
                      <a:pt x="1036320" y="1219200"/>
                      <a:pt x="1036320" y="1219200"/>
                      <a:pt x="1000049" y="1214666"/>
                    </a:cubicBezTo>
                    <a:lnTo>
                      <a:pt x="36271" y="1094194"/>
                    </a:lnTo>
                    <a:cubicBezTo>
                      <a:pt x="0" y="1089660"/>
                      <a:pt x="0" y="1089660"/>
                      <a:pt x="0" y="1057123"/>
                    </a:cubicBezTo>
                    <a:close/>
                  </a:path>
                </a:pathLst>
              </a:custGeom>
              <a:gradFill rotWithShape="1">
                <a:gsLst>
                  <a:gs pos="0">
                    <a:srgbClr val="DCEBFF"/>
                  </a:gs>
                  <a:gs pos="100000">
                    <a:srgbClr val="BCD7FE"/>
                  </a:gs>
                </a:gsLst>
                <a:lin ang="4200000" scaled="1"/>
              </a:gradFill>
              <a:ln w="53340" cap="rnd">
                <a:solidFill>
                  <a:srgbClr val="757AEB"/>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right landscape: mountains"/>
              <p:cNvSpPr/>
              <p:nvPr/>
            </p:nvSpPr>
            <p:spPr>
              <a:xfrm>
                <a:off x="8894064" y="1939370"/>
                <a:ext cx="865327" cy="484963"/>
              </a:xfrm>
              <a:custGeom>
                <a:avLst/>
                <a:gdLst/>
                <a:ahLst/>
                <a:cxnLst/>
                <a:rect l="0" t="0" r="r" b="b"/>
                <a:pathLst>
                  <a:path w="865327" h="484963">
                    <a:moveTo>
                      <a:pt x="0" y="434667"/>
                    </a:moveTo>
                    <a:lnTo>
                      <a:pt x="233172" y="19419"/>
                    </a:lnTo>
                    <a:lnTo>
                      <a:pt x="274625" y="0"/>
                    </a:lnTo>
                    <a:lnTo>
                      <a:pt x="316078" y="31131"/>
                    </a:lnTo>
                    <a:lnTo>
                      <a:pt x="497434" y="328694"/>
                    </a:lnTo>
                    <a:lnTo>
                      <a:pt x="580339" y="170185"/>
                    </a:lnTo>
                    <a:lnTo>
                      <a:pt x="621792" y="153104"/>
                    </a:lnTo>
                    <a:lnTo>
                      <a:pt x="655991" y="186832"/>
                    </a:lnTo>
                    <a:lnTo>
                      <a:pt x="865327" y="484963"/>
                    </a:lnTo>
                    <a:close/>
                  </a:path>
                </a:pathLst>
              </a:custGeom>
              <a:gradFill rotWithShape="1">
                <a:gsLst>
                  <a:gs pos="0">
                    <a:srgbClr val="89BDFA">
                      <a:alpha val="95000"/>
                    </a:srgbClr>
                  </a:gs>
                  <a:gs pos="100000">
                    <a:srgbClr val="6195EF">
                      <a:alpha val="95000"/>
                    </a:srgbClr>
                  </a:gs>
                </a:gsLst>
                <a:lin ang="33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right landscape: sun"/>
              <p:cNvSpPr/>
              <p:nvPr/>
            </p:nvSpPr>
            <p:spPr>
              <a:xfrm>
                <a:off x="9492844" y="1743806"/>
                <a:ext cx="160020" cy="176022"/>
              </a:xfrm>
              <a:prstGeom prst="ellipse">
                <a:avLst/>
              </a:prstGeom>
              <a:gradFill rotWithShape="1">
                <a:gsLst>
                  <a:gs pos="0">
                    <a:srgbClr val="9DCBFE">
                      <a:alpha val="95000"/>
                    </a:srgbClr>
                  </a:gs>
                  <a:gs pos="100000">
                    <a:srgbClr val="6195EF">
                      <a:alpha val="95000"/>
                    </a:srgbClr>
                  </a:gs>
                </a:gsLst>
                <a:lin ang="39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91" name="02: adjacent consistency link 1"/>
            <p:cNvSpPr/>
            <p:nvPr/>
          </p:nvSpPr>
          <p:spPr>
            <a:xfrm>
              <a:off x="6850380" y="1996440"/>
              <a:ext cx="335280" cy="190500"/>
            </a:xfrm>
            <a:prstGeom prst="leftRightArrow">
              <a:avLst>
                <a:gd name="adj1" fmla="val 42000"/>
                <a:gd name="adj2" fmla="val 52000"/>
              </a:avLst>
            </a:prstGeom>
            <a:gradFill rotWithShape="1">
              <a:gsLst>
                <a:gs pos="0">
                  <a:srgbClr val="A0A6F1"/>
                </a:gs>
                <a:gs pos="100000">
                  <a:srgbClr val="9184E8"/>
                </a:gs>
              </a:gsLst>
              <a:lin ang="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02: adjacent consistency link 2"/>
            <p:cNvSpPr/>
            <p:nvPr/>
          </p:nvSpPr>
          <p:spPr>
            <a:xfrm>
              <a:off x="8389620" y="1996440"/>
              <a:ext cx="335280" cy="190500"/>
            </a:xfrm>
            <a:prstGeom prst="leftRightArrow">
              <a:avLst>
                <a:gd name="adj1" fmla="val 42000"/>
                <a:gd name="adj2" fmla="val 52000"/>
              </a:avLst>
            </a:prstGeom>
            <a:gradFill rotWithShape="1">
              <a:gsLst>
                <a:gs pos="0">
                  <a:srgbClr val="A0A6F1"/>
                </a:gs>
                <a:gs pos="100000">
                  <a:srgbClr val="9184E8"/>
                </a:gs>
              </a:gsLst>
              <a:lin ang="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02: title line 1"/>
            <p:cNvSpPr txBox="1"/>
            <p:nvPr/>
          </p:nvSpPr>
          <p:spPr>
            <a:xfrm>
              <a:off x="5212080" y="3817620"/>
              <a:ext cx="5181600" cy="441960"/>
            </a:xfrm>
            <a:prstGeom prst="rect">
              <a:avLst/>
            </a:prstGeom>
            <a:noFill/>
          </p:spPr>
          <p:txBody>
            <a:bodyPr wrap="none" lIns="0" rIns="0" tIns="0" bIns="0" anchor="t">
              <a:noAutofit/>
            </a:bodyPr>
            <a:lstStyle/>
            <a:p>
              <a:pPr algn="ctr">
                <a:lnSpc>
                  <a:spcPct val="100000"/>
                </a:lnSpc>
                <a:spcBef>
                  <a:spcPts val="0"/>
                </a:spcBef>
                <a:spcAft>
                  <a:spcPts val="0"/>
                </a:spcAft>
              </a:pPr>
              <a:r>
                <a:rPr sz="2640" b="1">
                  <a:solidFill>
                    <a:srgbClr val="1C2941"/>
                  </a:solidFill>
                  <a:latin typeface="Arial"/>
                </a:rPr>
                <a:t>2)  Trajectory Consistency</a:t>
              </a:r>
            </a:p>
          </p:txBody>
        </p:sp>
        <p:sp>
          <p:nvSpPr>
            <p:cNvPr id="94" name="02: title line 2"/>
            <p:cNvSpPr txBox="1"/>
            <p:nvPr/>
          </p:nvSpPr>
          <p:spPr>
            <a:xfrm>
              <a:off x="5547360" y="4267200"/>
              <a:ext cx="4572000" cy="441960"/>
            </a:xfrm>
            <a:prstGeom prst="rect">
              <a:avLst/>
            </a:prstGeom>
            <a:noFill/>
          </p:spPr>
          <p:txBody>
            <a:bodyPr wrap="none" lIns="0" rIns="0" tIns="0" bIns="0" anchor="t">
              <a:noAutofit/>
            </a:bodyPr>
            <a:lstStyle/>
            <a:p>
              <a:pPr algn="ctr">
                <a:lnSpc>
                  <a:spcPct val="100000"/>
                </a:lnSpc>
                <a:spcBef>
                  <a:spcPts val="0"/>
                </a:spcBef>
                <a:spcAft>
                  <a:spcPts val="0"/>
                </a:spcAft>
              </a:pPr>
              <a:r>
                <a:rPr sz="2640" b="1">
                  <a:solidFill>
                    <a:srgbClr val="1C2941"/>
                  </a:solidFill>
                  <a:latin typeface="Arial"/>
                </a:rPr>
                <a:t>Evolution</a:t>
              </a:r>
            </a:p>
          </p:txBody>
        </p:sp>
      </p:grpSp>
      <p:grpSp>
        <p:nvGrpSpPr>
          <p:cNvPr id="95" name="03 — Real-Centered Trajectory Optimization"/>
          <p:cNvGrpSpPr/>
          <p:nvPr/>
        </p:nvGrpSpPr>
        <p:grpSpPr>
          <a:xfrm>
            <a:off x="10485120" y="487680"/>
            <a:ext cx="5021580" cy="4221480"/>
            <a:chOff x="10485120" y="487680"/>
            <a:chExt cx="5021580" cy="4221480"/>
          </a:xfrm>
        </p:grpSpPr>
        <p:grpSp>
          <p:nvGrpSpPr>
            <p:cNvPr id="96" name="03: pale target light"/>
            <p:cNvGrpSpPr/>
            <p:nvPr/>
          </p:nvGrpSpPr>
          <p:grpSpPr>
            <a:xfrm>
              <a:off x="11582400" y="807720"/>
              <a:ext cx="2651760" cy="2651760"/>
              <a:chOff x="11582400" y="807720"/>
              <a:chExt cx="2651760" cy="2651760"/>
            </a:xfrm>
          </p:grpSpPr>
          <p:sp>
            <p:nvSpPr>
              <p:cNvPr id="97" name="03: pale target light: halo 01"/>
              <p:cNvSpPr/>
              <p:nvPr/>
            </p:nvSpPr>
            <p:spPr>
              <a:xfrm>
                <a:off x="11582400" y="807720"/>
                <a:ext cx="2651760" cy="2651760"/>
              </a:xfrm>
              <a:prstGeom prst="ellipse">
                <a:avLst/>
              </a:prstGeom>
              <a:solidFill>
                <a:srgbClr val="9CBFF0">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03: pale target light: halo 02"/>
              <p:cNvSpPr/>
              <p:nvPr/>
            </p:nvSpPr>
            <p:spPr>
              <a:xfrm>
                <a:off x="11630463" y="855783"/>
                <a:ext cx="2555634" cy="2555634"/>
              </a:xfrm>
              <a:prstGeom prst="ellipse">
                <a:avLst/>
              </a:prstGeom>
              <a:solidFill>
                <a:srgbClr val="9CBFF0">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03: pale target light: halo 03"/>
              <p:cNvSpPr/>
              <p:nvPr/>
            </p:nvSpPr>
            <p:spPr>
              <a:xfrm>
                <a:off x="11678526" y="903846"/>
                <a:ext cx="2459507" cy="2459507"/>
              </a:xfrm>
              <a:prstGeom prst="ellipse">
                <a:avLst/>
              </a:prstGeom>
              <a:solidFill>
                <a:srgbClr val="9CBFF0">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03: pale target light: halo 04"/>
              <p:cNvSpPr/>
              <p:nvPr/>
            </p:nvSpPr>
            <p:spPr>
              <a:xfrm>
                <a:off x="11726589" y="951909"/>
                <a:ext cx="2363381" cy="2363381"/>
              </a:xfrm>
              <a:prstGeom prst="ellipse">
                <a:avLst/>
              </a:prstGeom>
              <a:solidFill>
                <a:srgbClr val="9CBFF0">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03: pale target light: halo 05"/>
              <p:cNvSpPr/>
              <p:nvPr/>
            </p:nvSpPr>
            <p:spPr>
              <a:xfrm>
                <a:off x="11774653" y="999973"/>
                <a:ext cx="2267255" cy="2267255"/>
              </a:xfrm>
              <a:prstGeom prst="ellipse">
                <a:avLst/>
              </a:prstGeom>
              <a:solidFill>
                <a:srgbClr val="9CBFF0">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03: pale target light: halo 06"/>
              <p:cNvSpPr/>
              <p:nvPr/>
            </p:nvSpPr>
            <p:spPr>
              <a:xfrm>
                <a:off x="11822716" y="1048036"/>
                <a:ext cx="2171128" cy="2171128"/>
              </a:xfrm>
              <a:prstGeom prst="ellipse">
                <a:avLst/>
              </a:prstGeom>
              <a:solidFill>
                <a:srgbClr val="9CBFF0">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03: pale target light: halo 07"/>
              <p:cNvSpPr/>
              <p:nvPr/>
            </p:nvSpPr>
            <p:spPr>
              <a:xfrm>
                <a:off x="11870779" y="1096099"/>
                <a:ext cx="2075002" cy="2075002"/>
              </a:xfrm>
              <a:prstGeom prst="ellipse">
                <a:avLst/>
              </a:prstGeom>
              <a:solidFill>
                <a:srgbClr val="9CBFF0">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03: pale target light: halo 08"/>
              <p:cNvSpPr/>
              <p:nvPr/>
            </p:nvSpPr>
            <p:spPr>
              <a:xfrm>
                <a:off x="11918842" y="1144162"/>
                <a:ext cx="1978876" cy="1978876"/>
              </a:xfrm>
              <a:prstGeom prst="ellipse">
                <a:avLst/>
              </a:prstGeom>
              <a:solidFill>
                <a:srgbClr val="9CBFF0">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03: pale target light: halo 09"/>
              <p:cNvSpPr/>
              <p:nvPr/>
            </p:nvSpPr>
            <p:spPr>
              <a:xfrm>
                <a:off x="11966905" y="1192225"/>
                <a:ext cx="1882750" cy="1882750"/>
              </a:xfrm>
              <a:prstGeom prst="ellipse">
                <a:avLst/>
              </a:prstGeom>
              <a:solidFill>
                <a:srgbClr val="9CBFF0">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6" name="03: pale target light: halo 10"/>
              <p:cNvSpPr/>
              <p:nvPr/>
            </p:nvSpPr>
            <p:spPr>
              <a:xfrm>
                <a:off x="12014968" y="1240288"/>
                <a:ext cx="1786623" cy="1786623"/>
              </a:xfrm>
              <a:prstGeom prst="ellipse">
                <a:avLst/>
              </a:prstGeom>
              <a:solidFill>
                <a:srgbClr val="9CBFF0">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03: pale target light: halo 11"/>
              <p:cNvSpPr/>
              <p:nvPr/>
            </p:nvSpPr>
            <p:spPr>
              <a:xfrm>
                <a:off x="12063032" y="1288352"/>
                <a:ext cx="1690497" cy="1690497"/>
              </a:xfrm>
              <a:prstGeom prst="ellipse">
                <a:avLst/>
              </a:prstGeom>
              <a:solidFill>
                <a:srgbClr val="9CBFF0">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03: pale target light: halo 12"/>
              <p:cNvSpPr/>
              <p:nvPr/>
            </p:nvSpPr>
            <p:spPr>
              <a:xfrm>
                <a:off x="12111095" y="1336415"/>
                <a:ext cx="1594371" cy="1594371"/>
              </a:xfrm>
              <a:prstGeom prst="ellipse">
                <a:avLst/>
              </a:prstGeom>
              <a:solidFill>
                <a:srgbClr val="9CBFF0">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9" name="03: pale target light: halo 13"/>
              <p:cNvSpPr/>
              <p:nvPr/>
            </p:nvSpPr>
            <p:spPr>
              <a:xfrm>
                <a:off x="12159158" y="1384478"/>
                <a:ext cx="1498244" cy="1498244"/>
              </a:xfrm>
              <a:prstGeom prst="ellipse">
                <a:avLst/>
              </a:prstGeom>
              <a:solidFill>
                <a:srgbClr val="9CBFF0">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03: pale target light: halo 14"/>
              <p:cNvSpPr/>
              <p:nvPr/>
            </p:nvSpPr>
            <p:spPr>
              <a:xfrm>
                <a:off x="12207221" y="1432541"/>
                <a:ext cx="1402118" cy="1402118"/>
              </a:xfrm>
              <a:prstGeom prst="ellipse">
                <a:avLst/>
              </a:prstGeom>
              <a:solidFill>
                <a:srgbClr val="9CBFF0">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1" name="03: pale target light: halo 15"/>
              <p:cNvSpPr/>
              <p:nvPr/>
            </p:nvSpPr>
            <p:spPr>
              <a:xfrm>
                <a:off x="12255284" y="1480604"/>
                <a:ext cx="1305992" cy="1305992"/>
              </a:xfrm>
              <a:prstGeom prst="ellipse">
                <a:avLst/>
              </a:prstGeom>
              <a:solidFill>
                <a:srgbClr val="9CBFF0">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2" name="03: pale target light: halo 16"/>
              <p:cNvSpPr/>
              <p:nvPr/>
            </p:nvSpPr>
            <p:spPr>
              <a:xfrm>
                <a:off x="12303347" y="1528667"/>
                <a:ext cx="1209866" cy="1209866"/>
              </a:xfrm>
              <a:prstGeom prst="ellipse">
                <a:avLst/>
              </a:prstGeom>
              <a:solidFill>
                <a:srgbClr val="9CBFF0">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13" name="03: eight outward coral arrows"/>
            <p:cNvGrpSpPr/>
            <p:nvPr/>
          </p:nvGrpSpPr>
          <p:grpSpPr>
            <a:xfrm>
              <a:off x="11117580" y="487680"/>
              <a:ext cx="3581400" cy="3208020"/>
              <a:chOff x="11117580" y="487680"/>
              <a:chExt cx="3581400" cy="3208020"/>
            </a:xfrm>
          </p:grpSpPr>
          <p:sp>
            <p:nvSpPr>
              <p:cNvPr id="114" name="Outward arrow 01"/>
              <p:cNvSpPr/>
              <p:nvPr/>
            </p:nvSpPr>
            <p:spPr>
              <a:xfrm>
                <a:off x="13891260" y="1965960"/>
                <a:ext cx="807720" cy="335280"/>
              </a:xfrm>
              <a:custGeom>
                <a:avLst/>
                <a:gdLst/>
                <a:ahLst/>
                <a:cxnLst/>
                <a:rect l="0" t="0" r="r" b="b"/>
                <a:pathLst>
                  <a:path w="807720" h="335280">
                    <a:moveTo>
                      <a:pt x="0" y="102870"/>
                    </a:moveTo>
                    <a:lnTo>
                      <a:pt x="548640" y="102870"/>
                    </a:lnTo>
                    <a:lnTo>
                      <a:pt x="548640" y="0"/>
                    </a:lnTo>
                    <a:lnTo>
                      <a:pt x="807720" y="167640"/>
                    </a:lnTo>
                    <a:lnTo>
                      <a:pt x="548640" y="335280"/>
                    </a:lnTo>
                    <a:lnTo>
                      <a:pt x="548640" y="232410"/>
                    </a:lnTo>
                    <a:lnTo>
                      <a:pt x="0" y="232410"/>
                    </a:lnTo>
                    <a:close/>
                  </a:path>
                </a:pathLst>
              </a:custGeom>
              <a:gradFill rotWithShape="1">
                <a:gsLst>
                  <a:gs pos="0">
                    <a:srgbClr val="FC7788">
                      <a:alpha val="12000"/>
                    </a:srgbClr>
                  </a:gs>
                  <a:gs pos="50000">
                    <a:srgbClr val="FC7788">
                      <a:alpha val="80000"/>
                    </a:srgbClr>
                  </a:gs>
                  <a:gs pos="100000">
                    <a:srgbClr val="FC7788"/>
                  </a:gs>
                </a:gsLst>
                <a:lin ang="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5" name="Outward arrow 02"/>
              <p:cNvSpPr/>
              <p:nvPr/>
            </p:nvSpPr>
            <p:spPr>
              <a:xfrm>
                <a:off x="13557553" y="2782873"/>
                <a:ext cx="638496" cy="638496"/>
              </a:xfrm>
              <a:custGeom>
                <a:avLst/>
                <a:gdLst/>
                <a:ahLst/>
                <a:cxnLst/>
                <a:rect l="0" t="0" r="r" b="b"/>
                <a:pathLst>
                  <a:path w="638496" h="638496">
                    <a:moveTo>
                      <a:pt x="91599" y="0"/>
                    </a:moveTo>
                    <a:lnTo>
                      <a:pt x="501098" y="409500"/>
                    </a:lnTo>
                    <a:lnTo>
                      <a:pt x="573838" y="336760"/>
                    </a:lnTo>
                    <a:lnTo>
                      <a:pt x="638496" y="638496"/>
                    </a:lnTo>
                    <a:lnTo>
                      <a:pt x="336760" y="573838"/>
                    </a:lnTo>
                    <a:lnTo>
                      <a:pt x="409500" y="501098"/>
                    </a:lnTo>
                    <a:lnTo>
                      <a:pt x="0" y="91599"/>
                    </a:lnTo>
                    <a:close/>
                  </a:path>
                </a:pathLst>
              </a:custGeom>
              <a:gradFill rotWithShape="1">
                <a:gsLst>
                  <a:gs pos="0">
                    <a:srgbClr val="FC7788">
                      <a:alpha val="12000"/>
                    </a:srgbClr>
                  </a:gs>
                  <a:gs pos="50000">
                    <a:srgbClr val="FC7788">
                      <a:alpha val="80000"/>
                    </a:srgbClr>
                  </a:gs>
                  <a:gs pos="100000">
                    <a:srgbClr val="FC7788"/>
                  </a:gs>
                </a:gsLst>
                <a:lin ang="27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6" name="Outward arrow 03"/>
              <p:cNvSpPr/>
              <p:nvPr/>
            </p:nvSpPr>
            <p:spPr>
              <a:xfrm>
                <a:off x="12740640" y="3116580"/>
                <a:ext cx="335280" cy="579120"/>
              </a:xfrm>
              <a:custGeom>
                <a:avLst/>
                <a:gdLst/>
                <a:ahLst/>
                <a:cxnLst/>
                <a:rect l="0" t="0" r="r" b="b"/>
                <a:pathLst>
                  <a:path w="335280" h="579120">
                    <a:moveTo>
                      <a:pt x="232410" y="0"/>
                    </a:moveTo>
                    <a:lnTo>
                      <a:pt x="232410" y="320040"/>
                    </a:lnTo>
                    <a:lnTo>
                      <a:pt x="335280" y="320040"/>
                    </a:lnTo>
                    <a:lnTo>
                      <a:pt x="167640" y="579120"/>
                    </a:lnTo>
                    <a:lnTo>
                      <a:pt x="0" y="320040"/>
                    </a:lnTo>
                    <a:lnTo>
                      <a:pt x="102870" y="320040"/>
                    </a:lnTo>
                    <a:lnTo>
                      <a:pt x="102870" y="0"/>
                    </a:lnTo>
                    <a:close/>
                  </a:path>
                </a:pathLst>
              </a:custGeom>
              <a:gradFill rotWithShape="1">
                <a:gsLst>
                  <a:gs pos="0">
                    <a:srgbClr val="FC7788">
                      <a:alpha val="12000"/>
                    </a:srgbClr>
                  </a:gs>
                  <a:gs pos="50000">
                    <a:srgbClr val="FC7788">
                      <a:alpha val="80000"/>
                    </a:srgbClr>
                  </a:gs>
                  <a:gs pos="100000">
                    <a:srgbClr val="FC7788"/>
                  </a:gs>
                </a:gsLst>
                <a:lin ang="54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7" name="Outward arrow 04"/>
              <p:cNvSpPr/>
              <p:nvPr/>
            </p:nvSpPr>
            <p:spPr>
              <a:xfrm>
                <a:off x="11620511" y="2782873"/>
                <a:ext cx="638496" cy="638496"/>
              </a:xfrm>
              <a:custGeom>
                <a:avLst/>
                <a:gdLst/>
                <a:ahLst/>
                <a:cxnLst/>
                <a:rect l="0" t="0" r="r" b="b"/>
                <a:pathLst>
                  <a:path w="638496" h="638496">
                    <a:moveTo>
                      <a:pt x="638496" y="91599"/>
                    </a:moveTo>
                    <a:lnTo>
                      <a:pt x="228997" y="501098"/>
                    </a:lnTo>
                    <a:lnTo>
                      <a:pt x="301737" y="573838"/>
                    </a:lnTo>
                    <a:lnTo>
                      <a:pt x="0" y="638496"/>
                    </a:lnTo>
                    <a:lnTo>
                      <a:pt x="64658" y="336760"/>
                    </a:lnTo>
                    <a:lnTo>
                      <a:pt x="137398" y="409500"/>
                    </a:lnTo>
                    <a:lnTo>
                      <a:pt x="546898" y="0"/>
                    </a:lnTo>
                    <a:close/>
                  </a:path>
                </a:pathLst>
              </a:custGeom>
              <a:gradFill rotWithShape="1">
                <a:gsLst>
                  <a:gs pos="0">
                    <a:srgbClr val="FC7788">
                      <a:alpha val="12000"/>
                    </a:srgbClr>
                  </a:gs>
                  <a:gs pos="50000">
                    <a:srgbClr val="FC7788">
                      <a:alpha val="80000"/>
                    </a:srgbClr>
                  </a:gs>
                  <a:gs pos="100000">
                    <a:srgbClr val="FC7788"/>
                  </a:gs>
                </a:gsLst>
                <a:lin ang="81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8" name="Outward arrow 05"/>
              <p:cNvSpPr/>
              <p:nvPr/>
            </p:nvSpPr>
            <p:spPr>
              <a:xfrm>
                <a:off x="11117580" y="1965960"/>
                <a:ext cx="807720" cy="335280"/>
              </a:xfrm>
              <a:custGeom>
                <a:avLst/>
                <a:gdLst/>
                <a:ahLst/>
                <a:cxnLst/>
                <a:rect l="0" t="0" r="r" b="b"/>
                <a:pathLst>
                  <a:path w="807720" h="335280">
                    <a:moveTo>
                      <a:pt x="807720" y="232410"/>
                    </a:moveTo>
                    <a:lnTo>
                      <a:pt x="259080" y="232410"/>
                    </a:lnTo>
                    <a:lnTo>
                      <a:pt x="259080" y="335280"/>
                    </a:lnTo>
                    <a:lnTo>
                      <a:pt x="0" y="167640"/>
                    </a:lnTo>
                    <a:lnTo>
                      <a:pt x="259080" y="0"/>
                    </a:lnTo>
                    <a:lnTo>
                      <a:pt x="259080" y="102870"/>
                    </a:lnTo>
                    <a:lnTo>
                      <a:pt x="807720" y="102870"/>
                    </a:lnTo>
                    <a:close/>
                  </a:path>
                </a:pathLst>
              </a:custGeom>
              <a:gradFill rotWithShape="1">
                <a:gsLst>
                  <a:gs pos="0">
                    <a:srgbClr val="FC7788">
                      <a:alpha val="12000"/>
                    </a:srgbClr>
                  </a:gs>
                  <a:gs pos="50000">
                    <a:srgbClr val="FC7788">
                      <a:alpha val="80000"/>
                    </a:srgbClr>
                  </a:gs>
                  <a:gs pos="100000">
                    <a:srgbClr val="FC7788"/>
                  </a:gs>
                </a:gsLst>
                <a:lin ang="108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9" name="Outward arrow 06"/>
              <p:cNvSpPr/>
              <p:nvPr/>
            </p:nvSpPr>
            <p:spPr>
              <a:xfrm>
                <a:off x="11620511" y="845831"/>
                <a:ext cx="638496" cy="638496"/>
              </a:xfrm>
              <a:custGeom>
                <a:avLst/>
                <a:gdLst/>
                <a:ahLst/>
                <a:cxnLst/>
                <a:rect l="0" t="0" r="r" b="b"/>
                <a:pathLst>
                  <a:path w="638496" h="638496">
                    <a:moveTo>
                      <a:pt x="546898" y="638496"/>
                    </a:moveTo>
                    <a:lnTo>
                      <a:pt x="137398" y="228997"/>
                    </a:lnTo>
                    <a:lnTo>
                      <a:pt x="64658" y="301737"/>
                    </a:lnTo>
                    <a:lnTo>
                      <a:pt x="0" y="0"/>
                    </a:lnTo>
                    <a:lnTo>
                      <a:pt x="301737" y="64658"/>
                    </a:lnTo>
                    <a:lnTo>
                      <a:pt x="228997" y="137398"/>
                    </a:lnTo>
                    <a:lnTo>
                      <a:pt x="638496" y="546898"/>
                    </a:lnTo>
                    <a:close/>
                  </a:path>
                </a:pathLst>
              </a:custGeom>
              <a:gradFill rotWithShape="1">
                <a:gsLst>
                  <a:gs pos="0">
                    <a:srgbClr val="FC7788">
                      <a:alpha val="12000"/>
                    </a:srgbClr>
                  </a:gs>
                  <a:gs pos="50000">
                    <a:srgbClr val="FC7788">
                      <a:alpha val="80000"/>
                    </a:srgbClr>
                  </a:gs>
                  <a:gs pos="100000">
                    <a:srgbClr val="FC7788"/>
                  </a:gs>
                </a:gsLst>
                <a:lin ang="135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Outward arrow 07"/>
              <p:cNvSpPr/>
              <p:nvPr/>
            </p:nvSpPr>
            <p:spPr>
              <a:xfrm>
                <a:off x="12740640" y="487680"/>
                <a:ext cx="335280" cy="662940"/>
              </a:xfrm>
              <a:custGeom>
                <a:avLst/>
                <a:gdLst/>
                <a:ahLst/>
                <a:cxnLst/>
                <a:rect l="0" t="0" r="r" b="b"/>
                <a:pathLst>
                  <a:path w="335280" h="662940">
                    <a:moveTo>
                      <a:pt x="102870" y="662940"/>
                    </a:moveTo>
                    <a:lnTo>
                      <a:pt x="102870" y="259080"/>
                    </a:lnTo>
                    <a:lnTo>
                      <a:pt x="0" y="259080"/>
                    </a:lnTo>
                    <a:lnTo>
                      <a:pt x="167640" y="0"/>
                    </a:lnTo>
                    <a:lnTo>
                      <a:pt x="335280" y="259080"/>
                    </a:lnTo>
                    <a:lnTo>
                      <a:pt x="232410" y="259080"/>
                    </a:lnTo>
                    <a:lnTo>
                      <a:pt x="232410" y="662940"/>
                    </a:lnTo>
                    <a:close/>
                  </a:path>
                </a:pathLst>
              </a:custGeom>
              <a:gradFill rotWithShape="1">
                <a:gsLst>
                  <a:gs pos="0">
                    <a:srgbClr val="FC7788">
                      <a:alpha val="12000"/>
                    </a:srgbClr>
                  </a:gs>
                  <a:gs pos="50000">
                    <a:srgbClr val="FC7788">
                      <a:alpha val="80000"/>
                    </a:srgbClr>
                  </a:gs>
                  <a:gs pos="100000">
                    <a:srgbClr val="FC7788"/>
                  </a:gs>
                </a:gsLst>
                <a:lin ang="162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1" name="Outward arrow 08"/>
              <p:cNvSpPr/>
              <p:nvPr/>
            </p:nvSpPr>
            <p:spPr>
              <a:xfrm>
                <a:off x="13557553" y="845831"/>
                <a:ext cx="638496" cy="638496"/>
              </a:xfrm>
              <a:custGeom>
                <a:avLst/>
                <a:gdLst/>
                <a:ahLst/>
                <a:cxnLst/>
                <a:rect l="0" t="0" r="r" b="b"/>
                <a:pathLst>
                  <a:path w="638496" h="638496">
                    <a:moveTo>
                      <a:pt x="0" y="546898"/>
                    </a:moveTo>
                    <a:lnTo>
                      <a:pt x="409500" y="137398"/>
                    </a:lnTo>
                    <a:lnTo>
                      <a:pt x="336760" y="64658"/>
                    </a:lnTo>
                    <a:lnTo>
                      <a:pt x="638496" y="0"/>
                    </a:lnTo>
                    <a:lnTo>
                      <a:pt x="573838" y="301737"/>
                    </a:lnTo>
                    <a:lnTo>
                      <a:pt x="501098" y="228997"/>
                    </a:lnTo>
                    <a:lnTo>
                      <a:pt x="91599" y="638496"/>
                    </a:lnTo>
                    <a:close/>
                  </a:path>
                </a:pathLst>
              </a:custGeom>
              <a:gradFill rotWithShape="1">
                <a:gsLst>
                  <a:gs pos="0">
                    <a:srgbClr val="FC7788">
                      <a:alpha val="12000"/>
                    </a:srgbClr>
                  </a:gs>
                  <a:gs pos="50000">
                    <a:srgbClr val="FC7788">
                      <a:alpha val="80000"/>
                    </a:srgbClr>
                  </a:gs>
                  <a:gs pos="100000">
                    <a:srgbClr val="FC7788"/>
                  </a:gs>
                </a:gsLst>
                <a:lin ang="189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22" name="03: real-centered concentric target"/>
            <p:cNvGrpSpPr/>
            <p:nvPr/>
          </p:nvGrpSpPr>
          <p:grpSpPr>
            <a:xfrm>
              <a:off x="11780520" y="1005840"/>
              <a:ext cx="2255520" cy="2255520"/>
              <a:chOff x="11780520" y="1005840"/>
              <a:chExt cx="2255520" cy="2255520"/>
            </a:xfrm>
          </p:grpSpPr>
          <p:sp>
            <p:nvSpPr>
              <p:cNvPr id="123" name="Outer target disk"/>
              <p:cNvSpPr/>
              <p:nvPr/>
            </p:nvSpPr>
            <p:spPr>
              <a:xfrm>
                <a:off x="11780520" y="1005840"/>
                <a:ext cx="2255520" cy="2255520"/>
              </a:xfrm>
              <a:prstGeom prst="ellipse">
                <a:avLst/>
              </a:prstGeom>
              <a:gradFill rotWithShape="1">
                <a:gsLst>
                  <a:gs pos="0">
                    <a:srgbClr val="F1F7FD"/>
                  </a:gs>
                  <a:gs pos="100000">
                    <a:srgbClr val="E8F1FC"/>
                  </a:gs>
                </a:gsLst>
                <a:lin ang="39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4" name="Middle target disk"/>
              <p:cNvSpPr/>
              <p:nvPr/>
            </p:nvSpPr>
            <p:spPr>
              <a:xfrm>
                <a:off x="12100560" y="1325880"/>
                <a:ext cx="1615440" cy="1615440"/>
              </a:xfrm>
              <a:prstGeom prst="ellipse">
                <a:avLst/>
              </a:prstGeom>
              <a:gradFill rotWithShape="1">
                <a:gsLst>
                  <a:gs pos="0">
                    <a:srgbClr val="D8E9FD"/>
                  </a:gs>
                  <a:gs pos="100000">
                    <a:srgbClr val="CCE1FC"/>
                  </a:gs>
                </a:gsLst>
                <a:lin ang="39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5" name="Inner target disk"/>
              <p:cNvSpPr/>
              <p:nvPr/>
            </p:nvSpPr>
            <p:spPr>
              <a:xfrm>
                <a:off x="12397740" y="1623060"/>
                <a:ext cx="1021080" cy="1021080"/>
              </a:xfrm>
              <a:prstGeom prst="ellipse">
                <a:avLst/>
              </a:prstGeom>
              <a:gradFill rotWithShape="1">
                <a:gsLst>
                  <a:gs pos="0">
                    <a:srgbClr val="C6DFFE"/>
                  </a:gs>
                  <a:gs pos="100000">
                    <a:srgbClr val="B9D6FE"/>
                  </a:gs>
                </a:gsLst>
                <a:lin ang="39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6" name="Blue center"/>
              <p:cNvSpPr/>
              <p:nvPr/>
            </p:nvSpPr>
            <p:spPr>
              <a:xfrm>
                <a:off x="12626340" y="1851660"/>
                <a:ext cx="563880" cy="563880"/>
              </a:xfrm>
              <a:prstGeom prst="ellipse">
                <a:avLst/>
              </a:prstGeom>
              <a:gradFill rotWithShape="1">
                <a:gsLst>
                  <a:gs pos="0">
                    <a:srgbClr val="4191FC"/>
                  </a:gs>
                  <a:gs pos="100000">
                    <a:srgbClr val="2578F7"/>
                  </a:gs>
                </a:gsLst>
                <a:lin ang="39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27" name="03: four inward green arrows"/>
            <p:cNvGrpSpPr/>
            <p:nvPr/>
          </p:nvGrpSpPr>
          <p:grpSpPr>
            <a:xfrm>
              <a:off x="12140468" y="1365788"/>
              <a:ext cx="1535623" cy="1535623"/>
              <a:chOff x="12140468" y="1365788"/>
              <a:chExt cx="1535623" cy="1535623"/>
            </a:xfrm>
          </p:grpSpPr>
          <p:sp>
            <p:nvSpPr>
              <p:cNvPr id="128" name="Inward arrow 01"/>
              <p:cNvSpPr/>
              <p:nvPr/>
            </p:nvSpPr>
            <p:spPr>
              <a:xfrm>
                <a:off x="13274674" y="2499994"/>
                <a:ext cx="401417" cy="401417"/>
              </a:xfrm>
              <a:custGeom>
                <a:avLst/>
                <a:gdLst/>
                <a:ahLst/>
                <a:cxnLst/>
                <a:rect l="0" t="0" r="r" b="b"/>
                <a:pathLst>
                  <a:path w="401417" h="401417">
                    <a:moveTo>
                      <a:pt x="309819" y="401417"/>
                    </a:moveTo>
                    <a:lnTo>
                      <a:pt x="115845" y="207444"/>
                    </a:lnTo>
                    <a:lnTo>
                      <a:pt x="48493" y="274796"/>
                    </a:lnTo>
                    <a:lnTo>
                      <a:pt x="0" y="0"/>
                    </a:lnTo>
                    <a:lnTo>
                      <a:pt x="274796" y="48493"/>
                    </a:lnTo>
                    <a:lnTo>
                      <a:pt x="207444" y="115845"/>
                    </a:lnTo>
                    <a:lnTo>
                      <a:pt x="401417" y="309819"/>
                    </a:lnTo>
                    <a:close/>
                  </a:path>
                </a:pathLst>
              </a:custGeom>
              <a:gradFill rotWithShape="1">
                <a:gsLst>
                  <a:gs pos="0">
                    <a:srgbClr val="2FB69F">
                      <a:alpha val="15000"/>
                    </a:srgbClr>
                  </a:gs>
                  <a:gs pos="50000">
                    <a:srgbClr val="2FB69F">
                      <a:alpha val="80000"/>
                    </a:srgbClr>
                  </a:gs>
                  <a:gs pos="100000">
                    <a:srgbClr val="2FB69F"/>
                  </a:gs>
                </a:gsLst>
                <a:lin ang="135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Inward arrow 02"/>
              <p:cNvSpPr/>
              <p:nvPr/>
            </p:nvSpPr>
            <p:spPr>
              <a:xfrm>
                <a:off x="12140468" y="2499994"/>
                <a:ext cx="401417" cy="401417"/>
              </a:xfrm>
              <a:custGeom>
                <a:avLst/>
                <a:gdLst/>
                <a:ahLst/>
                <a:cxnLst/>
                <a:rect l="0" t="0" r="r" b="b"/>
                <a:pathLst>
                  <a:path w="401417" h="401417">
                    <a:moveTo>
                      <a:pt x="0" y="309819"/>
                    </a:moveTo>
                    <a:lnTo>
                      <a:pt x="193974" y="115845"/>
                    </a:lnTo>
                    <a:lnTo>
                      <a:pt x="126622" y="48493"/>
                    </a:lnTo>
                    <a:lnTo>
                      <a:pt x="401417" y="0"/>
                    </a:lnTo>
                    <a:lnTo>
                      <a:pt x="352924" y="274796"/>
                    </a:lnTo>
                    <a:lnTo>
                      <a:pt x="285572" y="207444"/>
                    </a:lnTo>
                    <a:lnTo>
                      <a:pt x="91599" y="401417"/>
                    </a:lnTo>
                    <a:close/>
                  </a:path>
                </a:pathLst>
              </a:custGeom>
              <a:gradFill rotWithShape="1">
                <a:gsLst>
                  <a:gs pos="0">
                    <a:srgbClr val="2FB69F">
                      <a:alpha val="15000"/>
                    </a:srgbClr>
                  </a:gs>
                  <a:gs pos="50000">
                    <a:srgbClr val="2FB69F">
                      <a:alpha val="80000"/>
                    </a:srgbClr>
                  </a:gs>
                  <a:gs pos="100000">
                    <a:srgbClr val="2FB69F"/>
                  </a:gs>
                </a:gsLst>
                <a:lin ang="189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0" name="Inward arrow 03"/>
              <p:cNvSpPr/>
              <p:nvPr/>
            </p:nvSpPr>
            <p:spPr>
              <a:xfrm>
                <a:off x="12140468" y="1365788"/>
                <a:ext cx="401417" cy="401417"/>
              </a:xfrm>
              <a:custGeom>
                <a:avLst/>
                <a:gdLst/>
                <a:ahLst/>
                <a:cxnLst/>
                <a:rect l="0" t="0" r="r" b="b"/>
                <a:pathLst>
                  <a:path w="401417" h="401417">
                    <a:moveTo>
                      <a:pt x="91599" y="0"/>
                    </a:moveTo>
                    <a:lnTo>
                      <a:pt x="285572" y="193974"/>
                    </a:lnTo>
                    <a:lnTo>
                      <a:pt x="352924" y="126622"/>
                    </a:lnTo>
                    <a:lnTo>
                      <a:pt x="401417" y="401417"/>
                    </a:lnTo>
                    <a:lnTo>
                      <a:pt x="126622" y="352924"/>
                    </a:lnTo>
                    <a:lnTo>
                      <a:pt x="193974" y="285572"/>
                    </a:lnTo>
                    <a:lnTo>
                      <a:pt x="0" y="91599"/>
                    </a:lnTo>
                    <a:close/>
                  </a:path>
                </a:pathLst>
              </a:custGeom>
              <a:gradFill rotWithShape="1">
                <a:gsLst>
                  <a:gs pos="0">
                    <a:srgbClr val="2FB69F">
                      <a:alpha val="15000"/>
                    </a:srgbClr>
                  </a:gs>
                  <a:gs pos="50000">
                    <a:srgbClr val="2FB69F">
                      <a:alpha val="80000"/>
                    </a:srgbClr>
                  </a:gs>
                  <a:gs pos="100000">
                    <a:srgbClr val="2FB69F"/>
                  </a:gs>
                </a:gsLst>
                <a:lin ang="27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Inward arrow 04"/>
              <p:cNvSpPr/>
              <p:nvPr/>
            </p:nvSpPr>
            <p:spPr>
              <a:xfrm>
                <a:off x="13274674" y="1365788"/>
                <a:ext cx="401417" cy="401417"/>
              </a:xfrm>
              <a:custGeom>
                <a:avLst/>
                <a:gdLst/>
                <a:ahLst/>
                <a:cxnLst/>
                <a:rect l="0" t="0" r="r" b="b"/>
                <a:pathLst>
                  <a:path w="401417" h="401417">
                    <a:moveTo>
                      <a:pt x="401417" y="91599"/>
                    </a:moveTo>
                    <a:lnTo>
                      <a:pt x="207444" y="285572"/>
                    </a:lnTo>
                    <a:lnTo>
                      <a:pt x="274796" y="352924"/>
                    </a:lnTo>
                    <a:lnTo>
                      <a:pt x="0" y="401417"/>
                    </a:lnTo>
                    <a:lnTo>
                      <a:pt x="48493" y="126622"/>
                    </a:lnTo>
                    <a:lnTo>
                      <a:pt x="115845" y="193974"/>
                    </a:lnTo>
                    <a:lnTo>
                      <a:pt x="309819" y="0"/>
                    </a:lnTo>
                    <a:close/>
                  </a:path>
                </a:pathLst>
              </a:custGeom>
              <a:gradFill rotWithShape="1">
                <a:gsLst>
                  <a:gs pos="0">
                    <a:srgbClr val="2FB69F">
                      <a:alpha val="15000"/>
                    </a:srgbClr>
                  </a:gs>
                  <a:gs pos="50000">
                    <a:srgbClr val="2FB69F">
                      <a:alpha val="80000"/>
                    </a:srgbClr>
                  </a:gs>
                  <a:gs pos="100000">
                    <a:srgbClr val="2FB69F"/>
                  </a:gs>
                </a:gsLst>
                <a:lin ang="81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132" name="03: title line 1"/>
            <p:cNvSpPr txBox="1"/>
            <p:nvPr/>
          </p:nvSpPr>
          <p:spPr>
            <a:xfrm>
              <a:off x="10485120" y="3817620"/>
              <a:ext cx="4983480" cy="441960"/>
            </a:xfrm>
            <a:prstGeom prst="rect">
              <a:avLst/>
            </a:prstGeom>
            <a:noFill/>
          </p:spPr>
          <p:txBody>
            <a:bodyPr wrap="none" lIns="0" rIns="0" tIns="0" bIns="0" anchor="t">
              <a:noAutofit/>
            </a:bodyPr>
            <a:lstStyle/>
            <a:p>
              <a:pPr algn="ctr">
                <a:lnSpc>
                  <a:spcPct val="100000"/>
                </a:lnSpc>
                <a:spcBef>
                  <a:spcPts val="0"/>
                </a:spcBef>
                <a:spcAft>
                  <a:spcPts val="0"/>
                </a:spcAft>
              </a:pPr>
              <a:r>
                <a:rPr sz="2520" b="1">
                  <a:solidFill>
                    <a:srgbClr val="1C2941"/>
                  </a:solidFill>
                  <a:latin typeface="Arial"/>
                </a:rPr>
                <a:t>3)  Real-Centered Trajectory</a:t>
              </a:r>
            </a:p>
          </p:txBody>
        </p:sp>
        <p:sp>
          <p:nvSpPr>
            <p:cNvPr id="133" name="03: title line 2"/>
            <p:cNvSpPr txBox="1"/>
            <p:nvPr/>
          </p:nvSpPr>
          <p:spPr>
            <a:xfrm>
              <a:off x="10553700" y="4267200"/>
              <a:ext cx="4953000" cy="441960"/>
            </a:xfrm>
            <a:prstGeom prst="rect">
              <a:avLst/>
            </a:prstGeom>
            <a:noFill/>
          </p:spPr>
          <p:txBody>
            <a:bodyPr wrap="none" lIns="0" rIns="0" tIns="0" bIns="0" anchor="t">
              <a:noAutofit/>
            </a:bodyPr>
            <a:lstStyle/>
            <a:p>
              <a:pPr algn="ctr">
                <a:lnSpc>
                  <a:spcPct val="100000"/>
                </a:lnSpc>
                <a:spcBef>
                  <a:spcPts val="0"/>
                </a:spcBef>
                <a:spcAft>
                  <a:spcPts val="0"/>
                </a:spcAft>
              </a:pPr>
              <a:r>
                <a:rPr sz="2640" b="1">
                  <a:solidFill>
                    <a:srgbClr val="1C2941"/>
                  </a:solidFill>
                  <a:latin typeface="Arial"/>
                </a:rPr>
                <a:t>Optimization</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Trajectory Framework — Editable Vector Reconstruction</dc:title>
  <dc:subject>Generative trajectory, consistency evolution, real-centered optimization</dc:subject>
  <dc:creator/>
  <cp:keywords>native editable shapes; vector; reference reconstruction</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