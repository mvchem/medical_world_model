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rget-only branch frame"/>
          <p:cNvSpPr/>
          <p:nvPr/>
        </p:nvSpPr>
        <p:spPr>
          <a:xfrm>
            <a:off x="6080760" y="960120"/>
            <a:ext cx="5623560" cy="148132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E7D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arget-only branch badge"/>
          <p:cNvSpPr/>
          <p:nvPr/>
        </p:nvSpPr>
        <p:spPr>
          <a:xfrm>
            <a:off x="8275320" y="1024128"/>
            <a:ext cx="1207008" cy="228600"/>
          </a:xfrm>
          <a:prstGeom prst="roundRect">
            <a:avLst>
              <a:gd name="adj" fmla="val 25000"/>
            </a:avLst>
          </a:prstGeom>
          <a:solidFill>
            <a:srgbClr val="D7ECD2"/>
          </a:solidFill>
          <a:ln w="6350">
            <a:solidFill>
              <a:srgbClr val="D7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arget-only branch badge — label"/>
          <p:cNvSpPr txBox="1"/>
          <p:nvPr/>
        </p:nvSpPr>
        <p:spPr>
          <a:xfrm>
            <a:off x="8275320" y="1028700"/>
            <a:ext cx="1207008" cy="21488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Times New Roman"/>
              </a:rPr>
              <a:t>TARGET ONLY</a:t>
            </a:r>
          </a:p>
        </p:txBody>
      </p:sp>
      <p:cxnSp>
        <p:nvCxnSpPr>
          <p:cNvPr id="7" name="Current CXR to state encoder"/>
          <p:cNvCxnSpPr/>
          <p:nvPr/>
        </p:nvCxnSpPr>
        <p:spPr>
          <a:xfrm flipV="1">
            <a:off x="1563624" y="1847088"/>
            <a:ext cx="310895" cy="1005840"/>
          </a:xfrm>
          <a:prstGeom prst="bentConnector3">
            <a:avLst>
              <a:gd name="adj1" fmla="val 52000"/>
            </a:avLst>
          </a:prstGeom>
          <a:ln w="1968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urrent CXR to vision encoder"/>
          <p:cNvCxnSpPr/>
          <p:nvPr/>
        </p:nvCxnSpPr>
        <p:spPr>
          <a:xfrm>
            <a:off x="1563624" y="2852928"/>
            <a:ext cx="310895" cy="969263"/>
          </a:xfrm>
          <a:prstGeom prst="bentConnector3">
            <a:avLst>
              <a:gd name="adj1" fmla="val 52000"/>
            </a:avLst>
          </a:prstGeom>
          <a:ln w="1968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ate encoder to current latent"/>
          <p:cNvCxnSpPr/>
          <p:nvPr/>
        </p:nvCxnSpPr>
        <p:spPr>
          <a:xfrm>
            <a:off x="3246120" y="1847088"/>
            <a:ext cx="429767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urrent latent to predictor"/>
          <p:cNvCxnSpPr/>
          <p:nvPr/>
        </p:nvCxnSpPr>
        <p:spPr>
          <a:xfrm>
            <a:off x="5093208" y="1847088"/>
            <a:ext cx="1627632" cy="1645920"/>
          </a:xfrm>
          <a:prstGeom prst="bentConnector3">
            <a:avLst>
              <a:gd name="adj1" fmla="val 10000"/>
            </a:avLst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sion encoder to LoRA"/>
          <p:cNvCxnSpPr/>
          <p:nvPr/>
        </p:nvCxnSpPr>
        <p:spPr>
          <a:xfrm>
            <a:off x="3246120" y="3822191"/>
            <a:ext cx="283464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oRA to transition queries"/>
          <p:cNvCxnSpPr/>
          <p:nvPr/>
        </p:nvCxnSpPr>
        <p:spPr>
          <a:xfrm>
            <a:off x="5020056" y="3822191"/>
            <a:ext cx="301752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ransition queries to predictor"/>
          <p:cNvCxnSpPr/>
          <p:nvPr/>
        </p:nvCxnSpPr>
        <p:spPr>
          <a:xfrm>
            <a:off x="6428232" y="3822191"/>
            <a:ext cx="292608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redictor to predicted latent"/>
          <p:cNvCxnSpPr/>
          <p:nvPr/>
        </p:nvCxnSpPr>
        <p:spPr>
          <a:xfrm>
            <a:off x="8138160" y="3822191"/>
            <a:ext cx="292608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redicted latent to loss"/>
          <p:cNvCxnSpPr/>
          <p:nvPr/>
        </p:nvCxnSpPr>
        <p:spPr>
          <a:xfrm>
            <a:off x="9674352" y="3822191"/>
            <a:ext cx="219456" cy="0"/>
          </a:xfrm>
          <a:prstGeom prst="line">
            <a:avLst/>
          </a:prstGeom>
          <a:ln w="20955">
            <a:solidFill>
              <a:srgbClr val="47556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rent report to learned queries"/>
          <p:cNvCxnSpPr/>
          <p:nvPr/>
        </p:nvCxnSpPr>
        <p:spPr>
          <a:xfrm flipV="1">
            <a:off x="3063240" y="4992624"/>
            <a:ext cx="667512" cy="310896"/>
          </a:xfrm>
          <a:prstGeom prst="line">
            <a:avLst/>
          </a:prstGeom>
          <a:ln w="15875">
            <a:solidFill>
              <a:srgbClr val="2D5F9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orecast horizon to learned queries"/>
          <p:cNvCxnSpPr/>
          <p:nvPr/>
        </p:nvCxnSpPr>
        <p:spPr>
          <a:xfrm flipH="1" flipV="1">
            <a:off x="4645152" y="4992624"/>
            <a:ext cx="182880" cy="310896"/>
          </a:xfrm>
          <a:prstGeom prst="line">
            <a:avLst/>
          </a:prstGeom>
          <a:ln w="15875">
            <a:solidFill>
              <a:srgbClr val="2D5F9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Native learned-queries arrow"/>
          <p:cNvSpPr/>
          <p:nvPr/>
        </p:nvSpPr>
        <p:spPr>
          <a:xfrm>
            <a:off x="4700016" y="4425696"/>
            <a:ext cx="173736" cy="256032"/>
          </a:xfrm>
          <a:prstGeom prst="upArrow">
            <a:avLst/>
          </a:prstGeom>
          <a:solidFill>
            <a:srgbClr val="E76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Future CXR to target encoder"/>
          <p:cNvCxnSpPr/>
          <p:nvPr/>
        </p:nvCxnSpPr>
        <p:spPr>
          <a:xfrm>
            <a:off x="7205472" y="1719072"/>
            <a:ext cx="292607" cy="0"/>
          </a:xfrm>
          <a:prstGeom prst="line">
            <a:avLst/>
          </a:prstGeom>
          <a:ln w="1841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arget encoder to target latent"/>
          <p:cNvCxnSpPr/>
          <p:nvPr/>
        </p:nvCxnSpPr>
        <p:spPr>
          <a:xfrm>
            <a:off x="8942832" y="1719072"/>
            <a:ext cx="914400" cy="0"/>
          </a:xfrm>
          <a:prstGeom prst="line">
            <a:avLst/>
          </a:prstGeom>
          <a:ln w="1841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arget latent to loss"/>
          <p:cNvCxnSpPr/>
          <p:nvPr/>
        </p:nvCxnSpPr>
        <p:spPr>
          <a:xfrm>
            <a:off x="10579608" y="1874519"/>
            <a:ext cx="0" cy="1371601"/>
          </a:xfrm>
          <a:prstGeom prst="line">
            <a:avLst/>
          </a:prstGeom>
          <a:ln w="1841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rrent CXR crop — label"/>
          <p:cNvSpPr txBox="1"/>
          <p:nvPr/>
        </p:nvSpPr>
        <p:spPr>
          <a:xfrm>
            <a:off x="475488" y="2029967"/>
            <a:ext cx="1124712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Times New Roman"/>
              </a:rPr>
              <a:t>Current CXR</a:t>
            </a:r>
          </a:p>
        </p:txBody>
      </p:sp>
      <p:sp>
        <p:nvSpPr>
          <p:cNvPr id="23" name="Current CXR crop — frame"/>
          <p:cNvSpPr/>
          <p:nvPr/>
        </p:nvSpPr>
        <p:spPr>
          <a:xfrm>
            <a:off x="516635" y="2299715"/>
            <a:ext cx="1042416" cy="1106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Current CXR cro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50008"/>
            <a:ext cx="941832" cy="1005840"/>
          </a:xfrm>
          <a:prstGeom prst="roundRect">
            <a:avLst>
              <a:gd name="adj" fmla="val 5000"/>
            </a:avLst>
          </a:prstGeom>
          <a:ln w="8255">
            <a:solidFill>
              <a:srgbClr val="CBD5E1"/>
            </a:solidFill>
          </a:ln>
        </p:spPr>
      </p:pic>
      <p:sp>
        <p:nvSpPr>
          <p:cNvPr id="25" name="Future CXR crop — label"/>
          <p:cNvSpPr txBox="1"/>
          <p:nvPr/>
        </p:nvSpPr>
        <p:spPr>
          <a:xfrm>
            <a:off x="6291072" y="1024128"/>
            <a:ext cx="969264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32"/>
                </a:solidFill>
                <a:latin typeface="Times New Roman"/>
              </a:rPr>
              <a:t>Future CXR</a:t>
            </a:r>
          </a:p>
        </p:txBody>
      </p:sp>
      <p:sp>
        <p:nvSpPr>
          <p:cNvPr id="26" name="Future CXR crop — frame"/>
          <p:cNvSpPr/>
          <p:nvPr/>
        </p:nvSpPr>
        <p:spPr>
          <a:xfrm>
            <a:off x="6332220" y="1293876"/>
            <a:ext cx="88696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Future CXR cro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344168"/>
            <a:ext cx="786384" cy="841248"/>
          </a:xfrm>
          <a:prstGeom prst="roundRect">
            <a:avLst>
              <a:gd name="adj" fmla="val 5000"/>
            </a:avLst>
          </a:prstGeom>
          <a:ln w="8255">
            <a:solidFill>
              <a:srgbClr val="CBD5E1"/>
            </a:solidFill>
          </a:ln>
        </p:spPr>
      </p:pic>
      <p:sp>
        <p:nvSpPr>
          <p:cNvPr id="28" name="State path label"/>
          <p:cNvSpPr txBox="1"/>
          <p:nvPr/>
        </p:nvSpPr>
        <p:spPr>
          <a:xfrm>
            <a:off x="1865376" y="1225296"/>
            <a:ext cx="137160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D5F93"/>
                </a:solidFill>
                <a:latin typeface="Times New Roman"/>
              </a:rPr>
              <a:t>STATE PATH</a:t>
            </a:r>
          </a:p>
        </p:txBody>
      </p:sp>
      <p:sp>
        <p:nvSpPr>
          <p:cNvPr id="29" name="Frozen V-JEPA2 encoder"/>
          <p:cNvSpPr/>
          <p:nvPr/>
        </p:nvSpPr>
        <p:spPr>
          <a:xfrm>
            <a:off x="1874519" y="1435608"/>
            <a:ext cx="1371600" cy="822960"/>
          </a:xfrm>
          <a:prstGeom prst="roundRect">
            <a:avLst/>
          </a:prstGeom>
          <a:solidFill>
            <a:srgbClr val="EAF2FB"/>
          </a:solidFill>
          <a:ln w="17780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ozen V-JEPA2 encoder — status"/>
          <p:cNvSpPr/>
          <p:nvPr/>
        </p:nvSpPr>
        <p:spPr>
          <a:xfrm>
            <a:off x="1984248" y="1536192"/>
            <a:ext cx="621792" cy="228600"/>
          </a:xfrm>
          <a:prstGeom prst="roundRect">
            <a:avLst>
              <a:gd name="adj" fmla="val 25000"/>
            </a:avLst>
          </a:prstGeom>
          <a:solidFill>
            <a:srgbClr val="DCE9F7"/>
          </a:solidFill>
          <a:ln w="635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ozen V-JEPA2 encoder — status — label"/>
          <p:cNvSpPr txBox="1"/>
          <p:nvPr/>
        </p:nvSpPr>
        <p:spPr>
          <a:xfrm>
            <a:off x="1984248" y="1540764"/>
            <a:ext cx="621792" cy="21488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D5F93"/>
                </a:solidFill>
                <a:latin typeface="Times New Roman"/>
              </a:rPr>
              <a:t>FROZEN</a:t>
            </a:r>
          </a:p>
        </p:txBody>
      </p:sp>
      <p:sp>
        <p:nvSpPr>
          <p:cNvPr id="32" name="Frozen V-JEPA2 encoder — title"/>
          <p:cNvSpPr txBox="1"/>
          <p:nvPr/>
        </p:nvSpPr>
        <p:spPr>
          <a:xfrm>
            <a:off x="1965960" y="1819656"/>
            <a:ext cx="1188720" cy="37490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Times New Roman"/>
              </a:rPr>
              <a:t>V-JEPA2
encoder</a:t>
            </a:r>
          </a:p>
        </p:txBody>
      </p:sp>
      <p:sp>
        <p:nvSpPr>
          <p:cNvPr id="33" name="Current latent label"/>
          <p:cNvSpPr txBox="1"/>
          <p:nvPr/>
        </p:nvSpPr>
        <p:spPr>
          <a:xfrm>
            <a:off x="3675887" y="1426464"/>
            <a:ext cx="1417320" cy="24688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D5F93"/>
                </a:solidFill>
                <a:latin typeface="Times New Roman"/>
              </a:rPr>
              <a:t>current latent  Sₜ</a:t>
            </a:r>
          </a:p>
        </p:txBody>
      </p:sp>
      <p:sp>
        <p:nvSpPr>
          <p:cNvPr id="34" name="Current latent tokens"/>
          <p:cNvSpPr/>
          <p:nvPr/>
        </p:nvSpPr>
        <p:spPr>
          <a:xfrm>
            <a:off x="3675887" y="1691640"/>
            <a:ext cx="1417320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urrent latent tokens — token 1"/>
          <p:cNvSpPr/>
          <p:nvPr/>
        </p:nvSpPr>
        <p:spPr>
          <a:xfrm>
            <a:off x="3785615" y="1787652"/>
            <a:ext cx="118872" cy="118872"/>
          </a:xfrm>
          <a:prstGeom prst="roundRect">
            <a:avLst/>
          </a:prstGeom>
          <a:solidFill>
            <a:srgbClr val="DCE9F7"/>
          </a:solidFill>
          <a:ln w="8890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urrent latent tokens — token 2"/>
          <p:cNvSpPr/>
          <p:nvPr/>
        </p:nvSpPr>
        <p:spPr>
          <a:xfrm>
            <a:off x="3968496" y="1787652"/>
            <a:ext cx="118872" cy="118872"/>
          </a:xfrm>
          <a:prstGeom prst="roundRect">
            <a:avLst/>
          </a:prstGeom>
          <a:solidFill>
            <a:srgbClr val="DCE9F7"/>
          </a:solidFill>
          <a:ln w="8890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urrent latent tokens — token 3"/>
          <p:cNvSpPr/>
          <p:nvPr/>
        </p:nvSpPr>
        <p:spPr>
          <a:xfrm>
            <a:off x="4151376" y="1787652"/>
            <a:ext cx="118872" cy="118872"/>
          </a:xfrm>
          <a:prstGeom prst="roundRect">
            <a:avLst/>
          </a:prstGeom>
          <a:solidFill>
            <a:srgbClr val="DCE9F7"/>
          </a:solidFill>
          <a:ln w="8890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urrent latent tokens — token 4"/>
          <p:cNvSpPr/>
          <p:nvPr/>
        </p:nvSpPr>
        <p:spPr>
          <a:xfrm>
            <a:off x="4334256" y="1787652"/>
            <a:ext cx="118872" cy="118872"/>
          </a:xfrm>
          <a:prstGeom prst="roundRect">
            <a:avLst/>
          </a:prstGeom>
          <a:solidFill>
            <a:srgbClr val="DCE9F7"/>
          </a:solidFill>
          <a:ln w="8890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urrent latent tokens — ellipsis"/>
          <p:cNvSpPr txBox="1"/>
          <p:nvPr/>
        </p:nvSpPr>
        <p:spPr>
          <a:xfrm>
            <a:off x="4782312" y="1741932"/>
            <a:ext cx="219456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5F93"/>
                </a:solidFill>
                <a:latin typeface="Times New Roman"/>
              </a:rPr>
              <a:t>···</a:t>
            </a:r>
          </a:p>
        </p:txBody>
      </p:sp>
      <p:sp>
        <p:nvSpPr>
          <p:cNvPr id="40" name="Clinical query path label"/>
          <p:cNvSpPr txBox="1"/>
          <p:nvPr/>
        </p:nvSpPr>
        <p:spPr>
          <a:xfrm>
            <a:off x="1865376" y="3182112"/>
            <a:ext cx="137160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76516"/>
                </a:solidFill>
                <a:latin typeface="Times New Roman"/>
              </a:rPr>
              <a:t>CLINICAL QUERY PATH</a:t>
            </a:r>
          </a:p>
        </p:txBody>
      </p:sp>
      <p:sp>
        <p:nvSpPr>
          <p:cNvPr id="41" name="Frozen Qwen vision"/>
          <p:cNvSpPr/>
          <p:nvPr/>
        </p:nvSpPr>
        <p:spPr>
          <a:xfrm>
            <a:off x="1874519" y="3410712"/>
            <a:ext cx="1371600" cy="822960"/>
          </a:xfrm>
          <a:prstGeom prst="roundRect">
            <a:avLst/>
          </a:prstGeom>
          <a:solidFill>
            <a:srgbClr val="EAF2FB"/>
          </a:solidFill>
          <a:ln w="17780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rozen Qwen vision — status"/>
          <p:cNvSpPr/>
          <p:nvPr/>
        </p:nvSpPr>
        <p:spPr>
          <a:xfrm>
            <a:off x="1984248" y="3511296"/>
            <a:ext cx="621792" cy="228600"/>
          </a:xfrm>
          <a:prstGeom prst="roundRect">
            <a:avLst>
              <a:gd name="adj" fmla="val 25000"/>
            </a:avLst>
          </a:prstGeom>
          <a:solidFill>
            <a:srgbClr val="DCE9F7"/>
          </a:solidFill>
          <a:ln w="635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ozen Qwen vision — status — label"/>
          <p:cNvSpPr txBox="1"/>
          <p:nvPr/>
        </p:nvSpPr>
        <p:spPr>
          <a:xfrm>
            <a:off x="1984248" y="3515868"/>
            <a:ext cx="621792" cy="21488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D5F93"/>
                </a:solidFill>
                <a:latin typeface="Times New Roman"/>
              </a:rPr>
              <a:t>FROZEN</a:t>
            </a:r>
          </a:p>
        </p:txBody>
      </p:sp>
      <p:sp>
        <p:nvSpPr>
          <p:cNvPr id="44" name="Frozen Qwen vision — title"/>
          <p:cNvSpPr txBox="1"/>
          <p:nvPr/>
        </p:nvSpPr>
        <p:spPr>
          <a:xfrm>
            <a:off x="1965960" y="3794760"/>
            <a:ext cx="1188720" cy="37490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Times New Roman"/>
              </a:rPr>
              <a:t>Qwen vision</a:t>
            </a:r>
          </a:p>
        </p:txBody>
      </p:sp>
      <p:sp>
        <p:nvSpPr>
          <p:cNvPr id="45" name="Trainable Qwen LoRA"/>
          <p:cNvSpPr/>
          <p:nvPr/>
        </p:nvSpPr>
        <p:spPr>
          <a:xfrm>
            <a:off x="3529584" y="3218688"/>
            <a:ext cx="1490472" cy="1207008"/>
          </a:xfrm>
          <a:prstGeom prst="roundRect">
            <a:avLst/>
          </a:prstGeom>
          <a:solidFill>
            <a:srgbClr val="FFF3E8"/>
          </a:solidFill>
          <a:ln w="1778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rainable Qwen LoRA — status"/>
          <p:cNvSpPr/>
          <p:nvPr/>
        </p:nvSpPr>
        <p:spPr>
          <a:xfrm>
            <a:off x="3639312" y="3319272"/>
            <a:ext cx="793699" cy="228600"/>
          </a:xfrm>
          <a:prstGeom prst="roundRect">
            <a:avLst>
              <a:gd name="adj" fmla="val 25000"/>
            </a:avLst>
          </a:prstGeom>
          <a:solidFill>
            <a:srgbClr val="FFD8BC"/>
          </a:solidFill>
          <a:ln w="6350">
            <a:solidFill>
              <a:srgbClr val="FF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rainable Qwen LoRA — status — label"/>
          <p:cNvSpPr txBox="1"/>
          <p:nvPr/>
        </p:nvSpPr>
        <p:spPr>
          <a:xfrm>
            <a:off x="3639312" y="3323844"/>
            <a:ext cx="793699" cy="21488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76516"/>
                </a:solidFill>
                <a:latin typeface="Times New Roman"/>
              </a:rPr>
              <a:t>TRAINABLE</a:t>
            </a:r>
          </a:p>
        </p:txBody>
      </p:sp>
      <p:sp>
        <p:nvSpPr>
          <p:cNvPr id="48" name="Trainable Qwen LoRA — title"/>
          <p:cNvSpPr txBox="1"/>
          <p:nvPr/>
        </p:nvSpPr>
        <p:spPr>
          <a:xfrm>
            <a:off x="3621024" y="3602736"/>
            <a:ext cx="1307592" cy="7589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Times New Roman"/>
              </a:rPr>
              <a:t>Qwen LoRA</a:t>
            </a:r>
          </a:p>
        </p:txBody>
      </p:sp>
      <p:sp>
        <p:nvSpPr>
          <p:cNvPr id="49" name="Transition queries label"/>
          <p:cNvSpPr txBox="1"/>
          <p:nvPr/>
        </p:nvSpPr>
        <p:spPr>
          <a:xfrm>
            <a:off x="5330952" y="3163824"/>
            <a:ext cx="118872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76516"/>
                </a:solidFill>
                <a:latin typeface="Times New Roman"/>
              </a:rPr>
              <a:t>transition queries  qₜ</a:t>
            </a:r>
          </a:p>
        </p:txBody>
      </p:sp>
      <p:sp>
        <p:nvSpPr>
          <p:cNvPr id="50" name="Transition query tokens"/>
          <p:cNvSpPr/>
          <p:nvPr/>
        </p:nvSpPr>
        <p:spPr>
          <a:xfrm>
            <a:off x="5321808" y="3666744"/>
            <a:ext cx="1106424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ransition query tokens — token 1"/>
          <p:cNvSpPr/>
          <p:nvPr/>
        </p:nvSpPr>
        <p:spPr>
          <a:xfrm>
            <a:off x="543153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ransition query tokens — token 2"/>
          <p:cNvSpPr/>
          <p:nvPr/>
        </p:nvSpPr>
        <p:spPr>
          <a:xfrm>
            <a:off x="561441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ransition query tokens — token 3"/>
          <p:cNvSpPr/>
          <p:nvPr/>
        </p:nvSpPr>
        <p:spPr>
          <a:xfrm>
            <a:off x="579729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ransition query tokens — token 4"/>
          <p:cNvSpPr/>
          <p:nvPr/>
        </p:nvSpPr>
        <p:spPr>
          <a:xfrm>
            <a:off x="598017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ransition query tokens — ellipsis"/>
          <p:cNvSpPr txBox="1"/>
          <p:nvPr/>
        </p:nvSpPr>
        <p:spPr>
          <a:xfrm>
            <a:off x="6117336" y="3717035"/>
            <a:ext cx="219456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76516"/>
                </a:solidFill>
                <a:latin typeface="Times New Roman"/>
              </a:rPr>
              <a:t>···</a:t>
            </a:r>
          </a:p>
        </p:txBody>
      </p:sp>
      <p:sp>
        <p:nvSpPr>
          <p:cNvPr id="56" name="Trainable VLA-JEPA predictor"/>
          <p:cNvSpPr/>
          <p:nvPr/>
        </p:nvSpPr>
        <p:spPr>
          <a:xfrm>
            <a:off x="6720840" y="3246120"/>
            <a:ext cx="1417320" cy="1152144"/>
          </a:xfrm>
          <a:prstGeom prst="roundRect">
            <a:avLst/>
          </a:prstGeom>
          <a:solidFill>
            <a:srgbClr val="FFF3E8"/>
          </a:solidFill>
          <a:ln w="1778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rainable VLA-JEPA predictor — status"/>
          <p:cNvSpPr/>
          <p:nvPr/>
        </p:nvSpPr>
        <p:spPr>
          <a:xfrm>
            <a:off x="6830568" y="3346703"/>
            <a:ext cx="793699" cy="228600"/>
          </a:xfrm>
          <a:prstGeom prst="roundRect">
            <a:avLst>
              <a:gd name="adj" fmla="val 25000"/>
            </a:avLst>
          </a:prstGeom>
          <a:solidFill>
            <a:srgbClr val="FFD8BC"/>
          </a:solidFill>
          <a:ln w="6350">
            <a:solidFill>
              <a:srgbClr val="FF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rainable VLA-JEPA predictor — status — label"/>
          <p:cNvSpPr txBox="1"/>
          <p:nvPr/>
        </p:nvSpPr>
        <p:spPr>
          <a:xfrm>
            <a:off x="6830568" y="3351275"/>
            <a:ext cx="793699" cy="21488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76516"/>
                </a:solidFill>
                <a:latin typeface="Times New Roman"/>
              </a:rPr>
              <a:t>TRAINABLE</a:t>
            </a:r>
          </a:p>
        </p:txBody>
      </p:sp>
      <p:sp>
        <p:nvSpPr>
          <p:cNvPr id="59" name="Trainable VLA-JEPA predictor — title"/>
          <p:cNvSpPr txBox="1"/>
          <p:nvPr/>
        </p:nvSpPr>
        <p:spPr>
          <a:xfrm>
            <a:off x="6812279" y="3630168"/>
            <a:ext cx="1234440" cy="70408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Times New Roman"/>
              </a:rPr>
              <a:t>VLA-JEPA
predictor</a:t>
            </a:r>
          </a:p>
        </p:txBody>
      </p:sp>
      <p:sp>
        <p:nvSpPr>
          <p:cNvPr id="60" name="Predicted future latent label"/>
          <p:cNvSpPr txBox="1"/>
          <p:nvPr/>
        </p:nvSpPr>
        <p:spPr>
          <a:xfrm>
            <a:off x="8266175" y="3163824"/>
            <a:ext cx="1572768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76516"/>
                </a:solidFill>
                <a:latin typeface="Times New Roman"/>
              </a:rPr>
              <a:t>predicted future latent  Ŝₜ₊ₕ</a:t>
            </a:r>
          </a:p>
        </p:txBody>
      </p:sp>
      <p:sp>
        <p:nvSpPr>
          <p:cNvPr id="61" name="Predicted future latent tokens"/>
          <p:cNvSpPr/>
          <p:nvPr/>
        </p:nvSpPr>
        <p:spPr>
          <a:xfrm>
            <a:off x="8430768" y="3666744"/>
            <a:ext cx="1243584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Predicted future latent tokens — token 1"/>
          <p:cNvSpPr/>
          <p:nvPr/>
        </p:nvSpPr>
        <p:spPr>
          <a:xfrm>
            <a:off x="854049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Predicted future latent tokens — token 2"/>
          <p:cNvSpPr/>
          <p:nvPr/>
        </p:nvSpPr>
        <p:spPr>
          <a:xfrm>
            <a:off x="872337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Predicted future latent tokens — token 3"/>
          <p:cNvSpPr/>
          <p:nvPr/>
        </p:nvSpPr>
        <p:spPr>
          <a:xfrm>
            <a:off x="890625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Predicted future latent tokens — token 4"/>
          <p:cNvSpPr/>
          <p:nvPr/>
        </p:nvSpPr>
        <p:spPr>
          <a:xfrm>
            <a:off x="9089136" y="3762756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Predicted future latent tokens — ellipsis"/>
          <p:cNvSpPr txBox="1"/>
          <p:nvPr/>
        </p:nvSpPr>
        <p:spPr>
          <a:xfrm>
            <a:off x="9363456" y="3717035"/>
            <a:ext cx="219456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76516"/>
                </a:solidFill>
                <a:latin typeface="Times New Roman"/>
              </a:rPr>
              <a:t>···</a:t>
            </a:r>
          </a:p>
        </p:txBody>
      </p:sp>
      <p:sp>
        <p:nvSpPr>
          <p:cNvPr id="67" name="Shared frozen V-JEPA2 target encoder"/>
          <p:cNvSpPr/>
          <p:nvPr/>
        </p:nvSpPr>
        <p:spPr>
          <a:xfrm>
            <a:off x="7498079" y="1280160"/>
            <a:ext cx="1444752" cy="877824"/>
          </a:xfrm>
          <a:prstGeom prst="roundRect">
            <a:avLst/>
          </a:prstGeom>
          <a:solidFill>
            <a:srgbClr val="EAF2FB"/>
          </a:solidFill>
          <a:ln w="17780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Shared frozen V-JEPA2 target encoder — status"/>
          <p:cNvSpPr/>
          <p:nvPr/>
        </p:nvSpPr>
        <p:spPr>
          <a:xfrm>
            <a:off x="7607807" y="1380744"/>
            <a:ext cx="1057046" cy="228600"/>
          </a:xfrm>
          <a:prstGeom prst="roundRect">
            <a:avLst>
              <a:gd name="adj" fmla="val 25000"/>
            </a:avLst>
          </a:prstGeom>
          <a:solidFill>
            <a:srgbClr val="DCE9F7"/>
          </a:solidFill>
          <a:ln w="635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Shared frozen V-JEPA2 target encoder — status — label"/>
          <p:cNvSpPr txBox="1"/>
          <p:nvPr/>
        </p:nvSpPr>
        <p:spPr>
          <a:xfrm>
            <a:off x="7607807" y="1385316"/>
            <a:ext cx="1057046" cy="21488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D5F93"/>
                </a:solidFill>
                <a:latin typeface="Times New Roman"/>
              </a:rPr>
              <a:t>FROZEN · SAME</a:t>
            </a:r>
          </a:p>
        </p:txBody>
      </p:sp>
      <p:sp>
        <p:nvSpPr>
          <p:cNvPr id="70" name="Shared frozen V-JEPA2 target encoder — title"/>
          <p:cNvSpPr txBox="1"/>
          <p:nvPr/>
        </p:nvSpPr>
        <p:spPr>
          <a:xfrm>
            <a:off x="7589519" y="1664207"/>
            <a:ext cx="1261872" cy="4297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Times New Roman"/>
              </a:rPr>
              <a:t>V-JEPA2
encoder</a:t>
            </a:r>
          </a:p>
        </p:txBody>
      </p:sp>
      <p:sp>
        <p:nvSpPr>
          <p:cNvPr id="71" name="Target future latent label"/>
          <p:cNvSpPr txBox="1"/>
          <p:nvPr/>
        </p:nvSpPr>
        <p:spPr>
          <a:xfrm>
            <a:off x="9747504" y="1243584"/>
            <a:ext cx="1664208" cy="28346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2E7D32"/>
                </a:solidFill>
                <a:latin typeface="Times New Roman"/>
              </a:rPr>
              <a:t>target future latent  Sₜ₊ₕ</a:t>
            </a:r>
          </a:p>
        </p:txBody>
      </p:sp>
      <p:sp>
        <p:nvSpPr>
          <p:cNvPr id="72" name="Target future latent tokens"/>
          <p:cNvSpPr/>
          <p:nvPr/>
        </p:nvSpPr>
        <p:spPr>
          <a:xfrm>
            <a:off x="9857232" y="1563624"/>
            <a:ext cx="1444752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arget future latent tokens — token 1"/>
          <p:cNvSpPr/>
          <p:nvPr/>
        </p:nvSpPr>
        <p:spPr>
          <a:xfrm>
            <a:off x="9966959" y="1659636"/>
            <a:ext cx="118872" cy="118872"/>
          </a:xfrm>
          <a:prstGeom prst="roundRect">
            <a:avLst/>
          </a:prstGeom>
          <a:solidFill>
            <a:srgbClr val="D7ECD2"/>
          </a:solidFill>
          <a:ln w="88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arget future latent tokens — token 2"/>
          <p:cNvSpPr/>
          <p:nvPr/>
        </p:nvSpPr>
        <p:spPr>
          <a:xfrm>
            <a:off x="10149839" y="1659636"/>
            <a:ext cx="118872" cy="118872"/>
          </a:xfrm>
          <a:prstGeom prst="roundRect">
            <a:avLst/>
          </a:prstGeom>
          <a:solidFill>
            <a:srgbClr val="D7ECD2"/>
          </a:solidFill>
          <a:ln w="88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arget future latent tokens — token 3"/>
          <p:cNvSpPr/>
          <p:nvPr/>
        </p:nvSpPr>
        <p:spPr>
          <a:xfrm>
            <a:off x="10332719" y="1659636"/>
            <a:ext cx="118872" cy="118872"/>
          </a:xfrm>
          <a:prstGeom prst="roundRect">
            <a:avLst/>
          </a:prstGeom>
          <a:solidFill>
            <a:srgbClr val="D7ECD2"/>
          </a:solidFill>
          <a:ln w="88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arget future latent tokens — token 4"/>
          <p:cNvSpPr/>
          <p:nvPr/>
        </p:nvSpPr>
        <p:spPr>
          <a:xfrm>
            <a:off x="10515599" y="1659636"/>
            <a:ext cx="118872" cy="118872"/>
          </a:xfrm>
          <a:prstGeom prst="roundRect">
            <a:avLst/>
          </a:prstGeom>
          <a:solidFill>
            <a:srgbClr val="D7ECD2"/>
          </a:solidFill>
          <a:ln w="88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arget future latent tokens — ellipsis"/>
          <p:cNvSpPr txBox="1"/>
          <p:nvPr/>
        </p:nvSpPr>
        <p:spPr>
          <a:xfrm>
            <a:off x="10991088" y="1613916"/>
            <a:ext cx="219456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Times New Roman"/>
              </a:rPr>
              <a:t>···</a:t>
            </a:r>
          </a:p>
        </p:txBody>
      </p:sp>
      <p:sp>
        <p:nvSpPr>
          <p:cNvPr id="78" name="L1 latent-alignment loss"/>
          <p:cNvSpPr/>
          <p:nvPr/>
        </p:nvSpPr>
        <p:spPr>
          <a:xfrm>
            <a:off x="9893808" y="3246120"/>
            <a:ext cx="1481328" cy="1152144"/>
          </a:xfrm>
          <a:prstGeom prst="roundRect">
            <a:avLst/>
          </a:prstGeom>
          <a:solidFill>
            <a:srgbClr val="EEF8EB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L1 latent-alignment loss — status"/>
          <p:cNvSpPr/>
          <p:nvPr/>
        </p:nvSpPr>
        <p:spPr>
          <a:xfrm>
            <a:off x="10003536" y="3346703"/>
            <a:ext cx="793699" cy="228600"/>
          </a:xfrm>
          <a:prstGeom prst="roundRect">
            <a:avLst>
              <a:gd name="adj" fmla="val 25000"/>
            </a:avLst>
          </a:prstGeom>
          <a:solidFill>
            <a:srgbClr val="D7ECD2"/>
          </a:solidFill>
          <a:ln w="6350">
            <a:solidFill>
              <a:srgbClr val="D7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L1 latent-alignment loss — status — label"/>
          <p:cNvSpPr txBox="1"/>
          <p:nvPr/>
        </p:nvSpPr>
        <p:spPr>
          <a:xfrm>
            <a:off x="10003536" y="3351275"/>
            <a:ext cx="793699" cy="21488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Times New Roman"/>
              </a:rPr>
              <a:t>OBJECTIVE</a:t>
            </a:r>
          </a:p>
        </p:txBody>
      </p:sp>
      <p:sp>
        <p:nvSpPr>
          <p:cNvPr id="81" name="L1 latent-alignment loss — title"/>
          <p:cNvSpPr txBox="1"/>
          <p:nvPr/>
        </p:nvSpPr>
        <p:spPr>
          <a:xfrm>
            <a:off x="9985248" y="3630168"/>
            <a:ext cx="1298448" cy="70408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033"/>
                </a:solidFill>
                <a:latin typeface="Times New Roman"/>
              </a:rPr>
              <a:t>L₁ loss
latent alignment</a:t>
            </a:r>
          </a:p>
        </p:txBody>
      </p:sp>
      <p:sp>
        <p:nvSpPr>
          <p:cNvPr id="82" name="Current report card"/>
          <p:cNvSpPr/>
          <p:nvPr/>
        </p:nvSpPr>
        <p:spPr>
          <a:xfrm>
            <a:off x="2395728" y="5303520"/>
            <a:ext cx="1335024" cy="64008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Times New Roman"/>
              </a:rPr>
              <a:t>Current
Report</a:t>
            </a:r>
          </a:p>
        </p:txBody>
      </p:sp>
      <p:sp>
        <p:nvSpPr>
          <p:cNvPr id="83" name="Coarse forecast horizon card"/>
          <p:cNvSpPr/>
          <p:nvPr/>
        </p:nvSpPr>
        <p:spPr>
          <a:xfrm>
            <a:off x="3950208" y="5303520"/>
            <a:ext cx="1755648" cy="64008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2D5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Times New Roman"/>
              </a:rPr>
              <a:t>Coarse Forecast
Horizon</a:t>
            </a:r>
          </a:p>
        </p:txBody>
      </p:sp>
      <p:sp>
        <p:nvSpPr>
          <p:cNvPr id="84" name="Learned query tokens label"/>
          <p:cNvSpPr txBox="1"/>
          <p:nvPr/>
        </p:nvSpPr>
        <p:spPr>
          <a:xfrm>
            <a:off x="3273552" y="4462272"/>
            <a:ext cx="1353312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E76516"/>
                </a:solidFill>
                <a:latin typeface="Times New Roman"/>
              </a:rPr>
              <a:t>24 learned query tokens</a:t>
            </a:r>
          </a:p>
        </p:txBody>
      </p:sp>
      <p:sp>
        <p:nvSpPr>
          <p:cNvPr id="85" name="Learned query tokens"/>
          <p:cNvSpPr/>
          <p:nvPr/>
        </p:nvSpPr>
        <p:spPr>
          <a:xfrm>
            <a:off x="3474720" y="4681728"/>
            <a:ext cx="1417320" cy="310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E765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Learned query tokens — token 1"/>
          <p:cNvSpPr/>
          <p:nvPr/>
        </p:nvSpPr>
        <p:spPr>
          <a:xfrm>
            <a:off x="3584448" y="4777740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Learned query tokens — token 2"/>
          <p:cNvSpPr/>
          <p:nvPr/>
        </p:nvSpPr>
        <p:spPr>
          <a:xfrm>
            <a:off x="3767328" y="4777740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Learned query tokens — token 3"/>
          <p:cNvSpPr/>
          <p:nvPr/>
        </p:nvSpPr>
        <p:spPr>
          <a:xfrm>
            <a:off x="3950208" y="4777740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Learned query tokens — token 4"/>
          <p:cNvSpPr/>
          <p:nvPr/>
        </p:nvSpPr>
        <p:spPr>
          <a:xfrm>
            <a:off x="4133087" y="4777740"/>
            <a:ext cx="118872" cy="118872"/>
          </a:xfrm>
          <a:prstGeom prst="roundRect">
            <a:avLst/>
          </a:prstGeom>
          <a:solidFill>
            <a:srgbClr val="FFD8BC"/>
          </a:solidFill>
          <a:ln w="8890">
            <a:solidFill>
              <a:srgbClr val="E76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Learned query tokens — ellipsis"/>
          <p:cNvSpPr txBox="1"/>
          <p:nvPr/>
        </p:nvSpPr>
        <p:spPr>
          <a:xfrm>
            <a:off x="4581144" y="4732020"/>
            <a:ext cx="219456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76516"/>
                </a:solidFill>
                <a:latin typeface="Times New Roman"/>
              </a:rPr>
              <a:t>···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</Words>
  <Application>Microsoft Office PowerPoint</Application>
  <PresentationFormat>宽屏</PresentationFormat>
  <Paragraphs>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 song</cp:lastModifiedBy>
  <cp:revision>2</cp:revision>
  <dcterms:created xsi:type="dcterms:W3CDTF">2013-01-27T09:14:16Z</dcterms:created>
  <dcterms:modified xsi:type="dcterms:W3CDTF">2026-08-25T07:20:35Z</dcterms:modified>
  <cp:category/>
</cp:coreProperties>
</file>