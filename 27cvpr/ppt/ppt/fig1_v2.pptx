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Studies to medical encoder"/>
          <p:cNvCxnSpPr/>
          <p:nvPr/>
        </p:nvCxnSpPr>
        <p:spPr>
          <a:xfrm>
            <a:off x="1968803" y="1508614"/>
            <a:ext cx="262507" cy="0"/>
          </a:xfrm>
          <a:prstGeom prst="line">
            <a:avLst/>
          </a:prstGeom>
          <a:ln w="16510">
            <a:solidFill>
              <a:srgbClr val="1764C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ncoder to dense memory 1"/>
          <p:cNvCxnSpPr/>
          <p:nvPr/>
        </p:nvCxnSpPr>
        <p:spPr>
          <a:xfrm>
            <a:off x="2967789" y="1712678"/>
            <a:ext cx="291675" cy="0"/>
          </a:xfrm>
          <a:prstGeom prst="line">
            <a:avLst/>
          </a:prstGeom>
          <a:ln w="16510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ncoder to dense memory 2"/>
          <p:cNvCxnSpPr/>
          <p:nvPr/>
        </p:nvCxnSpPr>
        <p:spPr>
          <a:xfrm flipV="1">
            <a:off x="3259464" y="1151502"/>
            <a:ext cx="0" cy="561176"/>
          </a:xfrm>
          <a:prstGeom prst="line">
            <a:avLst/>
          </a:prstGeom>
          <a:ln w="16510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ncoder to dense memory 3"/>
          <p:cNvCxnSpPr/>
          <p:nvPr/>
        </p:nvCxnSpPr>
        <p:spPr>
          <a:xfrm>
            <a:off x="3259464" y="1151502"/>
            <a:ext cx="408344" cy="0"/>
          </a:xfrm>
          <a:prstGeom prst="line">
            <a:avLst/>
          </a:prstGeom>
          <a:ln w="16510">
            <a:solidFill>
              <a:srgbClr val="1764C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ncoder to resampler 1"/>
          <p:cNvCxnSpPr/>
          <p:nvPr/>
        </p:nvCxnSpPr>
        <p:spPr>
          <a:xfrm>
            <a:off x="2544861" y="2222837"/>
            <a:ext cx="0" cy="342536"/>
          </a:xfrm>
          <a:prstGeom prst="line">
            <a:avLst/>
          </a:prstGeom>
          <a:ln w="16510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ncoder to resampler 2"/>
          <p:cNvCxnSpPr/>
          <p:nvPr/>
        </p:nvCxnSpPr>
        <p:spPr>
          <a:xfrm>
            <a:off x="2544861" y="2565373"/>
            <a:ext cx="328134" cy="0"/>
          </a:xfrm>
          <a:prstGeom prst="line">
            <a:avLst/>
          </a:prstGeom>
          <a:ln w="16510">
            <a:solidFill>
              <a:srgbClr val="1764C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sampler to visual tokens"/>
          <p:cNvCxnSpPr/>
          <p:nvPr/>
        </p:nvCxnSpPr>
        <p:spPr>
          <a:xfrm>
            <a:off x="3667808" y="2565373"/>
            <a:ext cx="189589" cy="0"/>
          </a:xfrm>
          <a:prstGeom prst="line">
            <a:avLst/>
          </a:prstGeom>
          <a:ln w="16510">
            <a:solidFill>
              <a:srgbClr val="1764C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Visual tokens to VLM input"/>
          <p:cNvCxnSpPr/>
          <p:nvPr/>
        </p:nvCxnSpPr>
        <p:spPr>
          <a:xfrm>
            <a:off x="4841798" y="2565373"/>
            <a:ext cx="138546" cy="160335"/>
          </a:xfrm>
          <a:prstGeom prst="line">
            <a:avLst/>
          </a:prstGeom>
          <a:ln w="16510">
            <a:solidFill>
              <a:srgbClr val="1764C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Metadata to tokenizer"/>
          <p:cNvCxnSpPr/>
          <p:nvPr/>
        </p:nvCxnSpPr>
        <p:spPr>
          <a:xfrm>
            <a:off x="1939636" y="3643995"/>
            <a:ext cx="393761" cy="0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kenizer to text tokens"/>
          <p:cNvCxnSpPr/>
          <p:nvPr/>
        </p:nvCxnSpPr>
        <p:spPr>
          <a:xfrm>
            <a:off x="3099042" y="3687723"/>
            <a:ext cx="269800" cy="0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ext tokens to VLM input 1"/>
          <p:cNvCxnSpPr/>
          <p:nvPr/>
        </p:nvCxnSpPr>
        <p:spPr>
          <a:xfrm>
            <a:off x="4455330" y="3687723"/>
            <a:ext cx="364593" cy="0"/>
          </a:xfrm>
          <a:prstGeom prst="line">
            <a:avLst/>
          </a:prstGeom>
          <a:ln w="158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ext tokens to VLM input 2"/>
          <p:cNvCxnSpPr/>
          <p:nvPr/>
        </p:nvCxnSpPr>
        <p:spPr>
          <a:xfrm flipV="1">
            <a:off x="4819923" y="2725708"/>
            <a:ext cx="0" cy="962015"/>
          </a:xfrm>
          <a:prstGeom prst="line">
            <a:avLst/>
          </a:prstGeom>
          <a:ln w="158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ext tokens to VLM input 3"/>
          <p:cNvCxnSpPr/>
          <p:nvPr/>
        </p:nvCxnSpPr>
        <p:spPr>
          <a:xfrm>
            <a:off x="4819923" y="2725708"/>
            <a:ext cx="160421" cy="0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LM input to VLM"/>
          <p:cNvCxnSpPr/>
          <p:nvPr/>
        </p:nvCxnSpPr>
        <p:spPr>
          <a:xfrm>
            <a:off x="6088707" y="2856892"/>
            <a:ext cx="0" cy="575751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LM to patient slots"/>
          <p:cNvCxnSpPr/>
          <p:nvPr/>
        </p:nvCxnSpPr>
        <p:spPr>
          <a:xfrm>
            <a:off x="6088707" y="3935515"/>
            <a:ext cx="0" cy="276944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lots to query decoder 1"/>
          <p:cNvCxnSpPr/>
          <p:nvPr/>
        </p:nvCxnSpPr>
        <p:spPr>
          <a:xfrm>
            <a:off x="7459578" y="4343642"/>
            <a:ext cx="131254" cy="0"/>
          </a:xfrm>
          <a:prstGeom prst="line">
            <a:avLst/>
          </a:prstGeom>
          <a:ln w="1714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lots to query decoder 2"/>
          <p:cNvCxnSpPr/>
          <p:nvPr/>
        </p:nvCxnSpPr>
        <p:spPr>
          <a:xfrm flipV="1">
            <a:off x="7590832" y="1231670"/>
            <a:ext cx="0" cy="3111972"/>
          </a:xfrm>
          <a:prstGeom prst="line">
            <a:avLst/>
          </a:prstGeom>
          <a:ln w="1714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lots to query decoder 3"/>
          <p:cNvCxnSpPr/>
          <p:nvPr/>
        </p:nvCxnSpPr>
        <p:spPr>
          <a:xfrm>
            <a:off x="7590832" y="1231670"/>
            <a:ext cx="466679" cy="0"/>
          </a:xfrm>
          <a:prstGeom prst="line">
            <a:avLst/>
          </a:prstGeom>
          <a:ln w="1714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ense bypass to task head 1"/>
          <p:cNvCxnSpPr/>
          <p:nvPr/>
        </p:nvCxnSpPr>
        <p:spPr>
          <a:xfrm>
            <a:off x="4943885" y="1559630"/>
            <a:ext cx="2880287" cy="0"/>
          </a:xfrm>
          <a:prstGeom prst="line">
            <a:avLst/>
          </a:prstGeom>
          <a:ln w="1587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ense bypass to task head 2"/>
          <p:cNvCxnSpPr/>
          <p:nvPr/>
        </p:nvCxnSpPr>
        <p:spPr>
          <a:xfrm>
            <a:off x="7824172" y="1559630"/>
            <a:ext cx="0" cy="393551"/>
          </a:xfrm>
          <a:prstGeom prst="line">
            <a:avLst/>
          </a:prstGeom>
          <a:ln w="1587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ense bypass to task head 3"/>
          <p:cNvCxnSpPr/>
          <p:nvPr/>
        </p:nvCxnSpPr>
        <p:spPr>
          <a:xfrm>
            <a:off x="7824172" y="1953181"/>
            <a:ext cx="2384440" cy="0"/>
          </a:xfrm>
          <a:prstGeom prst="line">
            <a:avLst/>
          </a:prstGeom>
          <a:ln w="1587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ense bypass to task head 4"/>
          <p:cNvCxnSpPr/>
          <p:nvPr/>
        </p:nvCxnSpPr>
        <p:spPr>
          <a:xfrm flipV="1">
            <a:off x="10208612" y="1851149"/>
            <a:ext cx="0" cy="102032"/>
          </a:xfrm>
          <a:prstGeom prst="line">
            <a:avLst/>
          </a:prstGeom>
          <a:ln w="15875">
            <a:solidFill>
              <a:srgbClr val="1764C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ask query to decoder"/>
          <p:cNvCxnSpPr/>
          <p:nvPr/>
        </p:nvCxnSpPr>
        <p:spPr>
          <a:xfrm>
            <a:off x="8495023" y="663207"/>
            <a:ext cx="0" cy="240503"/>
          </a:xfrm>
          <a:prstGeom prst="line">
            <a:avLst/>
          </a:prstGeom>
          <a:ln w="1524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ecoder to task latent"/>
          <p:cNvCxnSpPr/>
          <p:nvPr/>
        </p:nvCxnSpPr>
        <p:spPr>
          <a:xfrm>
            <a:off x="9071081" y="1392006"/>
            <a:ext cx="284382" cy="0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Task latent to task head 1"/>
          <p:cNvCxnSpPr/>
          <p:nvPr/>
        </p:nvCxnSpPr>
        <p:spPr>
          <a:xfrm>
            <a:off x="9545052" y="1392006"/>
            <a:ext cx="131253" cy="0"/>
          </a:xfrm>
          <a:prstGeom prst="line">
            <a:avLst/>
          </a:prstGeom>
          <a:ln w="158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ask latent to task head 2"/>
          <p:cNvCxnSpPr/>
          <p:nvPr/>
        </p:nvCxnSpPr>
        <p:spPr>
          <a:xfrm>
            <a:off x="9676305" y="1392006"/>
            <a:ext cx="0" cy="189488"/>
          </a:xfrm>
          <a:prstGeom prst="line">
            <a:avLst/>
          </a:prstGeom>
          <a:ln w="158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Task latent to task head 3"/>
          <p:cNvCxnSpPr/>
          <p:nvPr/>
        </p:nvCxnSpPr>
        <p:spPr>
          <a:xfrm>
            <a:off x="9676305" y="1581494"/>
            <a:ext cx="160422" cy="0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Head to global output 1"/>
          <p:cNvCxnSpPr/>
          <p:nvPr/>
        </p:nvCxnSpPr>
        <p:spPr>
          <a:xfrm>
            <a:off x="10558621" y="1574206"/>
            <a:ext cx="87503" cy="0"/>
          </a:xfrm>
          <a:prstGeom prst="line">
            <a:avLst/>
          </a:prstGeom>
          <a:ln w="158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Head to global output 2"/>
          <p:cNvCxnSpPr/>
          <p:nvPr/>
        </p:nvCxnSpPr>
        <p:spPr>
          <a:xfrm flipV="1">
            <a:off x="10646124" y="1122350"/>
            <a:ext cx="0" cy="451856"/>
          </a:xfrm>
          <a:prstGeom prst="line">
            <a:avLst/>
          </a:prstGeom>
          <a:ln w="158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Head to global output 3"/>
          <p:cNvCxnSpPr/>
          <p:nvPr/>
        </p:nvCxnSpPr>
        <p:spPr>
          <a:xfrm>
            <a:off x="10646124" y="1122350"/>
            <a:ext cx="175004" cy="0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Head to dense output 1"/>
          <p:cNvCxnSpPr/>
          <p:nvPr/>
        </p:nvCxnSpPr>
        <p:spPr>
          <a:xfrm>
            <a:off x="10558621" y="1574206"/>
            <a:ext cx="87503" cy="0"/>
          </a:xfrm>
          <a:prstGeom prst="line">
            <a:avLst/>
          </a:prstGeom>
          <a:ln w="158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Head to dense output 2"/>
          <p:cNvCxnSpPr/>
          <p:nvPr/>
        </p:nvCxnSpPr>
        <p:spPr>
          <a:xfrm>
            <a:off x="10646124" y="1574206"/>
            <a:ext cx="0" cy="320671"/>
          </a:xfrm>
          <a:prstGeom prst="line">
            <a:avLst/>
          </a:prstGeom>
          <a:ln w="158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Head to dense output 3"/>
          <p:cNvCxnSpPr/>
          <p:nvPr/>
        </p:nvCxnSpPr>
        <p:spPr>
          <a:xfrm>
            <a:off x="10646124" y="1894877"/>
            <a:ext cx="160421" cy="0"/>
          </a:xfrm>
          <a:prstGeom prst="line">
            <a:avLst/>
          </a:prstGeom>
          <a:ln w="15875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lots to conditional state 1"/>
          <p:cNvCxnSpPr/>
          <p:nvPr/>
        </p:nvCxnSpPr>
        <p:spPr>
          <a:xfrm>
            <a:off x="7590832" y="2725708"/>
            <a:ext cx="1582335" cy="0"/>
          </a:xfrm>
          <a:prstGeom prst="line">
            <a:avLst/>
          </a:prstGeom>
          <a:ln w="14604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lots to conditional state 2"/>
          <p:cNvCxnSpPr/>
          <p:nvPr/>
        </p:nvCxnSpPr>
        <p:spPr>
          <a:xfrm>
            <a:off x="9173167" y="2725708"/>
            <a:ext cx="0" cy="590328"/>
          </a:xfrm>
          <a:prstGeom prst="line">
            <a:avLst/>
          </a:prstGeom>
          <a:ln w="14604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Transition query to conditional state 1"/>
          <p:cNvCxnSpPr/>
          <p:nvPr/>
        </p:nvCxnSpPr>
        <p:spPr>
          <a:xfrm>
            <a:off x="8560650" y="3082820"/>
            <a:ext cx="123962" cy="0"/>
          </a:xfrm>
          <a:prstGeom prst="line">
            <a:avLst/>
          </a:prstGeom>
          <a:ln w="15240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Transition query to conditional state 2"/>
          <p:cNvCxnSpPr/>
          <p:nvPr/>
        </p:nvCxnSpPr>
        <p:spPr>
          <a:xfrm>
            <a:off x="8684612" y="3082820"/>
            <a:ext cx="0" cy="495583"/>
          </a:xfrm>
          <a:prstGeom prst="line">
            <a:avLst/>
          </a:prstGeom>
          <a:ln w="15240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Transition query to conditional state 3"/>
          <p:cNvCxnSpPr/>
          <p:nvPr/>
        </p:nvCxnSpPr>
        <p:spPr>
          <a:xfrm>
            <a:off x="8684612" y="3578403"/>
            <a:ext cx="123961" cy="0"/>
          </a:xfrm>
          <a:prstGeom prst="line">
            <a:avLst/>
          </a:prstGeom>
          <a:ln w="15240">
            <a:solidFill>
              <a:srgbClr val="E557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Horizon to conditional state"/>
          <p:cNvCxnSpPr/>
          <p:nvPr/>
        </p:nvCxnSpPr>
        <p:spPr>
          <a:xfrm>
            <a:off x="8560650" y="3818907"/>
            <a:ext cx="247923" cy="0"/>
          </a:xfrm>
          <a:prstGeom prst="line">
            <a:avLst/>
          </a:prstGeom>
          <a:ln w="15240">
            <a:solidFill>
              <a:srgbClr val="E557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ditional state to predictor"/>
          <p:cNvCxnSpPr/>
          <p:nvPr/>
        </p:nvCxnSpPr>
        <p:spPr>
          <a:xfrm>
            <a:off x="9545052" y="3578403"/>
            <a:ext cx="182297" cy="0"/>
          </a:xfrm>
          <a:prstGeom prst="line">
            <a:avLst/>
          </a:prstGeom>
          <a:ln w="15875">
            <a:solidFill>
              <a:srgbClr val="E557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Horizon to predictor"/>
          <p:cNvCxnSpPr/>
          <p:nvPr/>
        </p:nvCxnSpPr>
        <p:spPr>
          <a:xfrm>
            <a:off x="8560650" y="3957379"/>
            <a:ext cx="1166699" cy="0"/>
          </a:xfrm>
          <a:prstGeom prst="line">
            <a:avLst/>
          </a:prstGeom>
          <a:ln w="13335">
            <a:solidFill>
              <a:srgbClr val="E557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Patient slots to predictor"/>
          <p:cNvCxnSpPr/>
          <p:nvPr/>
        </p:nvCxnSpPr>
        <p:spPr>
          <a:xfrm>
            <a:off x="9727349" y="1960469"/>
            <a:ext cx="0" cy="1552342"/>
          </a:xfrm>
          <a:prstGeom prst="line">
            <a:avLst/>
          </a:prstGeom>
          <a:ln w="14604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Dense memory to predictor"/>
          <p:cNvCxnSpPr/>
          <p:nvPr/>
        </p:nvCxnSpPr>
        <p:spPr>
          <a:xfrm>
            <a:off x="10135693" y="1960469"/>
            <a:ext cx="0" cy="1552342"/>
          </a:xfrm>
          <a:prstGeom prst="line">
            <a:avLst/>
          </a:prstGeom>
          <a:ln w="14604">
            <a:solidFill>
              <a:srgbClr val="1764C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Predictor to future latents"/>
          <p:cNvCxnSpPr/>
          <p:nvPr/>
        </p:nvCxnSpPr>
        <p:spPr>
          <a:xfrm>
            <a:off x="10449243" y="3804331"/>
            <a:ext cx="145838" cy="0"/>
          </a:xfrm>
          <a:prstGeom prst="line">
            <a:avLst/>
          </a:prstGeom>
          <a:ln w="15875">
            <a:solidFill>
              <a:srgbClr val="E557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Training-only divider"/>
          <p:cNvCxnSpPr/>
          <p:nvPr/>
        </p:nvCxnSpPr>
        <p:spPr>
          <a:xfrm>
            <a:off x="29167" y="5276505"/>
            <a:ext cx="12104497" cy="0"/>
          </a:xfrm>
          <a:prstGeom prst="line">
            <a:avLst/>
          </a:prstGeom>
          <a:ln w="14604">
            <a:solidFill>
              <a:srgbClr val="3B7D2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Follow-up to target encoder"/>
          <p:cNvCxnSpPr/>
          <p:nvPr/>
        </p:nvCxnSpPr>
        <p:spPr>
          <a:xfrm>
            <a:off x="3602181" y="6078184"/>
            <a:ext cx="386469" cy="0"/>
          </a:xfrm>
          <a:prstGeom prst="line">
            <a:avLst/>
          </a:prstGeom>
          <a:ln w="15875">
            <a:solidFill>
              <a:srgbClr val="3B7D2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Target encoder to global latent 1"/>
          <p:cNvCxnSpPr/>
          <p:nvPr/>
        </p:nvCxnSpPr>
        <p:spPr>
          <a:xfrm>
            <a:off x="5293894" y="6136488"/>
            <a:ext cx="233340" cy="0"/>
          </a:xfrm>
          <a:prstGeom prst="line">
            <a:avLst/>
          </a:prstGeom>
          <a:ln w="14604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Target encoder to global latent 2"/>
          <p:cNvCxnSpPr/>
          <p:nvPr/>
        </p:nvCxnSpPr>
        <p:spPr>
          <a:xfrm flipV="1">
            <a:off x="5527234" y="5633617"/>
            <a:ext cx="0" cy="502871"/>
          </a:xfrm>
          <a:prstGeom prst="line">
            <a:avLst/>
          </a:prstGeom>
          <a:ln w="14604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Target encoder to global latent 3"/>
          <p:cNvCxnSpPr/>
          <p:nvPr/>
        </p:nvCxnSpPr>
        <p:spPr>
          <a:xfrm>
            <a:off x="5527234" y="5633617"/>
            <a:ext cx="204172" cy="0"/>
          </a:xfrm>
          <a:prstGeom prst="line">
            <a:avLst/>
          </a:prstGeom>
          <a:ln w="14604">
            <a:solidFill>
              <a:srgbClr val="3B7D2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Target encoder to regional latents 1"/>
          <p:cNvCxnSpPr/>
          <p:nvPr/>
        </p:nvCxnSpPr>
        <p:spPr>
          <a:xfrm>
            <a:off x="5293894" y="6136488"/>
            <a:ext cx="233340" cy="0"/>
          </a:xfrm>
          <a:prstGeom prst="line">
            <a:avLst/>
          </a:prstGeom>
          <a:ln w="14604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Target encoder to regional latents 2"/>
          <p:cNvCxnSpPr/>
          <p:nvPr/>
        </p:nvCxnSpPr>
        <p:spPr>
          <a:xfrm>
            <a:off x="5527234" y="6136488"/>
            <a:ext cx="0" cy="58304"/>
          </a:xfrm>
          <a:prstGeom prst="line">
            <a:avLst/>
          </a:prstGeom>
          <a:ln w="14604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Target encoder to regional latents 3"/>
          <p:cNvCxnSpPr/>
          <p:nvPr/>
        </p:nvCxnSpPr>
        <p:spPr>
          <a:xfrm>
            <a:off x="5527234" y="6194792"/>
            <a:ext cx="211464" cy="0"/>
          </a:xfrm>
          <a:prstGeom prst="line">
            <a:avLst/>
          </a:prstGeom>
          <a:ln w="14604">
            <a:solidFill>
              <a:srgbClr val="3B7D2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lobal target to loss 1"/>
          <p:cNvCxnSpPr/>
          <p:nvPr/>
        </p:nvCxnSpPr>
        <p:spPr>
          <a:xfrm>
            <a:off x="6978315" y="5633617"/>
            <a:ext cx="1837550" cy="0"/>
          </a:xfrm>
          <a:prstGeom prst="line">
            <a:avLst/>
          </a:prstGeom>
          <a:ln w="15240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lobal target to loss 2"/>
          <p:cNvCxnSpPr/>
          <p:nvPr/>
        </p:nvCxnSpPr>
        <p:spPr>
          <a:xfrm>
            <a:off x="8815865" y="5633617"/>
            <a:ext cx="0" cy="517447"/>
          </a:xfrm>
          <a:prstGeom prst="line">
            <a:avLst/>
          </a:prstGeom>
          <a:ln w="15240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lobal target to loss 3"/>
          <p:cNvCxnSpPr/>
          <p:nvPr/>
        </p:nvCxnSpPr>
        <p:spPr>
          <a:xfrm>
            <a:off x="8815865" y="6151064"/>
            <a:ext cx="306259" cy="0"/>
          </a:xfrm>
          <a:prstGeom prst="line">
            <a:avLst/>
          </a:prstGeom>
          <a:ln w="15240">
            <a:solidFill>
              <a:srgbClr val="3B7D2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Regional target to loss"/>
          <p:cNvCxnSpPr/>
          <p:nvPr/>
        </p:nvCxnSpPr>
        <p:spPr>
          <a:xfrm>
            <a:off x="7977301" y="6194792"/>
            <a:ext cx="1144823" cy="0"/>
          </a:xfrm>
          <a:prstGeom prst="line">
            <a:avLst/>
          </a:prstGeom>
          <a:ln w="15240">
            <a:solidFill>
              <a:srgbClr val="3B7D2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Predicted latents to loss 1"/>
          <p:cNvCxnSpPr/>
          <p:nvPr/>
        </p:nvCxnSpPr>
        <p:spPr>
          <a:xfrm>
            <a:off x="10988841" y="4999562"/>
            <a:ext cx="0" cy="1151502"/>
          </a:xfrm>
          <a:prstGeom prst="line">
            <a:avLst/>
          </a:prstGeom>
          <a:ln w="1587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Predicted latents to loss 2"/>
          <p:cNvCxnSpPr/>
          <p:nvPr/>
        </p:nvCxnSpPr>
        <p:spPr>
          <a:xfrm flipH="1">
            <a:off x="9931521" y="6151064"/>
            <a:ext cx="1057320" cy="0"/>
          </a:xfrm>
          <a:prstGeom prst="line">
            <a:avLst/>
          </a:prstGeom>
          <a:ln w="15875">
            <a:solidFill>
              <a:srgbClr val="E557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rrent evidence heading"/>
          <p:cNvSpPr txBox="1"/>
          <p:nvPr/>
        </p:nvSpPr>
        <p:spPr>
          <a:xfrm>
            <a:off x="196880" y="65591"/>
            <a:ext cx="2625071" cy="21135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Current evidence at or before t</a:t>
            </a:r>
          </a:p>
        </p:txBody>
      </p:sp>
      <p:sp>
        <p:nvSpPr>
          <p:cNvPr id="61" name="Current studies card"/>
          <p:cNvSpPr/>
          <p:nvPr/>
        </p:nvSpPr>
        <p:spPr>
          <a:xfrm>
            <a:off x="116669" y="378975"/>
            <a:ext cx="1859425" cy="208436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AEB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4593" y="473719"/>
            <a:ext cx="1348995" cy="204063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64C0"/>
                </a:solidFill>
                <a:latin typeface="Arial"/>
              </a:rPr>
              <a:t>Current study Xₜ</a:t>
            </a:r>
          </a:p>
        </p:txBody>
      </p:sp>
      <p:pic>
        <p:nvPicPr>
          <p:cNvPr id="63" name="Current C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80" y="692359"/>
            <a:ext cx="685435" cy="612191"/>
          </a:xfrm>
          <a:prstGeom prst="rect">
            <a:avLst/>
          </a:prstGeom>
          <a:effectLst/>
        </p:spPr>
      </p:pic>
      <p:pic>
        <p:nvPicPr>
          <p:cNvPr id="64" name="Current MRI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53" y="685071"/>
            <a:ext cx="597932" cy="626767"/>
          </a:xfrm>
          <a:prstGeom prst="rect">
            <a:avLst/>
          </a:prstGeom>
          <a:effectLst/>
        </p:spPr>
      </p:pic>
      <p:cxnSp>
        <p:nvCxnSpPr>
          <p:cNvPr id="65" name="Current/prior divider"/>
          <p:cNvCxnSpPr/>
          <p:nvPr/>
        </p:nvCxnSpPr>
        <p:spPr>
          <a:xfrm>
            <a:off x="196880" y="1443022"/>
            <a:ext cx="1662545" cy="0"/>
          </a:xfrm>
          <a:prstGeom prst="line">
            <a:avLst/>
          </a:prstGeom>
          <a:ln w="8890">
            <a:solidFill>
              <a:srgbClr val="AEB6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50009" y="1530478"/>
            <a:ext cx="1385454" cy="21135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64C0"/>
                </a:solidFill>
                <a:latin typeface="Arial"/>
              </a:rPr>
              <a:t>Optional prior studies</a:t>
            </a:r>
          </a:p>
        </p:txBody>
      </p:sp>
      <p:pic>
        <p:nvPicPr>
          <p:cNvPr id="67" name="Prior X-ray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21" y="1756405"/>
            <a:ext cx="437511" cy="561175"/>
          </a:xfrm>
          <a:prstGeom prst="rect">
            <a:avLst/>
          </a:prstGeom>
          <a:effectLst/>
        </p:spPr>
      </p:pic>
      <p:pic>
        <p:nvPicPr>
          <p:cNvPr id="68" name="Prior brain scan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19" y="1756405"/>
            <a:ext cx="444803" cy="561175"/>
          </a:xfrm>
          <a:prstGeom prst="rect">
            <a:avLst/>
          </a:prstGeom>
          <a:effectLst/>
        </p:spPr>
      </p:pic>
      <p:pic>
        <p:nvPicPr>
          <p:cNvPr id="69" name="Prior bone scan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157" y="1756405"/>
            <a:ext cx="466679" cy="561175"/>
          </a:xfrm>
          <a:prstGeom prst="rect">
            <a:avLst/>
          </a:prstGeom>
          <a:effectLst/>
        </p:spPr>
      </p:pic>
      <p:sp>
        <p:nvSpPr>
          <p:cNvPr id="70" name="TextBox 69"/>
          <p:cNvSpPr txBox="1"/>
          <p:nvPr/>
        </p:nvSpPr>
        <p:spPr>
          <a:xfrm>
            <a:off x="1728172" y="1931317"/>
            <a:ext cx="182296" cy="25507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…</a:t>
            </a:r>
          </a:p>
        </p:txBody>
      </p:sp>
      <p:sp>
        <p:nvSpPr>
          <p:cNvPr id="71" name="Clinical metadata card"/>
          <p:cNvSpPr/>
          <p:nvPr/>
        </p:nvSpPr>
        <p:spPr>
          <a:xfrm>
            <a:off x="116669" y="2587236"/>
            <a:ext cx="1830258" cy="193860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AEB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47923" y="2740284"/>
            <a:ext cx="160421" cy="240503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84382" y="2805876"/>
            <a:ext cx="87503" cy="0"/>
          </a:xfrm>
          <a:prstGeom prst="line">
            <a:avLst/>
          </a:prstGeom>
          <a:ln w="698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84382" y="2849604"/>
            <a:ext cx="87503" cy="0"/>
          </a:xfrm>
          <a:prstGeom prst="line">
            <a:avLst/>
          </a:prstGeom>
          <a:ln w="698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84382" y="2893332"/>
            <a:ext cx="87503" cy="0"/>
          </a:xfrm>
          <a:prstGeom prst="line">
            <a:avLst/>
          </a:prstGeom>
          <a:ln w="698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84382" y="2937060"/>
            <a:ext cx="87503" cy="0"/>
          </a:xfrm>
          <a:prstGeom prst="line">
            <a:avLst/>
          </a:prstGeom>
          <a:ln w="698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247923" y="3192140"/>
            <a:ext cx="160421" cy="218639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91674" y="3170276"/>
            <a:ext cx="72918" cy="510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284382" y="3257732"/>
            <a:ext cx="87503" cy="0"/>
          </a:xfrm>
          <a:prstGeom prst="line">
            <a:avLst/>
          </a:prstGeom>
          <a:ln w="698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84382" y="3308748"/>
            <a:ext cx="87503" cy="0"/>
          </a:xfrm>
          <a:prstGeom prst="line">
            <a:avLst/>
          </a:prstGeom>
          <a:ln w="698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84382" y="3359764"/>
            <a:ext cx="87503" cy="0"/>
          </a:xfrm>
          <a:prstGeom prst="line">
            <a:avLst/>
          </a:prstGeom>
          <a:ln w="698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226047" y="3607555"/>
            <a:ext cx="226047" cy="225927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339071" y="3643995"/>
            <a:ext cx="0" cy="80168"/>
          </a:xfrm>
          <a:prstGeom prst="line">
            <a:avLst/>
          </a:prstGeom>
          <a:ln w="1016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39071" y="3724163"/>
            <a:ext cx="54689" cy="36440"/>
          </a:xfrm>
          <a:prstGeom prst="line">
            <a:avLst/>
          </a:prstGeom>
          <a:ln w="1016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277090" y="4037547"/>
            <a:ext cx="80210" cy="80167"/>
          </a:xfrm>
          <a:prstGeom prst="ellipse">
            <a:avLst/>
          </a:prstGeom>
          <a:solidFill>
            <a:srgbClr val="777777"/>
          </a:solidFill>
          <a:ln w="635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18755" y="4081275"/>
            <a:ext cx="65626" cy="65591"/>
          </a:xfrm>
          <a:prstGeom prst="ellipse">
            <a:avLst/>
          </a:prstGeom>
          <a:solidFill>
            <a:srgbClr val="777777"/>
          </a:solidFill>
          <a:ln w="635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4593" y="4081275"/>
            <a:ext cx="65626" cy="65591"/>
          </a:xfrm>
          <a:prstGeom prst="ellipse">
            <a:avLst/>
          </a:prstGeom>
          <a:solidFill>
            <a:srgbClr val="777777"/>
          </a:solidFill>
          <a:ln w="635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55215" y="4125003"/>
            <a:ext cx="131253" cy="138471"/>
          </a:xfrm>
          <a:prstGeom prst="roundRect">
            <a:avLst>
              <a:gd name="adj" fmla="val 22000"/>
            </a:avLst>
          </a:prstGeom>
          <a:solidFill>
            <a:srgbClr val="F4F4F4"/>
          </a:solidFill>
          <a:ln w="1016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3138" y="2740284"/>
            <a:ext cx="510430" cy="26236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Arial"/>
              </a:rPr>
              <a:t>Report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4612" y="2740284"/>
            <a:ext cx="809397" cy="276943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Arial"/>
              </a:rPr>
              <a:t>…mild
cardiomegaly…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3138" y="3177564"/>
            <a:ext cx="510430" cy="26236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Arial"/>
              </a:rPr>
              <a:t>History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4612" y="3177564"/>
            <a:ext cx="809397" cy="276943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Arial"/>
              </a:rPr>
              <a:t>HTN, DM2,
former smoker…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3138" y="3614843"/>
            <a:ext cx="510430" cy="26236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Arial"/>
              </a:rPr>
              <a:t>Timing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4612" y="3614843"/>
            <a:ext cx="809397" cy="276943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Arial"/>
              </a:rPr>
              <a:t>Study time
2024-05-10 09:14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3138" y="4044835"/>
            <a:ext cx="510430" cy="26236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Arial"/>
              </a:rPr>
              <a:t>Clinical
context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4612" y="4044835"/>
            <a:ext cx="809397" cy="276943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Arial"/>
              </a:rPr>
              <a:t>Age 62, Male
Inpatient, ICU…</a:t>
            </a:r>
          </a:p>
        </p:txBody>
      </p:sp>
      <p:sp>
        <p:nvSpPr>
          <p:cNvPr id="97" name="Medical encoder"/>
          <p:cNvSpPr/>
          <p:nvPr/>
        </p:nvSpPr>
        <p:spPr>
          <a:xfrm>
            <a:off x="2231310" y="1158790"/>
            <a:ext cx="736478" cy="1064046"/>
          </a:xfrm>
          <a:prstGeom prst="roundRect">
            <a:avLst>
              <a:gd name="adj" fmla="val 7000"/>
            </a:avLst>
          </a:prstGeom>
          <a:solidFill>
            <a:srgbClr val="EEF5FC"/>
          </a:solidFill>
          <a:ln w="1270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Medical encoder label"/>
          <p:cNvSpPr txBox="1"/>
          <p:nvPr/>
        </p:nvSpPr>
        <p:spPr>
          <a:xfrm>
            <a:off x="2260478" y="1180654"/>
            <a:ext cx="678143" cy="1020318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Medical
2D / 3D
encoder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83406" y="1246246"/>
            <a:ext cx="211464" cy="21863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9EEA"/>
                </a:solidFill>
                <a:latin typeface="Arial"/>
              </a:rPr>
              <a:t>❄</a:t>
            </a:r>
          </a:p>
        </p:txBody>
      </p:sp>
      <p:sp>
        <p:nvSpPr>
          <p:cNvPr id="100" name="Resampler"/>
          <p:cNvSpPr/>
          <p:nvPr/>
        </p:nvSpPr>
        <p:spPr>
          <a:xfrm>
            <a:off x="2872995" y="2346733"/>
            <a:ext cx="794813" cy="437279"/>
          </a:xfrm>
          <a:prstGeom prst="roundRect">
            <a:avLst>
              <a:gd name="adj" fmla="val 7000"/>
            </a:avLst>
          </a:prstGeom>
          <a:solidFill>
            <a:srgbClr val="EEF5FC"/>
          </a:solidFill>
          <a:ln w="1270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sampler label"/>
          <p:cNvSpPr txBox="1"/>
          <p:nvPr/>
        </p:nvSpPr>
        <p:spPr>
          <a:xfrm>
            <a:off x="2902162" y="2368597"/>
            <a:ext cx="736478" cy="39355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Resampler
+ projector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02181" y="218639"/>
            <a:ext cx="1312535" cy="37168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11111"/>
                </a:solidFill>
                <a:latin typeface="Arial"/>
              </a:rPr>
              <a:t>Multiscale dense
spatial memory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15731" y="517447"/>
            <a:ext cx="765645" cy="23321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111111"/>
                </a:solidFill>
                <a:latin typeface="Cambria Math"/>
              </a:rPr>
              <a:t>Dₜ¹:ᴸ</a:t>
            </a:r>
          </a:p>
        </p:txBody>
      </p:sp>
      <p:sp>
        <p:nvSpPr>
          <p:cNvPr id="104" name="Dense map 1/4"/>
          <p:cNvSpPr/>
          <p:nvPr/>
        </p:nvSpPr>
        <p:spPr>
          <a:xfrm rot="10800000">
            <a:off x="3704267" y="816255"/>
            <a:ext cx="809397" cy="291519"/>
          </a:xfrm>
          <a:prstGeom prst="trapezoid">
            <a:avLst/>
          </a:prstGeom>
          <a:solidFill>
            <a:srgbClr val="EEF5FC"/>
          </a:solidFill>
          <a:ln w="1016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Dense map 1/4 col 1"/>
          <p:cNvCxnSpPr/>
          <p:nvPr/>
        </p:nvCxnSpPr>
        <p:spPr>
          <a:xfrm flipH="1">
            <a:off x="3866147" y="816255"/>
            <a:ext cx="63133" cy="291519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Dense map 1/4 col 2"/>
          <p:cNvCxnSpPr/>
          <p:nvPr/>
        </p:nvCxnSpPr>
        <p:spPr>
          <a:xfrm flipH="1">
            <a:off x="4028026" y="816255"/>
            <a:ext cx="21045" cy="291519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Dense map 1/4 col 3"/>
          <p:cNvCxnSpPr/>
          <p:nvPr/>
        </p:nvCxnSpPr>
        <p:spPr>
          <a:xfrm>
            <a:off x="4168861" y="816255"/>
            <a:ext cx="21045" cy="291519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Dense map 1/4 col 4"/>
          <p:cNvCxnSpPr/>
          <p:nvPr/>
        </p:nvCxnSpPr>
        <p:spPr>
          <a:xfrm>
            <a:off x="4288652" y="816255"/>
            <a:ext cx="63133" cy="291519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Dense map 1/4 row 1"/>
          <p:cNvCxnSpPr/>
          <p:nvPr/>
        </p:nvCxnSpPr>
        <p:spPr>
          <a:xfrm>
            <a:off x="3774415" y="913428"/>
            <a:ext cx="669102" cy="0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Dense map 1/4 row 2"/>
          <p:cNvCxnSpPr/>
          <p:nvPr/>
        </p:nvCxnSpPr>
        <p:spPr>
          <a:xfrm>
            <a:off x="3739341" y="1010601"/>
            <a:ext cx="739250" cy="0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Dense map 1/8"/>
          <p:cNvSpPr/>
          <p:nvPr/>
        </p:nvSpPr>
        <p:spPr>
          <a:xfrm rot="10800000">
            <a:off x="3733435" y="1202518"/>
            <a:ext cx="765645" cy="284231"/>
          </a:xfrm>
          <a:prstGeom prst="trapezoid">
            <a:avLst/>
          </a:prstGeom>
          <a:solidFill>
            <a:srgbClr val="EEF5FC"/>
          </a:solidFill>
          <a:ln w="1016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Dense map 1/8 col 1"/>
          <p:cNvCxnSpPr/>
          <p:nvPr/>
        </p:nvCxnSpPr>
        <p:spPr>
          <a:xfrm flipH="1">
            <a:off x="3886564" y="1202518"/>
            <a:ext cx="59720" cy="284232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Dense map 1/8 col 2"/>
          <p:cNvCxnSpPr/>
          <p:nvPr/>
        </p:nvCxnSpPr>
        <p:spPr>
          <a:xfrm flipH="1">
            <a:off x="4039693" y="1202518"/>
            <a:ext cx="19907" cy="284232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Dense map 1/8 col 3"/>
          <p:cNvCxnSpPr/>
          <p:nvPr/>
        </p:nvCxnSpPr>
        <p:spPr>
          <a:xfrm>
            <a:off x="4172916" y="1202518"/>
            <a:ext cx="19906" cy="284232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Dense map 1/8 col 4"/>
          <p:cNvCxnSpPr/>
          <p:nvPr/>
        </p:nvCxnSpPr>
        <p:spPr>
          <a:xfrm>
            <a:off x="4286231" y="1202518"/>
            <a:ext cx="59721" cy="284232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Dense map 1/8 row 1"/>
          <p:cNvCxnSpPr/>
          <p:nvPr/>
        </p:nvCxnSpPr>
        <p:spPr>
          <a:xfrm>
            <a:off x="3799791" y="1297262"/>
            <a:ext cx="632934" cy="0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Dense map 1/8 row 2"/>
          <p:cNvCxnSpPr/>
          <p:nvPr/>
        </p:nvCxnSpPr>
        <p:spPr>
          <a:xfrm>
            <a:off x="3766613" y="1392006"/>
            <a:ext cx="699290" cy="0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Dense map 1/16"/>
          <p:cNvSpPr/>
          <p:nvPr/>
        </p:nvSpPr>
        <p:spPr>
          <a:xfrm rot="10800000">
            <a:off x="3791770" y="1574206"/>
            <a:ext cx="685435" cy="247791"/>
          </a:xfrm>
          <a:prstGeom prst="trapezoid">
            <a:avLst/>
          </a:prstGeom>
          <a:solidFill>
            <a:srgbClr val="EEF5FC"/>
          </a:solidFill>
          <a:ln w="1016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Dense map 1/16 col 1"/>
          <p:cNvCxnSpPr/>
          <p:nvPr/>
        </p:nvCxnSpPr>
        <p:spPr>
          <a:xfrm flipH="1">
            <a:off x="3928857" y="1574206"/>
            <a:ext cx="53464" cy="247791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Dense map 1/16 col 2"/>
          <p:cNvCxnSpPr/>
          <p:nvPr/>
        </p:nvCxnSpPr>
        <p:spPr>
          <a:xfrm flipH="1">
            <a:off x="4065944" y="1574206"/>
            <a:ext cx="17821" cy="247791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Dense map 1/16 col 3"/>
          <p:cNvCxnSpPr/>
          <p:nvPr/>
        </p:nvCxnSpPr>
        <p:spPr>
          <a:xfrm>
            <a:off x="4185210" y="1574206"/>
            <a:ext cx="17821" cy="247791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Dense map 1/16 col 4"/>
          <p:cNvCxnSpPr/>
          <p:nvPr/>
        </p:nvCxnSpPr>
        <p:spPr>
          <a:xfrm>
            <a:off x="4286654" y="1574206"/>
            <a:ext cx="53464" cy="247791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Dense map 1/16 row 1"/>
          <p:cNvCxnSpPr/>
          <p:nvPr/>
        </p:nvCxnSpPr>
        <p:spPr>
          <a:xfrm>
            <a:off x="3851174" y="1656803"/>
            <a:ext cx="566627" cy="0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Dense map 1/16 row 2"/>
          <p:cNvCxnSpPr/>
          <p:nvPr/>
        </p:nvCxnSpPr>
        <p:spPr>
          <a:xfrm>
            <a:off x="3821472" y="1739400"/>
            <a:ext cx="626031" cy="0"/>
          </a:xfrm>
          <a:prstGeom prst="line">
            <a:avLst/>
          </a:prstGeom>
          <a:ln w="5715">
            <a:solidFill>
              <a:srgbClr val="176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550124" y="867270"/>
            <a:ext cx="306258" cy="19677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1/4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50124" y="1260822"/>
            <a:ext cx="306258" cy="19677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1/8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50124" y="1632510"/>
            <a:ext cx="306258" cy="19677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1/16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03234" y="1865725"/>
            <a:ext cx="218755" cy="3279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47004" y="736087"/>
            <a:ext cx="306258" cy="1508614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500" b="0" i="0">
                <a:solidFill>
                  <a:srgbClr val="1764C0"/>
                </a:solidFill>
                <a:latin typeface="Cambria Math"/>
              </a:rPr>
              <a:t>}</a:t>
            </a:r>
          </a:p>
        </p:txBody>
      </p:sp>
      <p:sp>
        <p:nvSpPr>
          <p:cNvPr id="130" name="Visual token 1"/>
          <p:cNvSpPr/>
          <p:nvPr/>
        </p:nvSpPr>
        <p:spPr>
          <a:xfrm>
            <a:off x="3871980" y="2499781"/>
            <a:ext cx="131253" cy="138471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sual token 2"/>
          <p:cNvSpPr/>
          <p:nvPr/>
        </p:nvSpPr>
        <p:spPr>
          <a:xfrm>
            <a:off x="4039693" y="2499781"/>
            <a:ext cx="131253" cy="138471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Visual token 3"/>
          <p:cNvSpPr/>
          <p:nvPr/>
        </p:nvSpPr>
        <p:spPr>
          <a:xfrm>
            <a:off x="4207406" y="2499781"/>
            <a:ext cx="131253" cy="138471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Visual token 4"/>
          <p:cNvSpPr/>
          <p:nvPr/>
        </p:nvSpPr>
        <p:spPr>
          <a:xfrm>
            <a:off x="4375119" y="2499781"/>
            <a:ext cx="131253" cy="138471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Visual token 5"/>
          <p:cNvSpPr/>
          <p:nvPr/>
        </p:nvSpPr>
        <p:spPr>
          <a:xfrm>
            <a:off x="4542832" y="2499781"/>
            <a:ext cx="131253" cy="138471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Visual token 6"/>
          <p:cNvSpPr/>
          <p:nvPr/>
        </p:nvSpPr>
        <p:spPr>
          <a:xfrm>
            <a:off x="4710545" y="2499781"/>
            <a:ext cx="131253" cy="138471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959483" y="2667404"/>
            <a:ext cx="787521" cy="29880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11111"/>
                </a:solidFill>
                <a:latin typeface="Arial"/>
              </a:rPr>
              <a:t>Visual tokens
(learned)</a:t>
            </a:r>
          </a:p>
        </p:txBody>
      </p:sp>
      <p:sp>
        <p:nvSpPr>
          <p:cNvPr id="137" name="VLM tokenizer"/>
          <p:cNvSpPr/>
          <p:nvPr/>
        </p:nvSpPr>
        <p:spPr>
          <a:xfrm>
            <a:off x="2333397" y="3388916"/>
            <a:ext cx="772937" cy="612191"/>
          </a:xfrm>
          <a:prstGeom prst="roundRect">
            <a:avLst>
              <a:gd name="adj" fmla="val 7000"/>
            </a:avLst>
          </a:prstGeom>
          <a:solidFill>
            <a:srgbClr val="F5F0FA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VLM tokenizer label"/>
          <p:cNvSpPr txBox="1"/>
          <p:nvPr/>
        </p:nvSpPr>
        <p:spPr>
          <a:xfrm>
            <a:off x="2362564" y="3410780"/>
            <a:ext cx="714602" cy="568463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111"/>
                </a:solidFill>
                <a:latin typeface="Arial"/>
              </a:rPr>
              <a:t>VLM native
tokenizer /
embedding</a:t>
            </a:r>
          </a:p>
        </p:txBody>
      </p:sp>
      <p:sp>
        <p:nvSpPr>
          <p:cNvPr id="139" name="Native text token 1"/>
          <p:cNvSpPr/>
          <p:nvPr/>
        </p:nvSpPr>
        <p:spPr>
          <a:xfrm>
            <a:off x="3383425" y="3607555"/>
            <a:ext cx="131253" cy="138471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Native text token 2"/>
          <p:cNvSpPr/>
          <p:nvPr/>
        </p:nvSpPr>
        <p:spPr>
          <a:xfrm>
            <a:off x="3551138" y="3607555"/>
            <a:ext cx="131253" cy="138471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Native text token 3"/>
          <p:cNvSpPr/>
          <p:nvPr/>
        </p:nvSpPr>
        <p:spPr>
          <a:xfrm>
            <a:off x="3718851" y="3607555"/>
            <a:ext cx="131253" cy="138471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Native text token 4"/>
          <p:cNvSpPr/>
          <p:nvPr/>
        </p:nvSpPr>
        <p:spPr>
          <a:xfrm>
            <a:off x="3886564" y="3607555"/>
            <a:ext cx="131253" cy="138471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Native text token 5"/>
          <p:cNvSpPr/>
          <p:nvPr/>
        </p:nvSpPr>
        <p:spPr>
          <a:xfrm>
            <a:off x="4054277" y="3607555"/>
            <a:ext cx="131253" cy="138471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Native text token 6"/>
          <p:cNvSpPr/>
          <p:nvPr/>
        </p:nvSpPr>
        <p:spPr>
          <a:xfrm>
            <a:off x="4221990" y="3607555"/>
            <a:ext cx="131253" cy="138471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Native text token 7"/>
          <p:cNvSpPr/>
          <p:nvPr/>
        </p:nvSpPr>
        <p:spPr>
          <a:xfrm>
            <a:off x="4389703" y="3607555"/>
            <a:ext cx="131253" cy="138471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51138" y="3789755"/>
            <a:ext cx="765645" cy="29151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11111"/>
                </a:solidFill>
                <a:latin typeface="Arial"/>
              </a:rPr>
              <a:t>Text tokens
(native)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206392" y="2375885"/>
            <a:ext cx="2187559" cy="18219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11111"/>
                </a:solidFill>
                <a:latin typeface="Arial"/>
              </a:rPr>
              <a:t>VLM input (single ordered token row)</a:t>
            </a:r>
          </a:p>
        </p:txBody>
      </p:sp>
      <p:sp>
        <p:nvSpPr>
          <p:cNvPr id="148" name="Ordered VLM input"/>
          <p:cNvSpPr/>
          <p:nvPr/>
        </p:nvSpPr>
        <p:spPr>
          <a:xfrm>
            <a:off x="4980344" y="2565373"/>
            <a:ext cx="2617779" cy="291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AEB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Input visual token 1"/>
          <p:cNvSpPr/>
          <p:nvPr/>
        </p:nvSpPr>
        <p:spPr>
          <a:xfrm>
            <a:off x="5060554" y="2630964"/>
            <a:ext cx="131253" cy="145759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Input visual token 2"/>
          <p:cNvSpPr/>
          <p:nvPr/>
        </p:nvSpPr>
        <p:spPr>
          <a:xfrm>
            <a:off x="5228267" y="2630964"/>
            <a:ext cx="131253" cy="145759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Input visual token 3"/>
          <p:cNvSpPr/>
          <p:nvPr/>
        </p:nvSpPr>
        <p:spPr>
          <a:xfrm>
            <a:off x="5395980" y="2630964"/>
            <a:ext cx="131253" cy="145759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Input visual token 4"/>
          <p:cNvSpPr/>
          <p:nvPr/>
        </p:nvSpPr>
        <p:spPr>
          <a:xfrm>
            <a:off x="5563693" y="2630964"/>
            <a:ext cx="131253" cy="145759"/>
          </a:xfrm>
          <a:prstGeom prst="rect">
            <a:avLst/>
          </a:prstGeom>
          <a:solidFill>
            <a:srgbClr val="C8DDF3"/>
          </a:solidFill>
          <a:ln w="11430">
            <a:solidFill>
              <a:srgbClr val="176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5709530" y="2609100"/>
            <a:ext cx="0" cy="196776"/>
          </a:xfrm>
          <a:prstGeom prst="line">
            <a:avLst/>
          </a:prstGeom>
          <a:ln w="7620">
            <a:solidFill>
              <a:srgbClr val="AEB6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Input text token 1"/>
          <p:cNvSpPr/>
          <p:nvPr/>
        </p:nvSpPr>
        <p:spPr>
          <a:xfrm>
            <a:off x="5797033" y="2630964"/>
            <a:ext cx="131253" cy="145759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Input text token 2"/>
          <p:cNvSpPr/>
          <p:nvPr/>
        </p:nvSpPr>
        <p:spPr>
          <a:xfrm>
            <a:off x="5964746" y="2630964"/>
            <a:ext cx="131253" cy="145759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Input text token 3"/>
          <p:cNvSpPr/>
          <p:nvPr/>
        </p:nvSpPr>
        <p:spPr>
          <a:xfrm>
            <a:off x="6132459" y="2630964"/>
            <a:ext cx="131253" cy="145759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Input text token 4"/>
          <p:cNvSpPr/>
          <p:nvPr/>
        </p:nvSpPr>
        <p:spPr>
          <a:xfrm>
            <a:off x="6300172" y="2630964"/>
            <a:ext cx="131253" cy="145759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6446009" y="2609100"/>
            <a:ext cx="0" cy="196776"/>
          </a:xfrm>
          <a:prstGeom prst="line">
            <a:avLst/>
          </a:prstGeom>
          <a:ln w="7620">
            <a:solidFill>
              <a:srgbClr val="AEB6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Learned input slot 1"/>
          <p:cNvSpPr/>
          <p:nvPr/>
        </p:nvSpPr>
        <p:spPr>
          <a:xfrm>
            <a:off x="6511636" y="2630964"/>
            <a:ext cx="116669" cy="145759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511636" y="2630964"/>
            <a:ext cx="116669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s1</a:t>
            </a:r>
          </a:p>
        </p:txBody>
      </p:sp>
      <p:sp>
        <p:nvSpPr>
          <p:cNvPr id="161" name="Learned input slot 2"/>
          <p:cNvSpPr/>
          <p:nvPr/>
        </p:nvSpPr>
        <p:spPr>
          <a:xfrm>
            <a:off x="6642889" y="2630964"/>
            <a:ext cx="116669" cy="145759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642889" y="2630964"/>
            <a:ext cx="116669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s2</a:t>
            </a:r>
          </a:p>
        </p:txBody>
      </p:sp>
      <p:sp>
        <p:nvSpPr>
          <p:cNvPr id="163" name="Learned input slot 3"/>
          <p:cNvSpPr/>
          <p:nvPr/>
        </p:nvSpPr>
        <p:spPr>
          <a:xfrm>
            <a:off x="6774143" y="2630964"/>
            <a:ext cx="116669" cy="145759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74143" y="2630964"/>
            <a:ext cx="116669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s3</a:t>
            </a:r>
          </a:p>
        </p:txBody>
      </p:sp>
      <p:sp>
        <p:nvSpPr>
          <p:cNvPr id="165" name="Learned input slot 4"/>
          <p:cNvSpPr/>
          <p:nvPr/>
        </p:nvSpPr>
        <p:spPr>
          <a:xfrm>
            <a:off x="6905396" y="2630964"/>
            <a:ext cx="116669" cy="145759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905396" y="2630964"/>
            <a:ext cx="116669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s4</a:t>
            </a:r>
          </a:p>
        </p:txBody>
      </p:sp>
      <p:sp>
        <p:nvSpPr>
          <p:cNvPr id="167" name="Learned input slot 5"/>
          <p:cNvSpPr/>
          <p:nvPr/>
        </p:nvSpPr>
        <p:spPr>
          <a:xfrm>
            <a:off x="7036650" y="2630964"/>
            <a:ext cx="116669" cy="145759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036650" y="2630964"/>
            <a:ext cx="116669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s5</a:t>
            </a:r>
          </a:p>
        </p:txBody>
      </p:sp>
      <p:sp>
        <p:nvSpPr>
          <p:cNvPr id="169" name="Learned input slot 6"/>
          <p:cNvSpPr/>
          <p:nvPr/>
        </p:nvSpPr>
        <p:spPr>
          <a:xfrm>
            <a:off x="7167904" y="2630964"/>
            <a:ext cx="116669" cy="145759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67904" y="2630964"/>
            <a:ext cx="116669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s6</a:t>
            </a:r>
          </a:p>
        </p:txBody>
      </p:sp>
      <p:sp>
        <p:nvSpPr>
          <p:cNvPr id="171" name="Learned input slot 7"/>
          <p:cNvSpPr/>
          <p:nvPr/>
        </p:nvSpPr>
        <p:spPr>
          <a:xfrm>
            <a:off x="7299157" y="2630964"/>
            <a:ext cx="116669" cy="145759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299157" y="2630964"/>
            <a:ext cx="116669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s7</a:t>
            </a:r>
          </a:p>
        </p:txBody>
      </p:sp>
      <p:sp>
        <p:nvSpPr>
          <p:cNvPr id="173" name="Learned input slot 8"/>
          <p:cNvSpPr/>
          <p:nvPr/>
        </p:nvSpPr>
        <p:spPr>
          <a:xfrm>
            <a:off x="7430411" y="2630964"/>
            <a:ext cx="116669" cy="145759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430411" y="2630964"/>
            <a:ext cx="116669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994928" y="2871468"/>
            <a:ext cx="721894" cy="18219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11111"/>
                </a:solidFill>
                <a:latin typeface="Arial"/>
              </a:rPr>
              <a:t>visual tokens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738698" y="2871468"/>
            <a:ext cx="700019" cy="18219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11111"/>
                </a:solidFill>
                <a:latin typeface="Arial"/>
              </a:rPr>
              <a:t>text tokens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402258" y="2849604"/>
            <a:ext cx="1239617" cy="4299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111111"/>
                </a:solidFill>
                <a:latin typeface="Arial"/>
              </a:rPr>
              <a:t>8 learned slot
embeddings s₁ … s₈
(input slots)</a:t>
            </a:r>
          </a:p>
        </p:txBody>
      </p:sp>
      <p:sp>
        <p:nvSpPr>
          <p:cNvPr id="178" name="VLM with LoRA"/>
          <p:cNvSpPr/>
          <p:nvPr/>
        </p:nvSpPr>
        <p:spPr>
          <a:xfrm>
            <a:off x="5009511" y="3439931"/>
            <a:ext cx="2457358" cy="495583"/>
          </a:xfrm>
          <a:prstGeom prst="roundRect">
            <a:avLst>
              <a:gd name="adj" fmla="val 7000"/>
            </a:avLst>
          </a:prstGeom>
          <a:solidFill>
            <a:srgbClr val="F5F0FA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VLM with LoRA label"/>
          <p:cNvSpPr txBox="1"/>
          <p:nvPr/>
        </p:nvSpPr>
        <p:spPr>
          <a:xfrm>
            <a:off x="5038679" y="3461795"/>
            <a:ext cx="2399023" cy="45185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11111"/>
                </a:solidFill>
                <a:latin typeface="Arial"/>
              </a:rPr>
              <a:t>VLM + trainable LoRA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138736" y="3534675"/>
            <a:ext cx="204172" cy="26236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7030A0"/>
                </a:solidFill>
                <a:latin typeface="Arial"/>
              </a:rPr>
              <a:t>♦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586583" y="4183307"/>
            <a:ext cx="335425" cy="30609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111111"/>
                </a:solidFill>
                <a:latin typeface="Cambria Math"/>
              </a:rPr>
              <a:t>Sₜ</a:t>
            </a:r>
          </a:p>
        </p:txBody>
      </p:sp>
      <p:sp>
        <p:nvSpPr>
          <p:cNvPr id="182" name="Patient-state slot 1"/>
          <p:cNvSpPr/>
          <p:nvPr/>
        </p:nvSpPr>
        <p:spPr>
          <a:xfrm>
            <a:off x="5016803" y="4219747"/>
            <a:ext cx="247923" cy="247791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016803" y="4219747"/>
            <a:ext cx="247923" cy="2477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S1</a:t>
            </a:r>
          </a:p>
        </p:txBody>
      </p:sp>
      <p:sp>
        <p:nvSpPr>
          <p:cNvPr id="184" name="Patient-state slot 2"/>
          <p:cNvSpPr/>
          <p:nvPr/>
        </p:nvSpPr>
        <p:spPr>
          <a:xfrm>
            <a:off x="5330353" y="4219747"/>
            <a:ext cx="247923" cy="247791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330353" y="4219747"/>
            <a:ext cx="247923" cy="2477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S2</a:t>
            </a:r>
          </a:p>
        </p:txBody>
      </p:sp>
      <p:sp>
        <p:nvSpPr>
          <p:cNvPr id="186" name="Patient-state slot 3"/>
          <p:cNvSpPr/>
          <p:nvPr/>
        </p:nvSpPr>
        <p:spPr>
          <a:xfrm>
            <a:off x="5643904" y="4219747"/>
            <a:ext cx="247923" cy="247791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643904" y="4219747"/>
            <a:ext cx="247923" cy="2477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S3</a:t>
            </a:r>
          </a:p>
        </p:txBody>
      </p:sp>
      <p:sp>
        <p:nvSpPr>
          <p:cNvPr id="188" name="Patient-state slot 4"/>
          <p:cNvSpPr/>
          <p:nvPr/>
        </p:nvSpPr>
        <p:spPr>
          <a:xfrm>
            <a:off x="5957454" y="4219747"/>
            <a:ext cx="247923" cy="247791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5957454" y="4219747"/>
            <a:ext cx="247923" cy="2477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S4</a:t>
            </a:r>
          </a:p>
        </p:txBody>
      </p:sp>
      <p:sp>
        <p:nvSpPr>
          <p:cNvPr id="190" name="Patient-state slot 5"/>
          <p:cNvSpPr/>
          <p:nvPr/>
        </p:nvSpPr>
        <p:spPr>
          <a:xfrm>
            <a:off x="6271004" y="4219747"/>
            <a:ext cx="247923" cy="247791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271004" y="4219747"/>
            <a:ext cx="247923" cy="2477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S5</a:t>
            </a:r>
          </a:p>
        </p:txBody>
      </p:sp>
      <p:sp>
        <p:nvSpPr>
          <p:cNvPr id="192" name="Patient-state slot 6"/>
          <p:cNvSpPr/>
          <p:nvPr/>
        </p:nvSpPr>
        <p:spPr>
          <a:xfrm>
            <a:off x="6584554" y="4219747"/>
            <a:ext cx="247923" cy="247791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584554" y="4219747"/>
            <a:ext cx="247923" cy="2477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S6</a:t>
            </a:r>
          </a:p>
        </p:txBody>
      </p:sp>
      <p:sp>
        <p:nvSpPr>
          <p:cNvPr id="194" name="Patient-state slot 7"/>
          <p:cNvSpPr/>
          <p:nvPr/>
        </p:nvSpPr>
        <p:spPr>
          <a:xfrm>
            <a:off x="6898105" y="4219747"/>
            <a:ext cx="247923" cy="247791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898105" y="4219747"/>
            <a:ext cx="247923" cy="2477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S7</a:t>
            </a:r>
          </a:p>
        </p:txBody>
      </p:sp>
      <p:sp>
        <p:nvSpPr>
          <p:cNvPr id="196" name="Patient-state slot 8"/>
          <p:cNvSpPr/>
          <p:nvPr/>
        </p:nvSpPr>
        <p:spPr>
          <a:xfrm>
            <a:off x="7211655" y="4219747"/>
            <a:ext cx="247923" cy="247791"/>
          </a:xfrm>
          <a:prstGeom prst="rect">
            <a:avLst/>
          </a:prstGeom>
          <a:solidFill>
            <a:srgbClr val="E2D4EC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211655" y="4219747"/>
            <a:ext cx="247923" cy="24779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111"/>
                </a:solidFill>
                <a:latin typeface="Cambria Math"/>
              </a:rPr>
              <a:t>S8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418870" y="4489402"/>
            <a:ext cx="1093779" cy="30609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11111"/>
                </a:solidFill>
                <a:latin typeface="Arial"/>
              </a:rPr>
              <a:t>patient-state slots
(output states)</a:t>
            </a:r>
          </a:p>
        </p:txBody>
      </p:sp>
      <p:cxnSp>
        <p:nvCxnSpPr>
          <p:cNvPr id="199" name="Representation brace left 1"/>
          <p:cNvCxnSpPr/>
          <p:nvPr/>
        </p:nvCxnSpPr>
        <p:spPr>
          <a:xfrm>
            <a:off x="3864688" y="4766346"/>
            <a:ext cx="0" cy="43728"/>
          </a:xfrm>
          <a:prstGeom prst="line">
            <a:avLst/>
          </a:prstGeom>
          <a:ln w="139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Representation brace left 2"/>
          <p:cNvCxnSpPr/>
          <p:nvPr/>
        </p:nvCxnSpPr>
        <p:spPr>
          <a:xfrm>
            <a:off x="3864688" y="4810074"/>
            <a:ext cx="58335" cy="58304"/>
          </a:xfrm>
          <a:prstGeom prst="line">
            <a:avLst/>
          </a:prstGeom>
          <a:ln w="139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Representation brace left 3"/>
          <p:cNvCxnSpPr/>
          <p:nvPr/>
        </p:nvCxnSpPr>
        <p:spPr>
          <a:xfrm>
            <a:off x="3923023" y="4868378"/>
            <a:ext cx="1720881" cy="0"/>
          </a:xfrm>
          <a:prstGeom prst="line">
            <a:avLst/>
          </a:prstGeom>
          <a:ln w="139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Representation brace left 4"/>
          <p:cNvCxnSpPr/>
          <p:nvPr/>
        </p:nvCxnSpPr>
        <p:spPr>
          <a:xfrm>
            <a:off x="5643904" y="4868378"/>
            <a:ext cx="80210" cy="43728"/>
          </a:xfrm>
          <a:prstGeom prst="line">
            <a:avLst/>
          </a:prstGeom>
          <a:ln w="139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Representation brace right 1"/>
          <p:cNvCxnSpPr/>
          <p:nvPr/>
        </p:nvCxnSpPr>
        <p:spPr>
          <a:xfrm flipV="1">
            <a:off x="5724114" y="4868378"/>
            <a:ext cx="80211" cy="43728"/>
          </a:xfrm>
          <a:prstGeom prst="line">
            <a:avLst/>
          </a:prstGeom>
          <a:ln w="139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Representation brace right 2"/>
          <p:cNvCxnSpPr/>
          <p:nvPr/>
        </p:nvCxnSpPr>
        <p:spPr>
          <a:xfrm>
            <a:off x="5804325" y="4868378"/>
            <a:ext cx="1713588" cy="0"/>
          </a:xfrm>
          <a:prstGeom prst="line">
            <a:avLst/>
          </a:prstGeom>
          <a:ln w="139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Representation brace right 3"/>
          <p:cNvCxnSpPr/>
          <p:nvPr/>
        </p:nvCxnSpPr>
        <p:spPr>
          <a:xfrm flipV="1">
            <a:off x="7517913" y="4810074"/>
            <a:ext cx="58335" cy="58304"/>
          </a:xfrm>
          <a:prstGeom prst="line">
            <a:avLst/>
          </a:prstGeom>
          <a:ln w="139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Representation brace right 4"/>
          <p:cNvCxnSpPr/>
          <p:nvPr/>
        </p:nvCxnSpPr>
        <p:spPr>
          <a:xfrm flipV="1">
            <a:off x="7576248" y="4766346"/>
            <a:ext cx="0" cy="43728"/>
          </a:xfrm>
          <a:prstGeom prst="line">
            <a:avLst/>
          </a:prstGeom>
          <a:ln w="139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4127196" y="4919394"/>
            <a:ext cx="3317798" cy="22592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Reusable current representation  Rₜ = (Dₜ¹:ᴸ, Sₜ)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025109" y="5116170"/>
            <a:ext cx="3536554" cy="14575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Arial"/>
              </a:rPr>
              <a:t>Rₜ is formed before any task query or forecast horizon is supplied.</a:t>
            </a:r>
          </a:p>
        </p:txBody>
      </p:sp>
      <p:sp>
        <p:nvSpPr>
          <p:cNvPr id="209" name="Task query"/>
          <p:cNvSpPr/>
          <p:nvPr/>
        </p:nvSpPr>
        <p:spPr>
          <a:xfrm>
            <a:off x="8123138" y="255079"/>
            <a:ext cx="736478" cy="408127"/>
          </a:xfrm>
          <a:prstGeom prst="roundRect">
            <a:avLst>
              <a:gd name="adj" fmla="val 7000"/>
            </a:avLst>
          </a:prstGeom>
          <a:solidFill>
            <a:srgbClr val="F5F0FA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ask query label"/>
          <p:cNvSpPr txBox="1"/>
          <p:nvPr/>
        </p:nvSpPr>
        <p:spPr>
          <a:xfrm>
            <a:off x="8152306" y="276943"/>
            <a:ext cx="678143" cy="36439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111"/>
                </a:solidFill>
                <a:latin typeface="Arial"/>
              </a:rPr>
              <a:t>Task query
(q)</a:t>
            </a:r>
          </a:p>
        </p:txBody>
      </p:sp>
      <p:sp>
        <p:nvSpPr>
          <p:cNvPr id="211" name="Read-only query decoder"/>
          <p:cNvSpPr/>
          <p:nvPr/>
        </p:nvSpPr>
        <p:spPr>
          <a:xfrm>
            <a:off x="8057511" y="903710"/>
            <a:ext cx="1013569" cy="787103"/>
          </a:xfrm>
          <a:prstGeom prst="roundRect">
            <a:avLst>
              <a:gd name="adj" fmla="val 7000"/>
            </a:avLst>
          </a:prstGeom>
          <a:solidFill>
            <a:srgbClr val="F5F0FA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ad-only query decoder label"/>
          <p:cNvSpPr txBox="1"/>
          <p:nvPr/>
        </p:nvSpPr>
        <p:spPr>
          <a:xfrm>
            <a:off x="8086679" y="925574"/>
            <a:ext cx="955234" cy="74337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11111"/>
                </a:solidFill>
                <a:latin typeface="Arial"/>
              </a:rPr>
              <a:t>Read-only
query decoder
(frozen)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750239" y="962014"/>
            <a:ext cx="189588" cy="21863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30A0"/>
                </a:solidFill>
                <a:latin typeface="Arial"/>
              </a:rPr>
              <a:t>▣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209626" y="910998"/>
            <a:ext cx="816688" cy="39355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111"/>
                </a:solidFill>
                <a:latin typeface="Cambria Math"/>
              </a:rPr>
              <a:t>eₜ⁽ᑫ⁾
(task latent)</a:t>
            </a:r>
          </a:p>
        </p:txBody>
      </p:sp>
      <p:sp>
        <p:nvSpPr>
          <p:cNvPr id="215" name="Task latentRect"/>
          <p:cNvSpPr/>
          <p:nvPr/>
        </p:nvSpPr>
        <p:spPr>
          <a:xfrm>
            <a:off x="9355463" y="1297262"/>
            <a:ext cx="189588" cy="196775"/>
          </a:xfrm>
          <a:prstGeom prst="rect">
            <a:avLst/>
          </a:prstGeom>
          <a:solidFill>
            <a:srgbClr val="F5F0FA"/>
          </a:solidFill>
          <a:ln w="1143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ask head"/>
          <p:cNvSpPr/>
          <p:nvPr/>
        </p:nvSpPr>
        <p:spPr>
          <a:xfrm>
            <a:off x="9836727" y="1304550"/>
            <a:ext cx="721894" cy="546599"/>
          </a:xfrm>
          <a:prstGeom prst="roundRect">
            <a:avLst>
              <a:gd name="adj" fmla="val 7000"/>
            </a:avLst>
          </a:prstGeom>
          <a:solidFill>
            <a:srgbClr val="F5F0FA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ask head label"/>
          <p:cNvSpPr txBox="1"/>
          <p:nvPr/>
        </p:nvSpPr>
        <p:spPr>
          <a:xfrm>
            <a:off x="9865894" y="1326414"/>
            <a:ext cx="663559" cy="50287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11111"/>
                </a:solidFill>
                <a:latin typeface="Arial"/>
              </a:rPr>
              <a:t>Lightweight
task head</a:t>
            </a:r>
          </a:p>
        </p:txBody>
      </p:sp>
      <p:sp>
        <p:nvSpPr>
          <p:cNvPr id="218" name="Global output icon"/>
          <p:cNvSpPr/>
          <p:nvPr/>
        </p:nvSpPr>
        <p:spPr>
          <a:xfrm>
            <a:off x="10821128" y="896422"/>
            <a:ext cx="371885" cy="44456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 flipV="1">
            <a:off x="10908631" y="1013030"/>
            <a:ext cx="0" cy="233216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0908631" y="1246246"/>
            <a:ext cx="204172" cy="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 220"/>
          <p:cNvSpPr/>
          <p:nvPr/>
        </p:nvSpPr>
        <p:spPr>
          <a:xfrm>
            <a:off x="10952382" y="1136926"/>
            <a:ext cx="36459" cy="109319"/>
          </a:xfrm>
          <a:prstGeom prst="rect">
            <a:avLst/>
          </a:prstGeom>
          <a:solidFill>
            <a:srgbClr val="555555"/>
          </a:solidFill>
          <a:ln w="508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1018009" y="1071334"/>
            <a:ext cx="36459" cy="174911"/>
          </a:xfrm>
          <a:prstGeom prst="rect">
            <a:avLst/>
          </a:prstGeom>
          <a:solidFill>
            <a:srgbClr val="555555"/>
          </a:solidFill>
          <a:ln w="508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1083636" y="983878"/>
            <a:ext cx="36459" cy="262367"/>
          </a:xfrm>
          <a:prstGeom prst="rect">
            <a:avLst/>
          </a:prstGeom>
          <a:solidFill>
            <a:srgbClr val="555555"/>
          </a:solidFill>
          <a:ln w="508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1265932" y="896422"/>
            <a:ext cx="918775" cy="45185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11111"/>
                </a:solidFill>
                <a:latin typeface="Arial"/>
              </a:rPr>
              <a:t>Global clinical
output
(e.g., risk score)</a:t>
            </a:r>
          </a:p>
        </p:txBody>
      </p:sp>
      <p:pic>
        <p:nvPicPr>
          <p:cNvPr id="225" name="Dense output icon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6545" y="1661662"/>
            <a:ext cx="401052" cy="459143"/>
          </a:xfrm>
          <a:prstGeom prst="rect">
            <a:avLst/>
          </a:prstGeom>
          <a:effectLst/>
        </p:spPr>
      </p:pic>
      <p:sp>
        <p:nvSpPr>
          <p:cNvPr id="226" name="TextBox 225"/>
          <p:cNvSpPr txBox="1"/>
          <p:nvPr/>
        </p:nvSpPr>
        <p:spPr>
          <a:xfrm>
            <a:off x="11258640" y="1661662"/>
            <a:ext cx="933358" cy="45185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111111"/>
                </a:solidFill>
                <a:latin typeface="Arial"/>
              </a:rPr>
              <a:t>Dense segmentation /
localization output</a:t>
            </a:r>
          </a:p>
        </p:txBody>
      </p:sp>
      <p:sp>
        <p:nvSpPr>
          <p:cNvPr id="227" name="Transition query"/>
          <p:cNvSpPr/>
          <p:nvPr/>
        </p:nvSpPr>
        <p:spPr>
          <a:xfrm>
            <a:off x="7787712" y="2893332"/>
            <a:ext cx="772937" cy="378975"/>
          </a:xfrm>
          <a:prstGeom prst="roundRect">
            <a:avLst>
              <a:gd name="adj" fmla="val 7000"/>
            </a:avLst>
          </a:prstGeom>
          <a:solidFill>
            <a:srgbClr val="FFF4EC"/>
          </a:solidFill>
          <a:ln w="1270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ransition query label"/>
          <p:cNvSpPr txBox="1"/>
          <p:nvPr/>
        </p:nvSpPr>
        <p:spPr>
          <a:xfrm>
            <a:off x="7816880" y="2915196"/>
            <a:ext cx="714602" cy="33524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11111"/>
                </a:solidFill>
                <a:latin typeface="Arial"/>
              </a:rPr>
              <a:t>Transition query
(τ)</a:t>
            </a:r>
          </a:p>
        </p:txBody>
      </p:sp>
      <p:sp>
        <p:nvSpPr>
          <p:cNvPr id="229" name="Forecast horizon"/>
          <p:cNvSpPr/>
          <p:nvPr/>
        </p:nvSpPr>
        <p:spPr>
          <a:xfrm>
            <a:off x="7787712" y="3541963"/>
            <a:ext cx="772937" cy="561175"/>
          </a:xfrm>
          <a:prstGeom prst="roundRect">
            <a:avLst>
              <a:gd name="adj" fmla="val 7000"/>
            </a:avLst>
          </a:prstGeom>
          <a:solidFill>
            <a:srgbClr val="FFF4EC"/>
          </a:solidFill>
          <a:ln w="1270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orecast horizon label"/>
          <p:cNvSpPr txBox="1"/>
          <p:nvPr/>
        </p:nvSpPr>
        <p:spPr>
          <a:xfrm>
            <a:off x="7816880" y="3563827"/>
            <a:ext cx="714602" cy="51744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11111"/>
                </a:solidFill>
                <a:latin typeface="Arial"/>
              </a:rPr>
              <a:t>Horizon
h
(e.g., 3 months)</a:t>
            </a:r>
          </a:p>
        </p:txBody>
      </p:sp>
      <p:sp>
        <p:nvSpPr>
          <p:cNvPr id="231" name="Conditional representation"/>
          <p:cNvSpPr/>
          <p:nvPr/>
        </p:nvSpPr>
        <p:spPr>
          <a:xfrm>
            <a:off x="8808573" y="3316036"/>
            <a:ext cx="736478" cy="524735"/>
          </a:xfrm>
          <a:prstGeom prst="roundRect">
            <a:avLst>
              <a:gd name="adj" fmla="val 7000"/>
            </a:avLst>
          </a:prstGeom>
          <a:solidFill>
            <a:srgbClr val="FFF4EC"/>
          </a:solidFill>
          <a:ln w="1270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Conditional representation label"/>
          <p:cNvSpPr txBox="1"/>
          <p:nvPr/>
        </p:nvSpPr>
        <p:spPr>
          <a:xfrm>
            <a:off x="8837741" y="3337900"/>
            <a:ext cx="678143" cy="48100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111"/>
                </a:solidFill>
                <a:latin typeface="Arial"/>
              </a:rPr>
              <a:t>Conditional
representation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990870" y="3665859"/>
            <a:ext cx="393760" cy="18219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1">
                <a:solidFill>
                  <a:srgbClr val="E55700"/>
                </a:solidFill>
                <a:latin typeface="Cambria Math"/>
              </a:rPr>
              <a:t>Aₜ,ₕ</a:t>
            </a:r>
          </a:p>
        </p:txBody>
      </p:sp>
      <p:sp>
        <p:nvSpPr>
          <p:cNvPr id="234" name="Latent predictor"/>
          <p:cNvSpPr/>
          <p:nvPr/>
        </p:nvSpPr>
        <p:spPr>
          <a:xfrm>
            <a:off x="9727349" y="3512811"/>
            <a:ext cx="721894" cy="604903"/>
          </a:xfrm>
          <a:prstGeom prst="roundRect">
            <a:avLst>
              <a:gd name="adj" fmla="val 7000"/>
            </a:avLst>
          </a:prstGeom>
          <a:solidFill>
            <a:srgbClr val="FFF4EC"/>
          </a:solidFill>
          <a:ln w="1270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Latent predictor label"/>
          <p:cNvSpPr txBox="1"/>
          <p:nvPr/>
        </p:nvSpPr>
        <p:spPr>
          <a:xfrm>
            <a:off x="9756516" y="3534675"/>
            <a:ext cx="663559" cy="56117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Arial"/>
              </a:rPr>
              <a:t>Latent
predictor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852325" y="4117715"/>
            <a:ext cx="1633377" cy="40812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11111"/>
                </a:solidFill>
                <a:latin typeface="Cambria Math"/>
              </a:rPr>
              <a:t>Inputs to predictor (exactly 4):
Dₜ¹:ᴸ,  Sₜ,  Aₜ,ₕ,  h</a:t>
            </a:r>
          </a:p>
        </p:txBody>
      </p:sp>
      <p:sp>
        <p:nvSpPr>
          <p:cNvPr id="237" name="Predicted global latent"/>
          <p:cNvSpPr/>
          <p:nvPr/>
        </p:nvSpPr>
        <p:spPr>
          <a:xfrm>
            <a:off x="10843004" y="2871468"/>
            <a:ext cx="182296" cy="196775"/>
          </a:xfrm>
          <a:prstGeom prst="rect">
            <a:avLst/>
          </a:prstGeom>
          <a:solidFill>
            <a:srgbClr val="FFF4EC"/>
          </a:solidFill>
          <a:ln w="1143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1171138" y="2791300"/>
            <a:ext cx="998985" cy="44456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E55700"/>
                </a:solidFill>
                <a:latin typeface="Arial"/>
              </a:rPr>
              <a:t>Predicted future
GLOBAL latent
(1 vector)</a:t>
            </a:r>
          </a:p>
        </p:txBody>
      </p:sp>
      <p:sp>
        <p:nvSpPr>
          <p:cNvPr id="239" name="Predicted map header"/>
          <p:cNvSpPr/>
          <p:nvPr/>
        </p:nvSpPr>
        <p:spPr>
          <a:xfrm rot="10800000">
            <a:off x="10580497" y="3520099"/>
            <a:ext cx="437511" cy="262367"/>
          </a:xfrm>
          <a:prstGeom prst="trapezoid">
            <a:avLst/>
          </a:prstGeom>
          <a:solidFill>
            <a:srgbClr val="FFF4EC"/>
          </a:solidFill>
          <a:ln w="1016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Predicted map header col 1"/>
          <p:cNvCxnSpPr/>
          <p:nvPr/>
        </p:nvCxnSpPr>
        <p:spPr>
          <a:xfrm flipH="1">
            <a:off x="10667999" y="3520099"/>
            <a:ext cx="34126" cy="262368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Predicted map header col 2"/>
          <p:cNvCxnSpPr/>
          <p:nvPr/>
        </p:nvCxnSpPr>
        <p:spPr>
          <a:xfrm flipH="1">
            <a:off x="10755502" y="3520099"/>
            <a:ext cx="11375" cy="262368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Predicted map header col 3"/>
          <p:cNvCxnSpPr/>
          <p:nvPr/>
        </p:nvCxnSpPr>
        <p:spPr>
          <a:xfrm>
            <a:off x="10831629" y="3520099"/>
            <a:ext cx="11375" cy="262368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Predicted map header col 4"/>
          <p:cNvCxnSpPr/>
          <p:nvPr/>
        </p:nvCxnSpPr>
        <p:spPr>
          <a:xfrm>
            <a:off x="10896380" y="3520099"/>
            <a:ext cx="34126" cy="262368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Predicted map header row 1"/>
          <p:cNvCxnSpPr/>
          <p:nvPr/>
        </p:nvCxnSpPr>
        <p:spPr>
          <a:xfrm>
            <a:off x="10618415" y="3607555"/>
            <a:ext cx="361676" cy="0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Predicted map header row 2"/>
          <p:cNvCxnSpPr/>
          <p:nvPr/>
        </p:nvCxnSpPr>
        <p:spPr>
          <a:xfrm>
            <a:off x="10599456" y="3695011"/>
            <a:ext cx="399594" cy="0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Predicted map 1/4"/>
          <p:cNvSpPr/>
          <p:nvPr/>
        </p:nvSpPr>
        <p:spPr>
          <a:xfrm rot="10800000">
            <a:off x="10609664" y="3840771"/>
            <a:ext cx="517722" cy="269655"/>
          </a:xfrm>
          <a:prstGeom prst="trapezoid">
            <a:avLst/>
          </a:prstGeom>
          <a:solidFill>
            <a:srgbClr val="FFF4EC"/>
          </a:solidFill>
          <a:ln w="1016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Predicted map 1/4 col 1"/>
          <p:cNvCxnSpPr/>
          <p:nvPr/>
        </p:nvCxnSpPr>
        <p:spPr>
          <a:xfrm flipH="1">
            <a:off x="10713209" y="3840771"/>
            <a:ext cx="40382" cy="269656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Predicted map 1/4 col 2"/>
          <p:cNvCxnSpPr/>
          <p:nvPr/>
        </p:nvCxnSpPr>
        <p:spPr>
          <a:xfrm flipH="1">
            <a:off x="10816753" y="3840771"/>
            <a:ext cx="13461" cy="269656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Predicted map 1/4 col 3"/>
          <p:cNvCxnSpPr/>
          <p:nvPr/>
        </p:nvCxnSpPr>
        <p:spPr>
          <a:xfrm>
            <a:off x="10906837" y="3840771"/>
            <a:ext cx="13461" cy="269656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Predicted map 1/4 col 4"/>
          <p:cNvCxnSpPr/>
          <p:nvPr/>
        </p:nvCxnSpPr>
        <p:spPr>
          <a:xfrm>
            <a:off x="10983460" y="3840771"/>
            <a:ext cx="40382" cy="269656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Predicted map 1/4 row 1"/>
          <p:cNvCxnSpPr/>
          <p:nvPr/>
        </p:nvCxnSpPr>
        <p:spPr>
          <a:xfrm>
            <a:off x="10654534" y="3930656"/>
            <a:ext cx="427984" cy="0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Predicted map 1/4 row 2"/>
          <p:cNvCxnSpPr/>
          <p:nvPr/>
        </p:nvCxnSpPr>
        <p:spPr>
          <a:xfrm>
            <a:off x="10632099" y="4020541"/>
            <a:ext cx="472853" cy="0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Predicted map 1/8"/>
          <p:cNvSpPr/>
          <p:nvPr/>
        </p:nvSpPr>
        <p:spPr>
          <a:xfrm rot="10800000">
            <a:off x="10682583" y="4161443"/>
            <a:ext cx="452095" cy="247791"/>
          </a:xfrm>
          <a:prstGeom prst="trapezoid">
            <a:avLst/>
          </a:prstGeom>
          <a:solidFill>
            <a:srgbClr val="FFF4EC"/>
          </a:solidFill>
          <a:ln w="1016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Predicted map 1/8 col 1"/>
          <p:cNvCxnSpPr/>
          <p:nvPr/>
        </p:nvCxnSpPr>
        <p:spPr>
          <a:xfrm flipH="1">
            <a:off x="10773002" y="4161443"/>
            <a:ext cx="35264" cy="247791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Predicted map 1/8 col 2"/>
          <p:cNvCxnSpPr/>
          <p:nvPr/>
        </p:nvCxnSpPr>
        <p:spPr>
          <a:xfrm flipH="1">
            <a:off x="10863421" y="4161443"/>
            <a:ext cx="11755" cy="247791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Predicted map 1/8 col 3"/>
          <p:cNvCxnSpPr/>
          <p:nvPr/>
        </p:nvCxnSpPr>
        <p:spPr>
          <a:xfrm>
            <a:off x="10942086" y="4161443"/>
            <a:ext cx="11754" cy="247791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Predicted map 1/8 col 4"/>
          <p:cNvCxnSpPr/>
          <p:nvPr/>
        </p:nvCxnSpPr>
        <p:spPr>
          <a:xfrm>
            <a:off x="11008996" y="4161443"/>
            <a:ext cx="35264" cy="247791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Predicted map 1/8 row 1"/>
          <p:cNvCxnSpPr/>
          <p:nvPr/>
        </p:nvCxnSpPr>
        <p:spPr>
          <a:xfrm>
            <a:off x="10721765" y="4244040"/>
            <a:ext cx="373732" cy="0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Predicted map 1/8 row 2"/>
          <p:cNvCxnSpPr/>
          <p:nvPr/>
        </p:nvCxnSpPr>
        <p:spPr>
          <a:xfrm>
            <a:off x="10702174" y="4326637"/>
            <a:ext cx="412914" cy="0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Predicted map 1/16"/>
          <p:cNvSpPr/>
          <p:nvPr/>
        </p:nvSpPr>
        <p:spPr>
          <a:xfrm rot="10800000">
            <a:off x="10748210" y="4460250"/>
            <a:ext cx="386468" cy="225927"/>
          </a:xfrm>
          <a:prstGeom prst="trapezoid">
            <a:avLst/>
          </a:prstGeom>
          <a:solidFill>
            <a:srgbClr val="FFF4EC"/>
          </a:solidFill>
          <a:ln w="10160">
            <a:solidFill>
              <a:srgbClr val="E5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Predicted map 1/16 col 1"/>
          <p:cNvCxnSpPr/>
          <p:nvPr/>
        </p:nvCxnSpPr>
        <p:spPr>
          <a:xfrm flipH="1">
            <a:off x="10825504" y="4460250"/>
            <a:ext cx="30144" cy="225928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Predicted map 1/16 col 2"/>
          <p:cNvCxnSpPr/>
          <p:nvPr/>
        </p:nvCxnSpPr>
        <p:spPr>
          <a:xfrm flipH="1">
            <a:off x="10902797" y="4460250"/>
            <a:ext cx="10049" cy="225928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Predicted map 1/16 col 3"/>
          <p:cNvCxnSpPr/>
          <p:nvPr/>
        </p:nvCxnSpPr>
        <p:spPr>
          <a:xfrm>
            <a:off x="10970043" y="4460250"/>
            <a:ext cx="10048" cy="225928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Predicted map 1/16 col 4"/>
          <p:cNvCxnSpPr/>
          <p:nvPr/>
        </p:nvCxnSpPr>
        <p:spPr>
          <a:xfrm>
            <a:off x="11027240" y="4460250"/>
            <a:ext cx="30145" cy="225928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Predicted map 1/16 row 1"/>
          <p:cNvCxnSpPr/>
          <p:nvPr/>
        </p:nvCxnSpPr>
        <p:spPr>
          <a:xfrm>
            <a:off x="10781704" y="4535560"/>
            <a:ext cx="319481" cy="0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Predicted map 1/16 row 2"/>
          <p:cNvCxnSpPr/>
          <p:nvPr/>
        </p:nvCxnSpPr>
        <p:spPr>
          <a:xfrm>
            <a:off x="10764957" y="4610869"/>
            <a:ext cx="352975" cy="0"/>
          </a:xfrm>
          <a:prstGeom prst="line">
            <a:avLst/>
          </a:prstGeom>
          <a:ln w="5715">
            <a:solidFill>
              <a:srgbClr val="E557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11090927" y="3294172"/>
            <a:ext cx="1093779" cy="46643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E55700"/>
                </a:solidFill>
                <a:latin typeface="Arial"/>
              </a:rPr>
              <a:t>Predicted future
REGIONAL multiscale
latents (dense)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185722" y="3818907"/>
            <a:ext cx="328133" cy="21863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11111"/>
                </a:solidFill>
                <a:latin typeface="Arial"/>
              </a:rPr>
              <a:t>1/4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1185722" y="4146867"/>
            <a:ext cx="328133" cy="21863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11111"/>
                </a:solidFill>
                <a:latin typeface="Arial"/>
              </a:rPr>
              <a:t>1/8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1185722" y="4445674"/>
            <a:ext cx="328133" cy="21863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11111"/>
                </a:solidFill>
                <a:latin typeface="Arial"/>
              </a:rPr>
              <a:t>1/16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0821128" y="4729906"/>
            <a:ext cx="218755" cy="28423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0456535" y="3396204"/>
            <a:ext cx="218755" cy="1362854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 i="0">
                <a:solidFill>
                  <a:srgbClr val="E55700"/>
                </a:solidFill>
                <a:latin typeface="Cambria Math"/>
              </a:rPr>
              <a:t>{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75004" y="5312945"/>
            <a:ext cx="1822966" cy="36439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7D23"/>
                </a:solidFill>
                <a:latin typeface="Arial"/>
              </a:rPr>
              <a:t>Training-only target pathway
(not used online)</a:t>
            </a:r>
          </a:p>
        </p:txBody>
      </p:sp>
      <p:sp>
        <p:nvSpPr>
          <p:cNvPr id="274" name="Observed follow-up card"/>
          <p:cNvSpPr/>
          <p:nvPr/>
        </p:nvSpPr>
        <p:spPr>
          <a:xfrm>
            <a:off x="1771923" y="5531585"/>
            <a:ext cx="1830258" cy="1078622"/>
          </a:xfrm>
          <a:prstGeom prst="roundRect">
            <a:avLst>
              <a:gd name="adj" fmla="val 7000"/>
            </a:avLst>
          </a:prstGeom>
          <a:solidFill>
            <a:srgbClr val="F2F8EF"/>
          </a:solidFill>
          <a:ln w="12700">
            <a:solidFill>
              <a:srgbClr val="3B7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859425" y="5582601"/>
            <a:ext cx="1647961" cy="21135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7D23"/>
                </a:solidFill>
                <a:latin typeface="Arial"/>
              </a:rPr>
              <a:t>Observed follow-up study Xₜ₊</a:t>
            </a:r>
          </a:p>
        </p:txBody>
      </p:sp>
      <p:pic>
        <p:nvPicPr>
          <p:cNvPr id="276" name="Follow-up C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8803" y="5859545"/>
            <a:ext cx="663559" cy="604903"/>
          </a:xfrm>
          <a:prstGeom prst="rect">
            <a:avLst/>
          </a:prstGeom>
          <a:effectLst/>
        </p:spPr>
      </p:pic>
      <p:pic>
        <p:nvPicPr>
          <p:cNvPr id="277" name="Follow-up MRI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0076" y="5852257"/>
            <a:ext cx="532306" cy="612191"/>
          </a:xfrm>
          <a:prstGeom prst="rect">
            <a:avLst/>
          </a:prstGeom>
          <a:effectLst/>
        </p:spPr>
      </p:pic>
      <p:sp>
        <p:nvSpPr>
          <p:cNvPr id="278" name="EMA target encoder"/>
          <p:cNvSpPr/>
          <p:nvPr/>
        </p:nvSpPr>
        <p:spPr>
          <a:xfrm>
            <a:off x="3988650" y="5808529"/>
            <a:ext cx="1305243" cy="641343"/>
          </a:xfrm>
          <a:prstGeom prst="roundRect">
            <a:avLst>
              <a:gd name="adj" fmla="val 7000"/>
            </a:avLst>
          </a:prstGeom>
          <a:solidFill>
            <a:srgbClr val="F2F8EF"/>
          </a:solidFill>
          <a:ln w="12700">
            <a:solidFill>
              <a:srgbClr val="3B7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MA target encoder label"/>
          <p:cNvSpPr txBox="1"/>
          <p:nvPr/>
        </p:nvSpPr>
        <p:spPr>
          <a:xfrm>
            <a:off x="4017818" y="5830393"/>
            <a:ext cx="1246909" cy="597615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1111"/>
                </a:solidFill>
                <a:latin typeface="Arial"/>
              </a:rPr>
              <a:t>EMA target encoder
· stop-gradient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126181" y="5721073"/>
            <a:ext cx="196880" cy="204063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B7D23"/>
                </a:solidFill>
                <a:latin typeface="Arial"/>
              </a:rPr>
              <a:t>▣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5731406" y="5422265"/>
            <a:ext cx="751062" cy="422703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3B7D23"/>
                </a:solidFill>
                <a:latin typeface="Arial"/>
              </a:rPr>
              <a:t>Target future
GLOBAL latent
(1 vector)</a:t>
            </a:r>
          </a:p>
        </p:txBody>
      </p:sp>
      <p:sp>
        <p:nvSpPr>
          <p:cNvPr id="282" name="Target global latent"/>
          <p:cNvSpPr/>
          <p:nvPr/>
        </p:nvSpPr>
        <p:spPr>
          <a:xfrm>
            <a:off x="6788727" y="5517009"/>
            <a:ext cx="182296" cy="196775"/>
          </a:xfrm>
          <a:prstGeom prst="rect">
            <a:avLst/>
          </a:prstGeom>
          <a:solidFill>
            <a:srgbClr val="F2F8EF"/>
          </a:solidFill>
          <a:ln w="11430">
            <a:solidFill>
              <a:srgbClr val="3B7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5731406" y="5947001"/>
            <a:ext cx="926066" cy="48100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3B7D23"/>
                </a:solidFill>
                <a:latin typeface="Arial"/>
              </a:rPr>
              <a:t>Target future
REGIONAL multiscale
latents (dense)</a:t>
            </a:r>
          </a:p>
        </p:txBody>
      </p:sp>
      <p:sp>
        <p:nvSpPr>
          <p:cNvPr id="284" name="Target map 1/4"/>
          <p:cNvSpPr/>
          <p:nvPr/>
        </p:nvSpPr>
        <p:spPr>
          <a:xfrm rot="10800000">
            <a:off x="6723100" y="5837681"/>
            <a:ext cx="590641" cy="225927"/>
          </a:xfrm>
          <a:prstGeom prst="trapezoid">
            <a:avLst/>
          </a:prstGeom>
          <a:solidFill>
            <a:srgbClr val="F2F8EF"/>
          </a:solidFill>
          <a:ln w="10160">
            <a:solidFill>
              <a:srgbClr val="3B7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Target map 1/4 col 1"/>
          <p:cNvCxnSpPr/>
          <p:nvPr/>
        </p:nvCxnSpPr>
        <p:spPr>
          <a:xfrm flipH="1">
            <a:off x="6841228" y="5837681"/>
            <a:ext cx="46070" cy="225927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Target map 1/4 col 2"/>
          <p:cNvCxnSpPr/>
          <p:nvPr/>
        </p:nvCxnSpPr>
        <p:spPr>
          <a:xfrm flipH="1">
            <a:off x="6959356" y="5837681"/>
            <a:ext cx="15357" cy="225927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Target map 1/4 col 3"/>
          <p:cNvCxnSpPr/>
          <p:nvPr/>
        </p:nvCxnSpPr>
        <p:spPr>
          <a:xfrm>
            <a:off x="7062128" y="5837681"/>
            <a:ext cx="15356" cy="225927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Target map 1/4 col 4"/>
          <p:cNvCxnSpPr/>
          <p:nvPr/>
        </p:nvCxnSpPr>
        <p:spPr>
          <a:xfrm>
            <a:off x="7149543" y="5837681"/>
            <a:ext cx="46070" cy="225927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Target map 1/4 row 1"/>
          <p:cNvCxnSpPr/>
          <p:nvPr/>
        </p:nvCxnSpPr>
        <p:spPr>
          <a:xfrm>
            <a:off x="6774289" y="5912990"/>
            <a:ext cx="488263" cy="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Target map 1/4 row 2"/>
          <p:cNvCxnSpPr/>
          <p:nvPr/>
        </p:nvCxnSpPr>
        <p:spPr>
          <a:xfrm>
            <a:off x="6748694" y="5988299"/>
            <a:ext cx="539452" cy="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Target map 1/8"/>
          <p:cNvSpPr/>
          <p:nvPr/>
        </p:nvSpPr>
        <p:spPr>
          <a:xfrm rot="10800000">
            <a:off x="6759559" y="6114624"/>
            <a:ext cx="539598" cy="211351"/>
          </a:xfrm>
          <a:prstGeom prst="trapezoid">
            <a:avLst/>
          </a:prstGeom>
          <a:solidFill>
            <a:srgbClr val="F2F8EF"/>
          </a:solidFill>
          <a:ln w="10160">
            <a:solidFill>
              <a:srgbClr val="3B7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Target map 1/8 col 1"/>
          <p:cNvCxnSpPr/>
          <p:nvPr/>
        </p:nvCxnSpPr>
        <p:spPr>
          <a:xfrm flipH="1">
            <a:off x="6867479" y="6114624"/>
            <a:ext cx="42088" cy="211352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Target map 1/8 col 2"/>
          <p:cNvCxnSpPr/>
          <p:nvPr/>
        </p:nvCxnSpPr>
        <p:spPr>
          <a:xfrm flipH="1">
            <a:off x="6975398" y="6114624"/>
            <a:ext cx="14030" cy="211352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Target map 1/8 col 3"/>
          <p:cNvCxnSpPr/>
          <p:nvPr/>
        </p:nvCxnSpPr>
        <p:spPr>
          <a:xfrm>
            <a:off x="7069288" y="6114624"/>
            <a:ext cx="14030" cy="211352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Target map 1/8 col 4"/>
          <p:cNvCxnSpPr/>
          <p:nvPr/>
        </p:nvCxnSpPr>
        <p:spPr>
          <a:xfrm>
            <a:off x="7149149" y="6114624"/>
            <a:ext cx="42089" cy="211352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Target map 1/8 row 1"/>
          <p:cNvCxnSpPr/>
          <p:nvPr/>
        </p:nvCxnSpPr>
        <p:spPr>
          <a:xfrm>
            <a:off x="6806324" y="6185075"/>
            <a:ext cx="446068" cy="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Target map 1/8 row 2"/>
          <p:cNvCxnSpPr/>
          <p:nvPr/>
        </p:nvCxnSpPr>
        <p:spPr>
          <a:xfrm>
            <a:off x="6782942" y="6255526"/>
            <a:ext cx="492833" cy="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Target map 1/16"/>
          <p:cNvSpPr/>
          <p:nvPr/>
        </p:nvSpPr>
        <p:spPr>
          <a:xfrm rot="10800000">
            <a:off x="6810602" y="6376992"/>
            <a:ext cx="481263" cy="182199"/>
          </a:xfrm>
          <a:prstGeom prst="trapezoid">
            <a:avLst/>
          </a:prstGeom>
          <a:solidFill>
            <a:srgbClr val="F2F8EF"/>
          </a:solidFill>
          <a:ln w="10160">
            <a:solidFill>
              <a:srgbClr val="3B7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9" name="Target map 1/16 col 1"/>
          <p:cNvCxnSpPr/>
          <p:nvPr/>
        </p:nvCxnSpPr>
        <p:spPr>
          <a:xfrm flipH="1">
            <a:off x="6906855" y="6376992"/>
            <a:ext cx="37538" cy="18220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Target map 1/16 col 2"/>
          <p:cNvCxnSpPr/>
          <p:nvPr/>
        </p:nvCxnSpPr>
        <p:spPr>
          <a:xfrm flipH="1">
            <a:off x="7003107" y="6376992"/>
            <a:ext cx="12513" cy="18220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Target map 1/16 col 3"/>
          <p:cNvCxnSpPr/>
          <p:nvPr/>
        </p:nvCxnSpPr>
        <p:spPr>
          <a:xfrm>
            <a:off x="7086847" y="6376992"/>
            <a:ext cx="12513" cy="18220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Target map 1/16 col 4"/>
          <p:cNvCxnSpPr/>
          <p:nvPr/>
        </p:nvCxnSpPr>
        <p:spPr>
          <a:xfrm>
            <a:off x="7158074" y="6376992"/>
            <a:ext cx="37539" cy="18220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Target map 1/16 row 1"/>
          <p:cNvCxnSpPr/>
          <p:nvPr/>
        </p:nvCxnSpPr>
        <p:spPr>
          <a:xfrm>
            <a:off x="6852312" y="6437725"/>
            <a:ext cx="397844" cy="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Target map 1/16 row 2"/>
          <p:cNvCxnSpPr/>
          <p:nvPr/>
        </p:nvCxnSpPr>
        <p:spPr>
          <a:xfrm>
            <a:off x="6831457" y="6498459"/>
            <a:ext cx="439554" cy="0"/>
          </a:xfrm>
          <a:prstGeom prst="line">
            <a:avLst/>
          </a:prstGeom>
          <a:ln w="5715">
            <a:solidFill>
              <a:srgbClr val="3B7D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7423119" y="5844969"/>
            <a:ext cx="342717" cy="18948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11111"/>
                </a:solidFill>
                <a:latin typeface="Arial"/>
              </a:rPr>
              <a:t>1/4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423119" y="6121912"/>
            <a:ext cx="342717" cy="18948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11111"/>
                </a:solidFill>
                <a:latin typeface="Arial"/>
              </a:rPr>
              <a:t>1/8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7423119" y="6376992"/>
            <a:ext cx="342717" cy="189487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11111"/>
                </a:solidFill>
                <a:latin typeface="Arial"/>
              </a:rPr>
              <a:t>1/16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963731" y="6573768"/>
            <a:ext cx="182296" cy="21863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09" name="Alignment loss"/>
          <p:cNvSpPr/>
          <p:nvPr/>
        </p:nvSpPr>
        <p:spPr>
          <a:xfrm>
            <a:off x="9122124" y="5866833"/>
            <a:ext cx="809397" cy="583039"/>
          </a:xfrm>
          <a:prstGeom prst="ellipse">
            <a:avLst/>
          </a:prstGeom>
          <a:solidFill>
            <a:srgbClr val="F2F8EF"/>
          </a:solidFill>
          <a:ln w="12700">
            <a:solidFill>
              <a:srgbClr val="3B7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9231502" y="5976153"/>
            <a:ext cx="590641" cy="357111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11111"/>
                </a:solidFill>
                <a:latin typeface="Arial"/>
              </a:rPr>
              <a:t>Alignment
loss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1280516" y="5866833"/>
            <a:ext cx="838564" cy="583039"/>
          </a:xfrm>
          <a:prstGeom prst="rect">
            <a:avLst/>
          </a:prstGeom>
          <a:noFill/>
          <a:effectLst/>
        </p:spPr>
        <p:txBody>
          <a:bodyPr wrap="square" lIns="7291" rIns="729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3B7D23"/>
                </a:solidFill>
                <a:latin typeface="Arial"/>
              </a:rPr>
              <a:t>future loss
trains the
online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