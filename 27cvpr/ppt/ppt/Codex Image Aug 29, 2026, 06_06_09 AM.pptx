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090136" cy="76992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Evidence route"/>
          <p:cNvCxnSpPr/>
          <p:nvPr/>
        </p:nvCxnSpPr>
        <p:spPr>
          <a:xfrm>
            <a:off x="109728" y="2331720"/>
            <a:ext cx="2852928" cy="0"/>
          </a:xfrm>
          <a:prstGeom prst="line">
            <a:avLst/>
          </a:prstGeom>
          <a:ln w="13970">
            <a:solidFill>
              <a:srgbClr val="6264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ncoder to dense memory 1"/>
          <p:cNvCxnSpPr/>
          <p:nvPr/>
        </p:nvCxnSpPr>
        <p:spPr>
          <a:xfrm flipV="1">
            <a:off x="3630168" y="1152144"/>
            <a:ext cx="0" cy="658368"/>
          </a:xfrm>
          <a:prstGeom prst="line">
            <a:avLst/>
          </a:prstGeom>
          <a:ln w="171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ncoder to dense memory 2"/>
          <p:cNvCxnSpPr/>
          <p:nvPr/>
        </p:nvCxnSpPr>
        <p:spPr>
          <a:xfrm>
            <a:off x="3630168" y="1152144"/>
            <a:ext cx="3840480" cy="0"/>
          </a:xfrm>
          <a:prstGeom prst="line">
            <a:avLst/>
          </a:prstGeom>
          <a:ln w="17145">
            <a:solidFill>
              <a:srgbClr val="315D8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Dense memory to future study"/>
          <p:cNvCxnSpPr/>
          <p:nvPr/>
        </p:nvCxnSpPr>
        <p:spPr>
          <a:xfrm>
            <a:off x="8869680" y="1152144"/>
            <a:ext cx="2651760" cy="0"/>
          </a:xfrm>
          <a:prstGeom prst="line">
            <a:avLst/>
          </a:prstGeom>
          <a:ln w="17145">
            <a:solidFill>
              <a:srgbClr val="315D8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Dense memory to representation 1"/>
          <p:cNvCxnSpPr/>
          <p:nvPr/>
        </p:nvCxnSpPr>
        <p:spPr>
          <a:xfrm>
            <a:off x="10104120" y="1152144"/>
            <a:ext cx="0" cy="1097280"/>
          </a:xfrm>
          <a:prstGeom prst="line">
            <a:avLst/>
          </a:prstGeom>
          <a:ln w="1587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ense memory to representation 2"/>
          <p:cNvCxnSpPr/>
          <p:nvPr/>
        </p:nvCxnSpPr>
        <p:spPr>
          <a:xfrm>
            <a:off x="10104120" y="2249424"/>
            <a:ext cx="512064" cy="0"/>
          </a:xfrm>
          <a:prstGeom prst="line">
            <a:avLst/>
          </a:prstGeom>
          <a:ln w="1587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ense memory to representation 3"/>
          <p:cNvCxnSpPr/>
          <p:nvPr/>
        </p:nvCxnSpPr>
        <p:spPr>
          <a:xfrm>
            <a:off x="10616184" y="2249424"/>
            <a:ext cx="0" cy="484632"/>
          </a:xfrm>
          <a:prstGeom prst="line">
            <a:avLst/>
          </a:prstGeom>
          <a:ln w="15875">
            <a:solidFill>
              <a:srgbClr val="315D8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ncoder to resampler 1"/>
          <p:cNvCxnSpPr/>
          <p:nvPr/>
        </p:nvCxnSpPr>
        <p:spPr>
          <a:xfrm>
            <a:off x="4608576" y="2761488"/>
            <a:ext cx="164592" cy="0"/>
          </a:xfrm>
          <a:prstGeom prst="line">
            <a:avLst/>
          </a:prstGeom>
          <a:ln w="13970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ncoder to resampler 2"/>
          <p:cNvCxnSpPr/>
          <p:nvPr/>
        </p:nvCxnSpPr>
        <p:spPr>
          <a:xfrm>
            <a:off x="4773168" y="2761488"/>
            <a:ext cx="0" cy="868680"/>
          </a:xfrm>
          <a:prstGeom prst="line">
            <a:avLst/>
          </a:prstGeom>
          <a:ln w="13970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ncoder to resampler 3"/>
          <p:cNvCxnSpPr/>
          <p:nvPr/>
        </p:nvCxnSpPr>
        <p:spPr>
          <a:xfrm>
            <a:off x="4773168" y="3630168"/>
            <a:ext cx="155448" cy="0"/>
          </a:xfrm>
          <a:prstGeom prst="line">
            <a:avLst/>
          </a:prstGeom>
          <a:ln w="13970">
            <a:solidFill>
              <a:srgbClr val="6264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sampler to visual tokens"/>
          <p:cNvCxnSpPr/>
          <p:nvPr/>
        </p:nvCxnSpPr>
        <p:spPr>
          <a:xfrm>
            <a:off x="5733288" y="3657600"/>
            <a:ext cx="210312" cy="0"/>
          </a:xfrm>
          <a:prstGeom prst="line">
            <a:avLst/>
          </a:prstGeom>
          <a:ln w="14604">
            <a:solidFill>
              <a:srgbClr val="6264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Visual tokens to slots"/>
          <p:cNvCxnSpPr/>
          <p:nvPr/>
        </p:nvCxnSpPr>
        <p:spPr>
          <a:xfrm>
            <a:off x="6931152" y="3666744"/>
            <a:ext cx="411479" cy="0"/>
          </a:xfrm>
          <a:prstGeom prst="line">
            <a:avLst/>
          </a:prstGeom>
          <a:ln w="14604">
            <a:solidFill>
              <a:srgbClr val="60416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lots to representation"/>
          <p:cNvCxnSpPr/>
          <p:nvPr/>
        </p:nvCxnSpPr>
        <p:spPr>
          <a:xfrm>
            <a:off x="9985248" y="3666744"/>
            <a:ext cx="512064" cy="0"/>
          </a:xfrm>
          <a:prstGeom prst="line">
            <a:avLst/>
          </a:prstGeom>
          <a:ln w="14604">
            <a:solidFill>
              <a:srgbClr val="60416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ext evidence route"/>
          <p:cNvCxnSpPr/>
          <p:nvPr/>
        </p:nvCxnSpPr>
        <p:spPr>
          <a:xfrm>
            <a:off x="2862072" y="4142232"/>
            <a:ext cx="3081528" cy="0"/>
          </a:xfrm>
          <a:prstGeom prst="line">
            <a:avLst/>
          </a:prstGeom>
          <a:ln w="13970">
            <a:solidFill>
              <a:srgbClr val="6264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Text tokens to slots"/>
          <p:cNvCxnSpPr/>
          <p:nvPr/>
        </p:nvCxnSpPr>
        <p:spPr>
          <a:xfrm>
            <a:off x="6940296" y="4142232"/>
            <a:ext cx="402335" cy="0"/>
          </a:xfrm>
          <a:prstGeom prst="line">
            <a:avLst/>
          </a:prstGeom>
          <a:ln w="13970">
            <a:solidFill>
              <a:srgbClr val="6264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vidence baseline"/>
          <p:cNvCxnSpPr/>
          <p:nvPr/>
        </p:nvCxnSpPr>
        <p:spPr>
          <a:xfrm>
            <a:off x="146304" y="4453128"/>
            <a:ext cx="7196327" cy="0"/>
          </a:xfrm>
          <a:prstGeom prst="line">
            <a:avLst/>
          </a:prstGeom>
          <a:ln w="1079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ate baseline"/>
          <p:cNvCxnSpPr/>
          <p:nvPr/>
        </p:nvCxnSpPr>
        <p:spPr>
          <a:xfrm>
            <a:off x="7342631" y="4453128"/>
            <a:ext cx="2715769" cy="0"/>
          </a:xfrm>
          <a:prstGeom prst="line">
            <a:avLst/>
          </a:prstGeom>
          <a:ln w="1333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ense input to predictor"/>
          <p:cNvCxnSpPr/>
          <p:nvPr/>
        </p:nvCxnSpPr>
        <p:spPr>
          <a:xfrm>
            <a:off x="6620256" y="4453128"/>
            <a:ext cx="0" cy="1152144"/>
          </a:xfrm>
          <a:prstGeom prst="line">
            <a:avLst/>
          </a:prstGeom>
          <a:ln w="15240">
            <a:solidFill>
              <a:srgbClr val="315D8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lots input to predictor 1"/>
          <p:cNvCxnSpPr/>
          <p:nvPr/>
        </p:nvCxnSpPr>
        <p:spPr>
          <a:xfrm>
            <a:off x="9290304" y="4453128"/>
            <a:ext cx="0" cy="448056"/>
          </a:xfrm>
          <a:prstGeom prst="line">
            <a:avLst/>
          </a:prstGeom>
          <a:ln w="14604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lots input to predictor 2"/>
          <p:cNvCxnSpPr/>
          <p:nvPr/>
        </p:nvCxnSpPr>
        <p:spPr>
          <a:xfrm flipH="1">
            <a:off x="7525512" y="4901184"/>
            <a:ext cx="1764792" cy="0"/>
          </a:xfrm>
          <a:prstGeom prst="line">
            <a:avLst/>
          </a:prstGeom>
          <a:ln w="14604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lots input to predictor 3"/>
          <p:cNvCxnSpPr/>
          <p:nvPr/>
        </p:nvCxnSpPr>
        <p:spPr>
          <a:xfrm>
            <a:off x="7525512" y="4901184"/>
            <a:ext cx="0" cy="704088"/>
          </a:xfrm>
          <a:prstGeom prst="line">
            <a:avLst/>
          </a:prstGeom>
          <a:ln w="14604">
            <a:solidFill>
              <a:srgbClr val="60416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Horizon route"/>
          <p:cNvCxnSpPr/>
          <p:nvPr/>
        </p:nvCxnSpPr>
        <p:spPr>
          <a:xfrm>
            <a:off x="8430768" y="5065776"/>
            <a:ext cx="3364992" cy="0"/>
          </a:xfrm>
          <a:prstGeom prst="line">
            <a:avLst/>
          </a:prstGeom>
          <a:ln w="15875">
            <a:solidFill>
              <a:srgbClr val="B55B3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ransition input to predictor"/>
          <p:cNvCxnSpPr/>
          <p:nvPr/>
        </p:nvCxnSpPr>
        <p:spPr>
          <a:xfrm>
            <a:off x="8430768" y="5065776"/>
            <a:ext cx="0" cy="539496"/>
          </a:xfrm>
          <a:prstGeom prst="line">
            <a:avLst/>
          </a:prstGeom>
          <a:ln w="13970">
            <a:solidFill>
              <a:srgbClr val="B55B3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Horizon input to predictor"/>
          <p:cNvCxnSpPr/>
          <p:nvPr/>
        </p:nvCxnSpPr>
        <p:spPr>
          <a:xfrm>
            <a:off x="9326880" y="5065776"/>
            <a:ext cx="0" cy="539496"/>
          </a:xfrm>
          <a:prstGeom prst="line">
            <a:avLst/>
          </a:prstGeom>
          <a:ln w="13970">
            <a:solidFill>
              <a:srgbClr val="B55B3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vidence heading"/>
          <p:cNvSpPr txBox="1"/>
          <p:nvPr/>
        </p:nvSpPr>
        <p:spPr>
          <a:xfrm>
            <a:off x="594360" y="1289304"/>
            <a:ext cx="1737360" cy="31089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1419"/>
                </a:solidFill>
                <a:latin typeface="Arial"/>
              </a:rPr>
              <a:t>Evidence ≤ t</a:t>
            </a:r>
          </a:p>
        </p:txBody>
      </p:sp>
      <p:sp>
        <p:nvSpPr>
          <p:cNvPr id="27" name="Evidence scan frame 1"/>
          <p:cNvSpPr/>
          <p:nvPr/>
        </p:nvSpPr>
        <p:spPr>
          <a:xfrm>
            <a:off x="246888" y="1728216"/>
            <a:ext cx="731520" cy="832104"/>
          </a:xfrm>
          <a:prstGeom prst="roundRect">
            <a:avLst>
              <a:gd name="adj" fmla="val 8000"/>
            </a:avLst>
          </a:prstGeom>
          <a:solidFill>
            <a:srgbClr val="FEFDFC"/>
          </a:solidFill>
          <a:ln w="1270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Evidence scan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773936"/>
            <a:ext cx="630936" cy="740664"/>
          </a:xfrm>
          <a:prstGeom prst="rect">
            <a:avLst/>
          </a:prstGeom>
          <a:effectLst/>
        </p:spPr>
      </p:pic>
      <p:sp>
        <p:nvSpPr>
          <p:cNvPr id="29" name="Evidence scan frame 2"/>
          <p:cNvSpPr/>
          <p:nvPr/>
        </p:nvSpPr>
        <p:spPr>
          <a:xfrm>
            <a:off x="1069848" y="1728216"/>
            <a:ext cx="768096" cy="832104"/>
          </a:xfrm>
          <a:prstGeom prst="roundRect">
            <a:avLst>
              <a:gd name="adj" fmla="val 8000"/>
            </a:avLst>
          </a:prstGeom>
          <a:solidFill>
            <a:srgbClr val="FEFDFC"/>
          </a:solidFill>
          <a:ln w="1270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Evidence scan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773936"/>
            <a:ext cx="658368" cy="740664"/>
          </a:xfrm>
          <a:prstGeom prst="rect">
            <a:avLst/>
          </a:prstGeom>
          <a:effectLst/>
        </p:spPr>
      </p:pic>
      <p:sp>
        <p:nvSpPr>
          <p:cNvPr id="31" name="Evidence scan frame 3"/>
          <p:cNvSpPr/>
          <p:nvPr/>
        </p:nvSpPr>
        <p:spPr>
          <a:xfrm>
            <a:off x="1929384" y="1728216"/>
            <a:ext cx="731520" cy="832104"/>
          </a:xfrm>
          <a:prstGeom prst="roundRect">
            <a:avLst>
              <a:gd name="adj" fmla="val 8000"/>
            </a:avLst>
          </a:prstGeom>
          <a:solidFill>
            <a:srgbClr val="FEFDFC"/>
          </a:solidFill>
          <a:ln w="1270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Evidence scan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1773936"/>
            <a:ext cx="621792" cy="740664"/>
          </a:xfrm>
          <a:prstGeom prst="rect">
            <a:avLst/>
          </a:prstGeom>
          <a:effectLst/>
        </p:spPr>
      </p:pic>
      <p:sp>
        <p:nvSpPr>
          <p:cNvPr id="33" name="Medical encoder"/>
          <p:cNvSpPr/>
          <p:nvPr/>
        </p:nvSpPr>
        <p:spPr>
          <a:xfrm>
            <a:off x="3035808" y="1810512"/>
            <a:ext cx="1572768" cy="18288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edical encoder label"/>
          <p:cNvSpPr txBox="1"/>
          <p:nvPr/>
        </p:nvSpPr>
        <p:spPr>
          <a:xfrm>
            <a:off x="3108960" y="1920240"/>
            <a:ext cx="1426464" cy="4480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1419"/>
                </a:solidFill>
                <a:latin typeface="Arial"/>
              </a:rPr>
              <a:t>Medical 2D / 3D
encoder</a:t>
            </a:r>
          </a:p>
        </p:txBody>
      </p:sp>
      <p:sp>
        <p:nvSpPr>
          <p:cNvPr id="35" name="2D token 1-1"/>
          <p:cNvSpPr/>
          <p:nvPr/>
        </p:nvSpPr>
        <p:spPr>
          <a:xfrm>
            <a:off x="3172968" y="2468880"/>
            <a:ext cx="109728" cy="173736"/>
          </a:xfrm>
          <a:prstGeom prst="rect">
            <a:avLst/>
          </a:prstGeom>
          <a:solidFill>
            <a:srgbClr val="C9CDD0"/>
          </a:solidFill>
          <a:ln w="6350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2D token 1-2"/>
          <p:cNvSpPr/>
          <p:nvPr/>
        </p:nvSpPr>
        <p:spPr>
          <a:xfrm>
            <a:off x="3310128" y="2468880"/>
            <a:ext cx="109728" cy="173736"/>
          </a:xfrm>
          <a:prstGeom prst="rect">
            <a:avLst/>
          </a:prstGeom>
          <a:solidFill>
            <a:srgbClr val="8EA5B9"/>
          </a:solidFill>
          <a:ln w="6350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2D token 1-3"/>
          <p:cNvSpPr/>
          <p:nvPr/>
        </p:nvSpPr>
        <p:spPr>
          <a:xfrm>
            <a:off x="3447288" y="2468880"/>
            <a:ext cx="109728" cy="173736"/>
          </a:xfrm>
          <a:prstGeom prst="rect">
            <a:avLst/>
          </a:prstGeom>
          <a:solidFill>
            <a:srgbClr val="8EA5B9"/>
          </a:solidFill>
          <a:ln w="6350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2D token 2-1"/>
          <p:cNvSpPr/>
          <p:nvPr/>
        </p:nvSpPr>
        <p:spPr>
          <a:xfrm>
            <a:off x="3172968" y="2679192"/>
            <a:ext cx="109728" cy="173736"/>
          </a:xfrm>
          <a:prstGeom prst="rect">
            <a:avLst/>
          </a:prstGeom>
          <a:solidFill>
            <a:srgbClr val="C9CDD0"/>
          </a:solidFill>
          <a:ln w="6350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2D token 2-2"/>
          <p:cNvSpPr/>
          <p:nvPr/>
        </p:nvSpPr>
        <p:spPr>
          <a:xfrm>
            <a:off x="3310128" y="2679192"/>
            <a:ext cx="109728" cy="173736"/>
          </a:xfrm>
          <a:prstGeom prst="rect">
            <a:avLst/>
          </a:prstGeom>
          <a:solidFill>
            <a:srgbClr val="8EA5B9"/>
          </a:solidFill>
          <a:ln w="6350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2D token 2-3"/>
          <p:cNvSpPr/>
          <p:nvPr/>
        </p:nvSpPr>
        <p:spPr>
          <a:xfrm>
            <a:off x="3447288" y="2679192"/>
            <a:ext cx="109728" cy="173736"/>
          </a:xfrm>
          <a:prstGeom prst="rect">
            <a:avLst/>
          </a:prstGeom>
          <a:solidFill>
            <a:srgbClr val="8EA5B9"/>
          </a:solidFill>
          <a:ln w="6350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2D token 3-1"/>
          <p:cNvSpPr/>
          <p:nvPr/>
        </p:nvSpPr>
        <p:spPr>
          <a:xfrm>
            <a:off x="3172968" y="2889504"/>
            <a:ext cx="109728" cy="173736"/>
          </a:xfrm>
          <a:prstGeom prst="rect">
            <a:avLst/>
          </a:prstGeom>
          <a:solidFill>
            <a:srgbClr val="C9CDD0"/>
          </a:solidFill>
          <a:ln w="6350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2D token 3-2"/>
          <p:cNvSpPr/>
          <p:nvPr/>
        </p:nvSpPr>
        <p:spPr>
          <a:xfrm>
            <a:off x="3310128" y="2889504"/>
            <a:ext cx="109728" cy="173736"/>
          </a:xfrm>
          <a:prstGeom prst="rect">
            <a:avLst/>
          </a:prstGeom>
          <a:solidFill>
            <a:srgbClr val="8EA5B9"/>
          </a:solidFill>
          <a:ln w="6350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2D token 3-3"/>
          <p:cNvSpPr/>
          <p:nvPr/>
        </p:nvSpPr>
        <p:spPr>
          <a:xfrm>
            <a:off x="3447288" y="2889504"/>
            <a:ext cx="109728" cy="173736"/>
          </a:xfrm>
          <a:prstGeom prst="rect">
            <a:avLst/>
          </a:prstGeom>
          <a:solidFill>
            <a:srgbClr val="8EA5B9"/>
          </a:solidFill>
          <a:ln w="6350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2D token small"/>
          <p:cNvSpPr/>
          <p:nvPr/>
        </p:nvSpPr>
        <p:spPr>
          <a:xfrm>
            <a:off x="3300984" y="3017520"/>
            <a:ext cx="100584" cy="73152"/>
          </a:xfrm>
          <a:prstGeom prst="rect">
            <a:avLst/>
          </a:prstGeom>
          <a:solidFill>
            <a:srgbClr val="C9CDD0"/>
          </a:solidFill>
          <a:ln w="5715">
            <a:solidFill>
              <a:srgbClr val="899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ncoder cube front"/>
          <p:cNvSpPr/>
          <p:nvPr/>
        </p:nvSpPr>
        <p:spPr>
          <a:xfrm>
            <a:off x="3941063" y="2542032"/>
            <a:ext cx="411480" cy="539496"/>
          </a:xfrm>
          <a:prstGeom prst="rect">
            <a:avLst/>
          </a:prstGeom>
          <a:solidFill>
            <a:srgbClr val="9EB3C5"/>
          </a:solidFill>
          <a:ln w="10160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Encoder cube front v1"/>
          <p:cNvCxnSpPr/>
          <p:nvPr/>
        </p:nvCxnSpPr>
        <p:spPr>
          <a:xfrm>
            <a:off x="4078224" y="2542032"/>
            <a:ext cx="0" cy="539496"/>
          </a:xfrm>
          <a:prstGeom prst="line">
            <a:avLst/>
          </a:prstGeom>
          <a:ln w="571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ncoder cube front v2"/>
          <p:cNvCxnSpPr/>
          <p:nvPr/>
        </p:nvCxnSpPr>
        <p:spPr>
          <a:xfrm>
            <a:off x="4215384" y="2542032"/>
            <a:ext cx="0" cy="539496"/>
          </a:xfrm>
          <a:prstGeom prst="line">
            <a:avLst/>
          </a:prstGeom>
          <a:ln w="571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ncoder cube front h1"/>
          <p:cNvCxnSpPr/>
          <p:nvPr/>
        </p:nvCxnSpPr>
        <p:spPr>
          <a:xfrm>
            <a:off x="3941063" y="2721864"/>
            <a:ext cx="411481" cy="0"/>
          </a:xfrm>
          <a:prstGeom prst="line">
            <a:avLst/>
          </a:prstGeom>
          <a:ln w="571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ncoder cube front h2"/>
          <p:cNvCxnSpPr/>
          <p:nvPr/>
        </p:nvCxnSpPr>
        <p:spPr>
          <a:xfrm>
            <a:off x="3941063" y="2901696"/>
            <a:ext cx="411481" cy="0"/>
          </a:xfrm>
          <a:prstGeom prst="line">
            <a:avLst/>
          </a:prstGeom>
          <a:ln w="571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ncoder cube top"/>
          <p:cNvSpPr/>
          <p:nvPr/>
        </p:nvSpPr>
        <p:spPr>
          <a:xfrm>
            <a:off x="3941063" y="2450592"/>
            <a:ext cx="521208" cy="91440"/>
          </a:xfrm>
          <a:custGeom>
            <a:avLst/>
            <a:gdLst/>
            <a:ahLst/>
            <a:cxnLst/>
            <a:rect l="l" t="t" r="r" b="b"/>
            <a:pathLst>
              <a:path w="57" h="10">
                <a:moveTo>
                  <a:pt x="0" y="10"/>
                </a:moveTo>
                <a:lnTo>
                  <a:pt x="12" y="0"/>
                </a:lnTo>
                <a:lnTo>
                  <a:pt x="57" y="0"/>
                </a:lnTo>
                <a:lnTo>
                  <a:pt x="45" y="10"/>
                </a:lnTo>
                <a:close/>
              </a:path>
            </a:pathLst>
          </a:custGeom>
          <a:solidFill>
            <a:srgbClr val="BDCAD5"/>
          </a:solidFill>
          <a:ln w="8255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ncoder cube side"/>
          <p:cNvSpPr/>
          <p:nvPr/>
        </p:nvSpPr>
        <p:spPr>
          <a:xfrm>
            <a:off x="4352544" y="2450592"/>
            <a:ext cx="109728" cy="630936"/>
          </a:xfrm>
          <a:custGeom>
            <a:avLst/>
            <a:gdLst/>
            <a:ahLst/>
            <a:cxnLst/>
            <a:rect l="l" t="t" r="r" b="b"/>
            <a:pathLst>
              <a:path w="12" h="69">
                <a:moveTo>
                  <a:pt x="0" y="10"/>
                </a:moveTo>
                <a:lnTo>
                  <a:pt x="12" y="0"/>
                </a:lnTo>
                <a:lnTo>
                  <a:pt x="12" y="59"/>
                </a:lnTo>
                <a:lnTo>
                  <a:pt x="0" y="69"/>
                </a:lnTo>
                <a:close/>
              </a:path>
            </a:pathLst>
          </a:custGeom>
          <a:solidFill>
            <a:srgbClr val="7893AA"/>
          </a:solidFill>
          <a:ln w="8255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ube top grid 1"/>
          <p:cNvCxnSpPr/>
          <p:nvPr/>
        </p:nvCxnSpPr>
        <p:spPr>
          <a:xfrm flipH="1">
            <a:off x="4078224" y="2450592"/>
            <a:ext cx="109728" cy="9144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be side grid 1"/>
          <p:cNvCxnSpPr/>
          <p:nvPr/>
        </p:nvCxnSpPr>
        <p:spPr>
          <a:xfrm flipV="1">
            <a:off x="4352544" y="2630728"/>
            <a:ext cx="109728" cy="9144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be top grid 2"/>
          <p:cNvCxnSpPr/>
          <p:nvPr/>
        </p:nvCxnSpPr>
        <p:spPr>
          <a:xfrm flipH="1">
            <a:off x="4215384" y="2450592"/>
            <a:ext cx="109728" cy="9144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be side grid 2"/>
          <p:cNvCxnSpPr/>
          <p:nvPr/>
        </p:nvCxnSpPr>
        <p:spPr>
          <a:xfrm flipV="1">
            <a:off x="4352544" y="2810865"/>
            <a:ext cx="109728" cy="9144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ncoder token brace 1"/>
          <p:cNvCxnSpPr/>
          <p:nvPr/>
        </p:nvCxnSpPr>
        <p:spPr>
          <a:xfrm>
            <a:off x="3483864" y="3163824"/>
            <a:ext cx="0" cy="100584"/>
          </a:xfrm>
          <a:prstGeom prst="line">
            <a:avLst/>
          </a:prstGeom>
          <a:ln w="11430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ncoder token brace 2"/>
          <p:cNvCxnSpPr/>
          <p:nvPr/>
        </p:nvCxnSpPr>
        <p:spPr>
          <a:xfrm>
            <a:off x="3483864" y="3264408"/>
            <a:ext cx="54864" cy="54864"/>
          </a:xfrm>
          <a:prstGeom prst="line">
            <a:avLst/>
          </a:prstGeom>
          <a:ln w="11430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ncoder token brace 3"/>
          <p:cNvCxnSpPr/>
          <p:nvPr/>
        </p:nvCxnSpPr>
        <p:spPr>
          <a:xfrm>
            <a:off x="3538728" y="3319272"/>
            <a:ext cx="566928" cy="0"/>
          </a:xfrm>
          <a:prstGeom prst="line">
            <a:avLst/>
          </a:prstGeom>
          <a:ln w="11430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ncoder token brace 4"/>
          <p:cNvCxnSpPr/>
          <p:nvPr/>
        </p:nvCxnSpPr>
        <p:spPr>
          <a:xfrm flipV="1">
            <a:off x="4105656" y="3264408"/>
            <a:ext cx="64007" cy="54864"/>
          </a:xfrm>
          <a:prstGeom prst="line">
            <a:avLst/>
          </a:prstGeom>
          <a:ln w="11430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ncoder token brace 5"/>
          <p:cNvCxnSpPr/>
          <p:nvPr/>
        </p:nvCxnSpPr>
        <p:spPr>
          <a:xfrm flipV="1">
            <a:off x="4169663" y="3163824"/>
            <a:ext cx="0" cy="100584"/>
          </a:xfrm>
          <a:prstGeom prst="line">
            <a:avLst/>
          </a:prstGeom>
          <a:ln w="11430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ncoder output stem"/>
          <p:cNvCxnSpPr/>
          <p:nvPr/>
        </p:nvCxnSpPr>
        <p:spPr>
          <a:xfrm>
            <a:off x="3822191" y="3319272"/>
            <a:ext cx="0" cy="320040"/>
          </a:xfrm>
          <a:prstGeom prst="line">
            <a:avLst/>
          </a:prstGeom>
          <a:ln w="1079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sampler and projector"/>
          <p:cNvSpPr/>
          <p:nvPr/>
        </p:nvSpPr>
        <p:spPr>
          <a:xfrm>
            <a:off x="4928616" y="3337560"/>
            <a:ext cx="804672" cy="64008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sampler label"/>
          <p:cNvSpPr txBox="1"/>
          <p:nvPr/>
        </p:nvSpPr>
        <p:spPr>
          <a:xfrm>
            <a:off x="4965192" y="3392424"/>
            <a:ext cx="731520" cy="521207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71419"/>
                </a:solidFill>
                <a:latin typeface="Arial"/>
              </a:rPr>
              <a:t>Resampler
+ projector</a:t>
            </a:r>
          </a:p>
        </p:txBody>
      </p:sp>
      <p:sp>
        <p:nvSpPr>
          <p:cNvPr id="64" name="Visual token 1"/>
          <p:cNvSpPr/>
          <p:nvPr/>
        </p:nvSpPr>
        <p:spPr>
          <a:xfrm>
            <a:off x="5998464" y="3529584"/>
            <a:ext cx="246888" cy="274320"/>
          </a:xfrm>
          <a:prstGeom prst="roundRect">
            <a:avLst>
              <a:gd name="adj" fmla="val 8000"/>
            </a:avLst>
          </a:prstGeom>
          <a:solidFill>
            <a:srgbClr val="86A1B6"/>
          </a:solidFill>
          <a:ln w="10160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sual token 2"/>
          <p:cNvSpPr/>
          <p:nvPr/>
        </p:nvSpPr>
        <p:spPr>
          <a:xfrm>
            <a:off x="6318504" y="3529584"/>
            <a:ext cx="246888" cy="274320"/>
          </a:xfrm>
          <a:prstGeom prst="roundRect">
            <a:avLst>
              <a:gd name="adj" fmla="val 8000"/>
            </a:avLst>
          </a:prstGeom>
          <a:solidFill>
            <a:srgbClr val="86A1B6"/>
          </a:solidFill>
          <a:ln w="10160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sual token 3"/>
          <p:cNvSpPr/>
          <p:nvPr/>
        </p:nvSpPr>
        <p:spPr>
          <a:xfrm>
            <a:off x="6638544" y="3529584"/>
            <a:ext cx="246888" cy="274320"/>
          </a:xfrm>
          <a:prstGeom prst="roundRect">
            <a:avLst>
              <a:gd name="adj" fmla="val 8000"/>
            </a:avLst>
          </a:prstGeom>
          <a:solidFill>
            <a:srgbClr val="86A1B6"/>
          </a:solidFill>
          <a:ln w="10160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sual token ellipsis"/>
          <p:cNvSpPr txBox="1"/>
          <p:nvPr/>
        </p:nvSpPr>
        <p:spPr>
          <a:xfrm>
            <a:off x="6958584" y="3511296"/>
            <a:ext cx="283464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5D84"/>
                </a:solidFill>
                <a:latin typeface="Arial"/>
              </a:rPr>
              <a:t>···</a:t>
            </a:r>
          </a:p>
        </p:txBody>
      </p:sp>
      <p:sp>
        <p:nvSpPr>
          <p:cNvPr id="68" name="Report icon"/>
          <p:cNvSpPr/>
          <p:nvPr/>
        </p:nvSpPr>
        <p:spPr>
          <a:xfrm>
            <a:off x="173736" y="3712463"/>
            <a:ext cx="429768" cy="566928"/>
          </a:xfrm>
          <a:prstGeom prst="roundRect">
            <a:avLst>
              <a:gd name="adj" fmla="val 8000"/>
            </a:avLst>
          </a:prstGeom>
          <a:noFill/>
          <a:ln w="1143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port thumbnail"/>
          <p:cNvSpPr/>
          <p:nvPr/>
        </p:nvSpPr>
        <p:spPr>
          <a:xfrm>
            <a:off x="265176" y="3803904"/>
            <a:ext cx="128016" cy="146304"/>
          </a:xfrm>
          <a:prstGeom prst="rect">
            <a:avLst/>
          </a:prstGeom>
          <a:solidFill>
            <a:srgbClr val="D6D7D5"/>
          </a:solidFill>
          <a:ln w="6985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Report line 1"/>
          <p:cNvCxnSpPr/>
          <p:nvPr/>
        </p:nvCxnSpPr>
        <p:spPr>
          <a:xfrm>
            <a:off x="265176" y="4023360"/>
            <a:ext cx="219456" cy="0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Report line 2"/>
          <p:cNvCxnSpPr/>
          <p:nvPr/>
        </p:nvCxnSpPr>
        <p:spPr>
          <a:xfrm>
            <a:off x="265176" y="4087368"/>
            <a:ext cx="274320" cy="0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Report line 3"/>
          <p:cNvCxnSpPr/>
          <p:nvPr/>
        </p:nvCxnSpPr>
        <p:spPr>
          <a:xfrm>
            <a:off x="265176" y="4151376"/>
            <a:ext cx="228600" cy="0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Report line 4"/>
          <p:cNvCxnSpPr/>
          <p:nvPr/>
        </p:nvCxnSpPr>
        <p:spPr>
          <a:xfrm>
            <a:off x="265176" y="4215384"/>
            <a:ext cx="182880" cy="0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hat icon"/>
          <p:cNvSpPr/>
          <p:nvPr/>
        </p:nvSpPr>
        <p:spPr>
          <a:xfrm>
            <a:off x="713232" y="3785615"/>
            <a:ext cx="365760" cy="338328"/>
          </a:xfrm>
          <a:prstGeom prst="roundRect">
            <a:avLst>
              <a:gd name="adj" fmla="val 8000"/>
            </a:avLst>
          </a:prstGeom>
          <a:noFill/>
          <a:ln w="1143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t tail"/>
          <p:cNvSpPr/>
          <p:nvPr/>
        </p:nvSpPr>
        <p:spPr>
          <a:xfrm>
            <a:off x="813816" y="4105656"/>
            <a:ext cx="36576" cy="64008"/>
          </a:xfrm>
          <a:custGeom>
            <a:avLst/>
            <a:gdLst/>
            <a:ahLst/>
            <a:cxnLst/>
            <a:rect l="l" t="t" r="r" b="b"/>
            <a:pathLst>
              <a:path w="4" h="7">
                <a:moveTo>
                  <a:pt x="0" y="0"/>
                </a:moveTo>
                <a:lnTo>
                  <a:pt x="4" y="0"/>
                </a:lnTo>
                <a:lnTo>
                  <a:pt x="0" y="7"/>
                </a:lnTo>
                <a:close/>
              </a:path>
            </a:pathLst>
          </a:custGeom>
          <a:solidFill>
            <a:srgbClr val="FBF9F7"/>
          </a:solidFill>
          <a:ln w="889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t line 1"/>
          <p:cNvCxnSpPr/>
          <p:nvPr/>
        </p:nvCxnSpPr>
        <p:spPr>
          <a:xfrm>
            <a:off x="813816" y="3895344"/>
            <a:ext cx="173736" cy="0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hat line 2"/>
          <p:cNvCxnSpPr/>
          <p:nvPr/>
        </p:nvCxnSpPr>
        <p:spPr>
          <a:xfrm>
            <a:off x="813816" y="3968496"/>
            <a:ext cx="137160" cy="0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token 1"/>
          <p:cNvSpPr/>
          <p:nvPr/>
        </p:nvSpPr>
        <p:spPr>
          <a:xfrm>
            <a:off x="1197864" y="4050791"/>
            <a:ext cx="539496" cy="173736"/>
          </a:xfrm>
          <a:prstGeom prst="roundRect">
            <a:avLst>
              <a:gd name="adj" fmla="val 8000"/>
            </a:avLst>
          </a:prstGeom>
          <a:solidFill>
            <a:srgbClr val="E4E4E2"/>
          </a:solidFill>
          <a:ln w="889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Text token line 1"/>
          <p:cNvCxnSpPr/>
          <p:nvPr/>
        </p:nvCxnSpPr>
        <p:spPr>
          <a:xfrm>
            <a:off x="1426464" y="4133087"/>
            <a:ext cx="128016" cy="0"/>
          </a:xfrm>
          <a:prstGeom prst="line">
            <a:avLst/>
          </a:prstGeom>
          <a:ln w="698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token 2"/>
          <p:cNvSpPr/>
          <p:nvPr/>
        </p:nvSpPr>
        <p:spPr>
          <a:xfrm>
            <a:off x="1837943" y="4050791"/>
            <a:ext cx="539496" cy="173736"/>
          </a:xfrm>
          <a:prstGeom prst="roundRect">
            <a:avLst>
              <a:gd name="adj" fmla="val 8000"/>
            </a:avLst>
          </a:prstGeom>
          <a:solidFill>
            <a:srgbClr val="E4E4E2"/>
          </a:solidFill>
          <a:ln w="889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Text token line 2"/>
          <p:cNvCxnSpPr/>
          <p:nvPr/>
        </p:nvCxnSpPr>
        <p:spPr>
          <a:xfrm>
            <a:off x="2066543" y="4133087"/>
            <a:ext cx="128017" cy="0"/>
          </a:xfrm>
          <a:prstGeom prst="line">
            <a:avLst/>
          </a:prstGeom>
          <a:ln w="698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token ellipsis"/>
          <p:cNvSpPr txBox="1"/>
          <p:nvPr/>
        </p:nvSpPr>
        <p:spPr>
          <a:xfrm>
            <a:off x="2478024" y="4014215"/>
            <a:ext cx="292608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1419"/>
                </a:solidFill>
                <a:latin typeface="Arial"/>
              </a:rPr>
              <a:t>···</a:t>
            </a:r>
          </a:p>
        </p:txBody>
      </p:sp>
      <p:sp>
        <p:nvSpPr>
          <p:cNvPr id="83" name="Dense memory heading"/>
          <p:cNvSpPr txBox="1"/>
          <p:nvPr/>
        </p:nvSpPr>
        <p:spPr>
          <a:xfrm>
            <a:off x="7086600" y="146304"/>
            <a:ext cx="2240280" cy="329184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1419"/>
                </a:solidFill>
                <a:latin typeface="Arial"/>
              </a:rPr>
              <a:t>Dense memory  </a:t>
            </a:r>
            <a:r>
              <a:rPr sz="1550" b="0" i="1">
                <a:solidFill>
                  <a:srgbClr val="171419"/>
                </a:solidFill>
                <a:latin typeface="Times New Roman"/>
              </a:rPr>
              <a:t>Dₜ¹:ᴸ</a:t>
            </a:r>
          </a:p>
        </p:txBody>
      </p:sp>
      <p:sp>
        <p:nvSpPr>
          <p:cNvPr id="84" name="Dense memory layer 1"/>
          <p:cNvSpPr/>
          <p:nvPr/>
        </p:nvSpPr>
        <p:spPr>
          <a:xfrm>
            <a:off x="7379208" y="1307592"/>
            <a:ext cx="1271016" cy="219456"/>
          </a:xfrm>
          <a:custGeom>
            <a:avLst/>
            <a:gdLst/>
            <a:ahLst/>
            <a:cxnLst/>
            <a:rect l="l" t="t" r="r" b="b"/>
            <a:pathLst>
              <a:path w="139" h="24">
                <a:moveTo>
                  <a:pt x="19" y="0"/>
                </a:moveTo>
                <a:lnTo>
                  <a:pt x="139" y="0"/>
                </a:lnTo>
                <a:lnTo>
                  <a:pt x="120" y="24"/>
                </a:lnTo>
                <a:lnTo>
                  <a:pt x="0" y="24"/>
                </a:lnTo>
                <a:close/>
              </a:path>
            </a:pathLst>
          </a:custGeom>
          <a:solidFill>
            <a:srgbClr val="A5B4C1"/>
          </a:solidFill>
          <a:ln w="8255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Dense memory layer 1 grid v1"/>
          <p:cNvCxnSpPr/>
          <p:nvPr/>
        </p:nvCxnSpPr>
        <p:spPr>
          <a:xfrm flipH="1">
            <a:off x="7598664" y="1307592"/>
            <a:ext cx="173736" cy="219456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Dense memory layer 1 grid v2"/>
          <p:cNvCxnSpPr/>
          <p:nvPr/>
        </p:nvCxnSpPr>
        <p:spPr>
          <a:xfrm flipH="1">
            <a:off x="7818120" y="1307592"/>
            <a:ext cx="173736" cy="219456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Dense memory layer 1 grid v3"/>
          <p:cNvCxnSpPr/>
          <p:nvPr/>
        </p:nvCxnSpPr>
        <p:spPr>
          <a:xfrm flipH="1">
            <a:off x="8037575" y="1307592"/>
            <a:ext cx="173737" cy="219456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Dense memory layer 1 grid v4"/>
          <p:cNvCxnSpPr/>
          <p:nvPr/>
        </p:nvCxnSpPr>
        <p:spPr>
          <a:xfrm flipH="1">
            <a:off x="8257031" y="1307592"/>
            <a:ext cx="173737" cy="219456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Dense memory layer 1 grid h1"/>
          <p:cNvCxnSpPr/>
          <p:nvPr/>
        </p:nvCxnSpPr>
        <p:spPr>
          <a:xfrm>
            <a:off x="7495031" y="1380744"/>
            <a:ext cx="1097281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Dense memory layer 1 grid h2"/>
          <p:cNvCxnSpPr/>
          <p:nvPr/>
        </p:nvCxnSpPr>
        <p:spPr>
          <a:xfrm>
            <a:off x="7437120" y="1453896"/>
            <a:ext cx="1097280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Dense memory layer 2"/>
          <p:cNvSpPr/>
          <p:nvPr/>
        </p:nvSpPr>
        <p:spPr>
          <a:xfrm>
            <a:off x="7488936" y="1152144"/>
            <a:ext cx="1243584" cy="201168"/>
          </a:xfrm>
          <a:custGeom>
            <a:avLst/>
            <a:gdLst/>
            <a:ahLst/>
            <a:cxnLst/>
            <a:rect l="l" t="t" r="r" b="b"/>
            <a:pathLst>
              <a:path w="136" h="22">
                <a:moveTo>
                  <a:pt x="18" y="0"/>
                </a:moveTo>
                <a:lnTo>
                  <a:pt x="136" y="0"/>
                </a:lnTo>
                <a:lnTo>
                  <a:pt x="118" y="22"/>
                </a:lnTo>
                <a:lnTo>
                  <a:pt x="0" y="22"/>
                </a:lnTo>
                <a:close/>
              </a:path>
            </a:pathLst>
          </a:custGeom>
          <a:solidFill>
            <a:srgbClr val="C0CAD2"/>
          </a:solidFill>
          <a:ln w="8255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Dense memory layer 2 grid v1"/>
          <p:cNvCxnSpPr/>
          <p:nvPr/>
        </p:nvCxnSpPr>
        <p:spPr>
          <a:xfrm flipH="1">
            <a:off x="7704734" y="1152144"/>
            <a:ext cx="164592" cy="201168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Dense memory layer 2 grid v2"/>
          <p:cNvCxnSpPr/>
          <p:nvPr/>
        </p:nvCxnSpPr>
        <p:spPr>
          <a:xfrm flipH="1">
            <a:off x="7920532" y="1152144"/>
            <a:ext cx="164592" cy="201168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Dense memory layer 2 grid v3"/>
          <p:cNvCxnSpPr/>
          <p:nvPr/>
        </p:nvCxnSpPr>
        <p:spPr>
          <a:xfrm flipH="1">
            <a:off x="8136331" y="1152144"/>
            <a:ext cx="164592" cy="201168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Dense memory layer 2 grid v4"/>
          <p:cNvCxnSpPr/>
          <p:nvPr/>
        </p:nvCxnSpPr>
        <p:spPr>
          <a:xfrm flipH="1">
            <a:off x="8352129" y="1152144"/>
            <a:ext cx="164592" cy="201168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Dense memory layer 2 grid h1"/>
          <p:cNvCxnSpPr/>
          <p:nvPr/>
        </p:nvCxnSpPr>
        <p:spPr>
          <a:xfrm>
            <a:off x="7598664" y="1219200"/>
            <a:ext cx="1078992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Dense memory layer 2 grid h2"/>
          <p:cNvCxnSpPr/>
          <p:nvPr/>
        </p:nvCxnSpPr>
        <p:spPr>
          <a:xfrm>
            <a:off x="7543800" y="1286255"/>
            <a:ext cx="1078992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Dense memory layer 3"/>
          <p:cNvSpPr/>
          <p:nvPr/>
        </p:nvSpPr>
        <p:spPr>
          <a:xfrm>
            <a:off x="7571231" y="987552"/>
            <a:ext cx="1152144" cy="192024"/>
          </a:xfrm>
          <a:custGeom>
            <a:avLst/>
            <a:gdLst/>
            <a:ahLst/>
            <a:cxnLst/>
            <a:rect l="l" t="t" r="r" b="b"/>
            <a:pathLst>
              <a:path w="126" h="21">
                <a:moveTo>
                  <a:pt x="17" y="0"/>
                </a:moveTo>
                <a:lnTo>
                  <a:pt x="126" y="0"/>
                </a:lnTo>
                <a:lnTo>
                  <a:pt x="109" y="21"/>
                </a:lnTo>
                <a:lnTo>
                  <a:pt x="0" y="21"/>
                </a:lnTo>
                <a:close/>
              </a:path>
            </a:pathLst>
          </a:custGeom>
          <a:solidFill>
            <a:srgbClr val="D0D7DC"/>
          </a:solidFill>
          <a:ln w="8255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Dense memory layer 3 grid v1"/>
          <p:cNvCxnSpPr/>
          <p:nvPr/>
        </p:nvCxnSpPr>
        <p:spPr>
          <a:xfrm flipH="1">
            <a:off x="7770571" y="987552"/>
            <a:ext cx="155448" cy="192024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Dense memory layer 3 grid v2"/>
          <p:cNvCxnSpPr/>
          <p:nvPr/>
        </p:nvCxnSpPr>
        <p:spPr>
          <a:xfrm flipH="1">
            <a:off x="7969910" y="987552"/>
            <a:ext cx="155448" cy="192024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Dense memory layer 3 grid v3"/>
          <p:cNvCxnSpPr/>
          <p:nvPr/>
        </p:nvCxnSpPr>
        <p:spPr>
          <a:xfrm flipH="1">
            <a:off x="8169249" y="987552"/>
            <a:ext cx="155448" cy="192024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Dense memory layer 3 grid v4"/>
          <p:cNvCxnSpPr/>
          <p:nvPr/>
        </p:nvCxnSpPr>
        <p:spPr>
          <a:xfrm flipH="1">
            <a:off x="8368588" y="987552"/>
            <a:ext cx="155448" cy="192024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Dense memory layer 3 grid h1"/>
          <p:cNvCxnSpPr/>
          <p:nvPr/>
        </p:nvCxnSpPr>
        <p:spPr>
          <a:xfrm>
            <a:off x="7674864" y="1051560"/>
            <a:ext cx="996696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Dense memory layer 3 grid h2"/>
          <p:cNvCxnSpPr/>
          <p:nvPr/>
        </p:nvCxnSpPr>
        <p:spPr>
          <a:xfrm>
            <a:off x="7623047" y="1115568"/>
            <a:ext cx="996697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Dense memory layer 4"/>
          <p:cNvSpPr/>
          <p:nvPr/>
        </p:nvSpPr>
        <p:spPr>
          <a:xfrm>
            <a:off x="7626096" y="841248"/>
            <a:ext cx="1088136" cy="182880"/>
          </a:xfrm>
          <a:custGeom>
            <a:avLst/>
            <a:gdLst/>
            <a:ahLst/>
            <a:cxnLst/>
            <a:rect l="l" t="t" r="r" b="b"/>
            <a:pathLst>
              <a:path w="119" h="20">
                <a:moveTo>
                  <a:pt x="17" y="0"/>
                </a:moveTo>
                <a:lnTo>
                  <a:pt x="119" y="0"/>
                </a:lnTo>
                <a:lnTo>
                  <a:pt x="10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AC6CF"/>
          </a:solidFill>
          <a:ln w="8255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Dense memory layer 4 grid v1"/>
          <p:cNvCxnSpPr/>
          <p:nvPr/>
        </p:nvCxnSpPr>
        <p:spPr>
          <a:xfrm flipH="1">
            <a:off x="7812633" y="841248"/>
            <a:ext cx="155448" cy="18288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Dense memory layer 4 grid v2"/>
          <p:cNvCxnSpPr/>
          <p:nvPr/>
        </p:nvCxnSpPr>
        <p:spPr>
          <a:xfrm flipH="1">
            <a:off x="7999171" y="841248"/>
            <a:ext cx="155448" cy="18288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Dense memory layer 4 grid v3"/>
          <p:cNvCxnSpPr/>
          <p:nvPr/>
        </p:nvCxnSpPr>
        <p:spPr>
          <a:xfrm flipH="1">
            <a:off x="8185708" y="841248"/>
            <a:ext cx="155448" cy="18288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Dense memory layer 4 grid v4"/>
          <p:cNvCxnSpPr/>
          <p:nvPr/>
        </p:nvCxnSpPr>
        <p:spPr>
          <a:xfrm flipH="1">
            <a:off x="8372246" y="841248"/>
            <a:ext cx="155448" cy="18288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Dense memory layer 4 grid h1"/>
          <p:cNvCxnSpPr/>
          <p:nvPr/>
        </p:nvCxnSpPr>
        <p:spPr>
          <a:xfrm>
            <a:off x="7729728" y="902208"/>
            <a:ext cx="932688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Dense memory layer 4 grid h2"/>
          <p:cNvCxnSpPr/>
          <p:nvPr/>
        </p:nvCxnSpPr>
        <p:spPr>
          <a:xfrm>
            <a:off x="7677912" y="963167"/>
            <a:ext cx="932688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Dense memory layer 5"/>
          <p:cNvSpPr/>
          <p:nvPr/>
        </p:nvSpPr>
        <p:spPr>
          <a:xfrm>
            <a:off x="7680960" y="694944"/>
            <a:ext cx="996696" cy="164592"/>
          </a:xfrm>
          <a:custGeom>
            <a:avLst/>
            <a:gdLst/>
            <a:ahLst/>
            <a:cxnLst/>
            <a:rect l="l" t="t" r="r" b="b"/>
            <a:pathLst>
              <a:path w="109" h="18">
                <a:moveTo>
                  <a:pt x="16" y="0"/>
                </a:moveTo>
                <a:lnTo>
                  <a:pt x="109" y="0"/>
                </a:lnTo>
                <a:lnTo>
                  <a:pt x="93" y="18"/>
                </a:lnTo>
                <a:lnTo>
                  <a:pt x="0" y="18"/>
                </a:lnTo>
                <a:close/>
              </a:path>
            </a:pathLst>
          </a:custGeom>
          <a:solidFill>
            <a:srgbClr val="CED6DB"/>
          </a:solidFill>
          <a:ln w="8255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Dense memory layer 5 grid v1"/>
          <p:cNvCxnSpPr/>
          <p:nvPr/>
        </p:nvCxnSpPr>
        <p:spPr>
          <a:xfrm flipH="1">
            <a:off x="7851038" y="694944"/>
            <a:ext cx="146304" cy="164592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Dense memory layer 5 grid v2"/>
          <p:cNvCxnSpPr/>
          <p:nvPr/>
        </p:nvCxnSpPr>
        <p:spPr>
          <a:xfrm flipH="1">
            <a:off x="8021116" y="694944"/>
            <a:ext cx="146304" cy="164592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Dense memory layer 5 grid v3"/>
          <p:cNvCxnSpPr/>
          <p:nvPr/>
        </p:nvCxnSpPr>
        <p:spPr>
          <a:xfrm flipH="1">
            <a:off x="8191195" y="694944"/>
            <a:ext cx="146304" cy="164592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Dense memory layer 5 grid v4"/>
          <p:cNvCxnSpPr/>
          <p:nvPr/>
        </p:nvCxnSpPr>
        <p:spPr>
          <a:xfrm flipH="1">
            <a:off x="8361273" y="694944"/>
            <a:ext cx="146304" cy="164592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Dense memory layer 5 grid h1"/>
          <p:cNvCxnSpPr/>
          <p:nvPr/>
        </p:nvCxnSpPr>
        <p:spPr>
          <a:xfrm>
            <a:off x="7778495" y="749808"/>
            <a:ext cx="850393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Dense memory layer 5 grid h2"/>
          <p:cNvCxnSpPr/>
          <p:nvPr/>
        </p:nvCxnSpPr>
        <p:spPr>
          <a:xfrm>
            <a:off x="7729728" y="804672"/>
            <a:ext cx="850392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Dense memory layer 6"/>
          <p:cNvSpPr/>
          <p:nvPr/>
        </p:nvSpPr>
        <p:spPr>
          <a:xfrm>
            <a:off x="7699248" y="557784"/>
            <a:ext cx="877824" cy="256032"/>
          </a:xfrm>
          <a:custGeom>
            <a:avLst/>
            <a:gdLst/>
            <a:ahLst/>
            <a:cxnLst/>
            <a:rect l="l" t="t" r="r" b="b"/>
            <a:pathLst>
              <a:path w="96" h="28">
                <a:moveTo>
                  <a:pt x="25" y="0"/>
                </a:moveTo>
                <a:lnTo>
                  <a:pt x="96" y="0"/>
                </a:lnTo>
                <a:lnTo>
                  <a:pt x="71" y="28"/>
                </a:lnTo>
                <a:lnTo>
                  <a:pt x="0" y="28"/>
                </a:lnTo>
                <a:close/>
              </a:path>
            </a:pathLst>
          </a:custGeom>
          <a:solidFill>
            <a:srgbClr val="AAB8C5"/>
          </a:solidFill>
          <a:ln w="8255">
            <a:solidFill>
              <a:srgbClr val="315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Dense memory layer 6 grid v1"/>
          <p:cNvCxnSpPr/>
          <p:nvPr/>
        </p:nvCxnSpPr>
        <p:spPr>
          <a:xfrm flipH="1">
            <a:off x="7829092" y="557784"/>
            <a:ext cx="228600" cy="256032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Dense memory layer 6 grid v2"/>
          <p:cNvCxnSpPr/>
          <p:nvPr/>
        </p:nvCxnSpPr>
        <p:spPr>
          <a:xfrm flipH="1">
            <a:off x="7958937" y="557784"/>
            <a:ext cx="228600" cy="256032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Dense memory layer 6 grid v3"/>
          <p:cNvCxnSpPr/>
          <p:nvPr/>
        </p:nvCxnSpPr>
        <p:spPr>
          <a:xfrm flipH="1">
            <a:off x="8088782" y="557784"/>
            <a:ext cx="228600" cy="256032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Dense memory layer 6 grid v4"/>
          <p:cNvCxnSpPr/>
          <p:nvPr/>
        </p:nvCxnSpPr>
        <p:spPr>
          <a:xfrm flipH="1">
            <a:off x="8218627" y="557784"/>
            <a:ext cx="228600" cy="256032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Dense memory layer 6 grid h1"/>
          <p:cNvCxnSpPr/>
          <p:nvPr/>
        </p:nvCxnSpPr>
        <p:spPr>
          <a:xfrm>
            <a:off x="7851647" y="643127"/>
            <a:ext cx="649225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Dense memory layer 6 grid h2"/>
          <p:cNvCxnSpPr/>
          <p:nvPr/>
        </p:nvCxnSpPr>
        <p:spPr>
          <a:xfrm>
            <a:off x="7775448" y="728472"/>
            <a:ext cx="649224" cy="0"/>
          </a:xfrm>
          <a:prstGeom prst="line">
            <a:avLst/>
          </a:prstGeom>
          <a:ln w="4445">
            <a:solidFill>
              <a:srgbClr val="315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VLM label"/>
          <p:cNvSpPr txBox="1"/>
          <p:nvPr/>
        </p:nvSpPr>
        <p:spPr>
          <a:xfrm>
            <a:off x="7040880" y="2331720"/>
            <a:ext cx="1600200" cy="33832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1419"/>
                </a:solidFill>
                <a:latin typeface="Arial"/>
              </a:rPr>
              <a:t>VLM + LoRA</a:t>
            </a:r>
          </a:p>
        </p:txBody>
      </p:sp>
      <p:sp>
        <p:nvSpPr>
          <p:cNvPr id="127" name="Slot heading"/>
          <p:cNvSpPr txBox="1"/>
          <p:nvPr/>
        </p:nvSpPr>
        <p:spPr>
          <a:xfrm>
            <a:off x="7882127" y="2761488"/>
            <a:ext cx="1874519" cy="338328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1419"/>
                </a:solidFill>
                <a:latin typeface="Arial"/>
              </a:rPr>
              <a:t>8 generic slots  </a:t>
            </a:r>
            <a:r>
              <a:rPr sz="1320" b="0" i="1">
                <a:solidFill>
                  <a:srgbClr val="171419"/>
                </a:solidFill>
                <a:latin typeface="Times New Roman"/>
              </a:rPr>
              <a:t>Sₜ</a:t>
            </a:r>
          </a:p>
        </p:txBody>
      </p:sp>
      <p:cxnSp>
        <p:nvCxnSpPr>
          <p:cNvPr id="128" name="Slot overbrace 1"/>
          <p:cNvCxnSpPr/>
          <p:nvPr/>
        </p:nvCxnSpPr>
        <p:spPr>
          <a:xfrm flipV="1">
            <a:off x="7397496" y="3209544"/>
            <a:ext cx="0" cy="36576"/>
          </a:xfrm>
          <a:prstGeom prst="line">
            <a:avLst/>
          </a:prstGeom>
          <a:ln w="1333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lot overbrace 2"/>
          <p:cNvCxnSpPr/>
          <p:nvPr/>
        </p:nvCxnSpPr>
        <p:spPr>
          <a:xfrm flipV="1">
            <a:off x="7397496" y="3154680"/>
            <a:ext cx="54864" cy="54864"/>
          </a:xfrm>
          <a:prstGeom prst="line">
            <a:avLst/>
          </a:prstGeom>
          <a:ln w="1333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lot overbrace 3"/>
          <p:cNvCxnSpPr/>
          <p:nvPr/>
        </p:nvCxnSpPr>
        <p:spPr>
          <a:xfrm>
            <a:off x="7452360" y="3154680"/>
            <a:ext cx="1170432" cy="0"/>
          </a:xfrm>
          <a:prstGeom prst="line">
            <a:avLst/>
          </a:prstGeom>
          <a:ln w="1333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lot overbrace 4"/>
          <p:cNvCxnSpPr/>
          <p:nvPr/>
        </p:nvCxnSpPr>
        <p:spPr>
          <a:xfrm>
            <a:off x="8622792" y="3154680"/>
            <a:ext cx="64008" cy="45720"/>
          </a:xfrm>
          <a:prstGeom prst="line">
            <a:avLst/>
          </a:prstGeom>
          <a:ln w="1333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lot overbrace 5"/>
          <p:cNvCxnSpPr/>
          <p:nvPr/>
        </p:nvCxnSpPr>
        <p:spPr>
          <a:xfrm flipV="1">
            <a:off x="8686800" y="3154680"/>
            <a:ext cx="64008" cy="45720"/>
          </a:xfrm>
          <a:prstGeom prst="line">
            <a:avLst/>
          </a:prstGeom>
          <a:ln w="1333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lot overbrace 6"/>
          <p:cNvCxnSpPr/>
          <p:nvPr/>
        </p:nvCxnSpPr>
        <p:spPr>
          <a:xfrm>
            <a:off x="8750808" y="3154680"/>
            <a:ext cx="1188720" cy="0"/>
          </a:xfrm>
          <a:prstGeom prst="line">
            <a:avLst/>
          </a:prstGeom>
          <a:ln w="1333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lot overbrace 7"/>
          <p:cNvCxnSpPr/>
          <p:nvPr/>
        </p:nvCxnSpPr>
        <p:spPr>
          <a:xfrm>
            <a:off x="9939528" y="3154680"/>
            <a:ext cx="54864" cy="54864"/>
          </a:xfrm>
          <a:prstGeom prst="line">
            <a:avLst/>
          </a:prstGeom>
          <a:ln w="1333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lot overbrace 8"/>
          <p:cNvCxnSpPr/>
          <p:nvPr/>
        </p:nvCxnSpPr>
        <p:spPr>
          <a:xfrm>
            <a:off x="9994392" y="3209544"/>
            <a:ext cx="0" cy="36576"/>
          </a:xfrm>
          <a:prstGeom prst="line">
            <a:avLst/>
          </a:prstGeom>
          <a:ln w="1333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Generic slot 1"/>
          <p:cNvSpPr/>
          <p:nvPr/>
        </p:nvSpPr>
        <p:spPr>
          <a:xfrm>
            <a:off x="7415783" y="3355848"/>
            <a:ext cx="237744" cy="923544"/>
          </a:xfrm>
          <a:prstGeom prst="roundRect">
            <a:avLst>
              <a:gd name="adj" fmla="val 8000"/>
            </a:avLst>
          </a:prstGeom>
          <a:solidFill>
            <a:srgbClr val="9A87A4"/>
          </a:solidFill>
          <a:ln w="1270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Generic slot 1 top"/>
          <p:cNvSpPr/>
          <p:nvPr/>
        </p:nvSpPr>
        <p:spPr>
          <a:xfrm>
            <a:off x="7425842" y="3364992"/>
            <a:ext cx="217627" cy="630936"/>
          </a:xfrm>
          <a:prstGeom prst="roundRect">
            <a:avLst>
              <a:gd name="adj" fmla="val 35000"/>
            </a:avLst>
          </a:prstGeom>
          <a:solidFill>
            <a:srgbClr val="F8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Generic slot 1 seam fill"/>
          <p:cNvSpPr/>
          <p:nvPr/>
        </p:nvSpPr>
        <p:spPr>
          <a:xfrm>
            <a:off x="7426756" y="3931920"/>
            <a:ext cx="215798" cy="91440"/>
          </a:xfrm>
          <a:prstGeom prst="rect">
            <a:avLst/>
          </a:prstGeom>
          <a:solidFill>
            <a:srgbClr val="9A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Generic slot 1 seam"/>
          <p:cNvCxnSpPr/>
          <p:nvPr/>
        </p:nvCxnSpPr>
        <p:spPr>
          <a:xfrm>
            <a:off x="7452360" y="3950208"/>
            <a:ext cx="164592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Generic slot 2"/>
          <p:cNvSpPr/>
          <p:nvPr/>
        </p:nvSpPr>
        <p:spPr>
          <a:xfrm>
            <a:off x="7744968" y="3355848"/>
            <a:ext cx="237744" cy="923544"/>
          </a:xfrm>
          <a:prstGeom prst="roundRect">
            <a:avLst>
              <a:gd name="adj" fmla="val 8000"/>
            </a:avLst>
          </a:prstGeom>
          <a:solidFill>
            <a:srgbClr val="9A87A4"/>
          </a:solidFill>
          <a:ln w="1270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Generic slot 2 top"/>
          <p:cNvSpPr/>
          <p:nvPr/>
        </p:nvSpPr>
        <p:spPr>
          <a:xfrm>
            <a:off x="7755026" y="3364992"/>
            <a:ext cx="217627" cy="630936"/>
          </a:xfrm>
          <a:prstGeom prst="roundRect">
            <a:avLst>
              <a:gd name="adj" fmla="val 35000"/>
            </a:avLst>
          </a:prstGeom>
          <a:solidFill>
            <a:srgbClr val="F8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Generic slot 2 seam fill"/>
          <p:cNvSpPr/>
          <p:nvPr/>
        </p:nvSpPr>
        <p:spPr>
          <a:xfrm>
            <a:off x="7755940" y="3931920"/>
            <a:ext cx="215798" cy="91440"/>
          </a:xfrm>
          <a:prstGeom prst="rect">
            <a:avLst/>
          </a:prstGeom>
          <a:solidFill>
            <a:srgbClr val="9A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Generic slot 2 seam"/>
          <p:cNvCxnSpPr/>
          <p:nvPr/>
        </p:nvCxnSpPr>
        <p:spPr>
          <a:xfrm>
            <a:off x="7781544" y="3950208"/>
            <a:ext cx="164592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Generic slot 3"/>
          <p:cNvSpPr/>
          <p:nvPr/>
        </p:nvSpPr>
        <p:spPr>
          <a:xfrm>
            <a:off x="8074152" y="3355848"/>
            <a:ext cx="237744" cy="923544"/>
          </a:xfrm>
          <a:prstGeom prst="roundRect">
            <a:avLst>
              <a:gd name="adj" fmla="val 8000"/>
            </a:avLst>
          </a:prstGeom>
          <a:solidFill>
            <a:srgbClr val="9A87A4"/>
          </a:solidFill>
          <a:ln w="1270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Generic slot 3 top"/>
          <p:cNvSpPr/>
          <p:nvPr/>
        </p:nvSpPr>
        <p:spPr>
          <a:xfrm>
            <a:off x="8084210" y="3364992"/>
            <a:ext cx="217627" cy="630936"/>
          </a:xfrm>
          <a:prstGeom prst="roundRect">
            <a:avLst>
              <a:gd name="adj" fmla="val 35000"/>
            </a:avLst>
          </a:prstGeom>
          <a:solidFill>
            <a:srgbClr val="F8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Generic slot 3 seam fill"/>
          <p:cNvSpPr/>
          <p:nvPr/>
        </p:nvSpPr>
        <p:spPr>
          <a:xfrm>
            <a:off x="8085124" y="3931920"/>
            <a:ext cx="215798" cy="91440"/>
          </a:xfrm>
          <a:prstGeom prst="rect">
            <a:avLst/>
          </a:prstGeom>
          <a:solidFill>
            <a:srgbClr val="9A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Generic slot 3 seam"/>
          <p:cNvCxnSpPr/>
          <p:nvPr/>
        </p:nvCxnSpPr>
        <p:spPr>
          <a:xfrm>
            <a:off x="8110727" y="3950208"/>
            <a:ext cx="164593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Generic slot 4"/>
          <p:cNvSpPr/>
          <p:nvPr/>
        </p:nvSpPr>
        <p:spPr>
          <a:xfrm>
            <a:off x="8403336" y="3355848"/>
            <a:ext cx="237744" cy="923544"/>
          </a:xfrm>
          <a:prstGeom prst="roundRect">
            <a:avLst>
              <a:gd name="adj" fmla="val 8000"/>
            </a:avLst>
          </a:prstGeom>
          <a:solidFill>
            <a:srgbClr val="9A87A4"/>
          </a:solidFill>
          <a:ln w="1270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Generic slot 4 top"/>
          <p:cNvSpPr/>
          <p:nvPr/>
        </p:nvSpPr>
        <p:spPr>
          <a:xfrm>
            <a:off x="8413394" y="3364992"/>
            <a:ext cx="217627" cy="630936"/>
          </a:xfrm>
          <a:prstGeom prst="roundRect">
            <a:avLst>
              <a:gd name="adj" fmla="val 35000"/>
            </a:avLst>
          </a:prstGeom>
          <a:solidFill>
            <a:srgbClr val="F8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Generic slot 4 seam fill"/>
          <p:cNvSpPr/>
          <p:nvPr/>
        </p:nvSpPr>
        <p:spPr>
          <a:xfrm>
            <a:off x="8414308" y="3931920"/>
            <a:ext cx="215798" cy="91440"/>
          </a:xfrm>
          <a:prstGeom prst="rect">
            <a:avLst/>
          </a:prstGeom>
          <a:solidFill>
            <a:srgbClr val="9A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Generic slot 4 seam"/>
          <p:cNvCxnSpPr/>
          <p:nvPr/>
        </p:nvCxnSpPr>
        <p:spPr>
          <a:xfrm>
            <a:off x="8439912" y="3950208"/>
            <a:ext cx="164592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Generic slot 5"/>
          <p:cNvSpPr/>
          <p:nvPr/>
        </p:nvSpPr>
        <p:spPr>
          <a:xfrm>
            <a:off x="8732520" y="3355848"/>
            <a:ext cx="237744" cy="923544"/>
          </a:xfrm>
          <a:prstGeom prst="roundRect">
            <a:avLst>
              <a:gd name="adj" fmla="val 8000"/>
            </a:avLst>
          </a:prstGeom>
          <a:solidFill>
            <a:srgbClr val="9A87A4"/>
          </a:solidFill>
          <a:ln w="1270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eneric slot 5 top"/>
          <p:cNvSpPr/>
          <p:nvPr/>
        </p:nvSpPr>
        <p:spPr>
          <a:xfrm>
            <a:off x="8742578" y="3364992"/>
            <a:ext cx="217627" cy="630936"/>
          </a:xfrm>
          <a:prstGeom prst="roundRect">
            <a:avLst>
              <a:gd name="adj" fmla="val 35000"/>
            </a:avLst>
          </a:prstGeom>
          <a:solidFill>
            <a:srgbClr val="F8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Generic slot 5 seam fill"/>
          <p:cNvSpPr/>
          <p:nvPr/>
        </p:nvSpPr>
        <p:spPr>
          <a:xfrm>
            <a:off x="8743492" y="3931920"/>
            <a:ext cx="215798" cy="91440"/>
          </a:xfrm>
          <a:prstGeom prst="rect">
            <a:avLst/>
          </a:prstGeom>
          <a:solidFill>
            <a:srgbClr val="9A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Generic slot 5 seam"/>
          <p:cNvCxnSpPr/>
          <p:nvPr/>
        </p:nvCxnSpPr>
        <p:spPr>
          <a:xfrm>
            <a:off x="8769096" y="3950208"/>
            <a:ext cx="164592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Generic slot 6"/>
          <p:cNvSpPr/>
          <p:nvPr/>
        </p:nvSpPr>
        <p:spPr>
          <a:xfrm>
            <a:off x="9061704" y="3355848"/>
            <a:ext cx="237744" cy="923544"/>
          </a:xfrm>
          <a:prstGeom prst="roundRect">
            <a:avLst>
              <a:gd name="adj" fmla="val 8000"/>
            </a:avLst>
          </a:prstGeom>
          <a:solidFill>
            <a:srgbClr val="9A87A4"/>
          </a:solidFill>
          <a:ln w="1270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Generic slot 6 top"/>
          <p:cNvSpPr/>
          <p:nvPr/>
        </p:nvSpPr>
        <p:spPr>
          <a:xfrm>
            <a:off x="9071762" y="3364992"/>
            <a:ext cx="217627" cy="630936"/>
          </a:xfrm>
          <a:prstGeom prst="roundRect">
            <a:avLst>
              <a:gd name="adj" fmla="val 35000"/>
            </a:avLst>
          </a:prstGeom>
          <a:solidFill>
            <a:srgbClr val="F8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Generic slot 6 seam fill"/>
          <p:cNvSpPr/>
          <p:nvPr/>
        </p:nvSpPr>
        <p:spPr>
          <a:xfrm>
            <a:off x="9072676" y="3931920"/>
            <a:ext cx="215798" cy="91440"/>
          </a:xfrm>
          <a:prstGeom prst="rect">
            <a:avLst/>
          </a:prstGeom>
          <a:solidFill>
            <a:srgbClr val="9A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Generic slot 6 seam"/>
          <p:cNvCxnSpPr/>
          <p:nvPr/>
        </p:nvCxnSpPr>
        <p:spPr>
          <a:xfrm>
            <a:off x="9098280" y="3950208"/>
            <a:ext cx="164592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Generic slot 7"/>
          <p:cNvSpPr/>
          <p:nvPr/>
        </p:nvSpPr>
        <p:spPr>
          <a:xfrm>
            <a:off x="9390888" y="3355848"/>
            <a:ext cx="237744" cy="923544"/>
          </a:xfrm>
          <a:prstGeom prst="roundRect">
            <a:avLst>
              <a:gd name="adj" fmla="val 8000"/>
            </a:avLst>
          </a:prstGeom>
          <a:solidFill>
            <a:srgbClr val="9A87A4"/>
          </a:solidFill>
          <a:ln w="1270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Generic slot 7 top"/>
          <p:cNvSpPr/>
          <p:nvPr/>
        </p:nvSpPr>
        <p:spPr>
          <a:xfrm>
            <a:off x="9400946" y="3364992"/>
            <a:ext cx="217627" cy="630936"/>
          </a:xfrm>
          <a:prstGeom prst="roundRect">
            <a:avLst>
              <a:gd name="adj" fmla="val 35000"/>
            </a:avLst>
          </a:prstGeom>
          <a:solidFill>
            <a:srgbClr val="F8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Generic slot 7 seam fill"/>
          <p:cNvSpPr/>
          <p:nvPr/>
        </p:nvSpPr>
        <p:spPr>
          <a:xfrm>
            <a:off x="9401860" y="3931920"/>
            <a:ext cx="215798" cy="91440"/>
          </a:xfrm>
          <a:prstGeom prst="rect">
            <a:avLst/>
          </a:prstGeom>
          <a:solidFill>
            <a:srgbClr val="9A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Generic slot 7 seam"/>
          <p:cNvCxnSpPr/>
          <p:nvPr/>
        </p:nvCxnSpPr>
        <p:spPr>
          <a:xfrm>
            <a:off x="9427464" y="3950208"/>
            <a:ext cx="164592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Generic slot 8"/>
          <p:cNvSpPr/>
          <p:nvPr/>
        </p:nvSpPr>
        <p:spPr>
          <a:xfrm>
            <a:off x="9720072" y="3355848"/>
            <a:ext cx="237744" cy="923544"/>
          </a:xfrm>
          <a:prstGeom prst="roundRect">
            <a:avLst>
              <a:gd name="adj" fmla="val 8000"/>
            </a:avLst>
          </a:prstGeom>
          <a:solidFill>
            <a:srgbClr val="9A87A4"/>
          </a:solidFill>
          <a:ln w="1270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Generic slot 8 top"/>
          <p:cNvSpPr/>
          <p:nvPr/>
        </p:nvSpPr>
        <p:spPr>
          <a:xfrm>
            <a:off x="9730130" y="3364992"/>
            <a:ext cx="217627" cy="630936"/>
          </a:xfrm>
          <a:prstGeom prst="roundRect">
            <a:avLst>
              <a:gd name="adj" fmla="val 35000"/>
            </a:avLst>
          </a:prstGeom>
          <a:solidFill>
            <a:srgbClr val="F8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Generic slot 8 seam fill"/>
          <p:cNvSpPr/>
          <p:nvPr/>
        </p:nvSpPr>
        <p:spPr>
          <a:xfrm>
            <a:off x="9731044" y="3931920"/>
            <a:ext cx="215798" cy="91440"/>
          </a:xfrm>
          <a:prstGeom prst="rect">
            <a:avLst/>
          </a:prstGeom>
          <a:solidFill>
            <a:srgbClr val="9A87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Generic slot 8 seam"/>
          <p:cNvCxnSpPr/>
          <p:nvPr/>
        </p:nvCxnSpPr>
        <p:spPr>
          <a:xfrm>
            <a:off x="9756648" y="3950208"/>
            <a:ext cx="164592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Representation brace 1"/>
          <p:cNvCxnSpPr/>
          <p:nvPr/>
        </p:nvCxnSpPr>
        <p:spPr>
          <a:xfrm>
            <a:off x="10570464" y="2761488"/>
            <a:ext cx="54864" cy="0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Representation brace 2"/>
          <p:cNvCxnSpPr/>
          <p:nvPr/>
        </p:nvCxnSpPr>
        <p:spPr>
          <a:xfrm>
            <a:off x="10625328" y="2761488"/>
            <a:ext cx="45720" cy="54864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epresentation brace 3"/>
          <p:cNvCxnSpPr/>
          <p:nvPr/>
        </p:nvCxnSpPr>
        <p:spPr>
          <a:xfrm>
            <a:off x="10671048" y="2816352"/>
            <a:ext cx="0" cy="521208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Representation brace 4"/>
          <p:cNvCxnSpPr/>
          <p:nvPr/>
        </p:nvCxnSpPr>
        <p:spPr>
          <a:xfrm>
            <a:off x="10671048" y="3337560"/>
            <a:ext cx="36576" cy="109728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Representation brace 5"/>
          <p:cNvCxnSpPr/>
          <p:nvPr/>
        </p:nvCxnSpPr>
        <p:spPr>
          <a:xfrm>
            <a:off x="10707624" y="3447288"/>
            <a:ext cx="45720" cy="54864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Representation brace 6"/>
          <p:cNvCxnSpPr/>
          <p:nvPr/>
        </p:nvCxnSpPr>
        <p:spPr>
          <a:xfrm flipH="1">
            <a:off x="10707624" y="3502152"/>
            <a:ext cx="45720" cy="54864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Representation brace 7"/>
          <p:cNvCxnSpPr/>
          <p:nvPr/>
        </p:nvCxnSpPr>
        <p:spPr>
          <a:xfrm flipH="1">
            <a:off x="10671048" y="3557016"/>
            <a:ext cx="36576" cy="109728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Representation brace 8"/>
          <p:cNvCxnSpPr/>
          <p:nvPr/>
        </p:nvCxnSpPr>
        <p:spPr>
          <a:xfrm>
            <a:off x="10671048" y="3666744"/>
            <a:ext cx="0" cy="694944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Representation brace 9"/>
          <p:cNvCxnSpPr/>
          <p:nvPr/>
        </p:nvCxnSpPr>
        <p:spPr>
          <a:xfrm flipH="1">
            <a:off x="10625328" y="4361688"/>
            <a:ext cx="45720" cy="109728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Representation brace 10"/>
          <p:cNvCxnSpPr/>
          <p:nvPr/>
        </p:nvCxnSpPr>
        <p:spPr>
          <a:xfrm flipH="1">
            <a:off x="10570464" y="4471416"/>
            <a:ext cx="54864" cy="9144"/>
          </a:xfrm>
          <a:prstGeom prst="line">
            <a:avLst/>
          </a:prstGeom>
          <a:ln w="13335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Representation formula"/>
          <p:cNvSpPr txBox="1"/>
          <p:nvPr/>
        </p:nvSpPr>
        <p:spPr>
          <a:xfrm>
            <a:off x="10716768" y="3145536"/>
            <a:ext cx="1362456" cy="438912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71419"/>
                </a:solidFill>
                <a:latin typeface="Times New Roman"/>
              </a:rPr>
              <a:t>Rₜ = (Dₜ¹:ᴸ, Sₜ)</a:t>
            </a:r>
          </a:p>
        </p:txBody>
      </p:sp>
      <p:sp>
        <p:nvSpPr>
          <p:cNvPr id="179" name="Representation property"/>
          <p:cNvSpPr/>
          <p:nvPr/>
        </p:nvSpPr>
        <p:spPr>
          <a:xfrm>
            <a:off x="10771632" y="3602736"/>
            <a:ext cx="1188720" cy="484632"/>
          </a:xfrm>
          <a:prstGeom prst="roundRect">
            <a:avLst>
              <a:gd name="adj" fmla="val 8000"/>
            </a:avLst>
          </a:prstGeom>
          <a:solidFill>
            <a:srgbClr val="EEE9EF"/>
          </a:solidFill>
          <a:ln w="1143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presentation property label"/>
          <p:cNvSpPr txBox="1"/>
          <p:nvPr/>
        </p:nvSpPr>
        <p:spPr>
          <a:xfrm>
            <a:off x="10808208" y="3648456"/>
            <a:ext cx="1115568" cy="39319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419"/>
                </a:solidFill>
                <a:latin typeface="Arial"/>
              </a:rPr>
              <a:t>task- &amp;
horizon-independent</a:t>
            </a:r>
          </a:p>
        </p:txBody>
      </p:sp>
      <p:sp>
        <p:nvSpPr>
          <p:cNvPr id="181" name="Future study heading"/>
          <p:cNvSpPr txBox="1"/>
          <p:nvPr/>
        </p:nvSpPr>
        <p:spPr>
          <a:xfrm>
            <a:off x="11594592" y="146304"/>
            <a:ext cx="1837943" cy="347472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1419"/>
                </a:solidFill>
                <a:latin typeface="Arial"/>
              </a:rPr>
              <a:t>Future study  </a:t>
            </a:r>
            <a:r>
              <a:rPr sz="1550" b="0" i="1">
                <a:solidFill>
                  <a:srgbClr val="171419"/>
                </a:solidFill>
                <a:latin typeface="Times New Roman"/>
              </a:rPr>
              <a:t>Xₜ⁺</a:t>
            </a:r>
          </a:p>
        </p:txBody>
      </p:sp>
      <p:sp>
        <p:nvSpPr>
          <p:cNvPr id="182" name="Future study frame"/>
          <p:cNvSpPr/>
          <p:nvPr/>
        </p:nvSpPr>
        <p:spPr>
          <a:xfrm>
            <a:off x="11731752" y="594360"/>
            <a:ext cx="905256" cy="1078992"/>
          </a:xfrm>
          <a:prstGeom prst="roundRect">
            <a:avLst>
              <a:gd name="adj" fmla="val 8000"/>
            </a:avLst>
          </a:prstGeom>
          <a:noFill/>
          <a:ln w="1143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Future study scan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7472" y="640080"/>
            <a:ext cx="813816" cy="987552"/>
          </a:xfrm>
          <a:prstGeom prst="rect">
            <a:avLst/>
          </a:prstGeom>
          <a:effectLst/>
        </p:spPr>
      </p:pic>
      <p:cxnSp>
        <p:nvCxnSpPr>
          <p:cNvPr id="184" name="Future scan to EMA"/>
          <p:cNvCxnSpPr/>
          <p:nvPr/>
        </p:nvCxnSpPr>
        <p:spPr>
          <a:xfrm>
            <a:off x="12728448" y="1353312"/>
            <a:ext cx="274320" cy="0"/>
          </a:xfrm>
          <a:prstGeom prst="line">
            <a:avLst/>
          </a:prstGeom>
          <a:ln w="14604">
            <a:solidFill>
              <a:srgbClr val="426F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EMA target label"/>
          <p:cNvSpPr txBox="1"/>
          <p:nvPr/>
        </p:nvSpPr>
        <p:spPr>
          <a:xfrm>
            <a:off x="13011912" y="612648"/>
            <a:ext cx="1152144" cy="43891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71419"/>
                </a:solidFill>
                <a:latin typeface="Arial"/>
              </a:rPr>
              <a:t>EMA target ·
stop-gradient</a:t>
            </a:r>
          </a:p>
        </p:txBody>
      </p:sp>
      <p:sp>
        <p:nvSpPr>
          <p:cNvPr id="186" name="EMA target module"/>
          <p:cNvSpPr/>
          <p:nvPr/>
        </p:nvSpPr>
        <p:spPr>
          <a:xfrm>
            <a:off x="13057632" y="1106424"/>
            <a:ext cx="795528" cy="557784"/>
          </a:xfrm>
          <a:prstGeom prst="roundRect">
            <a:avLst>
              <a:gd name="adj" fmla="val 8000"/>
            </a:avLst>
          </a:prstGeom>
          <a:solidFill>
            <a:srgbClr val="EEF3EE"/>
          </a:solidFill>
          <a:ln w="12700">
            <a:solidFill>
              <a:srgbClr val="426F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MA refresh glyph"/>
          <p:cNvSpPr txBox="1"/>
          <p:nvPr/>
        </p:nvSpPr>
        <p:spPr>
          <a:xfrm>
            <a:off x="13240512" y="1170432"/>
            <a:ext cx="429768" cy="4114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426F50"/>
                </a:solidFill>
                <a:latin typeface="Arial Unicode MS"/>
              </a:rPr>
              <a:t>↻</a:t>
            </a:r>
          </a:p>
        </p:txBody>
      </p:sp>
      <p:cxnSp>
        <p:nvCxnSpPr>
          <p:cNvPr id="188" name="EMA to target tokens"/>
          <p:cNvCxnSpPr/>
          <p:nvPr/>
        </p:nvCxnSpPr>
        <p:spPr>
          <a:xfrm>
            <a:off x="13862304" y="1353312"/>
            <a:ext cx="274320" cy="0"/>
          </a:xfrm>
          <a:prstGeom prst="line">
            <a:avLst/>
          </a:prstGeom>
          <a:ln w="13970">
            <a:solidFill>
              <a:srgbClr val="426F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arget embedding"/>
          <p:cNvSpPr/>
          <p:nvPr/>
        </p:nvSpPr>
        <p:spPr>
          <a:xfrm>
            <a:off x="14237208" y="1088136"/>
            <a:ext cx="475488" cy="530352"/>
          </a:xfrm>
          <a:prstGeom prst="roundRect">
            <a:avLst>
              <a:gd name="adj" fmla="val 8000"/>
            </a:avLst>
          </a:prstGeom>
          <a:solidFill>
            <a:srgbClr val="B9C8BA"/>
          </a:solidFill>
          <a:ln w="10795">
            <a:solidFill>
              <a:srgbClr val="426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arget grid coarse"/>
          <p:cNvSpPr/>
          <p:nvPr/>
        </p:nvSpPr>
        <p:spPr>
          <a:xfrm>
            <a:off x="14941296" y="1088136"/>
            <a:ext cx="493776" cy="530352"/>
          </a:xfrm>
          <a:prstGeom prst="rect">
            <a:avLst/>
          </a:prstGeom>
          <a:solidFill>
            <a:srgbClr val="C7D2C8"/>
          </a:solidFill>
          <a:ln w="10160">
            <a:solidFill>
              <a:srgbClr val="426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Target grid coarse v1"/>
          <p:cNvCxnSpPr/>
          <p:nvPr/>
        </p:nvCxnSpPr>
        <p:spPr>
          <a:xfrm>
            <a:off x="15064740" y="1088136"/>
            <a:ext cx="0" cy="53035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Target grid coarse v2"/>
          <p:cNvCxnSpPr/>
          <p:nvPr/>
        </p:nvCxnSpPr>
        <p:spPr>
          <a:xfrm>
            <a:off x="15188184" y="1088136"/>
            <a:ext cx="0" cy="53035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Target grid coarse v3"/>
          <p:cNvCxnSpPr/>
          <p:nvPr/>
        </p:nvCxnSpPr>
        <p:spPr>
          <a:xfrm>
            <a:off x="15311628" y="1088136"/>
            <a:ext cx="0" cy="53035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Target grid coarse h1"/>
          <p:cNvCxnSpPr/>
          <p:nvPr/>
        </p:nvCxnSpPr>
        <p:spPr>
          <a:xfrm>
            <a:off x="14941296" y="1220724"/>
            <a:ext cx="493776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Target grid coarse h2"/>
          <p:cNvCxnSpPr/>
          <p:nvPr/>
        </p:nvCxnSpPr>
        <p:spPr>
          <a:xfrm>
            <a:off x="14941296" y="1353312"/>
            <a:ext cx="493776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Target grid coarse h3"/>
          <p:cNvCxnSpPr/>
          <p:nvPr/>
        </p:nvCxnSpPr>
        <p:spPr>
          <a:xfrm>
            <a:off x="14941296" y="1485900"/>
            <a:ext cx="493776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arget grid medium"/>
          <p:cNvSpPr/>
          <p:nvPr/>
        </p:nvSpPr>
        <p:spPr>
          <a:xfrm>
            <a:off x="15672816" y="1115568"/>
            <a:ext cx="457200" cy="484632"/>
          </a:xfrm>
          <a:prstGeom prst="rect">
            <a:avLst/>
          </a:prstGeom>
          <a:solidFill>
            <a:srgbClr val="D6DED6"/>
          </a:solidFill>
          <a:ln w="10160">
            <a:solidFill>
              <a:srgbClr val="426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Target grid medium v1"/>
          <p:cNvCxnSpPr/>
          <p:nvPr/>
        </p:nvCxnSpPr>
        <p:spPr>
          <a:xfrm>
            <a:off x="15738130" y="1115568"/>
            <a:ext cx="0" cy="48463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Target grid medium v2"/>
          <p:cNvCxnSpPr/>
          <p:nvPr/>
        </p:nvCxnSpPr>
        <p:spPr>
          <a:xfrm>
            <a:off x="15803444" y="1115568"/>
            <a:ext cx="0" cy="48463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Target grid medium v3"/>
          <p:cNvCxnSpPr/>
          <p:nvPr/>
        </p:nvCxnSpPr>
        <p:spPr>
          <a:xfrm>
            <a:off x="15868758" y="1115568"/>
            <a:ext cx="0" cy="48463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Target grid medium v4"/>
          <p:cNvCxnSpPr/>
          <p:nvPr/>
        </p:nvCxnSpPr>
        <p:spPr>
          <a:xfrm>
            <a:off x="15934073" y="1115568"/>
            <a:ext cx="0" cy="48463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Target grid medium v5"/>
          <p:cNvCxnSpPr/>
          <p:nvPr/>
        </p:nvCxnSpPr>
        <p:spPr>
          <a:xfrm>
            <a:off x="15999387" y="1115568"/>
            <a:ext cx="0" cy="48463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Target grid medium v6"/>
          <p:cNvCxnSpPr/>
          <p:nvPr/>
        </p:nvCxnSpPr>
        <p:spPr>
          <a:xfrm>
            <a:off x="16064701" y="1115568"/>
            <a:ext cx="0" cy="48463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Target grid medium h1"/>
          <p:cNvCxnSpPr/>
          <p:nvPr/>
        </p:nvCxnSpPr>
        <p:spPr>
          <a:xfrm>
            <a:off x="15672816" y="1184801"/>
            <a:ext cx="457200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Target grid medium h2"/>
          <p:cNvCxnSpPr/>
          <p:nvPr/>
        </p:nvCxnSpPr>
        <p:spPr>
          <a:xfrm>
            <a:off x="15672816" y="1254034"/>
            <a:ext cx="457200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Target grid medium h3"/>
          <p:cNvCxnSpPr/>
          <p:nvPr/>
        </p:nvCxnSpPr>
        <p:spPr>
          <a:xfrm>
            <a:off x="15672816" y="1323267"/>
            <a:ext cx="457200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Target grid medium h4"/>
          <p:cNvCxnSpPr/>
          <p:nvPr/>
        </p:nvCxnSpPr>
        <p:spPr>
          <a:xfrm>
            <a:off x="15672816" y="1392500"/>
            <a:ext cx="457200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Target grid medium h5"/>
          <p:cNvCxnSpPr/>
          <p:nvPr/>
        </p:nvCxnSpPr>
        <p:spPr>
          <a:xfrm>
            <a:off x="15672816" y="1461733"/>
            <a:ext cx="457200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Target grid medium h6"/>
          <p:cNvCxnSpPr/>
          <p:nvPr/>
        </p:nvCxnSpPr>
        <p:spPr>
          <a:xfrm>
            <a:off x="15672816" y="1530966"/>
            <a:ext cx="457200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arget grid fine"/>
          <p:cNvSpPr/>
          <p:nvPr/>
        </p:nvSpPr>
        <p:spPr>
          <a:xfrm>
            <a:off x="16285463" y="1188720"/>
            <a:ext cx="347472" cy="347472"/>
          </a:xfrm>
          <a:prstGeom prst="rect">
            <a:avLst/>
          </a:prstGeom>
          <a:solidFill>
            <a:srgbClr val="DEE5DE"/>
          </a:solidFill>
          <a:ln w="10160">
            <a:solidFill>
              <a:srgbClr val="426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Target grid fine v1"/>
          <p:cNvCxnSpPr/>
          <p:nvPr/>
        </p:nvCxnSpPr>
        <p:spPr>
          <a:xfrm>
            <a:off x="16324071" y="1188720"/>
            <a:ext cx="0" cy="34747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Target grid fine v2"/>
          <p:cNvCxnSpPr/>
          <p:nvPr/>
        </p:nvCxnSpPr>
        <p:spPr>
          <a:xfrm>
            <a:off x="16362679" y="1188720"/>
            <a:ext cx="0" cy="34747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Target grid fine v3"/>
          <p:cNvCxnSpPr/>
          <p:nvPr/>
        </p:nvCxnSpPr>
        <p:spPr>
          <a:xfrm>
            <a:off x="16401288" y="1188720"/>
            <a:ext cx="0" cy="34747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Target grid fine v4"/>
          <p:cNvCxnSpPr/>
          <p:nvPr/>
        </p:nvCxnSpPr>
        <p:spPr>
          <a:xfrm>
            <a:off x="16439896" y="1188720"/>
            <a:ext cx="0" cy="34747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Target grid fine v5"/>
          <p:cNvCxnSpPr/>
          <p:nvPr/>
        </p:nvCxnSpPr>
        <p:spPr>
          <a:xfrm>
            <a:off x="16478504" y="1188720"/>
            <a:ext cx="0" cy="34747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Target grid fine v6"/>
          <p:cNvCxnSpPr/>
          <p:nvPr/>
        </p:nvCxnSpPr>
        <p:spPr>
          <a:xfrm>
            <a:off x="16517112" y="1188720"/>
            <a:ext cx="0" cy="34747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Target grid fine v7"/>
          <p:cNvCxnSpPr/>
          <p:nvPr/>
        </p:nvCxnSpPr>
        <p:spPr>
          <a:xfrm>
            <a:off x="16555720" y="1188720"/>
            <a:ext cx="0" cy="34747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Target grid fine v8"/>
          <p:cNvCxnSpPr/>
          <p:nvPr/>
        </p:nvCxnSpPr>
        <p:spPr>
          <a:xfrm>
            <a:off x="16594328" y="1188720"/>
            <a:ext cx="0" cy="347472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Target grid fine h1"/>
          <p:cNvCxnSpPr/>
          <p:nvPr/>
        </p:nvCxnSpPr>
        <p:spPr>
          <a:xfrm>
            <a:off x="16285463" y="1227328"/>
            <a:ext cx="347473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Target grid fine h2"/>
          <p:cNvCxnSpPr/>
          <p:nvPr/>
        </p:nvCxnSpPr>
        <p:spPr>
          <a:xfrm>
            <a:off x="16285463" y="1265936"/>
            <a:ext cx="347473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Target grid fine h3"/>
          <p:cNvCxnSpPr/>
          <p:nvPr/>
        </p:nvCxnSpPr>
        <p:spPr>
          <a:xfrm>
            <a:off x="16285463" y="1304543"/>
            <a:ext cx="347473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Target grid fine h4"/>
          <p:cNvCxnSpPr/>
          <p:nvPr/>
        </p:nvCxnSpPr>
        <p:spPr>
          <a:xfrm>
            <a:off x="16285463" y="1343152"/>
            <a:ext cx="347473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Target grid fine h5"/>
          <p:cNvCxnSpPr/>
          <p:nvPr/>
        </p:nvCxnSpPr>
        <p:spPr>
          <a:xfrm>
            <a:off x="16285463" y="1381760"/>
            <a:ext cx="347473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Target grid fine h6"/>
          <p:cNvCxnSpPr/>
          <p:nvPr/>
        </p:nvCxnSpPr>
        <p:spPr>
          <a:xfrm>
            <a:off x="16285463" y="1420368"/>
            <a:ext cx="347473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Target grid fine h7"/>
          <p:cNvCxnSpPr/>
          <p:nvPr/>
        </p:nvCxnSpPr>
        <p:spPr>
          <a:xfrm>
            <a:off x="16285463" y="1458975"/>
            <a:ext cx="347473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Target grid fine h8"/>
          <p:cNvCxnSpPr/>
          <p:nvPr/>
        </p:nvCxnSpPr>
        <p:spPr>
          <a:xfrm>
            <a:off x="16285463" y="1497584"/>
            <a:ext cx="347473" cy="0"/>
          </a:xfrm>
          <a:prstGeom prst="line">
            <a:avLst/>
          </a:prstGeom>
          <a:ln w="5715">
            <a:solidFill>
              <a:srgbClr val="426F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arget ellipsis"/>
          <p:cNvSpPr txBox="1"/>
          <p:nvPr/>
        </p:nvSpPr>
        <p:spPr>
          <a:xfrm>
            <a:off x="16660367" y="1170432"/>
            <a:ext cx="347472" cy="35661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19"/>
                </a:solidFill>
                <a:latin typeface="Arial"/>
              </a:rPr>
              <a:t>···</a:t>
            </a:r>
          </a:p>
        </p:txBody>
      </p:sp>
      <p:cxnSp>
        <p:nvCxnSpPr>
          <p:cNvPr id="228" name="Target lane top"/>
          <p:cNvCxnSpPr/>
          <p:nvPr/>
        </p:nvCxnSpPr>
        <p:spPr>
          <a:xfrm>
            <a:off x="14218920" y="841248"/>
            <a:ext cx="2606040" cy="0"/>
          </a:xfrm>
          <a:prstGeom prst="line">
            <a:avLst/>
          </a:prstGeom>
          <a:ln w="12700">
            <a:solidFill>
              <a:srgbClr val="426F5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Target lane bottom"/>
          <p:cNvCxnSpPr/>
          <p:nvPr/>
        </p:nvCxnSpPr>
        <p:spPr>
          <a:xfrm>
            <a:off x="11713464" y="1828800"/>
            <a:ext cx="5111496" cy="0"/>
          </a:xfrm>
          <a:prstGeom prst="line">
            <a:avLst/>
          </a:prstGeom>
          <a:ln w="12700">
            <a:solidFill>
              <a:srgbClr val="426F5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Target to comparison"/>
          <p:cNvCxnSpPr/>
          <p:nvPr/>
        </p:nvCxnSpPr>
        <p:spPr>
          <a:xfrm>
            <a:off x="16294608" y="1828800"/>
            <a:ext cx="0" cy="2322576"/>
          </a:xfrm>
          <a:prstGeom prst="line">
            <a:avLst/>
          </a:prstGeom>
          <a:ln w="14604">
            <a:solidFill>
              <a:srgbClr val="426F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ad-only queries heading"/>
          <p:cNvSpPr txBox="1"/>
          <p:nvPr/>
        </p:nvSpPr>
        <p:spPr>
          <a:xfrm>
            <a:off x="12289536" y="2304288"/>
            <a:ext cx="2578608" cy="393192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1419"/>
                </a:solidFill>
                <a:latin typeface="Arial"/>
              </a:rPr>
              <a:t>Read-only queries  </a:t>
            </a:r>
            <a:r>
              <a:rPr sz="1500" b="0" i="1">
                <a:solidFill>
                  <a:srgbClr val="171419"/>
                </a:solidFill>
                <a:latin typeface="Times New Roman"/>
              </a:rPr>
              <a:t>Q</a:t>
            </a:r>
          </a:p>
        </p:txBody>
      </p:sp>
      <p:sp>
        <p:nvSpPr>
          <p:cNvPr id="232" name="Read-only query panel"/>
          <p:cNvSpPr/>
          <p:nvPr/>
        </p:nvSpPr>
        <p:spPr>
          <a:xfrm>
            <a:off x="12115800" y="2724912"/>
            <a:ext cx="3739896" cy="1929384"/>
          </a:xfrm>
          <a:prstGeom prst="roundRect">
            <a:avLst>
              <a:gd name="adj" fmla="val 8000"/>
            </a:avLst>
          </a:prstGeom>
          <a:noFill/>
          <a:ln w="12065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Query panel divider"/>
          <p:cNvCxnSpPr/>
          <p:nvPr/>
        </p:nvCxnSpPr>
        <p:spPr>
          <a:xfrm>
            <a:off x="12188952" y="3703320"/>
            <a:ext cx="3593592" cy="0"/>
          </a:xfrm>
          <a:prstGeom prst="line">
            <a:avLst/>
          </a:prstGeom>
          <a:ln w="10795">
            <a:solidFill>
              <a:srgbClr val="A6A6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ask query label"/>
          <p:cNvSpPr txBox="1"/>
          <p:nvPr/>
        </p:nvSpPr>
        <p:spPr>
          <a:xfrm>
            <a:off x="12289536" y="2862072"/>
            <a:ext cx="1463040" cy="301752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71419"/>
                </a:solidFill>
                <a:latin typeface="Arial"/>
              </a:rPr>
              <a:t>task </a:t>
            </a:r>
            <a:r>
              <a:rPr sz="1220" b="0" i="1">
                <a:solidFill>
                  <a:srgbClr val="171419"/>
                </a:solidFill>
                <a:latin typeface="Times New Roman"/>
              </a:rPr>
              <a:t>q → e</a:t>
            </a:r>
            <a:r>
              <a:rPr sz="878" b="0" i="1" baseline="-25000">
                <a:solidFill>
                  <a:srgbClr val="171419"/>
                </a:solidFill>
                <a:latin typeface="Times New Roman"/>
              </a:rPr>
              <a:t>q</a:t>
            </a:r>
          </a:p>
        </p:txBody>
      </p:sp>
      <p:sp>
        <p:nvSpPr>
          <p:cNvPr id="235" name="Task query token"/>
          <p:cNvSpPr/>
          <p:nvPr/>
        </p:nvSpPr>
        <p:spPr>
          <a:xfrm>
            <a:off x="12298680" y="3246120"/>
            <a:ext cx="722376" cy="192024"/>
          </a:xfrm>
          <a:prstGeom prst="roundRect">
            <a:avLst>
              <a:gd name="adj" fmla="val 8000"/>
            </a:avLst>
          </a:prstGeom>
          <a:solidFill>
            <a:srgbClr val="F1EEF1"/>
          </a:solidFill>
          <a:ln w="889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Task query token line 1"/>
          <p:cNvCxnSpPr/>
          <p:nvPr/>
        </p:nvCxnSpPr>
        <p:spPr>
          <a:xfrm>
            <a:off x="12490704" y="3319272"/>
            <a:ext cx="182880" cy="0"/>
          </a:xfrm>
          <a:prstGeom prst="line">
            <a:avLst/>
          </a:prstGeom>
          <a:ln w="8890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Task query token line 2"/>
          <p:cNvCxnSpPr/>
          <p:nvPr/>
        </p:nvCxnSpPr>
        <p:spPr>
          <a:xfrm>
            <a:off x="12463272" y="3364992"/>
            <a:ext cx="283464" cy="0"/>
          </a:xfrm>
          <a:prstGeom prst="line">
            <a:avLst/>
          </a:prstGeom>
          <a:ln w="8890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Task token to embedding"/>
          <p:cNvCxnSpPr/>
          <p:nvPr/>
        </p:nvCxnSpPr>
        <p:spPr>
          <a:xfrm>
            <a:off x="13048488" y="3337560"/>
            <a:ext cx="301752" cy="0"/>
          </a:xfrm>
          <a:prstGeom prst="line">
            <a:avLst/>
          </a:prstGeom>
          <a:ln w="12700">
            <a:solidFill>
              <a:srgbClr val="60416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ask embedding"/>
          <p:cNvSpPr/>
          <p:nvPr/>
        </p:nvSpPr>
        <p:spPr>
          <a:xfrm>
            <a:off x="13441680" y="3182112"/>
            <a:ext cx="265176" cy="274320"/>
          </a:xfrm>
          <a:prstGeom prst="roundRect">
            <a:avLst>
              <a:gd name="adj" fmla="val 8000"/>
            </a:avLst>
          </a:prstGeom>
          <a:solidFill>
            <a:srgbClr val="A99BB1"/>
          </a:solidFill>
          <a:ln w="1016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Task embedding to globe 1"/>
          <p:cNvCxnSpPr/>
          <p:nvPr/>
        </p:nvCxnSpPr>
        <p:spPr>
          <a:xfrm>
            <a:off x="13770864" y="3337560"/>
            <a:ext cx="429768" cy="0"/>
          </a:xfrm>
          <a:prstGeom prst="line">
            <a:avLst/>
          </a:prstGeom>
          <a:ln w="12700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Task embedding to globe 2"/>
          <p:cNvCxnSpPr/>
          <p:nvPr/>
        </p:nvCxnSpPr>
        <p:spPr>
          <a:xfrm flipV="1">
            <a:off x="14200632" y="3236976"/>
            <a:ext cx="0" cy="100584"/>
          </a:xfrm>
          <a:prstGeom prst="line">
            <a:avLst/>
          </a:prstGeom>
          <a:ln w="12700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Task embedding to globe 3"/>
          <p:cNvCxnSpPr/>
          <p:nvPr/>
        </p:nvCxnSpPr>
        <p:spPr>
          <a:xfrm flipV="1">
            <a:off x="14200632" y="3127248"/>
            <a:ext cx="237744" cy="109728"/>
          </a:xfrm>
          <a:prstGeom prst="line">
            <a:avLst/>
          </a:prstGeom>
          <a:ln w="12700">
            <a:solidFill>
              <a:srgbClr val="60416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Global task icon"/>
          <p:cNvSpPr/>
          <p:nvPr/>
        </p:nvSpPr>
        <p:spPr>
          <a:xfrm>
            <a:off x="14465808" y="2898648"/>
            <a:ext cx="530352" cy="530352"/>
          </a:xfrm>
          <a:prstGeom prst="ellipse">
            <a:avLst/>
          </a:prstGeom>
          <a:noFill/>
          <a:ln w="1397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Global task icon meridians"/>
          <p:cNvSpPr/>
          <p:nvPr/>
        </p:nvSpPr>
        <p:spPr>
          <a:xfrm>
            <a:off x="14584680" y="2944368"/>
            <a:ext cx="292608" cy="438912"/>
          </a:xfrm>
          <a:prstGeom prst="ellipse">
            <a:avLst/>
          </a:prstGeom>
          <a:noFill/>
          <a:ln w="9525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Global task icon axis"/>
          <p:cNvCxnSpPr/>
          <p:nvPr/>
        </p:nvCxnSpPr>
        <p:spPr>
          <a:xfrm>
            <a:off x="14730984" y="2935224"/>
            <a:ext cx="0" cy="45720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Global task icon latitude 1"/>
          <p:cNvCxnSpPr/>
          <p:nvPr/>
        </p:nvCxnSpPr>
        <p:spPr>
          <a:xfrm>
            <a:off x="14520672" y="3099816"/>
            <a:ext cx="420624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Global task icon latitude 2"/>
          <p:cNvCxnSpPr/>
          <p:nvPr/>
        </p:nvCxnSpPr>
        <p:spPr>
          <a:xfrm>
            <a:off x="14511528" y="3218688"/>
            <a:ext cx="438912" cy="0"/>
          </a:xfrm>
          <a:prstGeom prst="line">
            <a:avLst/>
          </a:prstGeom>
          <a:ln w="825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Global task to dense task"/>
          <p:cNvCxnSpPr/>
          <p:nvPr/>
        </p:nvCxnSpPr>
        <p:spPr>
          <a:xfrm>
            <a:off x="15005304" y="3163824"/>
            <a:ext cx="210312" cy="0"/>
          </a:xfrm>
          <a:prstGeom prst="line">
            <a:avLst/>
          </a:prstGeom>
          <a:ln w="12700">
            <a:solidFill>
              <a:srgbClr val="60416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Dense task icon"/>
          <p:cNvSpPr/>
          <p:nvPr/>
        </p:nvSpPr>
        <p:spPr>
          <a:xfrm>
            <a:off x="15206472" y="2907792"/>
            <a:ext cx="521207" cy="530352"/>
          </a:xfrm>
          <a:prstGeom prst="rect">
            <a:avLst/>
          </a:prstGeom>
          <a:solidFill>
            <a:srgbClr val="F6F1F6"/>
          </a:solidFill>
          <a:ln w="1016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Dense task icon v1"/>
          <p:cNvCxnSpPr/>
          <p:nvPr/>
        </p:nvCxnSpPr>
        <p:spPr>
          <a:xfrm>
            <a:off x="15380208" y="2907792"/>
            <a:ext cx="0" cy="530352"/>
          </a:xfrm>
          <a:prstGeom prst="line">
            <a:avLst/>
          </a:prstGeom>
          <a:ln w="571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Dense task icon v2"/>
          <p:cNvCxnSpPr/>
          <p:nvPr/>
        </p:nvCxnSpPr>
        <p:spPr>
          <a:xfrm>
            <a:off x="15553944" y="2907792"/>
            <a:ext cx="0" cy="530352"/>
          </a:xfrm>
          <a:prstGeom prst="line">
            <a:avLst/>
          </a:prstGeom>
          <a:ln w="571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Dense task icon h1"/>
          <p:cNvCxnSpPr/>
          <p:nvPr/>
        </p:nvCxnSpPr>
        <p:spPr>
          <a:xfrm>
            <a:off x="15206472" y="3084575"/>
            <a:ext cx="521208" cy="0"/>
          </a:xfrm>
          <a:prstGeom prst="line">
            <a:avLst/>
          </a:prstGeom>
          <a:ln w="571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Dense task icon h2"/>
          <p:cNvCxnSpPr/>
          <p:nvPr/>
        </p:nvCxnSpPr>
        <p:spPr>
          <a:xfrm>
            <a:off x="15206472" y="3261360"/>
            <a:ext cx="521208" cy="0"/>
          </a:xfrm>
          <a:prstGeom prst="line">
            <a:avLst/>
          </a:prstGeom>
          <a:ln w="5715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Dense task icon trachea"/>
          <p:cNvCxnSpPr/>
          <p:nvPr/>
        </p:nvCxnSpPr>
        <p:spPr>
          <a:xfrm>
            <a:off x="15462504" y="3008376"/>
            <a:ext cx="0" cy="146304"/>
          </a:xfrm>
          <a:prstGeom prst="line">
            <a:avLst/>
          </a:prstGeom>
          <a:ln w="13970">
            <a:solidFill>
              <a:srgbClr val="604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Dense task icon left lung"/>
          <p:cNvSpPr/>
          <p:nvPr/>
        </p:nvSpPr>
        <p:spPr>
          <a:xfrm>
            <a:off x="15316200" y="3118104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7" h="26">
                <a:moveTo>
                  <a:pt x="14" y="3"/>
                </a:moveTo>
                <a:lnTo>
                  <a:pt x="8" y="0"/>
                </a:lnTo>
                <a:lnTo>
                  <a:pt x="5" y="7"/>
                </a:lnTo>
                <a:lnTo>
                  <a:pt x="0" y="19"/>
                </a:lnTo>
                <a:lnTo>
                  <a:pt x="6" y="26"/>
                </a:lnTo>
                <a:lnTo>
                  <a:pt x="15" y="22"/>
                </a:lnTo>
                <a:lnTo>
                  <a:pt x="17" y="13"/>
                </a:lnTo>
                <a:close/>
              </a:path>
            </a:pathLst>
          </a:custGeom>
          <a:solidFill>
            <a:srgbClr val="A999AD"/>
          </a:solidFill>
          <a:ln w="1016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Dense task icon right lung"/>
          <p:cNvSpPr/>
          <p:nvPr/>
        </p:nvSpPr>
        <p:spPr>
          <a:xfrm>
            <a:off x="15462504" y="3118104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7" h="26">
                <a:moveTo>
                  <a:pt x="2" y="3"/>
                </a:moveTo>
                <a:lnTo>
                  <a:pt x="8" y="0"/>
                </a:lnTo>
                <a:lnTo>
                  <a:pt x="12" y="7"/>
                </a:lnTo>
                <a:lnTo>
                  <a:pt x="17" y="19"/>
                </a:lnTo>
                <a:lnTo>
                  <a:pt x="11" y="26"/>
                </a:lnTo>
                <a:lnTo>
                  <a:pt x="2" y="22"/>
                </a:lnTo>
                <a:lnTo>
                  <a:pt x="0" y="13"/>
                </a:lnTo>
                <a:close/>
              </a:path>
            </a:pathLst>
          </a:custGeom>
          <a:solidFill>
            <a:srgbClr val="A999AD"/>
          </a:solidFill>
          <a:ln w="10160">
            <a:solidFill>
              <a:srgbClr val="604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ransition query label"/>
          <p:cNvSpPr txBox="1"/>
          <p:nvPr/>
        </p:nvSpPr>
        <p:spPr>
          <a:xfrm>
            <a:off x="12289536" y="3822191"/>
            <a:ext cx="2596896" cy="320040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71419"/>
                </a:solidFill>
                <a:latin typeface="Arial"/>
              </a:rPr>
              <a:t>transition </a:t>
            </a:r>
            <a:r>
              <a:rPr sz="1220" b="0" i="1">
                <a:solidFill>
                  <a:srgbClr val="171419"/>
                </a:solidFill>
                <a:latin typeface="Times New Roman"/>
              </a:rPr>
              <a:t>q + e(h) → Aₜ,ₕ</a:t>
            </a:r>
          </a:p>
        </p:txBody>
      </p:sp>
      <p:sp>
        <p:nvSpPr>
          <p:cNvPr id="258" name="Transition query token"/>
          <p:cNvSpPr/>
          <p:nvPr/>
        </p:nvSpPr>
        <p:spPr>
          <a:xfrm>
            <a:off x="12298680" y="4160520"/>
            <a:ext cx="722376" cy="192024"/>
          </a:xfrm>
          <a:prstGeom prst="roundRect">
            <a:avLst>
              <a:gd name="adj" fmla="val 8000"/>
            </a:avLst>
          </a:prstGeom>
          <a:solidFill>
            <a:srgbClr val="F1EEF1"/>
          </a:solidFill>
          <a:ln w="889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Transition query token line 1"/>
          <p:cNvCxnSpPr/>
          <p:nvPr/>
        </p:nvCxnSpPr>
        <p:spPr>
          <a:xfrm>
            <a:off x="12490704" y="4233672"/>
            <a:ext cx="182880" cy="0"/>
          </a:xfrm>
          <a:prstGeom prst="line">
            <a:avLst/>
          </a:prstGeom>
          <a:ln w="8890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Transition query token line 2"/>
          <p:cNvCxnSpPr/>
          <p:nvPr/>
        </p:nvCxnSpPr>
        <p:spPr>
          <a:xfrm>
            <a:off x="12463272" y="4279392"/>
            <a:ext cx="283464" cy="0"/>
          </a:xfrm>
          <a:prstGeom prst="line">
            <a:avLst/>
          </a:prstGeom>
          <a:ln w="8890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Transition token to action"/>
          <p:cNvCxnSpPr/>
          <p:nvPr/>
        </p:nvCxnSpPr>
        <p:spPr>
          <a:xfrm>
            <a:off x="13048488" y="4261104"/>
            <a:ext cx="374904" cy="0"/>
          </a:xfrm>
          <a:prstGeom prst="line">
            <a:avLst/>
          </a:prstGeom>
          <a:ln w="12700">
            <a:solidFill>
              <a:srgbClr val="B55B3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ransition embedding"/>
          <p:cNvSpPr/>
          <p:nvPr/>
        </p:nvSpPr>
        <p:spPr>
          <a:xfrm>
            <a:off x="13514832" y="4151376"/>
            <a:ext cx="274320" cy="283464"/>
          </a:xfrm>
          <a:prstGeom prst="roundRect">
            <a:avLst>
              <a:gd name="adj" fmla="val 8000"/>
            </a:avLst>
          </a:prstGeom>
          <a:solidFill>
            <a:srgbClr val="D89B86"/>
          </a:solidFill>
          <a:ln w="10795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Transition embedding output 1"/>
          <p:cNvCxnSpPr/>
          <p:nvPr/>
        </p:nvCxnSpPr>
        <p:spPr>
          <a:xfrm>
            <a:off x="13844016" y="4288536"/>
            <a:ext cx="758952" cy="0"/>
          </a:xfrm>
          <a:prstGeom prst="line">
            <a:avLst/>
          </a:prstGeom>
          <a:ln w="1333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Transition embedding output 2"/>
          <p:cNvCxnSpPr/>
          <p:nvPr/>
        </p:nvCxnSpPr>
        <p:spPr>
          <a:xfrm>
            <a:off x="14602968" y="4288536"/>
            <a:ext cx="0" cy="365760"/>
          </a:xfrm>
          <a:prstGeom prst="line">
            <a:avLst/>
          </a:prstGeom>
          <a:ln w="1333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Transition embedding output 3"/>
          <p:cNvCxnSpPr/>
          <p:nvPr/>
        </p:nvCxnSpPr>
        <p:spPr>
          <a:xfrm>
            <a:off x="14602968" y="4654296"/>
            <a:ext cx="0" cy="1060704"/>
          </a:xfrm>
          <a:prstGeom prst="line">
            <a:avLst/>
          </a:prstGeom>
          <a:ln w="13335">
            <a:solidFill>
              <a:srgbClr val="B55B3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Horizon clock"/>
          <p:cNvSpPr/>
          <p:nvPr/>
        </p:nvSpPr>
        <p:spPr>
          <a:xfrm>
            <a:off x="11649456" y="4736592"/>
            <a:ext cx="457200" cy="457200"/>
          </a:xfrm>
          <a:prstGeom prst="ellipse">
            <a:avLst/>
          </a:prstGeom>
          <a:solidFill>
            <a:srgbClr val="FBF9F7"/>
          </a:solidFill>
          <a:ln w="15240">
            <a:solidFill>
              <a:srgbClr val="171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Horizon clock hour"/>
          <p:cNvCxnSpPr/>
          <p:nvPr/>
        </p:nvCxnSpPr>
        <p:spPr>
          <a:xfrm flipV="1">
            <a:off x="11878056" y="4828032"/>
            <a:ext cx="0" cy="137160"/>
          </a:xfrm>
          <a:prstGeom prst="line">
            <a:avLst/>
          </a:prstGeom>
          <a:ln w="13970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Horizon clock minute"/>
          <p:cNvCxnSpPr/>
          <p:nvPr/>
        </p:nvCxnSpPr>
        <p:spPr>
          <a:xfrm>
            <a:off x="11878056" y="4965192"/>
            <a:ext cx="128016" cy="82296"/>
          </a:xfrm>
          <a:prstGeom prst="line">
            <a:avLst/>
          </a:prstGeom>
          <a:ln w="13970">
            <a:solidFill>
              <a:srgbClr val="1714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Horizon clock pin"/>
          <p:cNvSpPr/>
          <p:nvPr/>
        </p:nvSpPr>
        <p:spPr>
          <a:xfrm>
            <a:off x="11859768" y="4946904"/>
            <a:ext cx="36576" cy="36576"/>
          </a:xfrm>
          <a:prstGeom prst="ellipse">
            <a:avLst/>
          </a:prstGeom>
          <a:solidFill>
            <a:srgbClr val="171419"/>
          </a:solidFill>
          <a:ln w="3810">
            <a:solidFill>
              <a:srgbClr val="171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Horizon clock tick"/>
          <p:cNvSpPr/>
          <p:nvPr/>
        </p:nvSpPr>
        <p:spPr>
          <a:xfrm>
            <a:off x="11868912" y="4773168"/>
            <a:ext cx="18288" cy="18288"/>
          </a:xfrm>
          <a:prstGeom prst="ellipse">
            <a:avLst/>
          </a:prstGeom>
          <a:solidFill>
            <a:srgbClr val="171419"/>
          </a:solidFill>
          <a:ln w="2540">
            <a:solidFill>
              <a:srgbClr val="171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Horizon clock tick"/>
          <p:cNvSpPr/>
          <p:nvPr/>
        </p:nvSpPr>
        <p:spPr>
          <a:xfrm>
            <a:off x="12051792" y="4956048"/>
            <a:ext cx="18288" cy="18288"/>
          </a:xfrm>
          <a:prstGeom prst="ellipse">
            <a:avLst/>
          </a:prstGeom>
          <a:solidFill>
            <a:srgbClr val="171419"/>
          </a:solidFill>
          <a:ln w="2540">
            <a:solidFill>
              <a:srgbClr val="171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Horizon clock tick"/>
          <p:cNvSpPr/>
          <p:nvPr/>
        </p:nvSpPr>
        <p:spPr>
          <a:xfrm>
            <a:off x="11868912" y="5138928"/>
            <a:ext cx="18288" cy="18288"/>
          </a:xfrm>
          <a:prstGeom prst="ellipse">
            <a:avLst/>
          </a:prstGeom>
          <a:solidFill>
            <a:srgbClr val="171419"/>
          </a:solidFill>
          <a:ln w="2540">
            <a:solidFill>
              <a:srgbClr val="171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Horizon clock tick"/>
          <p:cNvSpPr/>
          <p:nvPr/>
        </p:nvSpPr>
        <p:spPr>
          <a:xfrm>
            <a:off x="11686032" y="4956048"/>
            <a:ext cx="18288" cy="18288"/>
          </a:xfrm>
          <a:prstGeom prst="ellipse">
            <a:avLst/>
          </a:prstGeom>
          <a:solidFill>
            <a:srgbClr val="171419"/>
          </a:solidFill>
          <a:ln w="2540">
            <a:solidFill>
              <a:srgbClr val="1714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Horizon clock label"/>
          <p:cNvSpPr txBox="1"/>
          <p:nvPr/>
        </p:nvSpPr>
        <p:spPr>
          <a:xfrm>
            <a:off x="11612880" y="5184648"/>
            <a:ext cx="539496" cy="24688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71419"/>
                </a:solidFill>
                <a:latin typeface="Times New Roman"/>
              </a:rPr>
              <a:t>e(h)</a:t>
            </a:r>
          </a:p>
        </p:txBody>
      </p:sp>
      <p:cxnSp>
        <p:nvCxnSpPr>
          <p:cNvPr id="275" name="Horizon to transition query 1"/>
          <p:cNvCxnSpPr/>
          <p:nvPr/>
        </p:nvCxnSpPr>
        <p:spPr>
          <a:xfrm flipV="1">
            <a:off x="11878056" y="4315968"/>
            <a:ext cx="0" cy="420624"/>
          </a:xfrm>
          <a:prstGeom prst="line">
            <a:avLst/>
          </a:prstGeom>
          <a:ln w="1333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Horizon to transition query 2"/>
          <p:cNvCxnSpPr/>
          <p:nvPr/>
        </p:nvCxnSpPr>
        <p:spPr>
          <a:xfrm>
            <a:off x="11878056" y="4315968"/>
            <a:ext cx="347472" cy="0"/>
          </a:xfrm>
          <a:prstGeom prst="line">
            <a:avLst/>
          </a:prstGeom>
          <a:ln w="13335">
            <a:solidFill>
              <a:srgbClr val="B55B3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Feedback to representation 1"/>
          <p:cNvCxnSpPr/>
          <p:nvPr/>
        </p:nvCxnSpPr>
        <p:spPr>
          <a:xfrm flipV="1">
            <a:off x="10689336" y="4517136"/>
            <a:ext cx="0" cy="548640"/>
          </a:xfrm>
          <a:prstGeom prst="line">
            <a:avLst/>
          </a:prstGeom>
          <a:ln w="13970">
            <a:solidFill>
              <a:srgbClr val="B55B3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Dense predictor input label"/>
          <p:cNvSpPr txBox="1"/>
          <p:nvPr/>
        </p:nvSpPr>
        <p:spPr>
          <a:xfrm>
            <a:off x="6547104" y="5093208"/>
            <a:ext cx="640080" cy="31089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71419"/>
                </a:solidFill>
                <a:latin typeface="Times New Roman"/>
              </a:rPr>
              <a:t>Dₜ¹:ᴸ</a:t>
            </a:r>
          </a:p>
        </p:txBody>
      </p:sp>
      <p:sp>
        <p:nvSpPr>
          <p:cNvPr id="279" name="Slot predictor input label"/>
          <p:cNvSpPr txBox="1"/>
          <p:nvPr/>
        </p:nvSpPr>
        <p:spPr>
          <a:xfrm>
            <a:off x="7415783" y="5093208"/>
            <a:ext cx="420624" cy="31089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71419"/>
                </a:solidFill>
                <a:latin typeface="Times New Roman"/>
              </a:rPr>
              <a:t>Sₜ</a:t>
            </a:r>
          </a:p>
        </p:txBody>
      </p:sp>
      <p:sp>
        <p:nvSpPr>
          <p:cNvPr id="280" name="Action predictor input label"/>
          <p:cNvSpPr txBox="1"/>
          <p:nvPr/>
        </p:nvSpPr>
        <p:spPr>
          <a:xfrm>
            <a:off x="8284464" y="5093208"/>
            <a:ext cx="576072" cy="31089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71419"/>
                </a:solidFill>
                <a:latin typeface="Times New Roman"/>
              </a:rPr>
              <a:t>Aₜ,ₕ</a:t>
            </a:r>
          </a:p>
        </p:txBody>
      </p:sp>
      <p:sp>
        <p:nvSpPr>
          <p:cNvPr id="281" name="Horizon predictor input label"/>
          <p:cNvSpPr txBox="1"/>
          <p:nvPr/>
        </p:nvSpPr>
        <p:spPr>
          <a:xfrm>
            <a:off x="9144000" y="5093208"/>
            <a:ext cx="521207" cy="31089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71419"/>
                </a:solidFill>
                <a:latin typeface="Times New Roman"/>
              </a:rPr>
              <a:t>e(h)</a:t>
            </a:r>
          </a:p>
        </p:txBody>
      </p:sp>
      <p:sp>
        <p:nvSpPr>
          <p:cNvPr id="282" name="Latent predictor"/>
          <p:cNvSpPr/>
          <p:nvPr/>
        </p:nvSpPr>
        <p:spPr>
          <a:xfrm>
            <a:off x="6117336" y="5605272"/>
            <a:ext cx="3456432" cy="1408176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Latent predictor label"/>
          <p:cNvSpPr txBox="1"/>
          <p:nvPr/>
        </p:nvSpPr>
        <p:spPr>
          <a:xfrm>
            <a:off x="6711696" y="5733288"/>
            <a:ext cx="2258568" cy="31089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71419"/>
                </a:solidFill>
                <a:latin typeface="Arial"/>
              </a:rPr>
              <a:t>Latent predictor</a:t>
            </a:r>
          </a:p>
        </p:txBody>
      </p:sp>
      <p:cxnSp>
        <p:nvCxnSpPr>
          <p:cNvPr id="284" name="Predictor edge i0h0"/>
          <p:cNvCxnSpPr/>
          <p:nvPr/>
        </p:nvCxnSpPr>
        <p:spPr>
          <a:xfrm>
            <a:off x="6748272" y="6172200"/>
            <a:ext cx="676655" cy="164592"/>
          </a:xfrm>
          <a:prstGeom prst="line">
            <a:avLst/>
          </a:prstGeom>
          <a:ln w="825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Predictor edge i0h1"/>
          <p:cNvCxnSpPr/>
          <p:nvPr/>
        </p:nvCxnSpPr>
        <p:spPr>
          <a:xfrm>
            <a:off x="6748272" y="6172200"/>
            <a:ext cx="676655" cy="420624"/>
          </a:xfrm>
          <a:prstGeom prst="line">
            <a:avLst/>
          </a:prstGeom>
          <a:ln w="825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Predictor edge i1h1"/>
          <p:cNvCxnSpPr/>
          <p:nvPr/>
        </p:nvCxnSpPr>
        <p:spPr>
          <a:xfrm>
            <a:off x="6748272" y="6455664"/>
            <a:ext cx="676655" cy="137160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Predictor edge i2h0"/>
          <p:cNvCxnSpPr/>
          <p:nvPr/>
        </p:nvCxnSpPr>
        <p:spPr>
          <a:xfrm flipV="1">
            <a:off x="6748272" y="6336792"/>
            <a:ext cx="676655" cy="411480"/>
          </a:xfrm>
          <a:prstGeom prst="line">
            <a:avLst/>
          </a:prstGeom>
          <a:ln w="825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Predictor edge i2h1"/>
          <p:cNvCxnSpPr/>
          <p:nvPr/>
        </p:nvCxnSpPr>
        <p:spPr>
          <a:xfrm flipV="1">
            <a:off x="6748272" y="6592824"/>
            <a:ext cx="676655" cy="155448"/>
          </a:xfrm>
          <a:prstGeom prst="line">
            <a:avLst/>
          </a:prstGeom>
          <a:ln w="825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Predictor edge h0m0"/>
          <p:cNvCxnSpPr/>
          <p:nvPr/>
        </p:nvCxnSpPr>
        <p:spPr>
          <a:xfrm flipV="1">
            <a:off x="7424927" y="6181344"/>
            <a:ext cx="320041" cy="155448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Predictor edge h0m1"/>
          <p:cNvCxnSpPr/>
          <p:nvPr/>
        </p:nvCxnSpPr>
        <p:spPr>
          <a:xfrm>
            <a:off x="7424927" y="6336792"/>
            <a:ext cx="320041" cy="128016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Predictor edge h0m2"/>
          <p:cNvCxnSpPr/>
          <p:nvPr/>
        </p:nvCxnSpPr>
        <p:spPr>
          <a:xfrm>
            <a:off x="7424927" y="6336792"/>
            <a:ext cx="320041" cy="420624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Predictor edge h1m0"/>
          <p:cNvCxnSpPr/>
          <p:nvPr/>
        </p:nvCxnSpPr>
        <p:spPr>
          <a:xfrm flipV="1">
            <a:off x="7424927" y="6181344"/>
            <a:ext cx="320041" cy="411480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Predictor edge h1m1"/>
          <p:cNvCxnSpPr/>
          <p:nvPr/>
        </p:nvCxnSpPr>
        <p:spPr>
          <a:xfrm flipV="1">
            <a:off x="7424927" y="6464808"/>
            <a:ext cx="320041" cy="128016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Predictor edge h1m2"/>
          <p:cNvCxnSpPr/>
          <p:nvPr/>
        </p:nvCxnSpPr>
        <p:spPr>
          <a:xfrm>
            <a:off x="7424927" y="6592824"/>
            <a:ext cx="320041" cy="164592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Predictor edge m0o"/>
          <p:cNvCxnSpPr/>
          <p:nvPr/>
        </p:nvCxnSpPr>
        <p:spPr>
          <a:xfrm>
            <a:off x="7744968" y="6181344"/>
            <a:ext cx="484632" cy="265176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Predictor edge m1o"/>
          <p:cNvCxnSpPr/>
          <p:nvPr/>
        </p:nvCxnSpPr>
        <p:spPr>
          <a:xfrm flipV="1">
            <a:off x="7744968" y="6446520"/>
            <a:ext cx="484632" cy="18288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Predictor edge m2o"/>
          <p:cNvCxnSpPr/>
          <p:nvPr/>
        </p:nvCxnSpPr>
        <p:spPr>
          <a:xfrm flipV="1">
            <a:off x="7744968" y="6446520"/>
            <a:ext cx="484632" cy="310896"/>
          </a:xfrm>
          <a:prstGeom prst="line">
            <a:avLst/>
          </a:prstGeom>
          <a:ln w="8255">
            <a:solidFill>
              <a:srgbClr val="6264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Predictor input node 1"/>
          <p:cNvSpPr/>
          <p:nvPr/>
        </p:nvSpPr>
        <p:spPr>
          <a:xfrm>
            <a:off x="6675120" y="6099048"/>
            <a:ext cx="146304" cy="146304"/>
          </a:xfrm>
          <a:prstGeom prst="ellipse">
            <a:avLst/>
          </a:prstGeom>
          <a:solidFill>
            <a:srgbClr val="FBF9F7"/>
          </a:solidFill>
          <a:ln w="1143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Predictor input node 2"/>
          <p:cNvSpPr/>
          <p:nvPr/>
        </p:nvSpPr>
        <p:spPr>
          <a:xfrm>
            <a:off x="6675120" y="6382512"/>
            <a:ext cx="146304" cy="146304"/>
          </a:xfrm>
          <a:prstGeom prst="ellipse">
            <a:avLst/>
          </a:prstGeom>
          <a:solidFill>
            <a:srgbClr val="FBF9F7"/>
          </a:solidFill>
          <a:ln w="1143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Predictor input node 3"/>
          <p:cNvSpPr/>
          <p:nvPr/>
        </p:nvSpPr>
        <p:spPr>
          <a:xfrm>
            <a:off x="6675120" y="6675120"/>
            <a:ext cx="146304" cy="146304"/>
          </a:xfrm>
          <a:prstGeom prst="ellipse">
            <a:avLst/>
          </a:prstGeom>
          <a:solidFill>
            <a:srgbClr val="FBF9F7"/>
          </a:solidFill>
          <a:ln w="1143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Predictor node 1"/>
          <p:cNvSpPr/>
          <p:nvPr/>
        </p:nvSpPr>
        <p:spPr>
          <a:xfrm>
            <a:off x="7342631" y="6254496"/>
            <a:ext cx="164592" cy="164592"/>
          </a:xfrm>
          <a:prstGeom prst="ellipse">
            <a:avLst/>
          </a:prstGeom>
          <a:solidFill>
            <a:srgbClr val="FBF9F7"/>
          </a:solidFill>
          <a:ln w="1143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Predictor node 2"/>
          <p:cNvSpPr/>
          <p:nvPr/>
        </p:nvSpPr>
        <p:spPr>
          <a:xfrm>
            <a:off x="7342631" y="6510528"/>
            <a:ext cx="164592" cy="164592"/>
          </a:xfrm>
          <a:prstGeom prst="ellipse">
            <a:avLst/>
          </a:prstGeom>
          <a:solidFill>
            <a:srgbClr val="FBF9F7"/>
          </a:solidFill>
          <a:ln w="1143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Predictor node 3"/>
          <p:cNvSpPr/>
          <p:nvPr/>
        </p:nvSpPr>
        <p:spPr>
          <a:xfrm>
            <a:off x="7662672" y="6099048"/>
            <a:ext cx="164592" cy="164592"/>
          </a:xfrm>
          <a:prstGeom prst="ellipse">
            <a:avLst/>
          </a:prstGeom>
          <a:solidFill>
            <a:srgbClr val="FBF9F7"/>
          </a:solidFill>
          <a:ln w="1143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Predictor node 4"/>
          <p:cNvSpPr/>
          <p:nvPr/>
        </p:nvSpPr>
        <p:spPr>
          <a:xfrm>
            <a:off x="7662672" y="6382512"/>
            <a:ext cx="164592" cy="164592"/>
          </a:xfrm>
          <a:prstGeom prst="ellipse">
            <a:avLst/>
          </a:prstGeom>
          <a:solidFill>
            <a:srgbClr val="FBF9F7"/>
          </a:solidFill>
          <a:ln w="1143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Predictor node 5"/>
          <p:cNvSpPr/>
          <p:nvPr/>
        </p:nvSpPr>
        <p:spPr>
          <a:xfrm>
            <a:off x="7662672" y="6675120"/>
            <a:ext cx="164592" cy="164592"/>
          </a:xfrm>
          <a:prstGeom prst="ellipse">
            <a:avLst/>
          </a:prstGeom>
          <a:solidFill>
            <a:srgbClr val="FBF9F7"/>
          </a:solidFill>
          <a:ln w="1143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Predictor node 6"/>
          <p:cNvSpPr/>
          <p:nvPr/>
        </p:nvSpPr>
        <p:spPr>
          <a:xfrm>
            <a:off x="8147304" y="6364224"/>
            <a:ext cx="164592" cy="164592"/>
          </a:xfrm>
          <a:prstGeom prst="ellipse">
            <a:avLst/>
          </a:prstGeom>
          <a:solidFill>
            <a:srgbClr val="FBF9F7"/>
          </a:solidFill>
          <a:ln w="11430">
            <a:solidFill>
              <a:srgbClr val="626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7" name="Predictor internal output"/>
          <p:cNvCxnSpPr/>
          <p:nvPr/>
        </p:nvCxnSpPr>
        <p:spPr>
          <a:xfrm>
            <a:off x="8430768" y="6446520"/>
            <a:ext cx="512064" cy="0"/>
          </a:xfrm>
          <a:prstGeom prst="line">
            <a:avLst/>
          </a:prstGeom>
          <a:ln w="13970">
            <a:solidFill>
              <a:srgbClr val="6264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Predictor output"/>
          <p:cNvCxnSpPr/>
          <p:nvPr/>
        </p:nvCxnSpPr>
        <p:spPr>
          <a:xfrm>
            <a:off x="9573768" y="6345936"/>
            <a:ext cx="740664" cy="0"/>
          </a:xfrm>
          <a:prstGeom prst="line">
            <a:avLst/>
          </a:prstGeom>
          <a:ln w="14604">
            <a:solidFill>
              <a:srgbClr val="B55B3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Prediction lane top"/>
          <p:cNvCxnSpPr/>
          <p:nvPr/>
        </p:nvCxnSpPr>
        <p:spPr>
          <a:xfrm>
            <a:off x="10232136" y="5715000"/>
            <a:ext cx="5321808" cy="0"/>
          </a:xfrm>
          <a:prstGeom prst="line">
            <a:avLst/>
          </a:prstGeom>
          <a:ln w="12700">
            <a:solidFill>
              <a:srgbClr val="B55B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Prediction lane bottom"/>
          <p:cNvCxnSpPr/>
          <p:nvPr/>
        </p:nvCxnSpPr>
        <p:spPr>
          <a:xfrm>
            <a:off x="10232136" y="7059168"/>
            <a:ext cx="5321808" cy="0"/>
          </a:xfrm>
          <a:prstGeom prst="line">
            <a:avLst/>
          </a:prstGeom>
          <a:ln w="12700">
            <a:solidFill>
              <a:srgbClr val="B55B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Predicted embedding"/>
          <p:cNvSpPr/>
          <p:nvPr/>
        </p:nvSpPr>
        <p:spPr>
          <a:xfrm>
            <a:off x="10497312" y="6062472"/>
            <a:ext cx="621792" cy="685800"/>
          </a:xfrm>
          <a:prstGeom prst="roundRect">
            <a:avLst>
              <a:gd name="adj" fmla="val 8000"/>
            </a:avLst>
          </a:prstGeom>
          <a:solidFill>
            <a:srgbClr val="D89C87"/>
          </a:solidFill>
          <a:ln w="12065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Prediction heading"/>
          <p:cNvSpPr txBox="1"/>
          <p:nvPr/>
        </p:nvSpPr>
        <p:spPr>
          <a:xfrm>
            <a:off x="11558016" y="5769864"/>
            <a:ext cx="2286000" cy="374904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171419"/>
                </a:solidFill>
                <a:latin typeface="Arial"/>
              </a:rPr>
              <a:t>Prediction  </a:t>
            </a:r>
            <a:r>
              <a:rPr sz="1520" b="0" i="1">
                <a:solidFill>
                  <a:srgbClr val="171419"/>
                </a:solidFill>
                <a:latin typeface="Times New Roman"/>
              </a:rPr>
              <a:t>Ŷₜ,ₕ</a:t>
            </a:r>
          </a:p>
        </p:txBody>
      </p:sp>
      <p:sp>
        <p:nvSpPr>
          <p:cNvPr id="313" name="Prediction grid coarse"/>
          <p:cNvSpPr/>
          <p:nvPr/>
        </p:nvSpPr>
        <p:spPr>
          <a:xfrm>
            <a:off x="11622024" y="6199632"/>
            <a:ext cx="694944" cy="704088"/>
          </a:xfrm>
          <a:prstGeom prst="rect">
            <a:avLst/>
          </a:prstGeom>
          <a:solidFill>
            <a:srgbClr val="EED8CF"/>
          </a:solidFill>
          <a:ln w="1016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4" name="Prediction grid coarse v1"/>
          <p:cNvCxnSpPr/>
          <p:nvPr/>
        </p:nvCxnSpPr>
        <p:spPr>
          <a:xfrm>
            <a:off x="11795760" y="6199632"/>
            <a:ext cx="0" cy="704088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Prediction grid coarse v2"/>
          <p:cNvCxnSpPr/>
          <p:nvPr/>
        </p:nvCxnSpPr>
        <p:spPr>
          <a:xfrm>
            <a:off x="11969496" y="6199632"/>
            <a:ext cx="0" cy="704088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Prediction grid coarse v3"/>
          <p:cNvCxnSpPr/>
          <p:nvPr/>
        </p:nvCxnSpPr>
        <p:spPr>
          <a:xfrm>
            <a:off x="12143232" y="6199632"/>
            <a:ext cx="0" cy="704088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Prediction grid coarse h1"/>
          <p:cNvCxnSpPr/>
          <p:nvPr/>
        </p:nvCxnSpPr>
        <p:spPr>
          <a:xfrm>
            <a:off x="11622024" y="6375654"/>
            <a:ext cx="694944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Prediction grid coarse h2"/>
          <p:cNvCxnSpPr/>
          <p:nvPr/>
        </p:nvCxnSpPr>
        <p:spPr>
          <a:xfrm>
            <a:off x="11622024" y="6551676"/>
            <a:ext cx="694944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Prediction grid coarse h3"/>
          <p:cNvCxnSpPr/>
          <p:nvPr/>
        </p:nvCxnSpPr>
        <p:spPr>
          <a:xfrm>
            <a:off x="11622024" y="6727698"/>
            <a:ext cx="694944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Prediction grid medium"/>
          <p:cNvSpPr/>
          <p:nvPr/>
        </p:nvSpPr>
        <p:spPr>
          <a:xfrm>
            <a:off x="12691872" y="6236208"/>
            <a:ext cx="585216" cy="658368"/>
          </a:xfrm>
          <a:prstGeom prst="rect">
            <a:avLst/>
          </a:prstGeom>
          <a:solidFill>
            <a:srgbClr val="E8C8BC"/>
          </a:solidFill>
          <a:ln w="1016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1" name="Prediction grid medium v1"/>
          <p:cNvCxnSpPr/>
          <p:nvPr/>
        </p:nvCxnSpPr>
        <p:spPr>
          <a:xfrm>
            <a:off x="12775474" y="6236208"/>
            <a:ext cx="0" cy="658368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Prediction grid medium v2"/>
          <p:cNvCxnSpPr/>
          <p:nvPr/>
        </p:nvCxnSpPr>
        <p:spPr>
          <a:xfrm>
            <a:off x="12859076" y="6236208"/>
            <a:ext cx="0" cy="658368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Prediction grid medium v3"/>
          <p:cNvCxnSpPr/>
          <p:nvPr/>
        </p:nvCxnSpPr>
        <p:spPr>
          <a:xfrm>
            <a:off x="12942678" y="6236208"/>
            <a:ext cx="0" cy="658368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Prediction grid medium v4"/>
          <p:cNvCxnSpPr/>
          <p:nvPr/>
        </p:nvCxnSpPr>
        <p:spPr>
          <a:xfrm>
            <a:off x="13026281" y="6236208"/>
            <a:ext cx="0" cy="658368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Prediction grid medium v5"/>
          <p:cNvCxnSpPr/>
          <p:nvPr/>
        </p:nvCxnSpPr>
        <p:spPr>
          <a:xfrm>
            <a:off x="13109883" y="6236208"/>
            <a:ext cx="0" cy="658368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Prediction grid medium v6"/>
          <p:cNvCxnSpPr/>
          <p:nvPr/>
        </p:nvCxnSpPr>
        <p:spPr>
          <a:xfrm>
            <a:off x="13193485" y="6236208"/>
            <a:ext cx="0" cy="658368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Prediction grid medium h1"/>
          <p:cNvCxnSpPr/>
          <p:nvPr/>
        </p:nvCxnSpPr>
        <p:spPr>
          <a:xfrm>
            <a:off x="12691872" y="6318504"/>
            <a:ext cx="585216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Prediction grid medium h2"/>
          <p:cNvCxnSpPr/>
          <p:nvPr/>
        </p:nvCxnSpPr>
        <p:spPr>
          <a:xfrm>
            <a:off x="12691872" y="6400800"/>
            <a:ext cx="585216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Prediction grid medium h3"/>
          <p:cNvCxnSpPr/>
          <p:nvPr/>
        </p:nvCxnSpPr>
        <p:spPr>
          <a:xfrm>
            <a:off x="12691872" y="6483096"/>
            <a:ext cx="585216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Prediction grid medium h4"/>
          <p:cNvCxnSpPr/>
          <p:nvPr/>
        </p:nvCxnSpPr>
        <p:spPr>
          <a:xfrm>
            <a:off x="12691872" y="6565392"/>
            <a:ext cx="585216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Prediction grid medium h5"/>
          <p:cNvCxnSpPr/>
          <p:nvPr/>
        </p:nvCxnSpPr>
        <p:spPr>
          <a:xfrm>
            <a:off x="12691872" y="6647688"/>
            <a:ext cx="585216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Prediction grid medium h6"/>
          <p:cNvCxnSpPr/>
          <p:nvPr/>
        </p:nvCxnSpPr>
        <p:spPr>
          <a:xfrm>
            <a:off x="12691872" y="6729984"/>
            <a:ext cx="585216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Prediction grid medium h7"/>
          <p:cNvCxnSpPr/>
          <p:nvPr/>
        </p:nvCxnSpPr>
        <p:spPr>
          <a:xfrm>
            <a:off x="12691872" y="6812280"/>
            <a:ext cx="585216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Prediction grid fine"/>
          <p:cNvSpPr/>
          <p:nvPr/>
        </p:nvSpPr>
        <p:spPr>
          <a:xfrm>
            <a:off x="13624560" y="6318504"/>
            <a:ext cx="475488" cy="484632"/>
          </a:xfrm>
          <a:prstGeom prst="rect">
            <a:avLst/>
          </a:prstGeom>
          <a:solidFill>
            <a:srgbClr val="E6C0B2"/>
          </a:solidFill>
          <a:ln w="1016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5" name="Prediction grid fine v1"/>
          <p:cNvCxnSpPr/>
          <p:nvPr/>
        </p:nvCxnSpPr>
        <p:spPr>
          <a:xfrm>
            <a:off x="13672108" y="6318504"/>
            <a:ext cx="0" cy="484632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Prediction grid fine v2"/>
          <p:cNvCxnSpPr/>
          <p:nvPr/>
        </p:nvCxnSpPr>
        <p:spPr>
          <a:xfrm>
            <a:off x="13719657" y="6318504"/>
            <a:ext cx="0" cy="484632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Prediction grid fine v3"/>
          <p:cNvCxnSpPr/>
          <p:nvPr/>
        </p:nvCxnSpPr>
        <p:spPr>
          <a:xfrm>
            <a:off x="13767206" y="6318504"/>
            <a:ext cx="0" cy="484632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Prediction grid fine v4"/>
          <p:cNvCxnSpPr/>
          <p:nvPr/>
        </p:nvCxnSpPr>
        <p:spPr>
          <a:xfrm>
            <a:off x="13814755" y="6318504"/>
            <a:ext cx="0" cy="484632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Prediction grid fine v5"/>
          <p:cNvCxnSpPr/>
          <p:nvPr/>
        </p:nvCxnSpPr>
        <p:spPr>
          <a:xfrm>
            <a:off x="13862304" y="6318504"/>
            <a:ext cx="0" cy="484632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Prediction grid fine v6"/>
          <p:cNvCxnSpPr/>
          <p:nvPr/>
        </p:nvCxnSpPr>
        <p:spPr>
          <a:xfrm>
            <a:off x="13909852" y="6318504"/>
            <a:ext cx="0" cy="484632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Prediction grid fine v7"/>
          <p:cNvCxnSpPr/>
          <p:nvPr/>
        </p:nvCxnSpPr>
        <p:spPr>
          <a:xfrm>
            <a:off x="13957401" y="6318504"/>
            <a:ext cx="0" cy="484632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Prediction grid fine v8"/>
          <p:cNvCxnSpPr/>
          <p:nvPr/>
        </p:nvCxnSpPr>
        <p:spPr>
          <a:xfrm>
            <a:off x="14004950" y="6318504"/>
            <a:ext cx="0" cy="484632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Prediction grid fine v9"/>
          <p:cNvCxnSpPr/>
          <p:nvPr/>
        </p:nvCxnSpPr>
        <p:spPr>
          <a:xfrm>
            <a:off x="14052499" y="6318504"/>
            <a:ext cx="0" cy="484632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Prediction grid fine h1"/>
          <p:cNvCxnSpPr/>
          <p:nvPr/>
        </p:nvCxnSpPr>
        <p:spPr>
          <a:xfrm>
            <a:off x="13624560" y="6366967"/>
            <a:ext cx="475488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Prediction grid fine h2"/>
          <p:cNvCxnSpPr/>
          <p:nvPr/>
        </p:nvCxnSpPr>
        <p:spPr>
          <a:xfrm>
            <a:off x="13624560" y="6415430"/>
            <a:ext cx="475488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Prediction grid fine h3"/>
          <p:cNvCxnSpPr/>
          <p:nvPr/>
        </p:nvCxnSpPr>
        <p:spPr>
          <a:xfrm>
            <a:off x="13624560" y="6463893"/>
            <a:ext cx="475488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Prediction grid fine h4"/>
          <p:cNvCxnSpPr/>
          <p:nvPr/>
        </p:nvCxnSpPr>
        <p:spPr>
          <a:xfrm>
            <a:off x="13624560" y="6512356"/>
            <a:ext cx="475488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Prediction grid fine h5"/>
          <p:cNvCxnSpPr/>
          <p:nvPr/>
        </p:nvCxnSpPr>
        <p:spPr>
          <a:xfrm>
            <a:off x="13624560" y="6560820"/>
            <a:ext cx="475488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Prediction grid fine h6"/>
          <p:cNvCxnSpPr/>
          <p:nvPr/>
        </p:nvCxnSpPr>
        <p:spPr>
          <a:xfrm>
            <a:off x="13624560" y="6609283"/>
            <a:ext cx="475488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Prediction grid fine h7"/>
          <p:cNvCxnSpPr/>
          <p:nvPr/>
        </p:nvCxnSpPr>
        <p:spPr>
          <a:xfrm>
            <a:off x="13624560" y="6657746"/>
            <a:ext cx="475488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Prediction grid fine h8"/>
          <p:cNvCxnSpPr/>
          <p:nvPr/>
        </p:nvCxnSpPr>
        <p:spPr>
          <a:xfrm>
            <a:off x="13624560" y="6706209"/>
            <a:ext cx="475488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Prediction grid fine h9"/>
          <p:cNvCxnSpPr/>
          <p:nvPr/>
        </p:nvCxnSpPr>
        <p:spPr>
          <a:xfrm>
            <a:off x="13624560" y="6754672"/>
            <a:ext cx="475488" cy="0"/>
          </a:xfrm>
          <a:prstGeom prst="line">
            <a:avLst/>
          </a:prstGeom>
          <a:ln w="5715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Prediction ellipsis"/>
          <p:cNvSpPr txBox="1"/>
          <p:nvPr/>
        </p:nvSpPr>
        <p:spPr>
          <a:xfrm>
            <a:off x="14328648" y="6281928"/>
            <a:ext cx="411480" cy="37490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1419"/>
                </a:solidFill>
                <a:latin typeface="Arial"/>
              </a:rPr>
              <a:t>···</a:t>
            </a:r>
          </a:p>
        </p:txBody>
      </p:sp>
      <p:sp>
        <p:nvSpPr>
          <p:cNvPr id="354" name="Action output label"/>
          <p:cNvSpPr txBox="1"/>
          <p:nvPr/>
        </p:nvSpPr>
        <p:spPr>
          <a:xfrm>
            <a:off x="14356080" y="4718304"/>
            <a:ext cx="667512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71419"/>
                </a:solidFill>
                <a:latin typeface="Times New Roman"/>
              </a:rPr>
              <a:t>Aₜ,ₕ</a:t>
            </a:r>
          </a:p>
        </p:txBody>
      </p:sp>
      <p:sp>
        <p:nvSpPr>
          <p:cNvPr id="355" name="Future comparison"/>
          <p:cNvSpPr/>
          <p:nvPr/>
        </p:nvSpPr>
        <p:spPr>
          <a:xfrm>
            <a:off x="16047720" y="4178808"/>
            <a:ext cx="502920" cy="502920"/>
          </a:xfrm>
          <a:prstGeom prst="ellipse">
            <a:avLst/>
          </a:prstGeom>
          <a:solidFill>
            <a:srgbClr val="FBF9F7"/>
          </a:solidFill>
          <a:ln w="14604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Future comparison edge 0-1"/>
          <p:cNvCxnSpPr/>
          <p:nvPr/>
        </p:nvCxnSpPr>
        <p:spPr>
          <a:xfrm flipV="1">
            <a:off x="16166592" y="4325112"/>
            <a:ext cx="82296" cy="182880"/>
          </a:xfrm>
          <a:prstGeom prst="line">
            <a:avLst/>
          </a:prstGeom>
          <a:ln w="8890">
            <a:solidFill>
              <a:srgbClr val="B55B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Future comparison edge 1-2"/>
          <p:cNvCxnSpPr/>
          <p:nvPr/>
        </p:nvCxnSpPr>
        <p:spPr>
          <a:xfrm>
            <a:off x="16248888" y="4325112"/>
            <a:ext cx="109728" cy="109728"/>
          </a:xfrm>
          <a:prstGeom prst="line">
            <a:avLst/>
          </a:prstGeom>
          <a:ln w="8890">
            <a:solidFill>
              <a:srgbClr val="B55B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Future comparison edge 2-3"/>
          <p:cNvCxnSpPr/>
          <p:nvPr/>
        </p:nvCxnSpPr>
        <p:spPr>
          <a:xfrm flipV="1">
            <a:off x="16358616" y="4270248"/>
            <a:ext cx="73151" cy="164592"/>
          </a:xfrm>
          <a:prstGeom prst="line">
            <a:avLst/>
          </a:prstGeom>
          <a:ln w="8890">
            <a:solidFill>
              <a:srgbClr val="B55B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Future comparison edge 2-4"/>
          <p:cNvCxnSpPr/>
          <p:nvPr/>
        </p:nvCxnSpPr>
        <p:spPr>
          <a:xfrm>
            <a:off x="16358616" y="4434840"/>
            <a:ext cx="91439" cy="109728"/>
          </a:xfrm>
          <a:prstGeom prst="line">
            <a:avLst/>
          </a:prstGeom>
          <a:ln w="8890">
            <a:solidFill>
              <a:srgbClr val="B55B3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Future comparison node 1"/>
          <p:cNvSpPr/>
          <p:nvPr/>
        </p:nvSpPr>
        <p:spPr>
          <a:xfrm>
            <a:off x="16139159" y="4480560"/>
            <a:ext cx="54864" cy="54864"/>
          </a:xfrm>
          <a:prstGeom prst="ellipse">
            <a:avLst/>
          </a:prstGeom>
          <a:solidFill>
            <a:srgbClr val="FEFDFC"/>
          </a:solidFill>
          <a:ln w="1016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Future comparison node 2"/>
          <p:cNvSpPr/>
          <p:nvPr/>
        </p:nvSpPr>
        <p:spPr>
          <a:xfrm>
            <a:off x="16221455" y="4297680"/>
            <a:ext cx="54864" cy="54864"/>
          </a:xfrm>
          <a:prstGeom prst="ellipse">
            <a:avLst/>
          </a:prstGeom>
          <a:solidFill>
            <a:srgbClr val="FEFDFC"/>
          </a:solidFill>
          <a:ln w="1016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uture comparison node 3"/>
          <p:cNvSpPr/>
          <p:nvPr/>
        </p:nvSpPr>
        <p:spPr>
          <a:xfrm>
            <a:off x="16331184" y="4407408"/>
            <a:ext cx="54864" cy="54864"/>
          </a:xfrm>
          <a:prstGeom prst="ellipse">
            <a:avLst/>
          </a:prstGeom>
          <a:solidFill>
            <a:srgbClr val="FEFDFC"/>
          </a:solidFill>
          <a:ln w="1016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uture comparison node 4"/>
          <p:cNvSpPr/>
          <p:nvPr/>
        </p:nvSpPr>
        <p:spPr>
          <a:xfrm>
            <a:off x="16404336" y="4242816"/>
            <a:ext cx="54864" cy="54864"/>
          </a:xfrm>
          <a:prstGeom prst="ellipse">
            <a:avLst/>
          </a:prstGeom>
          <a:solidFill>
            <a:srgbClr val="FEFDFC"/>
          </a:solidFill>
          <a:ln w="1016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Future comparison node 5"/>
          <p:cNvSpPr/>
          <p:nvPr/>
        </p:nvSpPr>
        <p:spPr>
          <a:xfrm>
            <a:off x="16422624" y="4517136"/>
            <a:ext cx="54864" cy="54864"/>
          </a:xfrm>
          <a:prstGeom prst="ellipse">
            <a:avLst/>
          </a:prstGeom>
          <a:solidFill>
            <a:srgbClr val="FEFDFC"/>
          </a:solidFill>
          <a:ln w="10160">
            <a:solidFill>
              <a:srgbClr val="B55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Future loss route 1"/>
          <p:cNvCxnSpPr/>
          <p:nvPr/>
        </p:nvCxnSpPr>
        <p:spPr>
          <a:xfrm>
            <a:off x="16294608" y="4681728"/>
            <a:ext cx="0" cy="1810512"/>
          </a:xfrm>
          <a:prstGeom prst="line">
            <a:avLst/>
          </a:prstGeom>
          <a:ln w="14604">
            <a:solidFill>
              <a:srgbClr val="B55B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Future loss route 2"/>
          <p:cNvCxnSpPr/>
          <p:nvPr/>
        </p:nvCxnSpPr>
        <p:spPr>
          <a:xfrm flipH="1">
            <a:off x="15124176" y="6492240"/>
            <a:ext cx="1170432" cy="0"/>
          </a:xfrm>
          <a:prstGeom prst="line">
            <a:avLst/>
          </a:prstGeom>
          <a:ln w="14604">
            <a:solidFill>
              <a:srgbClr val="B55B3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Future loss label"/>
          <p:cNvSpPr txBox="1"/>
          <p:nvPr/>
        </p:nvSpPr>
        <p:spPr>
          <a:xfrm>
            <a:off x="15069312" y="6574536"/>
            <a:ext cx="1929384" cy="384048"/>
          </a:xfrm>
          <a:prstGeom prst="rect">
            <a:avLst/>
          </a:prstGeom>
          <a:noFill/>
          <a:effectLst/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171419"/>
                </a:solidFill>
                <a:latin typeface="Arial"/>
              </a:rPr>
              <a:t>Future loss shapes  </a:t>
            </a:r>
            <a:r>
              <a:rPr sz="1420" b="0" i="1">
                <a:solidFill>
                  <a:srgbClr val="171419"/>
                </a:solidFill>
                <a:latin typeface="Times New Roman"/>
              </a:rPr>
              <a:t>Rₜ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editable architecture figure</dc:title>
  <dc:subject>Editable recreation of Codex Image Aug 29, 2026, 06_06_09 AM.png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