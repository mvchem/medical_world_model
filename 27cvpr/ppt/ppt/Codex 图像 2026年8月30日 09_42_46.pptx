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3633704" cy="964692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Relationship Id="rId7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igure title"/>
          <p:cNvSpPr txBox="1"/>
          <p:nvPr/>
        </p:nvSpPr>
        <p:spPr>
          <a:xfrm>
            <a:off x="1691640" y="54864"/>
            <a:ext cx="11155680" cy="466344"/>
          </a:xfrm>
          <a:prstGeom prst="rect">
            <a:avLst/>
          </a:prstGeom>
          <a:noFill/>
          <a:effectLst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A2944"/>
                </a:solidFill>
                <a:latin typeface="Roboto Condensed"/>
              </a:rPr>
              <a:t>Representative longitudinal MIMIC trajectories used by MedWorld-JEPA</a:t>
            </a:r>
          </a:p>
        </p:txBody>
      </p:sp>
      <p:sp>
        <p:nvSpPr>
          <p:cNvPr id="3" name="Figure subtitle"/>
          <p:cNvSpPr txBox="1"/>
          <p:nvPr/>
        </p:nvSpPr>
        <p:spPr>
          <a:xfrm>
            <a:off x="3520440" y="521207"/>
            <a:ext cx="7040880" cy="448056"/>
          </a:xfrm>
          <a:prstGeom prst="rect">
            <a:avLst/>
          </a:prstGeom>
          <a:noFill/>
          <a:effectLst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4E5153"/>
                </a:solidFill>
                <a:latin typeface="Arial"/>
              </a:rPr>
              <a:t>Current chest radiograph evidence is paired with one observed future study;
linked MIMIC-IV records provide retrospective audit context for the interval.</a:t>
            </a:r>
          </a:p>
        </p:txBody>
      </p:sp>
      <p:sp>
        <p:nvSpPr>
          <p:cNvPr id="4" name="Header 1"/>
          <p:cNvSpPr/>
          <p:nvPr/>
        </p:nvSpPr>
        <p:spPr>
          <a:xfrm>
            <a:off x="1636776" y="1060704"/>
            <a:ext cx="3081528" cy="356616"/>
          </a:xfrm>
          <a:prstGeom prst="roundRect">
            <a:avLst>
              <a:gd name="adj" fmla="val 8000"/>
            </a:avLst>
          </a:prstGeom>
          <a:solidFill>
            <a:srgbClr val="3F65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Header number 1"/>
          <p:cNvSpPr/>
          <p:nvPr/>
        </p:nvSpPr>
        <p:spPr>
          <a:xfrm>
            <a:off x="2313432" y="1124712"/>
            <a:ext cx="219456" cy="21945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Header number text 1"/>
          <p:cNvSpPr txBox="1"/>
          <p:nvPr/>
        </p:nvSpPr>
        <p:spPr>
          <a:xfrm>
            <a:off x="2313432" y="1115568"/>
            <a:ext cx="219456" cy="228600"/>
          </a:xfrm>
          <a:prstGeom prst="rect">
            <a:avLst/>
          </a:prstGeom>
          <a:noFill/>
          <a:effectLst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A2944"/>
                </a:solidFill>
                <a:latin typeface="Arial"/>
              </a:rPr>
              <a:t>1</a:t>
            </a:r>
          </a:p>
        </p:txBody>
      </p:sp>
      <p:sp>
        <p:nvSpPr>
          <p:cNvPr id="7" name="Header label 1"/>
          <p:cNvSpPr txBox="1"/>
          <p:nvPr/>
        </p:nvSpPr>
        <p:spPr>
          <a:xfrm>
            <a:off x="2587752" y="1097280"/>
            <a:ext cx="2093976" cy="283464"/>
          </a:xfrm>
          <a:prstGeom prst="rect">
            <a:avLst/>
          </a:prstGeom>
          <a:noFill/>
          <a:effectLst/>
        </p:spPr>
        <p:txBody>
          <a:bodyPr wrap="square" lIns="9144" rIns="9144" tIns="9144" bIns="9144" anchor="ctr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Roboto Condensed"/>
              </a:rPr>
              <a:t>Current evidence at t</a:t>
            </a:r>
          </a:p>
        </p:txBody>
      </p:sp>
      <p:sp>
        <p:nvSpPr>
          <p:cNvPr id="8" name="Header 2"/>
          <p:cNvSpPr/>
          <p:nvPr/>
        </p:nvSpPr>
        <p:spPr>
          <a:xfrm>
            <a:off x="5056632" y="1060704"/>
            <a:ext cx="3813048" cy="356616"/>
          </a:xfrm>
          <a:prstGeom prst="roundRect">
            <a:avLst>
              <a:gd name="adj" fmla="val 8000"/>
            </a:avLst>
          </a:prstGeom>
          <a:solidFill>
            <a:srgbClr val="5F9A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Header number 2"/>
          <p:cNvSpPr/>
          <p:nvPr/>
        </p:nvSpPr>
        <p:spPr>
          <a:xfrm>
            <a:off x="5175504" y="1124712"/>
            <a:ext cx="219456" cy="21945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Header number text 2"/>
          <p:cNvSpPr txBox="1"/>
          <p:nvPr/>
        </p:nvSpPr>
        <p:spPr>
          <a:xfrm>
            <a:off x="5175504" y="1115568"/>
            <a:ext cx="219456" cy="228600"/>
          </a:xfrm>
          <a:prstGeom prst="rect">
            <a:avLst/>
          </a:prstGeom>
          <a:noFill/>
          <a:effectLst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A2944"/>
                </a:solidFill>
                <a:latin typeface="Arial"/>
              </a:rPr>
              <a:t>2</a:t>
            </a:r>
          </a:p>
        </p:txBody>
      </p:sp>
      <p:sp>
        <p:nvSpPr>
          <p:cNvPr id="11" name="Header label 2"/>
          <p:cNvSpPr txBox="1"/>
          <p:nvPr/>
        </p:nvSpPr>
        <p:spPr>
          <a:xfrm>
            <a:off x="5449824" y="1097280"/>
            <a:ext cx="3383280" cy="283464"/>
          </a:xfrm>
          <a:prstGeom prst="rect">
            <a:avLst/>
          </a:prstGeom>
          <a:noFill/>
          <a:effectLst/>
        </p:spPr>
        <p:txBody>
          <a:bodyPr wrap="square" lIns="9144" rIns="9144" tIns="9144" bIns="9144" anchor="ctr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Roboto Condensed"/>
              </a:rPr>
              <a:t>Linked retrospective context — not model input</a:t>
            </a:r>
          </a:p>
        </p:txBody>
      </p:sp>
      <p:sp>
        <p:nvSpPr>
          <p:cNvPr id="12" name="Header 3"/>
          <p:cNvSpPr/>
          <p:nvPr/>
        </p:nvSpPr>
        <p:spPr>
          <a:xfrm>
            <a:off x="9217152" y="1060704"/>
            <a:ext cx="4206240" cy="356616"/>
          </a:xfrm>
          <a:prstGeom prst="roundRect">
            <a:avLst>
              <a:gd name="adj" fmla="val 8000"/>
            </a:avLst>
          </a:prstGeom>
          <a:solidFill>
            <a:srgbClr val="C6A7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Header number 3"/>
          <p:cNvSpPr/>
          <p:nvPr/>
        </p:nvSpPr>
        <p:spPr>
          <a:xfrm>
            <a:off x="10021824" y="1124712"/>
            <a:ext cx="219456" cy="21945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Header number text 3"/>
          <p:cNvSpPr txBox="1"/>
          <p:nvPr/>
        </p:nvSpPr>
        <p:spPr>
          <a:xfrm>
            <a:off x="10021824" y="1115568"/>
            <a:ext cx="219456" cy="228600"/>
          </a:xfrm>
          <a:prstGeom prst="rect">
            <a:avLst/>
          </a:prstGeom>
          <a:noFill/>
          <a:effectLst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A2944"/>
                </a:solidFill>
                <a:latin typeface="Arial"/>
              </a:rPr>
              <a:t>3</a:t>
            </a:r>
          </a:p>
        </p:txBody>
      </p:sp>
      <p:sp>
        <p:nvSpPr>
          <p:cNvPr id="15" name="Header label 3"/>
          <p:cNvSpPr txBox="1"/>
          <p:nvPr/>
        </p:nvSpPr>
        <p:spPr>
          <a:xfrm>
            <a:off x="10296144" y="1097280"/>
            <a:ext cx="3090672" cy="283464"/>
          </a:xfrm>
          <a:prstGeom prst="rect">
            <a:avLst/>
          </a:prstGeom>
          <a:noFill/>
          <a:effectLst/>
        </p:spPr>
        <p:txBody>
          <a:bodyPr wrap="square" lIns="9144" rIns="9144" tIns="9144" bIns="9144" anchor="ctr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Roboto Condensed"/>
              </a:rPr>
              <a:t>Observed follow-up target t+</a:t>
            </a:r>
          </a:p>
        </p:txBody>
      </p:sp>
      <p:cxnSp>
        <p:nvCxnSpPr>
          <p:cNvPr id="16" name="Case A trajectory arrow"/>
          <p:cNvCxnSpPr/>
          <p:nvPr/>
        </p:nvCxnSpPr>
        <p:spPr>
          <a:xfrm>
            <a:off x="4764024" y="1600200"/>
            <a:ext cx="4379976" cy="0"/>
          </a:xfrm>
          <a:prstGeom prst="line">
            <a:avLst/>
          </a:prstGeom>
          <a:ln w="19050">
            <a:solidFill>
              <a:srgbClr val="0B4A76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Case A current radiograph" descr="case_a_current_cxr.jpg"/>
          <p:cNvPicPr>
            <a:picLocks noChangeAspect="1"/>
          </p:cNvPicPr>
          <p:nvPr/>
        </p:nvPicPr>
        <p:blipFill>
          <a:blip r:embed="rId2"/>
          <a:srcRect t="7888" b="23688"/>
          <a:stretch>
            <a:fillRect/>
          </a:stretch>
        </p:blipFill>
        <p:spPr>
          <a:xfrm>
            <a:off x="1636776" y="1517904"/>
            <a:ext cx="3081528" cy="2532888"/>
          </a:xfrm>
          <a:prstGeom prst="rect">
            <a:avLst/>
          </a:prstGeom>
          <a:effectLst/>
        </p:spPr>
      </p:pic>
      <p:sp>
        <p:nvSpPr>
          <p:cNvPr id="18" name="Case A current radiograph border"/>
          <p:cNvSpPr/>
          <p:nvPr/>
        </p:nvSpPr>
        <p:spPr>
          <a:xfrm>
            <a:off x="1636776" y="1517904"/>
            <a:ext cx="3081528" cy="2532888"/>
          </a:xfrm>
          <a:prstGeom prst="rect">
            <a:avLst/>
          </a:prstGeom>
          <a:noFill/>
          <a:ln w="8255">
            <a:solidFill>
              <a:srgbClr val="6574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Case A observed follow-up" descr="case_a_observed_followup_cxr.jpg"/>
          <p:cNvPicPr>
            <a:picLocks noChangeAspect="1"/>
          </p:cNvPicPr>
          <p:nvPr/>
        </p:nvPicPr>
        <p:blipFill>
          <a:blip r:embed="rId3"/>
          <a:srcRect t="2305" b="505"/>
          <a:stretch>
            <a:fillRect/>
          </a:stretch>
        </p:blipFill>
        <p:spPr>
          <a:xfrm>
            <a:off x="9217152" y="1517904"/>
            <a:ext cx="2798064" cy="2532888"/>
          </a:xfrm>
          <a:prstGeom prst="rect">
            <a:avLst/>
          </a:prstGeom>
          <a:effectLst/>
        </p:spPr>
      </p:pic>
      <p:sp>
        <p:nvSpPr>
          <p:cNvPr id="20" name="Case A observed follow-up border"/>
          <p:cNvSpPr/>
          <p:nvPr/>
        </p:nvSpPr>
        <p:spPr>
          <a:xfrm>
            <a:off x="9217152" y="1517904"/>
            <a:ext cx="2798064" cy="2532888"/>
          </a:xfrm>
          <a:prstGeom prst="rect">
            <a:avLst/>
          </a:prstGeom>
          <a:noFill/>
          <a:ln w="8255">
            <a:solidFill>
              <a:srgbClr val="6574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ase A label"/>
          <p:cNvSpPr/>
          <p:nvPr/>
        </p:nvSpPr>
        <p:spPr>
          <a:xfrm>
            <a:off x="146304" y="1591056"/>
            <a:ext cx="1152144" cy="338328"/>
          </a:xfrm>
          <a:prstGeom prst="roundRect">
            <a:avLst>
              <a:gd name="adj" fmla="val 8000"/>
            </a:avLst>
          </a:prstGeom>
          <a:solidFill>
            <a:srgbClr val="0B4A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ase A label text"/>
          <p:cNvSpPr txBox="1"/>
          <p:nvPr/>
        </p:nvSpPr>
        <p:spPr>
          <a:xfrm>
            <a:off x="173736" y="1609344"/>
            <a:ext cx="1097280" cy="292608"/>
          </a:xfrm>
          <a:prstGeom prst="rect">
            <a:avLst/>
          </a:prstGeom>
          <a:noFill/>
          <a:effectLst/>
        </p:spPr>
        <p:txBody>
          <a:bodyPr wrap="square" lIns="109728" rIns="109728" tIns="109728" bIns="109728" anchor="ctr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Arial"/>
              </a:rPr>
              <a:t>Case A</a:t>
            </a:r>
          </a:p>
        </p:txBody>
      </p:sp>
      <p:sp>
        <p:nvSpPr>
          <p:cNvPr id="23" name="Case A status"/>
          <p:cNvSpPr/>
          <p:nvPr/>
        </p:nvSpPr>
        <p:spPr>
          <a:xfrm>
            <a:off x="146304" y="1929384"/>
            <a:ext cx="1152144" cy="329184"/>
          </a:xfrm>
          <a:prstGeom prst="roundRect">
            <a:avLst>
              <a:gd name="adj" fmla="val 8000"/>
            </a:avLst>
          </a:prstGeom>
          <a:solidFill>
            <a:srgbClr val="EFF6F3"/>
          </a:solidFill>
          <a:ln w="8255">
            <a:solidFill>
              <a:srgbClr val="A8C5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ase A status text"/>
          <p:cNvSpPr txBox="1"/>
          <p:nvPr/>
        </p:nvSpPr>
        <p:spPr>
          <a:xfrm>
            <a:off x="246888" y="1947672"/>
            <a:ext cx="1005840" cy="283464"/>
          </a:xfrm>
          <a:prstGeom prst="rect">
            <a:avLst/>
          </a:prstGeom>
          <a:noFill/>
          <a:effectLst/>
        </p:spPr>
        <p:txBody>
          <a:bodyPr wrap="square" lIns="9144" rIns="9144" tIns="9144" bIns="9144" anchor="ctr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>
                <a:solidFill>
                  <a:srgbClr val="0A2944"/>
                </a:solidFill>
                <a:latin typeface="Arial"/>
              </a:rPr>
              <a:t>clear change</a:t>
            </a:r>
          </a:p>
        </p:txBody>
      </p:sp>
      <p:sp>
        <p:nvSpPr>
          <p:cNvPr id="25" name="Hospital outline"/>
          <p:cNvSpPr/>
          <p:nvPr/>
        </p:nvSpPr>
        <p:spPr>
          <a:xfrm>
            <a:off x="283464" y="2377440"/>
            <a:ext cx="246888" cy="283464"/>
          </a:xfrm>
          <a:prstGeom prst="rect">
            <a:avLst/>
          </a:prstGeom>
          <a:noFill/>
          <a:ln w="12700">
            <a:solidFill>
              <a:srgbClr val="0B4A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Hospital left wing"/>
          <p:cNvSpPr/>
          <p:nvPr/>
        </p:nvSpPr>
        <p:spPr>
          <a:xfrm>
            <a:off x="228600" y="2450592"/>
            <a:ext cx="64008" cy="210312"/>
          </a:xfrm>
          <a:prstGeom prst="rect">
            <a:avLst/>
          </a:prstGeom>
          <a:noFill/>
          <a:ln w="12700">
            <a:solidFill>
              <a:srgbClr val="0B4A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Hospital right wing"/>
          <p:cNvSpPr/>
          <p:nvPr/>
        </p:nvSpPr>
        <p:spPr>
          <a:xfrm>
            <a:off x="521207" y="2450592"/>
            <a:ext cx="64008" cy="210312"/>
          </a:xfrm>
          <a:prstGeom prst="rect">
            <a:avLst/>
          </a:prstGeom>
          <a:noFill/>
          <a:ln w="12700">
            <a:solidFill>
              <a:srgbClr val="0B4A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Hospital cross h"/>
          <p:cNvCxnSpPr/>
          <p:nvPr/>
        </p:nvCxnSpPr>
        <p:spPr>
          <a:xfrm>
            <a:off x="374904" y="2395728"/>
            <a:ext cx="64008" cy="0"/>
          </a:xfrm>
          <a:prstGeom prst="line">
            <a:avLst/>
          </a:prstGeom>
          <a:ln w="17780">
            <a:solidFill>
              <a:srgbClr val="0B4A7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Hospital cross v"/>
          <p:cNvCxnSpPr/>
          <p:nvPr/>
        </p:nvCxnSpPr>
        <p:spPr>
          <a:xfrm>
            <a:off x="406908" y="2363724"/>
            <a:ext cx="0" cy="68580"/>
          </a:xfrm>
          <a:prstGeom prst="line">
            <a:avLst/>
          </a:prstGeom>
          <a:ln w="17780">
            <a:solidFill>
              <a:srgbClr val="0B4A7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Hospital window"/>
          <p:cNvSpPr/>
          <p:nvPr/>
        </p:nvSpPr>
        <p:spPr>
          <a:xfrm>
            <a:off x="320040" y="2468880"/>
            <a:ext cx="36576" cy="36576"/>
          </a:xfrm>
          <a:prstGeom prst="rect">
            <a:avLst/>
          </a:prstGeom>
          <a:solidFill>
            <a:srgbClr val="0B4A76"/>
          </a:solidFill>
          <a:ln w="3810">
            <a:solidFill>
              <a:srgbClr val="0B4A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Hospital window"/>
          <p:cNvSpPr/>
          <p:nvPr/>
        </p:nvSpPr>
        <p:spPr>
          <a:xfrm>
            <a:off x="320040" y="2542032"/>
            <a:ext cx="36576" cy="36576"/>
          </a:xfrm>
          <a:prstGeom prst="rect">
            <a:avLst/>
          </a:prstGeom>
          <a:solidFill>
            <a:srgbClr val="0B4A76"/>
          </a:solidFill>
          <a:ln w="3810">
            <a:solidFill>
              <a:srgbClr val="0B4A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Hospital window"/>
          <p:cNvSpPr/>
          <p:nvPr/>
        </p:nvSpPr>
        <p:spPr>
          <a:xfrm>
            <a:off x="448056" y="2468880"/>
            <a:ext cx="36576" cy="36576"/>
          </a:xfrm>
          <a:prstGeom prst="rect">
            <a:avLst/>
          </a:prstGeom>
          <a:solidFill>
            <a:srgbClr val="0B4A76"/>
          </a:solidFill>
          <a:ln w="3810">
            <a:solidFill>
              <a:srgbClr val="0B4A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Hospital window"/>
          <p:cNvSpPr/>
          <p:nvPr/>
        </p:nvSpPr>
        <p:spPr>
          <a:xfrm>
            <a:off x="448056" y="2542032"/>
            <a:ext cx="36576" cy="36576"/>
          </a:xfrm>
          <a:prstGeom prst="rect">
            <a:avLst/>
          </a:prstGeom>
          <a:solidFill>
            <a:srgbClr val="0B4A76"/>
          </a:solidFill>
          <a:ln w="3810">
            <a:solidFill>
              <a:srgbClr val="0B4A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Hospital door"/>
          <p:cNvSpPr/>
          <p:nvPr/>
        </p:nvSpPr>
        <p:spPr>
          <a:xfrm>
            <a:off x="384048" y="2587752"/>
            <a:ext cx="45720" cy="73152"/>
          </a:xfrm>
          <a:prstGeom prst="rect">
            <a:avLst/>
          </a:prstGeom>
          <a:noFill/>
          <a:ln w="10160">
            <a:solidFill>
              <a:srgbClr val="0B4A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Case A care setting"/>
          <p:cNvSpPr txBox="1"/>
          <p:nvPr/>
        </p:nvSpPr>
        <p:spPr>
          <a:xfrm>
            <a:off x="630936" y="2368296"/>
            <a:ext cx="841248" cy="338328"/>
          </a:xfrm>
          <a:prstGeom prst="rect">
            <a:avLst/>
          </a:prstGeom>
          <a:noFill/>
          <a:effectLst/>
        </p:spPr>
        <p:txBody>
          <a:bodyPr wrap="square" lIns="9144" rIns="9144" tIns="9144" bIns="9144" anchor="ctr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242629"/>
                </a:solidFill>
                <a:latin typeface="Arial"/>
              </a:rPr>
              <a:t>Care setting:
SICU</a:t>
            </a:r>
          </a:p>
        </p:txBody>
      </p:sp>
      <p:sp>
        <p:nvSpPr>
          <p:cNvPr id="36" name="Case A current finding card"/>
          <p:cNvSpPr/>
          <p:nvPr/>
        </p:nvSpPr>
        <p:spPr>
          <a:xfrm>
            <a:off x="146304" y="2926080"/>
            <a:ext cx="1335024" cy="1014984"/>
          </a:xfrm>
          <a:prstGeom prst="roundRect">
            <a:avLst>
              <a:gd name="adj" fmla="val 8000"/>
            </a:avLst>
          </a:prstGeom>
          <a:solidFill>
            <a:srgbClr val="EDF3F6"/>
          </a:solidFill>
          <a:ln w="8890">
            <a:solidFill>
              <a:srgbClr val="AFC5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ase A current finding circle"/>
          <p:cNvSpPr/>
          <p:nvPr/>
        </p:nvSpPr>
        <p:spPr>
          <a:xfrm>
            <a:off x="237744" y="3108960"/>
            <a:ext cx="182880" cy="182880"/>
          </a:xfrm>
          <a:prstGeom prst="ellipse">
            <a:avLst/>
          </a:prstGeom>
          <a:noFill/>
          <a:ln w="13970">
            <a:solidFill>
              <a:srgbClr val="0B4A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8" name="Case A current finding tick 1"/>
          <p:cNvCxnSpPr/>
          <p:nvPr/>
        </p:nvCxnSpPr>
        <p:spPr>
          <a:xfrm>
            <a:off x="283464" y="3200400"/>
            <a:ext cx="32004" cy="36576"/>
          </a:xfrm>
          <a:prstGeom prst="line">
            <a:avLst/>
          </a:prstGeom>
          <a:ln w="15240">
            <a:solidFill>
              <a:srgbClr val="0B4A7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ase A current finding tick 2"/>
          <p:cNvCxnSpPr/>
          <p:nvPr/>
        </p:nvCxnSpPr>
        <p:spPr>
          <a:xfrm flipV="1">
            <a:off x="315468" y="3163824"/>
            <a:ext cx="59436" cy="73152"/>
          </a:xfrm>
          <a:prstGeom prst="line">
            <a:avLst/>
          </a:prstGeom>
          <a:ln w="15240">
            <a:solidFill>
              <a:srgbClr val="0B4A7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Case A current finding text"/>
          <p:cNvSpPr txBox="1"/>
          <p:nvPr/>
        </p:nvSpPr>
        <p:spPr>
          <a:xfrm>
            <a:off x="512064" y="3017520"/>
            <a:ext cx="886968" cy="850392"/>
          </a:xfrm>
          <a:prstGeom prst="rect">
            <a:avLst/>
          </a:prstGeom>
          <a:noFill/>
          <a:effectLst/>
        </p:spPr>
        <p:txBody>
          <a:bodyPr wrap="square" lIns="9144" rIns="9144" tIns="9144" bIns="9144" anchor="ctr">
            <a:spAutoFit/>
          </a:bodyPr>
          <a:lstStyle/>
          <a:p>
            <a:pPr algn="l">
              <a:lnSpc>
                <a:spcPct val="91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A2944"/>
                </a:solidFill>
                <a:latin typeface="Roboto Condensed"/>
              </a:rPr>
              <a:t>no edema /
effusion /
pneumonia
reported</a:t>
            </a:r>
          </a:p>
        </p:txBody>
      </p:sp>
      <p:sp>
        <p:nvSpPr>
          <p:cNvPr id="41" name="Case A follow-up card"/>
          <p:cNvSpPr/>
          <p:nvPr/>
        </p:nvSpPr>
        <p:spPr>
          <a:xfrm>
            <a:off x="12070080" y="1609344"/>
            <a:ext cx="1435608" cy="2331720"/>
          </a:xfrm>
          <a:prstGeom prst="roundRect">
            <a:avLst>
              <a:gd name="adj" fmla="val 8000"/>
            </a:avLst>
          </a:prstGeom>
          <a:solidFill>
            <a:srgbClr val="FBF5E9"/>
          </a:solidFill>
          <a:ln w="8890">
            <a:solidFill>
              <a:srgbClr val="E2D1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Follow-up findings"/>
          <p:cNvSpPr txBox="1"/>
          <p:nvPr/>
        </p:nvSpPr>
        <p:spPr>
          <a:xfrm>
            <a:off x="12152376" y="1728216"/>
            <a:ext cx="1271016" cy="1444752"/>
          </a:xfrm>
          <a:prstGeom prst="rect">
            <a:avLst/>
          </a:prstGeom>
          <a:noFill/>
          <a:effectLst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80">
                <a:solidFill>
                  <a:srgbClr val="242629"/>
                </a:solidFill>
                <a:latin typeface="Roboto Condensed"/>
              </a:rPr>
              <a:t>•  marked bilateral
opacity / edema</a:t>
            </a:r>
          </a:p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80">
                <a:solidFill>
                  <a:srgbClr val="242629"/>
                </a:solidFill>
                <a:latin typeface="Roboto Condensed"/>
              </a:rPr>
              <a:t>•  small right pleural
effusion</a:t>
            </a:r>
          </a:p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80">
                <a:solidFill>
                  <a:srgbClr val="242629"/>
                </a:solidFill>
                <a:latin typeface="Roboto Condensed"/>
              </a:rPr>
              <a:t>•  infectious-appearing
diffuse process</a:t>
            </a:r>
          </a:p>
        </p:txBody>
      </p:sp>
      <p:sp>
        <p:nvSpPr>
          <p:cNvPr id="43" name="Case A follow-up note"/>
          <p:cNvSpPr/>
          <p:nvPr/>
        </p:nvSpPr>
        <p:spPr>
          <a:xfrm>
            <a:off x="12115800" y="3236976"/>
            <a:ext cx="1344168" cy="658368"/>
          </a:xfrm>
          <a:prstGeom prst="roundRect">
            <a:avLst>
              <a:gd name="adj" fmla="val 8000"/>
            </a:avLst>
          </a:prstGeom>
          <a:solidFill>
            <a:srgbClr val="FCF6EA"/>
          </a:solidFill>
          <a:ln w="8890">
            <a:solidFill>
              <a:srgbClr val="E2D1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Support device bulb"/>
          <p:cNvSpPr/>
          <p:nvPr/>
        </p:nvSpPr>
        <p:spPr>
          <a:xfrm>
            <a:off x="12271248" y="3364992"/>
            <a:ext cx="118872" cy="118872"/>
          </a:xfrm>
          <a:prstGeom prst="ellipse">
            <a:avLst/>
          </a:prstGeom>
          <a:noFill/>
          <a:ln w="11430">
            <a:solidFill>
              <a:srgbClr val="2426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Support device body"/>
          <p:cNvSpPr/>
          <p:nvPr/>
        </p:nvSpPr>
        <p:spPr>
          <a:xfrm>
            <a:off x="12234672" y="3474720"/>
            <a:ext cx="192024" cy="128016"/>
          </a:xfrm>
          <a:prstGeom prst="roundRect">
            <a:avLst>
              <a:gd name="adj" fmla="val 8000"/>
            </a:avLst>
          </a:prstGeom>
          <a:noFill/>
          <a:ln w="11430">
            <a:solidFill>
              <a:srgbClr val="2426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6" name="Support device tube"/>
          <p:cNvCxnSpPr/>
          <p:nvPr/>
        </p:nvCxnSpPr>
        <p:spPr>
          <a:xfrm>
            <a:off x="12330684" y="3602736"/>
            <a:ext cx="0" cy="73151"/>
          </a:xfrm>
          <a:prstGeom prst="line">
            <a:avLst/>
          </a:prstGeom>
          <a:ln w="11430">
            <a:solidFill>
              <a:srgbClr val="24262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upport device lead"/>
          <p:cNvCxnSpPr/>
          <p:nvPr/>
        </p:nvCxnSpPr>
        <p:spPr>
          <a:xfrm>
            <a:off x="12330684" y="3675887"/>
            <a:ext cx="68580" cy="36576"/>
          </a:xfrm>
          <a:prstGeom prst="line">
            <a:avLst/>
          </a:prstGeom>
          <a:ln w="11430">
            <a:solidFill>
              <a:srgbClr val="24262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Case A follow-up note text"/>
          <p:cNvSpPr txBox="1"/>
          <p:nvPr/>
        </p:nvSpPr>
        <p:spPr>
          <a:xfrm>
            <a:off x="12536424" y="3310128"/>
            <a:ext cx="850392" cy="512064"/>
          </a:xfrm>
          <a:prstGeom prst="rect">
            <a:avLst/>
          </a:prstGeom>
          <a:noFill/>
          <a:effectLst/>
        </p:spPr>
        <p:txBody>
          <a:bodyPr wrap="square" lIns="9144" rIns="9144" tIns="9144" bIns="9144" anchor="ctr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42629"/>
                </a:solidFill>
                <a:latin typeface="Roboto Condensed"/>
              </a:rPr>
              <a:t>Support-device
difference
present</a:t>
            </a:r>
          </a:p>
        </p:txBody>
      </p:sp>
      <p:sp>
        <p:nvSpPr>
          <p:cNvPr id="49" name="Horizon bin label"/>
          <p:cNvSpPr/>
          <p:nvPr/>
        </p:nvSpPr>
        <p:spPr>
          <a:xfrm>
            <a:off x="5193792" y="1719072"/>
            <a:ext cx="1682496" cy="237744"/>
          </a:xfrm>
          <a:prstGeom prst="roundRect">
            <a:avLst>
              <a:gd name="adj" fmla="val 8000"/>
            </a:avLst>
          </a:prstGeom>
          <a:solidFill>
            <a:srgbClr val="EDF1F5"/>
          </a:solidFill>
          <a:ln w="10160">
            <a:solidFill>
              <a:srgbClr val="7297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Horizon bin label text"/>
          <p:cNvSpPr txBox="1"/>
          <p:nvPr/>
        </p:nvSpPr>
        <p:spPr>
          <a:xfrm>
            <a:off x="5212080" y="1728216"/>
            <a:ext cx="1645920" cy="210312"/>
          </a:xfrm>
          <a:prstGeom prst="rect">
            <a:avLst/>
          </a:prstGeom>
          <a:noFill/>
          <a:effectLst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>
                <a:solidFill>
                  <a:srgbClr val="0A2944"/>
                </a:solidFill>
                <a:latin typeface="Arial"/>
              </a:rPr>
              <a:t>Horizon bin (model context)</a:t>
            </a:r>
          </a:p>
        </p:txBody>
      </p:sp>
      <p:sp>
        <p:nvSpPr>
          <p:cNvPr id="51" name="Horizon bin value"/>
          <p:cNvSpPr txBox="1"/>
          <p:nvPr/>
        </p:nvSpPr>
        <p:spPr>
          <a:xfrm>
            <a:off x="5477256" y="1947672"/>
            <a:ext cx="1106424" cy="237744"/>
          </a:xfrm>
          <a:prstGeom prst="rect">
            <a:avLst/>
          </a:prstGeom>
          <a:noFill/>
          <a:effectLst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470" b="1">
                <a:solidFill>
                  <a:srgbClr val="0B4A76"/>
                </a:solidFill>
                <a:latin typeface="Arial"/>
              </a:rPr>
              <a:t>0–24 h</a:t>
            </a:r>
          </a:p>
        </p:txBody>
      </p:sp>
      <p:sp>
        <p:nvSpPr>
          <p:cNvPr id="52" name="Elapsed time label"/>
          <p:cNvSpPr txBox="1"/>
          <p:nvPr/>
        </p:nvSpPr>
        <p:spPr>
          <a:xfrm>
            <a:off x="7205472" y="1709928"/>
            <a:ext cx="1591056" cy="182880"/>
          </a:xfrm>
          <a:prstGeom prst="rect">
            <a:avLst/>
          </a:prstGeom>
          <a:noFill/>
          <a:effectLst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242629"/>
                </a:solidFill>
                <a:latin typeface="Arial"/>
              </a:rPr>
              <a:t>Exact elapsed time</a:t>
            </a:r>
          </a:p>
        </p:txBody>
      </p:sp>
      <p:sp>
        <p:nvSpPr>
          <p:cNvPr id="53" name="Elapsed time value"/>
          <p:cNvSpPr txBox="1"/>
          <p:nvPr/>
        </p:nvSpPr>
        <p:spPr>
          <a:xfrm>
            <a:off x="7406640" y="1892807"/>
            <a:ext cx="1188720" cy="219456"/>
          </a:xfrm>
          <a:prstGeom prst="rect">
            <a:avLst/>
          </a:prstGeom>
          <a:noFill/>
          <a:effectLst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242629"/>
                </a:solidFill>
                <a:latin typeface="Arial"/>
              </a:rPr>
              <a:t>20.1 h</a:t>
            </a:r>
          </a:p>
        </p:txBody>
      </p:sp>
      <p:sp>
        <p:nvSpPr>
          <p:cNvPr id="54" name="Elapsed time note"/>
          <p:cNvSpPr txBox="1"/>
          <p:nvPr/>
        </p:nvSpPr>
        <p:spPr>
          <a:xfrm>
            <a:off x="7223760" y="2103120"/>
            <a:ext cx="1554480" cy="164592"/>
          </a:xfrm>
          <a:prstGeom prst="rect">
            <a:avLst/>
          </a:prstGeom>
          <a:noFill/>
          <a:effectLst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242629"/>
                </a:solidFill>
                <a:latin typeface="Arial"/>
              </a:rPr>
              <a:t>(observed, not input)</a:t>
            </a:r>
          </a:p>
        </p:txBody>
      </p:sp>
      <p:sp>
        <p:nvSpPr>
          <p:cNvPr id="55" name="Retrospective context card"/>
          <p:cNvSpPr/>
          <p:nvPr/>
        </p:nvSpPr>
        <p:spPr>
          <a:xfrm>
            <a:off x="4901184" y="2450592"/>
            <a:ext cx="4114800" cy="1399032"/>
          </a:xfrm>
          <a:prstGeom prst="roundRect">
            <a:avLst>
              <a:gd name="adj" fmla="val 8000"/>
            </a:avLst>
          </a:prstGeom>
          <a:solidFill>
            <a:srgbClr val="EFF6F3"/>
          </a:solidFill>
          <a:ln w="10160">
            <a:solidFill>
              <a:srgbClr val="A8C5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trospective context heading"/>
          <p:cNvSpPr txBox="1"/>
          <p:nvPr/>
        </p:nvSpPr>
        <p:spPr>
          <a:xfrm>
            <a:off x="5029200" y="2523744"/>
            <a:ext cx="3858768" cy="201168"/>
          </a:xfrm>
          <a:prstGeom prst="rect">
            <a:avLst/>
          </a:prstGeom>
          <a:noFill/>
          <a:effectLst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969" b="1">
                <a:solidFill>
                  <a:srgbClr val="0B626A"/>
                </a:solidFill>
                <a:latin typeface="Arial"/>
              </a:rPr>
              <a:t>Linked retrospective context (MIMIC-IV) — not model input</a:t>
            </a:r>
          </a:p>
        </p:txBody>
      </p:sp>
      <p:sp>
        <p:nvSpPr>
          <p:cNvPr id="57" name="Ventilation monitor"/>
          <p:cNvSpPr/>
          <p:nvPr/>
        </p:nvSpPr>
        <p:spPr>
          <a:xfrm>
            <a:off x="5337810" y="2807208"/>
            <a:ext cx="283464" cy="201168"/>
          </a:xfrm>
          <a:prstGeom prst="roundRect">
            <a:avLst>
              <a:gd name="adj" fmla="val 8000"/>
            </a:avLst>
          </a:prstGeom>
          <a:noFill/>
          <a:ln w="12700">
            <a:solidFill>
              <a:srgbClr val="0A29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" name="Monitor trace 1"/>
          <p:cNvCxnSpPr/>
          <p:nvPr/>
        </p:nvCxnSpPr>
        <p:spPr>
          <a:xfrm>
            <a:off x="5374386" y="2916936"/>
            <a:ext cx="45720" cy="0"/>
          </a:xfrm>
          <a:prstGeom prst="line">
            <a:avLst/>
          </a:prstGeom>
          <a:ln w="11430">
            <a:solidFill>
              <a:srgbClr val="0A29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Monitor trace 2"/>
          <p:cNvCxnSpPr/>
          <p:nvPr/>
        </p:nvCxnSpPr>
        <p:spPr>
          <a:xfrm flipV="1">
            <a:off x="5420106" y="2871216"/>
            <a:ext cx="27432" cy="45720"/>
          </a:xfrm>
          <a:prstGeom prst="line">
            <a:avLst/>
          </a:prstGeom>
          <a:ln w="11430">
            <a:solidFill>
              <a:srgbClr val="0A29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Monitor trace 3"/>
          <p:cNvCxnSpPr/>
          <p:nvPr/>
        </p:nvCxnSpPr>
        <p:spPr>
          <a:xfrm>
            <a:off x="5447538" y="2871216"/>
            <a:ext cx="36576" cy="82296"/>
          </a:xfrm>
          <a:prstGeom prst="line">
            <a:avLst/>
          </a:prstGeom>
          <a:ln w="11430">
            <a:solidFill>
              <a:srgbClr val="0A29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Monitor trace 4"/>
          <p:cNvCxnSpPr/>
          <p:nvPr/>
        </p:nvCxnSpPr>
        <p:spPr>
          <a:xfrm flipV="1">
            <a:off x="5484114" y="2898648"/>
            <a:ext cx="36576" cy="54864"/>
          </a:xfrm>
          <a:prstGeom prst="line">
            <a:avLst/>
          </a:prstGeom>
          <a:ln w="11430">
            <a:solidFill>
              <a:srgbClr val="0A29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Monitor trace 5"/>
          <p:cNvCxnSpPr/>
          <p:nvPr/>
        </p:nvCxnSpPr>
        <p:spPr>
          <a:xfrm>
            <a:off x="5520690" y="2898648"/>
            <a:ext cx="64008" cy="0"/>
          </a:xfrm>
          <a:prstGeom prst="line">
            <a:avLst/>
          </a:prstGeom>
          <a:ln w="11430">
            <a:solidFill>
              <a:srgbClr val="0A29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Monitor stand"/>
          <p:cNvCxnSpPr/>
          <p:nvPr/>
        </p:nvCxnSpPr>
        <p:spPr>
          <a:xfrm>
            <a:off x="5479542" y="3008376"/>
            <a:ext cx="0" cy="54864"/>
          </a:xfrm>
          <a:prstGeom prst="line">
            <a:avLst/>
          </a:prstGeom>
          <a:ln w="12700">
            <a:solidFill>
              <a:srgbClr val="0A29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Monitor base"/>
          <p:cNvCxnSpPr/>
          <p:nvPr/>
        </p:nvCxnSpPr>
        <p:spPr>
          <a:xfrm>
            <a:off x="5401818" y="3063240"/>
            <a:ext cx="155448" cy="0"/>
          </a:xfrm>
          <a:prstGeom prst="line">
            <a:avLst/>
          </a:prstGeom>
          <a:ln w="12700">
            <a:solidFill>
              <a:srgbClr val="0A29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Context label Ventilation"/>
          <p:cNvSpPr txBox="1"/>
          <p:nvPr/>
        </p:nvSpPr>
        <p:spPr>
          <a:xfrm>
            <a:off x="5010912" y="3090672"/>
            <a:ext cx="946403" cy="155448"/>
          </a:xfrm>
          <a:prstGeom prst="rect">
            <a:avLst/>
          </a:prstGeom>
          <a:noFill/>
          <a:effectLst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0B626A"/>
                </a:solidFill>
                <a:latin typeface="Arial"/>
              </a:rPr>
              <a:t>Ventilation</a:t>
            </a:r>
          </a:p>
        </p:txBody>
      </p:sp>
      <p:sp>
        <p:nvSpPr>
          <p:cNvPr id="66" name="Context detail Ventilation"/>
          <p:cNvSpPr txBox="1"/>
          <p:nvPr/>
        </p:nvSpPr>
        <p:spPr>
          <a:xfrm>
            <a:off x="5020056" y="3236976"/>
            <a:ext cx="928115" cy="320040"/>
          </a:xfrm>
          <a:prstGeom prst="rect">
            <a:avLst/>
          </a:prstGeom>
          <a:noFill/>
          <a:effectLst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242629"/>
                </a:solidFill>
                <a:latin typeface="Arial"/>
              </a:rPr>
              <a:t>mechanical
ventilation</a:t>
            </a:r>
          </a:p>
        </p:txBody>
      </p:sp>
      <p:cxnSp>
        <p:nvCxnSpPr>
          <p:cNvPr id="67" name="Context divider"/>
          <p:cNvCxnSpPr/>
          <p:nvPr/>
        </p:nvCxnSpPr>
        <p:spPr>
          <a:xfrm>
            <a:off x="5975604" y="2825496"/>
            <a:ext cx="0" cy="905256"/>
          </a:xfrm>
          <a:prstGeom prst="line">
            <a:avLst/>
          </a:prstGeom>
          <a:ln w="8890">
            <a:solidFill>
              <a:srgbClr val="9DB6B6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Imaging gantry"/>
          <p:cNvSpPr/>
          <p:nvPr/>
        </p:nvSpPr>
        <p:spPr>
          <a:xfrm>
            <a:off x="6357366" y="2807208"/>
            <a:ext cx="228600" cy="228600"/>
          </a:xfrm>
          <a:prstGeom prst="ellipse">
            <a:avLst/>
          </a:prstGeom>
          <a:noFill/>
          <a:ln w="12700">
            <a:solidFill>
              <a:srgbClr val="0A29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Imaging aperture"/>
          <p:cNvSpPr/>
          <p:nvPr/>
        </p:nvSpPr>
        <p:spPr>
          <a:xfrm>
            <a:off x="6403086" y="2852928"/>
            <a:ext cx="137160" cy="137160"/>
          </a:xfrm>
          <a:prstGeom prst="ellipse">
            <a:avLst/>
          </a:prstGeom>
          <a:noFill/>
          <a:ln w="10160">
            <a:solidFill>
              <a:srgbClr val="0A29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0" name="Imaging bed"/>
          <p:cNvCxnSpPr/>
          <p:nvPr/>
        </p:nvCxnSpPr>
        <p:spPr>
          <a:xfrm>
            <a:off x="6320790" y="3072384"/>
            <a:ext cx="256032" cy="0"/>
          </a:xfrm>
          <a:prstGeom prst="line">
            <a:avLst/>
          </a:prstGeom>
          <a:ln w="12700">
            <a:solidFill>
              <a:srgbClr val="0A29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Imaging bed incline"/>
          <p:cNvCxnSpPr/>
          <p:nvPr/>
        </p:nvCxnSpPr>
        <p:spPr>
          <a:xfrm flipH="1">
            <a:off x="6329934" y="3035808"/>
            <a:ext cx="36576" cy="36576"/>
          </a:xfrm>
          <a:prstGeom prst="line">
            <a:avLst/>
          </a:prstGeom>
          <a:ln w="12700">
            <a:solidFill>
              <a:srgbClr val="0A29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Context label Imaging"/>
          <p:cNvSpPr txBox="1"/>
          <p:nvPr/>
        </p:nvSpPr>
        <p:spPr>
          <a:xfrm>
            <a:off x="5993892" y="3090672"/>
            <a:ext cx="946403" cy="155448"/>
          </a:xfrm>
          <a:prstGeom prst="rect">
            <a:avLst/>
          </a:prstGeom>
          <a:noFill/>
          <a:effectLst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0B626A"/>
                </a:solidFill>
                <a:latin typeface="Arial"/>
              </a:rPr>
              <a:t>Imaging</a:t>
            </a:r>
          </a:p>
        </p:txBody>
      </p:sp>
      <p:sp>
        <p:nvSpPr>
          <p:cNvPr id="73" name="Context detail Imaging"/>
          <p:cNvSpPr txBox="1"/>
          <p:nvPr/>
        </p:nvSpPr>
        <p:spPr>
          <a:xfrm>
            <a:off x="6003036" y="3236976"/>
            <a:ext cx="928115" cy="320040"/>
          </a:xfrm>
          <a:prstGeom prst="rect">
            <a:avLst/>
          </a:prstGeom>
          <a:noFill/>
          <a:effectLst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242629"/>
                </a:solidFill>
                <a:latin typeface="Arial"/>
              </a:rPr>
              <a:t>prior CXRs,
CT chest</a:t>
            </a:r>
          </a:p>
        </p:txBody>
      </p:sp>
      <p:cxnSp>
        <p:nvCxnSpPr>
          <p:cNvPr id="74" name="Context divider"/>
          <p:cNvCxnSpPr/>
          <p:nvPr/>
        </p:nvCxnSpPr>
        <p:spPr>
          <a:xfrm>
            <a:off x="6958584" y="2825496"/>
            <a:ext cx="0" cy="905256"/>
          </a:xfrm>
          <a:prstGeom prst="line">
            <a:avLst/>
          </a:prstGeom>
          <a:ln w="8890">
            <a:solidFill>
              <a:srgbClr val="9DB6B6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IV pole"/>
          <p:cNvCxnSpPr/>
          <p:nvPr/>
        </p:nvCxnSpPr>
        <p:spPr>
          <a:xfrm>
            <a:off x="7440929" y="2807208"/>
            <a:ext cx="0" cy="274320"/>
          </a:xfrm>
          <a:prstGeom prst="line">
            <a:avLst/>
          </a:prstGeom>
          <a:ln w="12700">
            <a:solidFill>
              <a:srgbClr val="0A29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IV hook"/>
          <p:cNvCxnSpPr/>
          <p:nvPr/>
        </p:nvCxnSpPr>
        <p:spPr>
          <a:xfrm>
            <a:off x="7395210" y="2816352"/>
            <a:ext cx="91440" cy="0"/>
          </a:xfrm>
          <a:prstGeom prst="line">
            <a:avLst/>
          </a:prstGeom>
          <a:ln w="12700">
            <a:solidFill>
              <a:srgbClr val="0A29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IV bag"/>
          <p:cNvSpPr/>
          <p:nvPr/>
        </p:nvSpPr>
        <p:spPr>
          <a:xfrm>
            <a:off x="7349490" y="2862072"/>
            <a:ext cx="137160" cy="164592"/>
          </a:xfrm>
          <a:prstGeom prst="roundRect">
            <a:avLst>
              <a:gd name="adj" fmla="val 8000"/>
            </a:avLst>
          </a:prstGeom>
          <a:noFill/>
          <a:ln w="12700">
            <a:solidFill>
              <a:srgbClr val="0A29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8" name="IV fluid"/>
          <p:cNvCxnSpPr/>
          <p:nvPr/>
        </p:nvCxnSpPr>
        <p:spPr>
          <a:xfrm>
            <a:off x="7376922" y="2907792"/>
            <a:ext cx="82296" cy="0"/>
          </a:xfrm>
          <a:prstGeom prst="line">
            <a:avLst/>
          </a:prstGeom>
          <a:ln w="8890">
            <a:solidFill>
              <a:srgbClr val="0A29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IV tube"/>
          <p:cNvCxnSpPr/>
          <p:nvPr/>
        </p:nvCxnSpPr>
        <p:spPr>
          <a:xfrm>
            <a:off x="7418070" y="3026664"/>
            <a:ext cx="0" cy="54864"/>
          </a:xfrm>
          <a:prstGeom prst="line">
            <a:avLst/>
          </a:prstGeom>
          <a:ln w="10160">
            <a:solidFill>
              <a:srgbClr val="0A29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IV connector"/>
          <p:cNvSpPr/>
          <p:nvPr/>
        </p:nvSpPr>
        <p:spPr>
          <a:xfrm>
            <a:off x="7404354" y="3072384"/>
            <a:ext cx="27432" cy="27432"/>
          </a:xfrm>
          <a:prstGeom prst="ellipse">
            <a:avLst/>
          </a:prstGeom>
          <a:noFill/>
          <a:ln w="8890">
            <a:solidFill>
              <a:srgbClr val="0A29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Context label Lines"/>
          <p:cNvSpPr txBox="1"/>
          <p:nvPr/>
        </p:nvSpPr>
        <p:spPr>
          <a:xfrm>
            <a:off x="6976872" y="3090672"/>
            <a:ext cx="946403" cy="155448"/>
          </a:xfrm>
          <a:prstGeom prst="rect">
            <a:avLst/>
          </a:prstGeom>
          <a:noFill/>
          <a:effectLst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0B626A"/>
                </a:solidFill>
                <a:latin typeface="Arial"/>
              </a:rPr>
              <a:t>Lines</a:t>
            </a:r>
          </a:p>
        </p:txBody>
      </p:sp>
      <p:sp>
        <p:nvSpPr>
          <p:cNvPr id="82" name="Context detail Lines"/>
          <p:cNvSpPr txBox="1"/>
          <p:nvPr/>
        </p:nvSpPr>
        <p:spPr>
          <a:xfrm>
            <a:off x="6986016" y="3236976"/>
            <a:ext cx="928115" cy="320040"/>
          </a:xfrm>
          <a:prstGeom prst="rect">
            <a:avLst/>
          </a:prstGeom>
          <a:noFill/>
          <a:effectLst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242629"/>
                </a:solidFill>
                <a:latin typeface="Arial"/>
              </a:rPr>
              <a:t>central line,
arterial line</a:t>
            </a:r>
          </a:p>
        </p:txBody>
      </p:sp>
      <p:cxnSp>
        <p:nvCxnSpPr>
          <p:cNvPr id="83" name="Context divider"/>
          <p:cNvCxnSpPr/>
          <p:nvPr/>
        </p:nvCxnSpPr>
        <p:spPr>
          <a:xfrm>
            <a:off x="7941564" y="2825496"/>
            <a:ext cx="0" cy="905256"/>
          </a:xfrm>
          <a:prstGeom prst="line">
            <a:avLst/>
          </a:prstGeom>
          <a:ln w="8890">
            <a:solidFill>
              <a:srgbClr val="9DB6B6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Medication cap"/>
          <p:cNvSpPr/>
          <p:nvPr/>
        </p:nvSpPr>
        <p:spPr>
          <a:xfrm>
            <a:off x="8359902" y="2807208"/>
            <a:ext cx="155448" cy="45720"/>
          </a:xfrm>
          <a:prstGeom prst="rect">
            <a:avLst/>
          </a:prstGeom>
          <a:noFill/>
          <a:ln w="11430">
            <a:solidFill>
              <a:srgbClr val="0A29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Medication vial"/>
          <p:cNvSpPr/>
          <p:nvPr/>
        </p:nvSpPr>
        <p:spPr>
          <a:xfrm>
            <a:off x="8341614" y="2852928"/>
            <a:ext cx="192024" cy="237744"/>
          </a:xfrm>
          <a:prstGeom prst="roundRect">
            <a:avLst>
              <a:gd name="adj" fmla="val 8000"/>
            </a:avLst>
          </a:prstGeom>
          <a:noFill/>
          <a:ln w="12700">
            <a:solidFill>
              <a:srgbClr val="0A29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Medication label"/>
          <p:cNvSpPr/>
          <p:nvPr/>
        </p:nvSpPr>
        <p:spPr>
          <a:xfrm>
            <a:off x="8378190" y="2944368"/>
            <a:ext cx="118872" cy="73152"/>
          </a:xfrm>
          <a:prstGeom prst="rect">
            <a:avLst/>
          </a:prstGeom>
          <a:solidFill>
            <a:srgbClr val="0B626A"/>
          </a:solidFill>
          <a:ln w="6350">
            <a:solidFill>
              <a:srgbClr val="0B62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Context label IV medications"/>
          <p:cNvSpPr txBox="1"/>
          <p:nvPr/>
        </p:nvSpPr>
        <p:spPr>
          <a:xfrm>
            <a:off x="7959852" y="3090672"/>
            <a:ext cx="946403" cy="155448"/>
          </a:xfrm>
          <a:prstGeom prst="rect">
            <a:avLst/>
          </a:prstGeom>
          <a:noFill/>
          <a:effectLst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0B626A"/>
                </a:solidFill>
                <a:latin typeface="Arial"/>
              </a:rPr>
              <a:t>IV medications</a:t>
            </a:r>
          </a:p>
        </p:txBody>
      </p:sp>
      <p:sp>
        <p:nvSpPr>
          <p:cNvPr id="88" name="Context detail IV medications"/>
          <p:cNvSpPr txBox="1"/>
          <p:nvPr/>
        </p:nvSpPr>
        <p:spPr>
          <a:xfrm>
            <a:off x="7968996" y="3236976"/>
            <a:ext cx="928115" cy="320040"/>
          </a:xfrm>
          <a:prstGeom prst="rect">
            <a:avLst/>
          </a:prstGeom>
          <a:noFill/>
          <a:effectLst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242629"/>
                </a:solidFill>
                <a:latin typeface="Arial"/>
              </a:rPr>
              <a:t>diuretics,
antibiotics</a:t>
            </a:r>
          </a:p>
        </p:txBody>
      </p:sp>
      <p:sp>
        <p:nvSpPr>
          <p:cNvPr id="89" name="Case A audit note"/>
          <p:cNvSpPr/>
          <p:nvPr/>
        </p:nvSpPr>
        <p:spPr>
          <a:xfrm>
            <a:off x="4901184" y="3886200"/>
            <a:ext cx="4114800" cy="274320"/>
          </a:xfrm>
          <a:prstGeom prst="roundRect">
            <a:avLst>
              <a:gd name="adj" fmla="val 8000"/>
            </a:avLst>
          </a:prstGeom>
          <a:solidFill>
            <a:srgbClr val="FBF7EE"/>
          </a:solidFill>
          <a:ln w="8890">
            <a:solidFill>
              <a:srgbClr val="E2D1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Audit eye upper"/>
          <p:cNvSpPr/>
          <p:nvPr/>
        </p:nvSpPr>
        <p:spPr>
          <a:xfrm>
            <a:off x="4992624" y="3959352"/>
            <a:ext cx="182880" cy="109728"/>
          </a:xfrm>
          <a:prstGeom prst="arc">
            <a:avLst/>
          </a:prstGeom>
          <a:noFill/>
          <a:ln w="11430">
            <a:solidFill>
              <a:srgbClr val="2426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Audit eye lower"/>
          <p:cNvSpPr/>
          <p:nvPr/>
        </p:nvSpPr>
        <p:spPr>
          <a:xfrm rot="10800000">
            <a:off x="4992624" y="3959352"/>
            <a:ext cx="182880" cy="109728"/>
          </a:xfrm>
          <a:prstGeom prst="arc">
            <a:avLst/>
          </a:prstGeom>
          <a:noFill/>
          <a:ln w="11430">
            <a:solidFill>
              <a:srgbClr val="2426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Audit eye iris"/>
          <p:cNvSpPr/>
          <p:nvPr/>
        </p:nvSpPr>
        <p:spPr>
          <a:xfrm>
            <a:off x="5065776" y="3995928"/>
            <a:ext cx="36576" cy="36576"/>
          </a:xfrm>
          <a:prstGeom prst="ellipse">
            <a:avLst/>
          </a:prstGeom>
          <a:solidFill>
            <a:srgbClr val="242629"/>
          </a:solidFill>
          <a:ln w="6350">
            <a:solidFill>
              <a:srgbClr val="2426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Case A audit note text"/>
          <p:cNvSpPr txBox="1"/>
          <p:nvPr/>
        </p:nvSpPr>
        <p:spPr>
          <a:xfrm>
            <a:off x="5230368" y="3913632"/>
            <a:ext cx="3657600" cy="219456"/>
          </a:xfrm>
          <a:prstGeom prst="rect">
            <a:avLst/>
          </a:prstGeom>
          <a:noFill/>
          <a:effectLst/>
        </p:spPr>
        <p:txBody>
          <a:bodyPr wrap="square" lIns="9144" rIns="9144" tIns="9144" bIns="9144" anchor="ctr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770" b="0">
                <a:solidFill>
                  <a:srgbClr val="242629"/>
                </a:solidFill>
                <a:latin typeface="Arial"/>
              </a:rPr>
              <a:t>These records are retrospective audit context for the interval, not causal.</a:t>
            </a:r>
          </a:p>
        </p:txBody>
      </p:sp>
      <p:cxnSp>
        <p:nvCxnSpPr>
          <p:cNvPr id="94" name="Case B trajectory arrow"/>
          <p:cNvCxnSpPr/>
          <p:nvPr/>
        </p:nvCxnSpPr>
        <p:spPr>
          <a:xfrm>
            <a:off x="4764024" y="4361688"/>
            <a:ext cx="4379976" cy="0"/>
          </a:xfrm>
          <a:prstGeom prst="line">
            <a:avLst/>
          </a:prstGeom>
          <a:ln w="19050">
            <a:solidFill>
              <a:srgbClr val="0B4A76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5" name="Case B current radiograph" descr="case_b_current_cxr.jpg"/>
          <p:cNvPicPr>
            <a:picLocks noChangeAspect="1"/>
          </p:cNvPicPr>
          <p:nvPr/>
        </p:nvPicPr>
        <p:blipFill>
          <a:blip r:embed="rId4"/>
          <a:srcRect t="4402" b="18602"/>
          <a:stretch>
            <a:fillRect/>
          </a:stretch>
        </p:blipFill>
        <p:spPr>
          <a:xfrm>
            <a:off x="1636776" y="4279392"/>
            <a:ext cx="3081528" cy="2313432"/>
          </a:xfrm>
          <a:prstGeom prst="rect">
            <a:avLst/>
          </a:prstGeom>
          <a:effectLst/>
        </p:spPr>
      </p:pic>
      <p:sp>
        <p:nvSpPr>
          <p:cNvPr id="96" name="Case B current radiograph border"/>
          <p:cNvSpPr/>
          <p:nvPr/>
        </p:nvSpPr>
        <p:spPr>
          <a:xfrm>
            <a:off x="1636776" y="4279392"/>
            <a:ext cx="3081528" cy="2313432"/>
          </a:xfrm>
          <a:prstGeom prst="rect">
            <a:avLst/>
          </a:prstGeom>
          <a:noFill/>
          <a:ln w="8255">
            <a:solidFill>
              <a:srgbClr val="6574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7" name="Case B observed follow-up" descr="case_b_observed_followup_cxr.jpg"/>
          <p:cNvPicPr>
            <a:picLocks noChangeAspect="1"/>
          </p:cNvPicPr>
          <p:nvPr/>
        </p:nvPicPr>
        <p:blipFill>
          <a:blip r:embed="rId5"/>
          <a:srcRect t="7256" b="7256"/>
          <a:stretch>
            <a:fillRect/>
          </a:stretch>
        </p:blipFill>
        <p:spPr>
          <a:xfrm>
            <a:off x="9217152" y="4279392"/>
            <a:ext cx="2798064" cy="2313432"/>
          </a:xfrm>
          <a:prstGeom prst="rect">
            <a:avLst/>
          </a:prstGeom>
          <a:effectLst/>
        </p:spPr>
      </p:pic>
      <p:sp>
        <p:nvSpPr>
          <p:cNvPr id="98" name="Case B observed follow-up border"/>
          <p:cNvSpPr/>
          <p:nvPr/>
        </p:nvSpPr>
        <p:spPr>
          <a:xfrm>
            <a:off x="9217152" y="4279392"/>
            <a:ext cx="2798064" cy="2313432"/>
          </a:xfrm>
          <a:prstGeom prst="rect">
            <a:avLst/>
          </a:prstGeom>
          <a:noFill/>
          <a:ln w="8255">
            <a:solidFill>
              <a:srgbClr val="6574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Case B label"/>
          <p:cNvSpPr/>
          <p:nvPr/>
        </p:nvSpPr>
        <p:spPr>
          <a:xfrm>
            <a:off x="146304" y="4279392"/>
            <a:ext cx="1152144" cy="338328"/>
          </a:xfrm>
          <a:prstGeom prst="roundRect">
            <a:avLst>
              <a:gd name="adj" fmla="val 8000"/>
            </a:avLst>
          </a:prstGeom>
          <a:solidFill>
            <a:srgbClr val="0B4A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Case B label text"/>
          <p:cNvSpPr txBox="1"/>
          <p:nvPr/>
        </p:nvSpPr>
        <p:spPr>
          <a:xfrm>
            <a:off x="173736" y="4297680"/>
            <a:ext cx="1097280" cy="292608"/>
          </a:xfrm>
          <a:prstGeom prst="rect">
            <a:avLst/>
          </a:prstGeom>
          <a:noFill/>
          <a:effectLst/>
        </p:spPr>
        <p:txBody>
          <a:bodyPr wrap="square" lIns="109728" rIns="109728" tIns="109728" bIns="109728" anchor="ctr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Arial"/>
              </a:rPr>
              <a:t>Case B</a:t>
            </a:r>
          </a:p>
        </p:txBody>
      </p:sp>
      <p:sp>
        <p:nvSpPr>
          <p:cNvPr id="101" name="Case B status"/>
          <p:cNvSpPr/>
          <p:nvPr/>
        </p:nvSpPr>
        <p:spPr>
          <a:xfrm>
            <a:off x="146304" y="4617720"/>
            <a:ext cx="1152144" cy="329184"/>
          </a:xfrm>
          <a:prstGeom prst="roundRect">
            <a:avLst>
              <a:gd name="adj" fmla="val 8000"/>
            </a:avLst>
          </a:prstGeom>
          <a:solidFill>
            <a:srgbClr val="EFF6F3"/>
          </a:solidFill>
          <a:ln w="8255">
            <a:solidFill>
              <a:srgbClr val="A8C5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Case B status text"/>
          <p:cNvSpPr txBox="1"/>
          <p:nvPr/>
        </p:nvSpPr>
        <p:spPr>
          <a:xfrm>
            <a:off x="246888" y="4636008"/>
            <a:ext cx="1005840" cy="283464"/>
          </a:xfrm>
          <a:prstGeom prst="rect">
            <a:avLst/>
          </a:prstGeom>
          <a:noFill/>
          <a:effectLst/>
        </p:spPr>
        <p:txBody>
          <a:bodyPr wrap="square" lIns="9144" rIns="9144" tIns="9144" bIns="9144" anchor="ctr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>
                <a:solidFill>
                  <a:srgbClr val="0A2944"/>
                </a:solidFill>
                <a:latin typeface="Arial"/>
              </a:rPr>
              <a:t>stable follow-up</a:t>
            </a:r>
          </a:p>
        </p:txBody>
      </p:sp>
      <p:sp>
        <p:nvSpPr>
          <p:cNvPr id="103" name="Hospital outline"/>
          <p:cNvSpPr/>
          <p:nvPr/>
        </p:nvSpPr>
        <p:spPr>
          <a:xfrm>
            <a:off x="283464" y="5138928"/>
            <a:ext cx="246888" cy="283464"/>
          </a:xfrm>
          <a:prstGeom prst="rect">
            <a:avLst/>
          </a:prstGeom>
          <a:noFill/>
          <a:ln w="12700">
            <a:solidFill>
              <a:srgbClr val="0B4A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Hospital left wing"/>
          <p:cNvSpPr/>
          <p:nvPr/>
        </p:nvSpPr>
        <p:spPr>
          <a:xfrm>
            <a:off x="228600" y="5212080"/>
            <a:ext cx="64008" cy="210312"/>
          </a:xfrm>
          <a:prstGeom prst="rect">
            <a:avLst/>
          </a:prstGeom>
          <a:noFill/>
          <a:ln w="12700">
            <a:solidFill>
              <a:srgbClr val="0B4A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Hospital right wing"/>
          <p:cNvSpPr/>
          <p:nvPr/>
        </p:nvSpPr>
        <p:spPr>
          <a:xfrm>
            <a:off x="521207" y="5212080"/>
            <a:ext cx="64008" cy="210312"/>
          </a:xfrm>
          <a:prstGeom prst="rect">
            <a:avLst/>
          </a:prstGeom>
          <a:noFill/>
          <a:ln w="12700">
            <a:solidFill>
              <a:srgbClr val="0B4A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6" name="Hospital cross h"/>
          <p:cNvCxnSpPr/>
          <p:nvPr/>
        </p:nvCxnSpPr>
        <p:spPr>
          <a:xfrm>
            <a:off x="374904" y="5157216"/>
            <a:ext cx="64008" cy="0"/>
          </a:xfrm>
          <a:prstGeom prst="line">
            <a:avLst/>
          </a:prstGeom>
          <a:ln w="17780">
            <a:solidFill>
              <a:srgbClr val="0B4A7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Hospital cross v"/>
          <p:cNvCxnSpPr/>
          <p:nvPr/>
        </p:nvCxnSpPr>
        <p:spPr>
          <a:xfrm>
            <a:off x="406908" y="5125212"/>
            <a:ext cx="0" cy="68580"/>
          </a:xfrm>
          <a:prstGeom prst="line">
            <a:avLst/>
          </a:prstGeom>
          <a:ln w="17780">
            <a:solidFill>
              <a:srgbClr val="0B4A7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Hospital window"/>
          <p:cNvSpPr/>
          <p:nvPr/>
        </p:nvSpPr>
        <p:spPr>
          <a:xfrm>
            <a:off x="320040" y="5230368"/>
            <a:ext cx="36576" cy="36576"/>
          </a:xfrm>
          <a:prstGeom prst="rect">
            <a:avLst/>
          </a:prstGeom>
          <a:solidFill>
            <a:srgbClr val="0B4A76"/>
          </a:solidFill>
          <a:ln w="3810">
            <a:solidFill>
              <a:srgbClr val="0B4A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Hospital window"/>
          <p:cNvSpPr/>
          <p:nvPr/>
        </p:nvSpPr>
        <p:spPr>
          <a:xfrm>
            <a:off x="320040" y="5303520"/>
            <a:ext cx="36576" cy="36576"/>
          </a:xfrm>
          <a:prstGeom prst="rect">
            <a:avLst/>
          </a:prstGeom>
          <a:solidFill>
            <a:srgbClr val="0B4A76"/>
          </a:solidFill>
          <a:ln w="3810">
            <a:solidFill>
              <a:srgbClr val="0B4A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Hospital window"/>
          <p:cNvSpPr/>
          <p:nvPr/>
        </p:nvSpPr>
        <p:spPr>
          <a:xfrm>
            <a:off x="448056" y="5230368"/>
            <a:ext cx="36576" cy="36576"/>
          </a:xfrm>
          <a:prstGeom prst="rect">
            <a:avLst/>
          </a:prstGeom>
          <a:solidFill>
            <a:srgbClr val="0B4A76"/>
          </a:solidFill>
          <a:ln w="3810">
            <a:solidFill>
              <a:srgbClr val="0B4A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Hospital window"/>
          <p:cNvSpPr/>
          <p:nvPr/>
        </p:nvSpPr>
        <p:spPr>
          <a:xfrm>
            <a:off x="448056" y="5303520"/>
            <a:ext cx="36576" cy="36576"/>
          </a:xfrm>
          <a:prstGeom prst="rect">
            <a:avLst/>
          </a:prstGeom>
          <a:solidFill>
            <a:srgbClr val="0B4A76"/>
          </a:solidFill>
          <a:ln w="3810">
            <a:solidFill>
              <a:srgbClr val="0B4A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Hospital door"/>
          <p:cNvSpPr/>
          <p:nvPr/>
        </p:nvSpPr>
        <p:spPr>
          <a:xfrm>
            <a:off x="384048" y="5349240"/>
            <a:ext cx="45720" cy="73152"/>
          </a:xfrm>
          <a:prstGeom prst="rect">
            <a:avLst/>
          </a:prstGeom>
          <a:noFill/>
          <a:ln w="10160">
            <a:solidFill>
              <a:srgbClr val="0B4A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Case B care setting"/>
          <p:cNvSpPr txBox="1"/>
          <p:nvPr/>
        </p:nvSpPr>
        <p:spPr>
          <a:xfrm>
            <a:off x="630936" y="5129784"/>
            <a:ext cx="841248" cy="338328"/>
          </a:xfrm>
          <a:prstGeom prst="rect">
            <a:avLst/>
          </a:prstGeom>
          <a:noFill/>
          <a:effectLst/>
        </p:spPr>
        <p:txBody>
          <a:bodyPr wrap="square" lIns="9144" rIns="9144" tIns="9144" bIns="9144" anchor="ctr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242629"/>
                </a:solidFill>
                <a:latin typeface="Arial"/>
              </a:rPr>
              <a:t>Care setting:
SICU</a:t>
            </a:r>
          </a:p>
        </p:txBody>
      </p:sp>
      <p:sp>
        <p:nvSpPr>
          <p:cNvPr id="114" name="Case B current finding card"/>
          <p:cNvSpPr/>
          <p:nvPr/>
        </p:nvSpPr>
        <p:spPr>
          <a:xfrm>
            <a:off x="146304" y="5532120"/>
            <a:ext cx="1335024" cy="950976"/>
          </a:xfrm>
          <a:prstGeom prst="roundRect">
            <a:avLst>
              <a:gd name="adj" fmla="val 8000"/>
            </a:avLst>
          </a:prstGeom>
          <a:solidFill>
            <a:srgbClr val="EDF3F6"/>
          </a:solidFill>
          <a:ln w="8890">
            <a:solidFill>
              <a:srgbClr val="AFC5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Case B current finding circle"/>
          <p:cNvSpPr/>
          <p:nvPr/>
        </p:nvSpPr>
        <p:spPr>
          <a:xfrm>
            <a:off x="237744" y="5715000"/>
            <a:ext cx="182880" cy="182880"/>
          </a:xfrm>
          <a:prstGeom prst="ellipse">
            <a:avLst/>
          </a:prstGeom>
          <a:noFill/>
          <a:ln w="13970">
            <a:solidFill>
              <a:srgbClr val="0B4A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6" name="Case B current finding tick 1"/>
          <p:cNvCxnSpPr/>
          <p:nvPr/>
        </p:nvCxnSpPr>
        <p:spPr>
          <a:xfrm>
            <a:off x="283464" y="5806440"/>
            <a:ext cx="32004" cy="36576"/>
          </a:xfrm>
          <a:prstGeom prst="line">
            <a:avLst/>
          </a:prstGeom>
          <a:ln w="15240">
            <a:solidFill>
              <a:srgbClr val="0B4A7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Case B current finding tick 2"/>
          <p:cNvCxnSpPr/>
          <p:nvPr/>
        </p:nvCxnSpPr>
        <p:spPr>
          <a:xfrm flipV="1">
            <a:off x="315468" y="5769864"/>
            <a:ext cx="59436" cy="73152"/>
          </a:xfrm>
          <a:prstGeom prst="line">
            <a:avLst/>
          </a:prstGeom>
          <a:ln w="15240">
            <a:solidFill>
              <a:srgbClr val="0B4A7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Case B current finding text"/>
          <p:cNvSpPr txBox="1"/>
          <p:nvPr/>
        </p:nvSpPr>
        <p:spPr>
          <a:xfrm>
            <a:off x="512064" y="5623560"/>
            <a:ext cx="886968" cy="786384"/>
          </a:xfrm>
          <a:prstGeom prst="rect">
            <a:avLst/>
          </a:prstGeom>
          <a:noFill/>
          <a:effectLst/>
        </p:spPr>
        <p:txBody>
          <a:bodyPr wrap="square" lIns="9144" rIns="9144" tIns="9144" bIns="9144" anchor="ctr">
            <a:spAutoFit/>
          </a:bodyPr>
          <a:lstStyle/>
          <a:p>
            <a:pPr algn="l">
              <a:lnSpc>
                <a:spcPct val="91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A2944"/>
                </a:solidFill>
                <a:latin typeface="Roboto Condensed"/>
              </a:rPr>
              <a:t>bibasal
opacification
pleural
effusions
compressive
atelectasis</a:t>
            </a:r>
          </a:p>
        </p:txBody>
      </p:sp>
      <p:sp>
        <p:nvSpPr>
          <p:cNvPr id="119" name="Case B follow-up card"/>
          <p:cNvSpPr/>
          <p:nvPr/>
        </p:nvSpPr>
        <p:spPr>
          <a:xfrm>
            <a:off x="12070080" y="4343400"/>
            <a:ext cx="1435608" cy="2139696"/>
          </a:xfrm>
          <a:prstGeom prst="roundRect">
            <a:avLst>
              <a:gd name="adj" fmla="val 8000"/>
            </a:avLst>
          </a:prstGeom>
          <a:solidFill>
            <a:srgbClr val="FBF5E9"/>
          </a:solidFill>
          <a:ln w="8890">
            <a:solidFill>
              <a:srgbClr val="E2D1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Follow-up findings"/>
          <p:cNvSpPr txBox="1"/>
          <p:nvPr/>
        </p:nvSpPr>
        <p:spPr>
          <a:xfrm>
            <a:off x="12152376" y="4462272"/>
            <a:ext cx="1271016" cy="1316736"/>
          </a:xfrm>
          <a:prstGeom prst="rect">
            <a:avLst/>
          </a:prstGeom>
          <a:noFill/>
          <a:effectLst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80">
                <a:solidFill>
                  <a:srgbClr val="242629"/>
                </a:solidFill>
                <a:latin typeface="Roboto Condensed"/>
              </a:rPr>
              <a:t>•  bibasal
opacification</a:t>
            </a:r>
          </a:p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80">
                <a:solidFill>
                  <a:srgbClr val="242629"/>
                </a:solidFill>
                <a:latin typeface="Roboto Condensed"/>
              </a:rPr>
              <a:t>•  pleural
effusions</a:t>
            </a:r>
          </a:p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80">
                <a:solidFill>
                  <a:srgbClr val="242629"/>
                </a:solidFill>
                <a:latin typeface="Roboto Condensed"/>
              </a:rPr>
              <a:t>•  compressive
atelectasis</a:t>
            </a:r>
          </a:p>
        </p:txBody>
      </p:sp>
      <p:sp>
        <p:nvSpPr>
          <p:cNvPr id="121" name="Case B follow-up note"/>
          <p:cNvSpPr/>
          <p:nvPr/>
        </p:nvSpPr>
        <p:spPr>
          <a:xfrm>
            <a:off x="12115800" y="5843016"/>
            <a:ext cx="1344168" cy="594360"/>
          </a:xfrm>
          <a:prstGeom prst="roundRect">
            <a:avLst>
              <a:gd name="adj" fmla="val 8000"/>
            </a:avLst>
          </a:prstGeom>
          <a:solidFill>
            <a:srgbClr val="FCF6EA"/>
          </a:solidFill>
          <a:ln w="8890">
            <a:solidFill>
              <a:srgbClr val="E2D1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Stable follow-up circle"/>
          <p:cNvSpPr/>
          <p:nvPr/>
        </p:nvSpPr>
        <p:spPr>
          <a:xfrm>
            <a:off x="12216384" y="6007608"/>
            <a:ext cx="192024" cy="192024"/>
          </a:xfrm>
          <a:prstGeom prst="ellipse">
            <a:avLst/>
          </a:prstGeom>
          <a:noFill/>
          <a:ln w="13970">
            <a:solidFill>
              <a:srgbClr val="2426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3" name="Stable follow-up tick 1"/>
          <p:cNvCxnSpPr/>
          <p:nvPr/>
        </p:nvCxnSpPr>
        <p:spPr>
          <a:xfrm>
            <a:off x="12264390" y="6103620"/>
            <a:ext cx="33604" cy="38404"/>
          </a:xfrm>
          <a:prstGeom prst="line">
            <a:avLst/>
          </a:prstGeom>
          <a:ln w="15240">
            <a:solidFill>
              <a:srgbClr val="24262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able follow-up tick 2"/>
          <p:cNvCxnSpPr/>
          <p:nvPr/>
        </p:nvCxnSpPr>
        <p:spPr>
          <a:xfrm flipV="1">
            <a:off x="12297994" y="6065215"/>
            <a:ext cx="62408" cy="76809"/>
          </a:xfrm>
          <a:prstGeom prst="line">
            <a:avLst/>
          </a:prstGeom>
          <a:ln w="15240">
            <a:solidFill>
              <a:srgbClr val="24262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Case B follow-up note text"/>
          <p:cNvSpPr txBox="1"/>
          <p:nvPr/>
        </p:nvSpPr>
        <p:spPr>
          <a:xfrm>
            <a:off x="12536424" y="5916168"/>
            <a:ext cx="850392" cy="448056"/>
          </a:xfrm>
          <a:prstGeom prst="rect">
            <a:avLst/>
          </a:prstGeom>
          <a:noFill/>
          <a:effectLst/>
        </p:spPr>
        <p:txBody>
          <a:bodyPr wrap="square" lIns="9144" rIns="9144" tIns="9144" bIns="9144" anchor="ctr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42629"/>
                </a:solidFill>
                <a:latin typeface="Roboto Condensed"/>
              </a:rPr>
              <a:t>stable
follow-up</a:t>
            </a:r>
          </a:p>
        </p:txBody>
      </p:sp>
      <p:sp>
        <p:nvSpPr>
          <p:cNvPr id="126" name="Horizon bin label"/>
          <p:cNvSpPr/>
          <p:nvPr/>
        </p:nvSpPr>
        <p:spPr>
          <a:xfrm>
            <a:off x="5193792" y="4480560"/>
            <a:ext cx="1682496" cy="237744"/>
          </a:xfrm>
          <a:prstGeom prst="roundRect">
            <a:avLst>
              <a:gd name="adj" fmla="val 8000"/>
            </a:avLst>
          </a:prstGeom>
          <a:solidFill>
            <a:srgbClr val="EDF1F5"/>
          </a:solidFill>
          <a:ln w="10160">
            <a:solidFill>
              <a:srgbClr val="7297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Horizon bin label text"/>
          <p:cNvSpPr txBox="1"/>
          <p:nvPr/>
        </p:nvSpPr>
        <p:spPr>
          <a:xfrm>
            <a:off x="5212080" y="4489704"/>
            <a:ext cx="1645920" cy="210312"/>
          </a:xfrm>
          <a:prstGeom prst="rect">
            <a:avLst/>
          </a:prstGeom>
          <a:noFill/>
          <a:effectLst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>
                <a:solidFill>
                  <a:srgbClr val="0A2944"/>
                </a:solidFill>
                <a:latin typeface="Arial"/>
              </a:rPr>
              <a:t>Horizon bin (model context)</a:t>
            </a:r>
          </a:p>
        </p:txBody>
      </p:sp>
      <p:sp>
        <p:nvSpPr>
          <p:cNvPr id="128" name="Horizon bin value"/>
          <p:cNvSpPr txBox="1"/>
          <p:nvPr/>
        </p:nvSpPr>
        <p:spPr>
          <a:xfrm>
            <a:off x="5477256" y="4709160"/>
            <a:ext cx="1106424" cy="237744"/>
          </a:xfrm>
          <a:prstGeom prst="rect">
            <a:avLst/>
          </a:prstGeom>
          <a:noFill/>
          <a:effectLst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470" b="1">
                <a:solidFill>
                  <a:srgbClr val="0B4A76"/>
                </a:solidFill>
                <a:latin typeface="Arial"/>
              </a:rPr>
              <a:t>0–24 h</a:t>
            </a:r>
          </a:p>
        </p:txBody>
      </p:sp>
      <p:sp>
        <p:nvSpPr>
          <p:cNvPr id="129" name="Elapsed time label"/>
          <p:cNvSpPr txBox="1"/>
          <p:nvPr/>
        </p:nvSpPr>
        <p:spPr>
          <a:xfrm>
            <a:off x="7205472" y="4471416"/>
            <a:ext cx="1591056" cy="182880"/>
          </a:xfrm>
          <a:prstGeom prst="rect">
            <a:avLst/>
          </a:prstGeom>
          <a:noFill/>
          <a:effectLst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242629"/>
                </a:solidFill>
                <a:latin typeface="Arial"/>
              </a:rPr>
              <a:t>Exact elapsed time</a:t>
            </a:r>
          </a:p>
        </p:txBody>
      </p:sp>
      <p:sp>
        <p:nvSpPr>
          <p:cNvPr id="130" name="Elapsed time value"/>
          <p:cNvSpPr txBox="1"/>
          <p:nvPr/>
        </p:nvSpPr>
        <p:spPr>
          <a:xfrm>
            <a:off x="7406640" y="4654296"/>
            <a:ext cx="1188720" cy="219456"/>
          </a:xfrm>
          <a:prstGeom prst="rect">
            <a:avLst/>
          </a:prstGeom>
          <a:noFill/>
          <a:effectLst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242629"/>
                </a:solidFill>
                <a:latin typeface="Arial"/>
              </a:rPr>
              <a:t>≈24.0 h</a:t>
            </a:r>
          </a:p>
        </p:txBody>
      </p:sp>
      <p:sp>
        <p:nvSpPr>
          <p:cNvPr id="131" name="Elapsed time note"/>
          <p:cNvSpPr txBox="1"/>
          <p:nvPr/>
        </p:nvSpPr>
        <p:spPr>
          <a:xfrm>
            <a:off x="7223760" y="4864608"/>
            <a:ext cx="1554480" cy="164592"/>
          </a:xfrm>
          <a:prstGeom prst="rect">
            <a:avLst/>
          </a:prstGeom>
          <a:noFill/>
          <a:effectLst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242629"/>
                </a:solidFill>
                <a:latin typeface="Arial"/>
              </a:rPr>
              <a:t>(observed, not input)</a:t>
            </a:r>
          </a:p>
        </p:txBody>
      </p:sp>
      <p:sp>
        <p:nvSpPr>
          <p:cNvPr id="132" name="Retrospective context card"/>
          <p:cNvSpPr/>
          <p:nvPr/>
        </p:nvSpPr>
        <p:spPr>
          <a:xfrm>
            <a:off x="4901184" y="5212080"/>
            <a:ext cx="4114800" cy="1014984"/>
          </a:xfrm>
          <a:prstGeom prst="roundRect">
            <a:avLst>
              <a:gd name="adj" fmla="val 8000"/>
            </a:avLst>
          </a:prstGeom>
          <a:solidFill>
            <a:srgbClr val="EFF6F3"/>
          </a:solidFill>
          <a:ln w="10160">
            <a:solidFill>
              <a:srgbClr val="A8C5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trospective context heading"/>
          <p:cNvSpPr txBox="1"/>
          <p:nvPr/>
        </p:nvSpPr>
        <p:spPr>
          <a:xfrm>
            <a:off x="5029200" y="5285232"/>
            <a:ext cx="3858768" cy="201168"/>
          </a:xfrm>
          <a:prstGeom prst="rect">
            <a:avLst/>
          </a:prstGeom>
          <a:noFill/>
          <a:effectLst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969" b="1">
                <a:solidFill>
                  <a:srgbClr val="0B626A"/>
                </a:solidFill>
                <a:latin typeface="Arial"/>
              </a:rPr>
              <a:t>Linked retrospective context (MIMIC-IV) — not model input</a:t>
            </a:r>
          </a:p>
        </p:txBody>
      </p:sp>
      <p:cxnSp>
        <p:nvCxnSpPr>
          <p:cNvPr id="134" name="Context divider"/>
          <p:cNvCxnSpPr/>
          <p:nvPr/>
        </p:nvCxnSpPr>
        <p:spPr>
          <a:xfrm>
            <a:off x="6958584" y="5559552"/>
            <a:ext cx="0" cy="557784"/>
          </a:xfrm>
          <a:prstGeom prst="line">
            <a:avLst/>
          </a:prstGeom>
          <a:ln w="8890">
            <a:solidFill>
              <a:srgbClr val="9DB6B6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IV pole"/>
          <p:cNvCxnSpPr/>
          <p:nvPr/>
        </p:nvCxnSpPr>
        <p:spPr>
          <a:xfrm>
            <a:off x="5660136" y="5577840"/>
            <a:ext cx="0" cy="274320"/>
          </a:xfrm>
          <a:prstGeom prst="line">
            <a:avLst/>
          </a:prstGeom>
          <a:ln w="12700">
            <a:solidFill>
              <a:srgbClr val="0A29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IV hook"/>
          <p:cNvCxnSpPr/>
          <p:nvPr/>
        </p:nvCxnSpPr>
        <p:spPr>
          <a:xfrm>
            <a:off x="5614416" y="5586984"/>
            <a:ext cx="91440" cy="0"/>
          </a:xfrm>
          <a:prstGeom prst="line">
            <a:avLst/>
          </a:prstGeom>
          <a:ln w="12700">
            <a:solidFill>
              <a:srgbClr val="0A29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IV bag"/>
          <p:cNvSpPr/>
          <p:nvPr/>
        </p:nvSpPr>
        <p:spPr>
          <a:xfrm>
            <a:off x="5568696" y="5632704"/>
            <a:ext cx="137160" cy="164592"/>
          </a:xfrm>
          <a:prstGeom prst="roundRect">
            <a:avLst>
              <a:gd name="adj" fmla="val 8000"/>
            </a:avLst>
          </a:prstGeom>
          <a:noFill/>
          <a:ln w="12700">
            <a:solidFill>
              <a:srgbClr val="0A29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8" name="IV fluid"/>
          <p:cNvCxnSpPr/>
          <p:nvPr/>
        </p:nvCxnSpPr>
        <p:spPr>
          <a:xfrm>
            <a:off x="5596128" y="5678424"/>
            <a:ext cx="82296" cy="0"/>
          </a:xfrm>
          <a:prstGeom prst="line">
            <a:avLst/>
          </a:prstGeom>
          <a:ln w="8890">
            <a:solidFill>
              <a:srgbClr val="0A29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IV tube"/>
          <p:cNvCxnSpPr/>
          <p:nvPr/>
        </p:nvCxnSpPr>
        <p:spPr>
          <a:xfrm>
            <a:off x="5637276" y="5797296"/>
            <a:ext cx="0" cy="54864"/>
          </a:xfrm>
          <a:prstGeom prst="line">
            <a:avLst/>
          </a:prstGeom>
          <a:ln w="10160">
            <a:solidFill>
              <a:srgbClr val="0A29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IV connector"/>
          <p:cNvSpPr/>
          <p:nvPr/>
        </p:nvSpPr>
        <p:spPr>
          <a:xfrm>
            <a:off x="5623560" y="5843016"/>
            <a:ext cx="27432" cy="27432"/>
          </a:xfrm>
          <a:prstGeom prst="ellipse">
            <a:avLst/>
          </a:prstGeom>
          <a:noFill/>
          <a:ln w="8890">
            <a:solidFill>
              <a:srgbClr val="0A29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Context label Lines"/>
          <p:cNvSpPr txBox="1"/>
          <p:nvPr/>
        </p:nvSpPr>
        <p:spPr>
          <a:xfrm>
            <a:off x="5888736" y="5541264"/>
            <a:ext cx="960120" cy="182880"/>
          </a:xfrm>
          <a:prstGeom prst="rect">
            <a:avLst/>
          </a:prstGeom>
          <a:noFill/>
          <a:effectLst/>
        </p:spPr>
        <p:txBody>
          <a:bodyPr wrap="square" lIns="9144" rIns="9144" tIns="9144" bIns="9144" anchor="ctr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0B626A"/>
                </a:solidFill>
                <a:latin typeface="Arial"/>
              </a:rPr>
              <a:t>Lines</a:t>
            </a:r>
          </a:p>
        </p:txBody>
      </p:sp>
      <p:sp>
        <p:nvSpPr>
          <p:cNvPr id="142" name="Context detail Lines"/>
          <p:cNvSpPr txBox="1"/>
          <p:nvPr/>
        </p:nvSpPr>
        <p:spPr>
          <a:xfrm>
            <a:off x="5888736" y="5715000"/>
            <a:ext cx="969264" cy="365760"/>
          </a:xfrm>
          <a:prstGeom prst="rect">
            <a:avLst/>
          </a:prstGeom>
          <a:noFill/>
          <a:effectLst/>
        </p:spPr>
        <p:txBody>
          <a:bodyPr wrap="square" lIns="9144" rIns="9144" tIns="9144" bIns="9144" anchor="ctr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242629"/>
                </a:solidFill>
                <a:latin typeface="Arial"/>
              </a:rPr>
              <a:t>central line,
PICC</a:t>
            </a:r>
          </a:p>
        </p:txBody>
      </p:sp>
      <p:sp>
        <p:nvSpPr>
          <p:cNvPr id="143" name="Medication cap"/>
          <p:cNvSpPr/>
          <p:nvPr/>
        </p:nvSpPr>
        <p:spPr>
          <a:xfrm>
            <a:off x="7653527" y="5577840"/>
            <a:ext cx="155448" cy="45720"/>
          </a:xfrm>
          <a:prstGeom prst="rect">
            <a:avLst/>
          </a:prstGeom>
          <a:noFill/>
          <a:ln w="11430">
            <a:solidFill>
              <a:srgbClr val="0A29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Medication vial"/>
          <p:cNvSpPr/>
          <p:nvPr/>
        </p:nvSpPr>
        <p:spPr>
          <a:xfrm>
            <a:off x="7635240" y="5623560"/>
            <a:ext cx="192024" cy="237744"/>
          </a:xfrm>
          <a:prstGeom prst="roundRect">
            <a:avLst>
              <a:gd name="adj" fmla="val 8000"/>
            </a:avLst>
          </a:prstGeom>
          <a:noFill/>
          <a:ln w="12700">
            <a:solidFill>
              <a:srgbClr val="0A29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Medication label"/>
          <p:cNvSpPr/>
          <p:nvPr/>
        </p:nvSpPr>
        <p:spPr>
          <a:xfrm>
            <a:off x="7671816" y="5715000"/>
            <a:ext cx="118872" cy="73152"/>
          </a:xfrm>
          <a:prstGeom prst="rect">
            <a:avLst/>
          </a:prstGeom>
          <a:solidFill>
            <a:srgbClr val="0B626A"/>
          </a:solidFill>
          <a:ln w="6350">
            <a:solidFill>
              <a:srgbClr val="0B62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Context label IV medications"/>
          <p:cNvSpPr txBox="1"/>
          <p:nvPr/>
        </p:nvSpPr>
        <p:spPr>
          <a:xfrm>
            <a:off x="7946136" y="5541264"/>
            <a:ext cx="960120" cy="182880"/>
          </a:xfrm>
          <a:prstGeom prst="rect">
            <a:avLst/>
          </a:prstGeom>
          <a:noFill/>
          <a:effectLst/>
        </p:spPr>
        <p:txBody>
          <a:bodyPr wrap="square" lIns="9144" rIns="9144" tIns="9144" bIns="9144" anchor="ctr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0B626A"/>
                </a:solidFill>
                <a:latin typeface="Arial"/>
              </a:rPr>
              <a:t>IV medications</a:t>
            </a:r>
          </a:p>
        </p:txBody>
      </p:sp>
      <p:sp>
        <p:nvSpPr>
          <p:cNvPr id="147" name="Context detail IV medications"/>
          <p:cNvSpPr txBox="1"/>
          <p:nvPr/>
        </p:nvSpPr>
        <p:spPr>
          <a:xfrm>
            <a:off x="7946136" y="5715000"/>
            <a:ext cx="969264" cy="365760"/>
          </a:xfrm>
          <a:prstGeom prst="rect">
            <a:avLst/>
          </a:prstGeom>
          <a:noFill/>
          <a:effectLst/>
        </p:spPr>
        <p:txBody>
          <a:bodyPr wrap="square" lIns="9144" rIns="9144" tIns="9144" bIns="9144" anchor="ctr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242629"/>
                </a:solidFill>
                <a:latin typeface="Arial"/>
              </a:rPr>
              <a:t>vasopressors,
antimicrobials</a:t>
            </a:r>
          </a:p>
        </p:txBody>
      </p:sp>
      <p:sp>
        <p:nvSpPr>
          <p:cNvPr id="148" name="Case B audit note"/>
          <p:cNvSpPr/>
          <p:nvPr/>
        </p:nvSpPr>
        <p:spPr>
          <a:xfrm>
            <a:off x="4901184" y="6263640"/>
            <a:ext cx="4114800" cy="274320"/>
          </a:xfrm>
          <a:prstGeom prst="roundRect">
            <a:avLst>
              <a:gd name="adj" fmla="val 8000"/>
            </a:avLst>
          </a:prstGeom>
          <a:solidFill>
            <a:srgbClr val="FBF7EE"/>
          </a:solidFill>
          <a:ln w="8890">
            <a:solidFill>
              <a:srgbClr val="E2D1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Audit eye upper"/>
          <p:cNvSpPr/>
          <p:nvPr/>
        </p:nvSpPr>
        <p:spPr>
          <a:xfrm>
            <a:off x="4992624" y="6336792"/>
            <a:ext cx="182880" cy="109728"/>
          </a:xfrm>
          <a:prstGeom prst="arc">
            <a:avLst/>
          </a:prstGeom>
          <a:noFill/>
          <a:ln w="11430">
            <a:solidFill>
              <a:srgbClr val="2426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Audit eye lower"/>
          <p:cNvSpPr/>
          <p:nvPr/>
        </p:nvSpPr>
        <p:spPr>
          <a:xfrm rot="10800000">
            <a:off x="4992624" y="6336792"/>
            <a:ext cx="182880" cy="109728"/>
          </a:xfrm>
          <a:prstGeom prst="arc">
            <a:avLst/>
          </a:prstGeom>
          <a:noFill/>
          <a:ln w="11430">
            <a:solidFill>
              <a:srgbClr val="2426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Audit eye iris"/>
          <p:cNvSpPr/>
          <p:nvPr/>
        </p:nvSpPr>
        <p:spPr>
          <a:xfrm>
            <a:off x="5065776" y="6373368"/>
            <a:ext cx="36576" cy="36576"/>
          </a:xfrm>
          <a:prstGeom prst="ellipse">
            <a:avLst/>
          </a:prstGeom>
          <a:solidFill>
            <a:srgbClr val="242629"/>
          </a:solidFill>
          <a:ln w="6350">
            <a:solidFill>
              <a:srgbClr val="2426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Case B audit note text"/>
          <p:cNvSpPr txBox="1"/>
          <p:nvPr/>
        </p:nvSpPr>
        <p:spPr>
          <a:xfrm>
            <a:off x="5230368" y="6291072"/>
            <a:ext cx="3657600" cy="219456"/>
          </a:xfrm>
          <a:prstGeom prst="rect">
            <a:avLst/>
          </a:prstGeom>
          <a:noFill/>
          <a:effectLst/>
        </p:spPr>
        <p:txBody>
          <a:bodyPr wrap="square" lIns="9144" rIns="9144" tIns="9144" bIns="9144" anchor="ctr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770" b="0">
                <a:solidFill>
                  <a:srgbClr val="242629"/>
                </a:solidFill>
                <a:latin typeface="Arial"/>
              </a:rPr>
              <a:t>These records are retrospective audit context for the interval, not causal.</a:t>
            </a:r>
          </a:p>
        </p:txBody>
      </p:sp>
      <p:cxnSp>
        <p:nvCxnSpPr>
          <p:cNvPr id="153" name="Case C trajectory arrow"/>
          <p:cNvCxnSpPr/>
          <p:nvPr/>
        </p:nvCxnSpPr>
        <p:spPr>
          <a:xfrm>
            <a:off x="4764024" y="6858000"/>
            <a:ext cx="4379976" cy="0"/>
          </a:xfrm>
          <a:prstGeom prst="line">
            <a:avLst/>
          </a:prstGeom>
          <a:ln w="19050">
            <a:solidFill>
              <a:srgbClr val="0B4A76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4" name="Case C current radiograph" descr="case_c_current_cxr.jpg"/>
          <p:cNvPicPr>
            <a:picLocks noChangeAspect="1"/>
          </p:cNvPicPr>
          <p:nvPr/>
        </p:nvPicPr>
        <p:blipFill>
          <a:blip r:embed="rId6"/>
          <a:srcRect t="8505" b="28505"/>
          <a:stretch>
            <a:fillRect/>
          </a:stretch>
        </p:blipFill>
        <p:spPr>
          <a:xfrm>
            <a:off x="1636776" y="6775704"/>
            <a:ext cx="3081528" cy="2331720"/>
          </a:xfrm>
          <a:prstGeom prst="rect">
            <a:avLst/>
          </a:prstGeom>
          <a:effectLst/>
        </p:spPr>
      </p:pic>
      <p:sp>
        <p:nvSpPr>
          <p:cNvPr id="155" name="Case C current radiograph border"/>
          <p:cNvSpPr/>
          <p:nvPr/>
        </p:nvSpPr>
        <p:spPr>
          <a:xfrm>
            <a:off x="1636776" y="6775704"/>
            <a:ext cx="3081528" cy="2331720"/>
          </a:xfrm>
          <a:prstGeom prst="rect">
            <a:avLst/>
          </a:prstGeom>
          <a:noFill/>
          <a:ln w="8255">
            <a:solidFill>
              <a:srgbClr val="6574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6" name="Case C observed follow-up" descr="case_c_observed_followup_cxr.jpg"/>
          <p:cNvPicPr>
            <a:picLocks noChangeAspect="1"/>
          </p:cNvPicPr>
          <p:nvPr/>
        </p:nvPicPr>
        <p:blipFill>
          <a:blip r:embed="rId7"/>
          <a:srcRect t="4671" b="28271"/>
          <a:stretch>
            <a:fillRect/>
          </a:stretch>
        </p:blipFill>
        <p:spPr>
          <a:xfrm>
            <a:off x="9217152" y="6775704"/>
            <a:ext cx="2798064" cy="2331720"/>
          </a:xfrm>
          <a:prstGeom prst="rect">
            <a:avLst/>
          </a:prstGeom>
          <a:effectLst/>
        </p:spPr>
      </p:pic>
      <p:sp>
        <p:nvSpPr>
          <p:cNvPr id="157" name="Case C observed follow-up border"/>
          <p:cNvSpPr/>
          <p:nvPr/>
        </p:nvSpPr>
        <p:spPr>
          <a:xfrm>
            <a:off x="9217152" y="6775704"/>
            <a:ext cx="2798064" cy="2331720"/>
          </a:xfrm>
          <a:prstGeom prst="rect">
            <a:avLst/>
          </a:prstGeom>
          <a:noFill/>
          <a:ln w="8255">
            <a:solidFill>
              <a:srgbClr val="6574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Case C label"/>
          <p:cNvSpPr/>
          <p:nvPr/>
        </p:nvSpPr>
        <p:spPr>
          <a:xfrm>
            <a:off x="146304" y="6775704"/>
            <a:ext cx="1152144" cy="338328"/>
          </a:xfrm>
          <a:prstGeom prst="roundRect">
            <a:avLst>
              <a:gd name="adj" fmla="val 8000"/>
            </a:avLst>
          </a:prstGeom>
          <a:solidFill>
            <a:srgbClr val="0B4A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Case C label text"/>
          <p:cNvSpPr txBox="1"/>
          <p:nvPr/>
        </p:nvSpPr>
        <p:spPr>
          <a:xfrm>
            <a:off x="173736" y="6793992"/>
            <a:ext cx="1097280" cy="292608"/>
          </a:xfrm>
          <a:prstGeom prst="rect">
            <a:avLst/>
          </a:prstGeom>
          <a:noFill/>
          <a:effectLst/>
        </p:spPr>
        <p:txBody>
          <a:bodyPr wrap="square" lIns="109728" rIns="109728" tIns="109728" bIns="109728" anchor="ctr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Arial"/>
              </a:rPr>
              <a:t>Case C</a:t>
            </a:r>
          </a:p>
        </p:txBody>
      </p:sp>
      <p:sp>
        <p:nvSpPr>
          <p:cNvPr id="160" name="Case C status"/>
          <p:cNvSpPr/>
          <p:nvPr/>
        </p:nvSpPr>
        <p:spPr>
          <a:xfrm>
            <a:off x="146304" y="7114032"/>
            <a:ext cx="1152144" cy="329184"/>
          </a:xfrm>
          <a:prstGeom prst="roundRect">
            <a:avLst>
              <a:gd name="adj" fmla="val 8000"/>
            </a:avLst>
          </a:prstGeom>
          <a:solidFill>
            <a:srgbClr val="EFF6F3"/>
          </a:solidFill>
          <a:ln w="8255">
            <a:solidFill>
              <a:srgbClr val="A8C5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Case C status text"/>
          <p:cNvSpPr txBox="1"/>
          <p:nvPr/>
        </p:nvSpPr>
        <p:spPr>
          <a:xfrm>
            <a:off x="246888" y="7132320"/>
            <a:ext cx="1005840" cy="283464"/>
          </a:xfrm>
          <a:prstGeom prst="rect">
            <a:avLst/>
          </a:prstGeom>
          <a:noFill/>
          <a:effectLst/>
        </p:spPr>
        <p:txBody>
          <a:bodyPr wrap="square" lIns="9144" rIns="9144" tIns="9144" bIns="9144" anchor="ctr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>
                <a:solidFill>
                  <a:srgbClr val="0A2944"/>
                </a:solidFill>
                <a:latin typeface="Arial"/>
              </a:rPr>
              <a:t>clear change</a:t>
            </a:r>
          </a:p>
        </p:txBody>
      </p:sp>
      <p:sp>
        <p:nvSpPr>
          <p:cNvPr id="162" name="Hospital outline"/>
          <p:cNvSpPr/>
          <p:nvPr/>
        </p:nvSpPr>
        <p:spPr>
          <a:xfrm>
            <a:off x="283464" y="7635240"/>
            <a:ext cx="246888" cy="283464"/>
          </a:xfrm>
          <a:prstGeom prst="rect">
            <a:avLst/>
          </a:prstGeom>
          <a:noFill/>
          <a:ln w="12700">
            <a:solidFill>
              <a:srgbClr val="0B4A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Hospital left wing"/>
          <p:cNvSpPr/>
          <p:nvPr/>
        </p:nvSpPr>
        <p:spPr>
          <a:xfrm>
            <a:off x="228600" y="7708392"/>
            <a:ext cx="64008" cy="210312"/>
          </a:xfrm>
          <a:prstGeom prst="rect">
            <a:avLst/>
          </a:prstGeom>
          <a:noFill/>
          <a:ln w="12700">
            <a:solidFill>
              <a:srgbClr val="0B4A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Hospital right wing"/>
          <p:cNvSpPr/>
          <p:nvPr/>
        </p:nvSpPr>
        <p:spPr>
          <a:xfrm>
            <a:off x="521207" y="7708392"/>
            <a:ext cx="64008" cy="210312"/>
          </a:xfrm>
          <a:prstGeom prst="rect">
            <a:avLst/>
          </a:prstGeom>
          <a:noFill/>
          <a:ln w="12700">
            <a:solidFill>
              <a:srgbClr val="0B4A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5" name="Hospital cross h"/>
          <p:cNvCxnSpPr/>
          <p:nvPr/>
        </p:nvCxnSpPr>
        <p:spPr>
          <a:xfrm>
            <a:off x="374904" y="7653527"/>
            <a:ext cx="64008" cy="0"/>
          </a:xfrm>
          <a:prstGeom prst="line">
            <a:avLst/>
          </a:prstGeom>
          <a:ln w="17780">
            <a:solidFill>
              <a:srgbClr val="0B4A7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Hospital cross v"/>
          <p:cNvCxnSpPr/>
          <p:nvPr/>
        </p:nvCxnSpPr>
        <p:spPr>
          <a:xfrm>
            <a:off x="406908" y="7621524"/>
            <a:ext cx="0" cy="68580"/>
          </a:xfrm>
          <a:prstGeom prst="line">
            <a:avLst/>
          </a:prstGeom>
          <a:ln w="17780">
            <a:solidFill>
              <a:srgbClr val="0B4A7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7" name="Hospital window"/>
          <p:cNvSpPr/>
          <p:nvPr/>
        </p:nvSpPr>
        <p:spPr>
          <a:xfrm>
            <a:off x="320040" y="7726679"/>
            <a:ext cx="36576" cy="36576"/>
          </a:xfrm>
          <a:prstGeom prst="rect">
            <a:avLst/>
          </a:prstGeom>
          <a:solidFill>
            <a:srgbClr val="0B4A76"/>
          </a:solidFill>
          <a:ln w="3810">
            <a:solidFill>
              <a:srgbClr val="0B4A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Hospital window"/>
          <p:cNvSpPr/>
          <p:nvPr/>
        </p:nvSpPr>
        <p:spPr>
          <a:xfrm>
            <a:off x="320040" y="7799831"/>
            <a:ext cx="36576" cy="36576"/>
          </a:xfrm>
          <a:prstGeom prst="rect">
            <a:avLst/>
          </a:prstGeom>
          <a:solidFill>
            <a:srgbClr val="0B4A76"/>
          </a:solidFill>
          <a:ln w="3810">
            <a:solidFill>
              <a:srgbClr val="0B4A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Hospital window"/>
          <p:cNvSpPr/>
          <p:nvPr/>
        </p:nvSpPr>
        <p:spPr>
          <a:xfrm>
            <a:off x="448056" y="7726679"/>
            <a:ext cx="36576" cy="36576"/>
          </a:xfrm>
          <a:prstGeom prst="rect">
            <a:avLst/>
          </a:prstGeom>
          <a:solidFill>
            <a:srgbClr val="0B4A76"/>
          </a:solidFill>
          <a:ln w="3810">
            <a:solidFill>
              <a:srgbClr val="0B4A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Hospital window"/>
          <p:cNvSpPr/>
          <p:nvPr/>
        </p:nvSpPr>
        <p:spPr>
          <a:xfrm>
            <a:off x="448056" y="7799831"/>
            <a:ext cx="36576" cy="36576"/>
          </a:xfrm>
          <a:prstGeom prst="rect">
            <a:avLst/>
          </a:prstGeom>
          <a:solidFill>
            <a:srgbClr val="0B4A76"/>
          </a:solidFill>
          <a:ln w="3810">
            <a:solidFill>
              <a:srgbClr val="0B4A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Hospital door"/>
          <p:cNvSpPr/>
          <p:nvPr/>
        </p:nvSpPr>
        <p:spPr>
          <a:xfrm>
            <a:off x="384048" y="7845552"/>
            <a:ext cx="45720" cy="73152"/>
          </a:xfrm>
          <a:prstGeom prst="rect">
            <a:avLst/>
          </a:prstGeom>
          <a:noFill/>
          <a:ln w="10160">
            <a:solidFill>
              <a:srgbClr val="0B4A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Case C care setting"/>
          <p:cNvSpPr txBox="1"/>
          <p:nvPr/>
        </p:nvSpPr>
        <p:spPr>
          <a:xfrm>
            <a:off x="630936" y="7626096"/>
            <a:ext cx="841248" cy="338328"/>
          </a:xfrm>
          <a:prstGeom prst="rect">
            <a:avLst/>
          </a:prstGeom>
          <a:noFill/>
          <a:effectLst/>
        </p:spPr>
        <p:txBody>
          <a:bodyPr wrap="square" lIns="9144" rIns="9144" tIns="9144" bIns="9144" anchor="ctr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242629"/>
                </a:solidFill>
                <a:latin typeface="Arial"/>
              </a:rPr>
              <a:t>Care setting:
trauma SICU</a:t>
            </a:r>
          </a:p>
        </p:txBody>
      </p:sp>
      <p:sp>
        <p:nvSpPr>
          <p:cNvPr id="173" name="Case C current finding card"/>
          <p:cNvSpPr/>
          <p:nvPr/>
        </p:nvSpPr>
        <p:spPr>
          <a:xfrm>
            <a:off x="146304" y="8028431"/>
            <a:ext cx="1335024" cy="969264"/>
          </a:xfrm>
          <a:prstGeom prst="roundRect">
            <a:avLst>
              <a:gd name="adj" fmla="val 8000"/>
            </a:avLst>
          </a:prstGeom>
          <a:solidFill>
            <a:srgbClr val="EDF3F6"/>
          </a:solidFill>
          <a:ln w="8890">
            <a:solidFill>
              <a:srgbClr val="AFC5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Case C current finding circle"/>
          <p:cNvSpPr/>
          <p:nvPr/>
        </p:nvSpPr>
        <p:spPr>
          <a:xfrm>
            <a:off x="237744" y="8211312"/>
            <a:ext cx="182880" cy="182880"/>
          </a:xfrm>
          <a:prstGeom prst="ellipse">
            <a:avLst/>
          </a:prstGeom>
          <a:noFill/>
          <a:ln w="13970">
            <a:solidFill>
              <a:srgbClr val="0B4A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5" name="Case C current finding tick 1"/>
          <p:cNvCxnSpPr/>
          <p:nvPr/>
        </p:nvCxnSpPr>
        <p:spPr>
          <a:xfrm>
            <a:off x="283464" y="8302752"/>
            <a:ext cx="32004" cy="36575"/>
          </a:xfrm>
          <a:prstGeom prst="line">
            <a:avLst/>
          </a:prstGeom>
          <a:ln w="15240">
            <a:solidFill>
              <a:srgbClr val="0B4A7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Case C current finding tick 2"/>
          <p:cNvCxnSpPr/>
          <p:nvPr/>
        </p:nvCxnSpPr>
        <p:spPr>
          <a:xfrm flipV="1">
            <a:off x="315468" y="8266175"/>
            <a:ext cx="59436" cy="73152"/>
          </a:xfrm>
          <a:prstGeom prst="line">
            <a:avLst/>
          </a:prstGeom>
          <a:ln w="15240">
            <a:solidFill>
              <a:srgbClr val="0B4A7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7" name="Case C current finding text"/>
          <p:cNvSpPr txBox="1"/>
          <p:nvPr/>
        </p:nvSpPr>
        <p:spPr>
          <a:xfrm>
            <a:off x="512064" y="8119872"/>
            <a:ext cx="886968" cy="804672"/>
          </a:xfrm>
          <a:prstGeom prst="rect">
            <a:avLst/>
          </a:prstGeom>
          <a:noFill/>
          <a:effectLst/>
        </p:spPr>
        <p:txBody>
          <a:bodyPr wrap="square" lIns="9144" rIns="9144" tIns="9144" bIns="9144" anchor="ctr">
            <a:spAutoFit/>
          </a:bodyPr>
          <a:lstStyle/>
          <a:p>
            <a:pPr algn="l">
              <a:lnSpc>
                <a:spcPct val="91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A2944"/>
                </a:solidFill>
                <a:latin typeface="Roboto Condensed"/>
              </a:rPr>
              <a:t>no focal opacity
or pleural
effusion</a:t>
            </a:r>
          </a:p>
        </p:txBody>
      </p:sp>
      <p:sp>
        <p:nvSpPr>
          <p:cNvPr id="178" name="Case C follow-up card"/>
          <p:cNvSpPr/>
          <p:nvPr/>
        </p:nvSpPr>
        <p:spPr>
          <a:xfrm>
            <a:off x="12070080" y="6775704"/>
            <a:ext cx="1435608" cy="2221992"/>
          </a:xfrm>
          <a:prstGeom prst="roundRect">
            <a:avLst>
              <a:gd name="adj" fmla="val 8000"/>
            </a:avLst>
          </a:prstGeom>
          <a:solidFill>
            <a:srgbClr val="FBF5E9"/>
          </a:solidFill>
          <a:ln w="8890">
            <a:solidFill>
              <a:srgbClr val="E2D1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Follow-up findings"/>
          <p:cNvSpPr txBox="1"/>
          <p:nvPr/>
        </p:nvSpPr>
        <p:spPr>
          <a:xfrm>
            <a:off x="12152376" y="6894576"/>
            <a:ext cx="1271016" cy="1399032"/>
          </a:xfrm>
          <a:prstGeom prst="rect">
            <a:avLst/>
          </a:prstGeom>
          <a:noFill/>
          <a:effectLst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242629"/>
                </a:solidFill>
                <a:latin typeface="Roboto Condensed"/>
              </a:rPr>
              <a:t>•  new bilateral
parenchymal
opacities</a:t>
            </a:r>
          </a:p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242629"/>
                </a:solidFill>
                <a:latin typeface="Roboto Condensed"/>
              </a:rPr>
              <a:t>•  right upper lung
most severe</a:t>
            </a:r>
          </a:p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242629"/>
                </a:solidFill>
                <a:latin typeface="Roboto Condensed"/>
              </a:rPr>
              <a:t>•  probable
multifocal
pneumonia</a:t>
            </a:r>
          </a:p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19">
                <a:solidFill>
                  <a:srgbClr val="242629"/>
                </a:solidFill>
                <a:latin typeface="Roboto Condensed"/>
              </a:rPr>
              <a:t>•  possible pleural
effusion</a:t>
            </a:r>
          </a:p>
        </p:txBody>
      </p:sp>
      <p:sp>
        <p:nvSpPr>
          <p:cNvPr id="180" name="Case C follow-up note"/>
          <p:cNvSpPr/>
          <p:nvPr/>
        </p:nvSpPr>
        <p:spPr>
          <a:xfrm>
            <a:off x="12115800" y="8357616"/>
            <a:ext cx="1344168" cy="594360"/>
          </a:xfrm>
          <a:prstGeom prst="roundRect">
            <a:avLst>
              <a:gd name="adj" fmla="val 8000"/>
            </a:avLst>
          </a:prstGeom>
          <a:solidFill>
            <a:srgbClr val="FCF6EA"/>
          </a:solidFill>
          <a:ln w="8890">
            <a:solidFill>
              <a:srgbClr val="E2D1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Support device bulb"/>
          <p:cNvSpPr/>
          <p:nvPr/>
        </p:nvSpPr>
        <p:spPr>
          <a:xfrm>
            <a:off x="12271248" y="8485632"/>
            <a:ext cx="118872" cy="118872"/>
          </a:xfrm>
          <a:prstGeom prst="ellipse">
            <a:avLst/>
          </a:prstGeom>
          <a:noFill/>
          <a:ln w="11430">
            <a:solidFill>
              <a:srgbClr val="2426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Support device body"/>
          <p:cNvSpPr/>
          <p:nvPr/>
        </p:nvSpPr>
        <p:spPr>
          <a:xfrm>
            <a:off x="12234672" y="8595360"/>
            <a:ext cx="192024" cy="128016"/>
          </a:xfrm>
          <a:prstGeom prst="roundRect">
            <a:avLst>
              <a:gd name="adj" fmla="val 8000"/>
            </a:avLst>
          </a:prstGeom>
          <a:noFill/>
          <a:ln w="11430">
            <a:solidFill>
              <a:srgbClr val="2426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3" name="Support device tube"/>
          <p:cNvCxnSpPr/>
          <p:nvPr/>
        </p:nvCxnSpPr>
        <p:spPr>
          <a:xfrm>
            <a:off x="12330684" y="8723376"/>
            <a:ext cx="0" cy="73152"/>
          </a:xfrm>
          <a:prstGeom prst="line">
            <a:avLst/>
          </a:prstGeom>
          <a:ln w="11430">
            <a:solidFill>
              <a:srgbClr val="24262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Support device lead"/>
          <p:cNvCxnSpPr/>
          <p:nvPr/>
        </p:nvCxnSpPr>
        <p:spPr>
          <a:xfrm>
            <a:off x="12330684" y="8796528"/>
            <a:ext cx="68580" cy="36576"/>
          </a:xfrm>
          <a:prstGeom prst="line">
            <a:avLst/>
          </a:prstGeom>
          <a:ln w="11430">
            <a:solidFill>
              <a:srgbClr val="24262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5" name="Case C follow-up note text"/>
          <p:cNvSpPr txBox="1"/>
          <p:nvPr/>
        </p:nvSpPr>
        <p:spPr>
          <a:xfrm>
            <a:off x="12536424" y="8430768"/>
            <a:ext cx="850392" cy="448056"/>
          </a:xfrm>
          <a:prstGeom prst="rect">
            <a:avLst/>
          </a:prstGeom>
          <a:noFill/>
          <a:effectLst/>
        </p:spPr>
        <p:txBody>
          <a:bodyPr wrap="square" lIns="9144" rIns="9144" tIns="9144" bIns="9144" anchor="ctr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42629"/>
                </a:solidFill>
                <a:latin typeface="Roboto Condensed"/>
              </a:rPr>
              <a:t>Support-device
difference
present</a:t>
            </a:r>
          </a:p>
        </p:txBody>
      </p:sp>
      <p:sp>
        <p:nvSpPr>
          <p:cNvPr id="186" name="Horizon bin label"/>
          <p:cNvSpPr/>
          <p:nvPr/>
        </p:nvSpPr>
        <p:spPr>
          <a:xfrm>
            <a:off x="5193792" y="6976872"/>
            <a:ext cx="1682496" cy="237744"/>
          </a:xfrm>
          <a:prstGeom prst="roundRect">
            <a:avLst>
              <a:gd name="adj" fmla="val 8000"/>
            </a:avLst>
          </a:prstGeom>
          <a:solidFill>
            <a:srgbClr val="EDF1F5"/>
          </a:solidFill>
          <a:ln w="10160">
            <a:solidFill>
              <a:srgbClr val="7297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Horizon bin label text"/>
          <p:cNvSpPr txBox="1"/>
          <p:nvPr/>
        </p:nvSpPr>
        <p:spPr>
          <a:xfrm>
            <a:off x="5212080" y="6986016"/>
            <a:ext cx="1645920" cy="210312"/>
          </a:xfrm>
          <a:prstGeom prst="rect">
            <a:avLst/>
          </a:prstGeom>
          <a:noFill/>
          <a:effectLst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>
                <a:solidFill>
                  <a:srgbClr val="0A2944"/>
                </a:solidFill>
                <a:latin typeface="Arial"/>
              </a:rPr>
              <a:t>Horizon bin (model context)</a:t>
            </a:r>
          </a:p>
        </p:txBody>
      </p:sp>
      <p:sp>
        <p:nvSpPr>
          <p:cNvPr id="188" name="Horizon bin value"/>
          <p:cNvSpPr txBox="1"/>
          <p:nvPr/>
        </p:nvSpPr>
        <p:spPr>
          <a:xfrm>
            <a:off x="5477256" y="7205472"/>
            <a:ext cx="1106424" cy="237744"/>
          </a:xfrm>
          <a:prstGeom prst="rect">
            <a:avLst/>
          </a:prstGeom>
          <a:noFill/>
          <a:effectLst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470" b="1">
                <a:solidFill>
                  <a:srgbClr val="0B4A76"/>
                </a:solidFill>
                <a:latin typeface="Arial"/>
              </a:rPr>
              <a:t>24–72 h</a:t>
            </a:r>
          </a:p>
        </p:txBody>
      </p:sp>
      <p:sp>
        <p:nvSpPr>
          <p:cNvPr id="189" name="Elapsed time label"/>
          <p:cNvSpPr txBox="1"/>
          <p:nvPr/>
        </p:nvSpPr>
        <p:spPr>
          <a:xfrm>
            <a:off x="7205472" y="6967728"/>
            <a:ext cx="1591056" cy="182880"/>
          </a:xfrm>
          <a:prstGeom prst="rect">
            <a:avLst/>
          </a:prstGeom>
          <a:noFill/>
          <a:effectLst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242629"/>
                </a:solidFill>
                <a:latin typeface="Arial"/>
              </a:rPr>
              <a:t>Exact elapsed time</a:t>
            </a:r>
          </a:p>
        </p:txBody>
      </p:sp>
      <p:sp>
        <p:nvSpPr>
          <p:cNvPr id="190" name="Elapsed time value"/>
          <p:cNvSpPr txBox="1"/>
          <p:nvPr/>
        </p:nvSpPr>
        <p:spPr>
          <a:xfrm>
            <a:off x="7406640" y="7150608"/>
            <a:ext cx="1188720" cy="219456"/>
          </a:xfrm>
          <a:prstGeom prst="rect">
            <a:avLst/>
          </a:prstGeom>
          <a:noFill/>
          <a:effectLst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242629"/>
                </a:solidFill>
                <a:latin typeface="Arial"/>
              </a:rPr>
              <a:t>50.5 h</a:t>
            </a:r>
          </a:p>
        </p:txBody>
      </p:sp>
      <p:sp>
        <p:nvSpPr>
          <p:cNvPr id="191" name="Elapsed time note"/>
          <p:cNvSpPr txBox="1"/>
          <p:nvPr/>
        </p:nvSpPr>
        <p:spPr>
          <a:xfrm>
            <a:off x="7223760" y="7360920"/>
            <a:ext cx="1554480" cy="164592"/>
          </a:xfrm>
          <a:prstGeom prst="rect">
            <a:avLst/>
          </a:prstGeom>
          <a:noFill/>
          <a:effectLst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242629"/>
                </a:solidFill>
                <a:latin typeface="Arial"/>
              </a:rPr>
              <a:t>(observed, not input)</a:t>
            </a:r>
          </a:p>
        </p:txBody>
      </p:sp>
      <p:sp>
        <p:nvSpPr>
          <p:cNvPr id="192" name="Retrospective context card"/>
          <p:cNvSpPr/>
          <p:nvPr/>
        </p:nvSpPr>
        <p:spPr>
          <a:xfrm>
            <a:off x="4901184" y="7708392"/>
            <a:ext cx="4114800" cy="1252728"/>
          </a:xfrm>
          <a:prstGeom prst="roundRect">
            <a:avLst>
              <a:gd name="adj" fmla="val 8000"/>
            </a:avLst>
          </a:prstGeom>
          <a:solidFill>
            <a:srgbClr val="EFF6F3"/>
          </a:solidFill>
          <a:ln w="10160">
            <a:solidFill>
              <a:srgbClr val="A8C5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trospective context heading"/>
          <p:cNvSpPr txBox="1"/>
          <p:nvPr/>
        </p:nvSpPr>
        <p:spPr>
          <a:xfrm>
            <a:off x="5029200" y="7781544"/>
            <a:ext cx="3858768" cy="201168"/>
          </a:xfrm>
          <a:prstGeom prst="rect">
            <a:avLst/>
          </a:prstGeom>
          <a:noFill/>
          <a:effectLst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969" b="1">
                <a:solidFill>
                  <a:srgbClr val="0B626A"/>
                </a:solidFill>
                <a:latin typeface="Arial"/>
              </a:rPr>
              <a:t>Linked retrospective context (MIMIC-IV) — not model input</a:t>
            </a:r>
          </a:p>
        </p:txBody>
      </p:sp>
      <p:sp>
        <p:nvSpPr>
          <p:cNvPr id="194" name="Ventilation monitor"/>
          <p:cNvSpPr/>
          <p:nvPr/>
        </p:nvSpPr>
        <p:spPr>
          <a:xfrm>
            <a:off x="5239512" y="8065008"/>
            <a:ext cx="283464" cy="201168"/>
          </a:xfrm>
          <a:prstGeom prst="roundRect">
            <a:avLst>
              <a:gd name="adj" fmla="val 8000"/>
            </a:avLst>
          </a:prstGeom>
          <a:noFill/>
          <a:ln w="12700">
            <a:solidFill>
              <a:srgbClr val="0A29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5" name="Monitor trace 1"/>
          <p:cNvCxnSpPr/>
          <p:nvPr/>
        </p:nvCxnSpPr>
        <p:spPr>
          <a:xfrm>
            <a:off x="5276088" y="8174736"/>
            <a:ext cx="45720" cy="0"/>
          </a:xfrm>
          <a:prstGeom prst="line">
            <a:avLst/>
          </a:prstGeom>
          <a:ln w="11430">
            <a:solidFill>
              <a:srgbClr val="0A29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Monitor trace 2"/>
          <p:cNvCxnSpPr/>
          <p:nvPr/>
        </p:nvCxnSpPr>
        <p:spPr>
          <a:xfrm flipV="1">
            <a:off x="5321808" y="8129016"/>
            <a:ext cx="27432" cy="45720"/>
          </a:xfrm>
          <a:prstGeom prst="line">
            <a:avLst/>
          </a:prstGeom>
          <a:ln w="11430">
            <a:solidFill>
              <a:srgbClr val="0A29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Monitor trace 3"/>
          <p:cNvCxnSpPr/>
          <p:nvPr/>
        </p:nvCxnSpPr>
        <p:spPr>
          <a:xfrm>
            <a:off x="5349240" y="8129016"/>
            <a:ext cx="36576" cy="82296"/>
          </a:xfrm>
          <a:prstGeom prst="line">
            <a:avLst/>
          </a:prstGeom>
          <a:ln w="11430">
            <a:solidFill>
              <a:srgbClr val="0A29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Monitor trace 4"/>
          <p:cNvCxnSpPr/>
          <p:nvPr/>
        </p:nvCxnSpPr>
        <p:spPr>
          <a:xfrm flipV="1">
            <a:off x="5385816" y="8156448"/>
            <a:ext cx="36576" cy="54864"/>
          </a:xfrm>
          <a:prstGeom prst="line">
            <a:avLst/>
          </a:prstGeom>
          <a:ln w="11430">
            <a:solidFill>
              <a:srgbClr val="0A29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Monitor trace 5"/>
          <p:cNvCxnSpPr/>
          <p:nvPr/>
        </p:nvCxnSpPr>
        <p:spPr>
          <a:xfrm>
            <a:off x="5422392" y="8156448"/>
            <a:ext cx="64008" cy="0"/>
          </a:xfrm>
          <a:prstGeom prst="line">
            <a:avLst/>
          </a:prstGeom>
          <a:ln w="11430">
            <a:solidFill>
              <a:srgbClr val="0A29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Monitor stand"/>
          <p:cNvCxnSpPr/>
          <p:nvPr/>
        </p:nvCxnSpPr>
        <p:spPr>
          <a:xfrm>
            <a:off x="5381244" y="8266175"/>
            <a:ext cx="0" cy="54865"/>
          </a:xfrm>
          <a:prstGeom prst="line">
            <a:avLst/>
          </a:prstGeom>
          <a:ln w="12700">
            <a:solidFill>
              <a:srgbClr val="0A29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Monitor base"/>
          <p:cNvCxnSpPr/>
          <p:nvPr/>
        </p:nvCxnSpPr>
        <p:spPr>
          <a:xfrm>
            <a:off x="5303520" y="8321040"/>
            <a:ext cx="155448" cy="0"/>
          </a:xfrm>
          <a:prstGeom prst="line">
            <a:avLst/>
          </a:prstGeom>
          <a:ln w="12700">
            <a:solidFill>
              <a:srgbClr val="0A29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2" name="Context label Ventilation"/>
          <p:cNvSpPr txBox="1"/>
          <p:nvPr/>
        </p:nvSpPr>
        <p:spPr>
          <a:xfrm>
            <a:off x="5010912" y="8348472"/>
            <a:ext cx="749808" cy="155448"/>
          </a:xfrm>
          <a:prstGeom prst="rect">
            <a:avLst/>
          </a:prstGeom>
          <a:noFill/>
          <a:effectLst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0B626A"/>
                </a:solidFill>
                <a:latin typeface="Arial"/>
              </a:rPr>
              <a:t>Ventilation</a:t>
            </a:r>
          </a:p>
        </p:txBody>
      </p:sp>
      <p:sp>
        <p:nvSpPr>
          <p:cNvPr id="203" name="Context detail Ventilation"/>
          <p:cNvSpPr txBox="1"/>
          <p:nvPr/>
        </p:nvSpPr>
        <p:spPr>
          <a:xfrm>
            <a:off x="5020056" y="8494776"/>
            <a:ext cx="731520" cy="283464"/>
          </a:xfrm>
          <a:prstGeom prst="rect">
            <a:avLst/>
          </a:prstGeom>
          <a:noFill/>
          <a:effectLst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70" b="0">
                <a:solidFill>
                  <a:srgbClr val="242629"/>
                </a:solidFill>
                <a:latin typeface="Arial"/>
              </a:rPr>
              <a:t>mechanical
ventilation</a:t>
            </a:r>
          </a:p>
        </p:txBody>
      </p:sp>
      <p:cxnSp>
        <p:nvCxnSpPr>
          <p:cNvPr id="204" name="Context divider"/>
          <p:cNvCxnSpPr/>
          <p:nvPr/>
        </p:nvCxnSpPr>
        <p:spPr>
          <a:xfrm>
            <a:off x="5779008" y="8083296"/>
            <a:ext cx="0" cy="758952"/>
          </a:xfrm>
          <a:prstGeom prst="line">
            <a:avLst/>
          </a:prstGeom>
          <a:ln w="8890">
            <a:solidFill>
              <a:srgbClr val="9DB6B6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" name="Imaging gantry"/>
          <p:cNvSpPr/>
          <p:nvPr/>
        </p:nvSpPr>
        <p:spPr>
          <a:xfrm>
            <a:off x="6062472" y="8065008"/>
            <a:ext cx="228600" cy="228600"/>
          </a:xfrm>
          <a:prstGeom prst="ellipse">
            <a:avLst/>
          </a:prstGeom>
          <a:noFill/>
          <a:ln w="12700">
            <a:solidFill>
              <a:srgbClr val="0A29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Imaging aperture"/>
          <p:cNvSpPr/>
          <p:nvPr/>
        </p:nvSpPr>
        <p:spPr>
          <a:xfrm>
            <a:off x="6108192" y="8110727"/>
            <a:ext cx="137160" cy="137160"/>
          </a:xfrm>
          <a:prstGeom prst="ellipse">
            <a:avLst/>
          </a:prstGeom>
          <a:noFill/>
          <a:ln w="10160">
            <a:solidFill>
              <a:srgbClr val="0A29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7" name="Imaging bed"/>
          <p:cNvCxnSpPr/>
          <p:nvPr/>
        </p:nvCxnSpPr>
        <p:spPr>
          <a:xfrm>
            <a:off x="6025896" y="8330183"/>
            <a:ext cx="256032" cy="0"/>
          </a:xfrm>
          <a:prstGeom prst="line">
            <a:avLst/>
          </a:prstGeom>
          <a:ln w="12700">
            <a:solidFill>
              <a:srgbClr val="0A29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Imaging bed incline"/>
          <p:cNvCxnSpPr/>
          <p:nvPr/>
        </p:nvCxnSpPr>
        <p:spPr>
          <a:xfrm flipH="1">
            <a:off x="6035040" y="8293608"/>
            <a:ext cx="36576" cy="36575"/>
          </a:xfrm>
          <a:prstGeom prst="line">
            <a:avLst/>
          </a:prstGeom>
          <a:ln w="12700">
            <a:solidFill>
              <a:srgbClr val="0A29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9" name="Context label Imaging"/>
          <p:cNvSpPr txBox="1"/>
          <p:nvPr/>
        </p:nvSpPr>
        <p:spPr>
          <a:xfrm>
            <a:off x="5797296" y="8348472"/>
            <a:ext cx="749808" cy="155448"/>
          </a:xfrm>
          <a:prstGeom prst="rect">
            <a:avLst/>
          </a:prstGeom>
          <a:noFill/>
          <a:effectLst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0B626A"/>
                </a:solidFill>
                <a:latin typeface="Arial"/>
              </a:rPr>
              <a:t>Imaging</a:t>
            </a:r>
          </a:p>
        </p:txBody>
      </p:sp>
      <p:sp>
        <p:nvSpPr>
          <p:cNvPr id="210" name="Context detail Imaging"/>
          <p:cNvSpPr txBox="1"/>
          <p:nvPr/>
        </p:nvSpPr>
        <p:spPr>
          <a:xfrm>
            <a:off x="5806440" y="8494776"/>
            <a:ext cx="731520" cy="283464"/>
          </a:xfrm>
          <a:prstGeom prst="rect">
            <a:avLst/>
          </a:prstGeom>
          <a:noFill/>
          <a:effectLst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70" b="0">
                <a:solidFill>
                  <a:srgbClr val="242629"/>
                </a:solidFill>
                <a:latin typeface="Arial"/>
              </a:rPr>
              <a:t>serial CXRs,
CT scans</a:t>
            </a:r>
          </a:p>
        </p:txBody>
      </p:sp>
      <p:cxnSp>
        <p:nvCxnSpPr>
          <p:cNvPr id="211" name="Context divider"/>
          <p:cNvCxnSpPr/>
          <p:nvPr/>
        </p:nvCxnSpPr>
        <p:spPr>
          <a:xfrm>
            <a:off x="6565392" y="8083296"/>
            <a:ext cx="0" cy="758952"/>
          </a:xfrm>
          <a:prstGeom prst="line">
            <a:avLst/>
          </a:prstGeom>
          <a:ln w="8890">
            <a:solidFill>
              <a:srgbClr val="9DB6B6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2" name="Culture dish"/>
          <p:cNvSpPr/>
          <p:nvPr/>
        </p:nvSpPr>
        <p:spPr>
          <a:xfrm>
            <a:off x="6830568" y="8074152"/>
            <a:ext cx="256032" cy="256032"/>
          </a:xfrm>
          <a:prstGeom prst="ellipse">
            <a:avLst/>
          </a:prstGeom>
          <a:noFill/>
          <a:ln w="12700">
            <a:solidFill>
              <a:srgbClr val="0A29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Culture colony"/>
          <p:cNvSpPr/>
          <p:nvPr/>
        </p:nvSpPr>
        <p:spPr>
          <a:xfrm>
            <a:off x="6885432" y="8138160"/>
            <a:ext cx="36576" cy="36576"/>
          </a:xfrm>
          <a:prstGeom prst="ellipse">
            <a:avLst/>
          </a:prstGeom>
          <a:solidFill>
            <a:srgbClr val="EFF6F3"/>
          </a:solidFill>
          <a:ln w="8890">
            <a:solidFill>
              <a:srgbClr val="0A29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Culture colony"/>
          <p:cNvSpPr/>
          <p:nvPr/>
        </p:nvSpPr>
        <p:spPr>
          <a:xfrm>
            <a:off x="6976872" y="8119872"/>
            <a:ext cx="27432" cy="27432"/>
          </a:xfrm>
          <a:prstGeom prst="ellipse">
            <a:avLst/>
          </a:prstGeom>
          <a:solidFill>
            <a:srgbClr val="EFF6F3"/>
          </a:solidFill>
          <a:ln w="8890">
            <a:solidFill>
              <a:srgbClr val="0A29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Culture colony"/>
          <p:cNvSpPr/>
          <p:nvPr/>
        </p:nvSpPr>
        <p:spPr>
          <a:xfrm>
            <a:off x="6940296" y="8220456"/>
            <a:ext cx="36576" cy="36576"/>
          </a:xfrm>
          <a:prstGeom prst="ellipse">
            <a:avLst/>
          </a:prstGeom>
          <a:solidFill>
            <a:srgbClr val="EFF6F3"/>
          </a:solidFill>
          <a:ln w="8890">
            <a:solidFill>
              <a:srgbClr val="0A29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Culture colony"/>
          <p:cNvSpPr/>
          <p:nvPr/>
        </p:nvSpPr>
        <p:spPr>
          <a:xfrm>
            <a:off x="7013448" y="8238744"/>
            <a:ext cx="27432" cy="27432"/>
          </a:xfrm>
          <a:prstGeom prst="ellipse">
            <a:avLst/>
          </a:prstGeom>
          <a:solidFill>
            <a:srgbClr val="EFF6F3"/>
          </a:solidFill>
          <a:ln w="8890">
            <a:solidFill>
              <a:srgbClr val="0A29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7" name="Culture swab"/>
          <p:cNvCxnSpPr/>
          <p:nvPr/>
        </p:nvCxnSpPr>
        <p:spPr>
          <a:xfrm flipV="1">
            <a:off x="6876288" y="8119872"/>
            <a:ext cx="164592" cy="164592"/>
          </a:xfrm>
          <a:prstGeom prst="line">
            <a:avLst/>
          </a:prstGeom>
          <a:ln w="10160">
            <a:solidFill>
              <a:srgbClr val="0A29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8" name="Context label Cultures"/>
          <p:cNvSpPr txBox="1"/>
          <p:nvPr/>
        </p:nvSpPr>
        <p:spPr>
          <a:xfrm>
            <a:off x="6583680" y="8348472"/>
            <a:ext cx="749808" cy="155448"/>
          </a:xfrm>
          <a:prstGeom prst="rect">
            <a:avLst/>
          </a:prstGeom>
          <a:noFill/>
          <a:effectLst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0B626A"/>
                </a:solidFill>
                <a:latin typeface="Arial"/>
              </a:rPr>
              <a:t>Cultures</a:t>
            </a:r>
          </a:p>
        </p:txBody>
      </p:sp>
      <p:sp>
        <p:nvSpPr>
          <p:cNvPr id="219" name="Context detail Cultures"/>
          <p:cNvSpPr txBox="1"/>
          <p:nvPr/>
        </p:nvSpPr>
        <p:spPr>
          <a:xfrm>
            <a:off x="6592824" y="8494776"/>
            <a:ext cx="731520" cy="283464"/>
          </a:xfrm>
          <a:prstGeom prst="rect">
            <a:avLst/>
          </a:prstGeom>
          <a:noFill/>
          <a:effectLst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70" b="0">
                <a:solidFill>
                  <a:srgbClr val="242629"/>
                </a:solidFill>
                <a:latin typeface="Arial"/>
              </a:rPr>
              <a:t>blood, sputum,
respiratory</a:t>
            </a:r>
          </a:p>
        </p:txBody>
      </p:sp>
      <p:cxnSp>
        <p:nvCxnSpPr>
          <p:cNvPr id="220" name="Context divider"/>
          <p:cNvCxnSpPr/>
          <p:nvPr/>
        </p:nvCxnSpPr>
        <p:spPr>
          <a:xfrm>
            <a:off x="7351775" y="8083296"/>
            <a:ext cx="0" cy="758952"/>
          </a:xfrm>
          <a:prstGeom prst="line">
            <a:avLst/>
          </a:prstGeom>
          <a:ln w="8890">
            <a:solidFill>
              <a:srgbClr val="9DB6B6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IV pole"/>
          <p:cNvCxnSpPr/>
          <p:nvPr/>
        </p:nvCxnSpPr>
        <p:spPr>
          <a:xfrm>
            <a:off x="7735824" y="8065008"/>
            <a:ext cx="0" cy="274319"/>
          </a:xfrm>
          <a:prstGeom prst="line">
            <a:avLst/>
          </a:prstGeom>
          <a:ln w="12700">
            <a:solidFill>
              <a:srgbClr val="0A29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IV hook"/>
          <p:cNvCxnSpPr/>
          <p:nvPr/>
        </p:nvCxnSpPr>
        <p:spPr>
          <a:xfrm>
            <a:off x="7690104" y="8074152"/>
            <a:ext cx="91440" cy="0"/>
          </a:xfrm>
          <a:prstGeom prst="line">
            <a:avLst/>
          </a:prstGeom>
          <a:ln w="12700">
            <a:solidFill>
              <a:srgbClr val="0A29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3" name="IV bag"/>
          <p:cNvSpPr/>
          <p:nvPr/>
        </p:nvSpPr>
        <p:spPr>
          <a:xfrm>
            <a:off x="7644383" y="8119872"/>
            <a:ext cx="137160" cy="164592"/>
          </a:xfrm>
          <a:prstGeom prst="roundRect">
            <a:avLst>
              <a:gd name="adj" fmla="val 8000"/>
            </a:avLst>
          </a:prstGeom>
          <a:noFill/>
          <a:ln w="12700">
            <a:solidFill>
              <a:srgbClr val="0A29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4" name="IV fluid"/>
          <p:cNvCxnSpPr/>
          <p:nvPr/>
        </p:nvCxnSpPr>
        <p:spPr>
          <a:xfrm>
            <a:off x="7671816" y="8165592"/>
            <a:ext cx="82296" cy="0"/>
          </a:xfrm>
          <a:prstGeom prst="line">
            <a:avLst/>
          </a:prstGeom>
          <a:ln w="8890">
            <a:solidFill>
              <a:srgbClr val="0A29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IV tube"/>
          <p:cNvCxnSpPr/>
          <p:nvPr/>
        </p:nvCxnSpPr>
        <p:spPr>
          <a:xfrm>
            <a:off x="7712964" y="8284464"/>
            <a:ext cx="0" cy="54863"/>
          </a:xfrm>
          <a:prstGeom prst="line">
            <a:avLst/>
          </a:prstGeom>
          <a:ln w="10160">
            <a:solidFill>
              <a:srgbClr val="0A29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6" name="IV connector"/>
          <p:cNvSpPr/>
          <p:nvPr/>
        </p:nvSpPr>
        <p:spPr>
          <a:xfrm>
            <a:off x="7699248" y="8330183"/>
            <a:ext cx="27432" cy="27432"/>
          </a:xfrm>
          <a:prstGeom prst="ellipse">
            <a:avLst/>
          </a:prstGeom>
          <a:noFill/>
          <a:ln w="8890">
            <a:solidFill>
              <a:srgbClr val="0A29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Context label Lines"/>
          <p:cNvSpPr txBox="1"/>
          <p:nvPr/>
        </p:nvSpPr>
        <p:spPr>
          <a:xfrm>
            <a:off x="7370064" y="8348472"/>
            <a:ext cx="749808" cy="155448"/>
          </a:xfrm>
          <a:prstGeom prst="rect">
            <a:avLst/>
          </a:prstGeom>
          <a:noFill/>
          <a:effectLst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0B626A"/>
                </a:solidFill>
                <a:latin typeface="Arial"/>
              </a:rPr>
              <a:t>Lines</a:t>
            </a:r>
          </a:p>
        </p:txBody>
      </p:sp>
      <p:sp>
        <p:nvSpPr>
          <p:cNvPr id="228" name="Context detail Lines"/>
          <p:cNvSpPr txBox="1"/>
          <p:nvPr/>
        </p:nvSpPr>
        <p:spPr>
          <a:xfrm>
            <a:off x="7379208" y="8494776"/>
            <a:ext cx="731520" cy="283464"/>
          </a:xfrm>
          <a:prstGeom prst="rect">
            <a:avLst/>
          </a:prstGeom>
          <a:noFill/>
          <a:effectLst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70" b="0">
                <a:solidFill>
                  <a:srgbClr val="242629"/>
                </a:solidFill>
                <a:latin typeface="Arial"/>
              </a:rPr>
              <a:t>central line,
PICC</a:t>
            </a:r>
          </a:p>
        </p:txBody>
      </p:sp>
      <p:cxnSp>
        <p:nvCxnSpPr>
          <p:cNvPr id="229" name="Context divider"/>
          <p:cNvCxnSpPr/>
          <p:nvPr/>
        </p:nvCxnSpPr>
        <p:spPr>
          <a:xfrm>
            <a:off x="8138160" y="8083296"/>
            <a:ext cx="0" cy="758952"/>
          </a:xfrm>
          <a:prstGeom prst="line">
            <a:avLst/>
          </a:prstGeom>
          <a:ln w="8890">
            <a:solidFill>
              <a:srgbClr val="9DB6B6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0" name="Medication cap"/>
          <p:cNvSpPr/>
          <p:nvPr/>
        </p:nvSpPr>
        <p:spPr>
          <a:xfrm>
            <a:off x="8458200" y="8065008"/>
            <a:ext cx="155448" cy="45720"/>
          </a:xfrm>
          <a:prstGeom prst="rect">
            <a:avLst/>
          </a:prstGeom>
          <a:noFill/>
          <a:ln w="11430">
            <a:solidFill>
              <a:srgbClr val="0A29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Medication vial"/>
          <p:cNvSpPr/>
          <p:nvPr/>
        </p:nvSpPr>
        <p:spPr>
          <a:xfrm>
            <a:off x="8439912" y="8110727"/>
            <a:ext cx="192024" cy="237744"/>
          </a:xfrm>
          <a:prstGeom prst="roundRect">
            <a:avLst>
              <a:gd name="adj" fmla="val 8000"/>
            </a:avLst>
          </a:prstGeom>
          <a:noFill/>
          <a:ln w="12700">
            <a:solidFill>
              <a:srgbClr val="0A29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Medication label"/>
          <p:cNvSpPr/>
          <p:nvPr/>
        </p:nvSpPr>
        <p:spPr>
          <a:xfrm>
            <a:off x="8476488" y="8202168"/>
            <a:ext cx="118872" cy="73152"/>
          </a:xfrm>
          <a:prstGeom prst="rect">
            <a:avLst/>
          </a:prstGeom>
          <a:solidFill>
            <a:srgbClr val="0B626A"/>
          </a:solidFill>
          <a:ln w="6350">
            <a:solidFill>
              <a:srgbClr val="0B62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Context label IV medications"/>
          <p:cNvSpPr txBox="1"/>
          <p:nvPr/>
        </p:nvSpPr>
        <p:spPr>
          <a:xfrm>
            <a:off x="8156448" y="8348472"/>
            <a:ext cx="749808" cy="155448"/>
          </a:xfrm>
          <a:prstGeom prst="rect">
            <a:avLst/>
          </a:prstGeom>
          <a:noFill/>
          <a:effectLst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0B626A"/>
                </a:solidFill>
                <a:latin typeface="Arial"/>
              </a:rPr>
              <a:t>IV medications</a:t>
            </a:r>
          </a:p>
        </p:txBody>
      </p:sp>
      <p:sp>
        <p:nvSpPr>
          <p:cNvPr id="234" name="Context detail IV medications"/>
          <p:cNvSpPr txBox="1"/>
          <p:nvPr/>
        </p:nvSpPr>
        <p:spPr>
          <a:xfrm>
            <a:off x="8165592" y="8494776"/>
            <a:ext cx="731520" cy="283464"/>
          </a:xfrm>
          <a:prstGeom prst="rect">
            <a:avLst/>
          </a:prstGeom>
          <a:noFill/>
          <a:effectLst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70" b="0">
                <a:solidFill>
                  <a:srgbClr val="242629"/>
                </a:solidFill>
                <a:latin typeface="Arial"/>
              </a:rPr>
              <a:t>broad-spectrum
antibiotics</a:t>
            </a:r>
          </a:p>
        </p:txBody>
      </p:sp>
      <p:sp>
        <p:nvSpPr>
          <p:cNvPr id="235" name="Case C audit note"/>
          <p:cNvSpPr/>
          <p:nvPr/>
        </p:nvSpPr>
        <p:spPr>
          <a:xfrm>
            <a:off x="4901184" y="8997696"/>
            <a:ext cx="4114800" cy="228600"/>
          </a:xfrm>
          <a:prstGeom prst="roundRect">
            <a:avLst>
              <a:gd name="adj" fmla="val 8000"/>
            </a:avLst>
          </a:prstGeom>
          <a:solidFill>
            <a:srgbClr val="FBF7EE"/>
          </a:solidFill>
          <a:ln w="8890">
            <a:solidFill>
              <a:srgbClr val="E2D1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Audit eye upper"/>
          <p:cNvSpPr/>
          <p:nvPr/>
        </p:nvSpPr>
        <p:spPr>
          <a:xfrm>
            <a:off x="4992624" y="9052560"/>
            <a:ext cx="182880" cy="109728"/>
          </a:xfrm>
          <a:prstGeom prst="arc">
            <a:avLst/>
          </a:prstGeom>
          <a:noFill/>
          <a:ln w="11430">
            <a:solidFill>
              <a:srgbClr val="2426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Audit eye lower"/>
          <p:cNvSpPr/>
          <p:nvPr/>
        </p:nvSpPr>
        <p:spPr>
          <a:xfrm rot="10800000">
            <a:off x="4992624" y="9052560"/>
            <a:ext cx="182880" cy="109728"/>
          </a:xfrm>
          <a:prstGeom prst="arc">
            <a:avLst/>
          </a:prstGeom>
          <a:noFill/>
          <a:ln w="11430">
            <a:solidFill>
              <a:srgbClr val="2426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Audit eye iris"/>
          <p:cNvSpPr/>
          <p:nvPr/>
        </p:nvSpPr>
        <p:spPr>
          <a:xfrm>
            <a:off x="5065776" y="9089136"/>
            <a:ext cx="36576" cy="36576"/>
          </a:xfrm>
          <a:prstGeom prst="ellipse">
            <a:avLst/>
          </a:prstGeom>
          <a:solidFill>
            <a:srgbClr val="242629"/>
          </a:solidFill>
          <a:ln w="6350">
            <a:solidFill>
              <a:srgbClr val="2426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Case C audit note text"/>
          <p:cNvSpPr txBox="1"/>
          <p:nvPr/>
        </p:nvSpPr>
        <p:spPr>
          <a:xfrm>
            <a:off x="5230368" y="9025128"/>
            <a:ext cx="3657600" cy="173736"/>
          </a:xfrm>
          <a:prstGeom prst="rect">
            <a:avLst/>
          </a:prstGeom>
          <a:noFill/>
          <a:effectLst/>
        </p:spPr>
        <p:txBody>
          <a:bodyPr wrap="square" lIns="9144" rIns="9144" tIns="9144" bIns="9144" anchor="ctr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770" b="0">
                <a:solidFill>
                  <a:srgbClr val="242629"/>
                </a:solidFill>
                <a:latin typeface="Arial"/>
              </a:rPr>
              <a:t>These records are retrospective audit context for the interval, not causal.</a:t>
            </a:r>
          </a:p>
        </p:txBody>
      </p:sp>
      <p:cxnSp>
        <p:nvCxnSpPr>
          <p:cNvPr id="240" name="Case A separator"/>
          <p:cNvCxnSpPr/>
          <p:nvPr/>
        </p:nvCxnSpPr>
        <p:spPr>
          <a:xfrm>
            <a:off x="155448" y="4151376"/>
            <a:ext cx="13331952" cy="0"/>
          </a:xfrm>
          <a:prstGeom prst="line">
            <a:avLst/>
          </a:prstGeom>
          <a:ln w="10160">
            <a:solidFill>
              <a:srgbClr val="B8C9CC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" name="Case B separator"/>
          <p:cNvCxnSpPr/>
          <p:nvPr/>
        </p:nvCxnSpPr>
        <p:spPr>
          <a:xfrm>
            <a:off x="155448" y="6665976"/>
            <a:ext cx="13331952" cy="0"/>
          </a:xfrm>
          <a:prstGeom prst="line">
            <a:avLst/>
          </a:prstGeom>
          <a:ln w="10160">
            <a:solidFill>
              <a:srgbClr val="B8C9CC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2" name="Scientific boundary footer"/>
          <p:cNvSpPr/>
          <p:nvPr/>
        </p:nvSpPr>
        <p:spPr>
          <a:xfrm>
            <a:off x="594360" y="9217152"/>
            <a:ext cx="12563856" cy="356616"/>
          </a:xfrm>
          <a:prstGeom prst="roundRect">
            <a:avLst>
              <a:gd name="adj" fmla="val 8000"/>
            </a:avLst>
          </a:prstGeom>
          <a:solidFill>
            <a:srgbClr val="FBF7EC"/>
          </a:solidFill>
          <a:ln w="8890">
            <a:solidFill>
              <a:srgbClr val="E2D1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3" name="Balance stem"/>
          <p:cNvCxnSpPr/>
          <p:nvPr/>
        </p:nvCxnSpPr>
        <p:spPr>
          <a:xfrm>
            <a:off x="896112" y="9290304"/>
            <a:ext cx="0" cy="210312"/>
          </a:xfrm>
          <a:prstGeom prst="line">
            <a:avLst/>
          </a:prstGeom>
          <a:ln w="12700">
            <a:solidFill>
              <a:srgbClr val="9A825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4" name="Balance beam"/>
          <p:cNvCxnSpPr/>
          <p:nvPr/>
        </p:nvCxnSpPr>
        <p:spPr>
          <a:xfrm>
            <a:off x="795528" y="9336024"/>
            <a:ext cx="201168" cy="0"/>
          </a:xfrm>
          <a:prstGeom prst="line">
            <a:avLst/>
          </a:prstGeom>
          <a:ln w="12700">
            <a:solidFill>
              <a:srgbClr val="9A825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" name="Balance left cord"/>
          <p:cNvCxnSpPr/>
          <p:nvPr/>
        </p:nvCxnSpPr>
        <p:spPr>
          <a:xfrm flipH="1">
            <a:off x="768096" y="9336024"/>
            <a:ext cx="36576" cy="100584"/>
          </a:xfrm>
          <a:prstGeom prst="line">
            <a:avLst/>
          </a:prstGeom>
          <a:ln w="10160">
            <a:solidFill>
              <a:srgbClr val="9A825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Balance left cord 2"/>
          <p:cNvCxnSpPr/>
          <p:nvPr/>
        </p:nvCxnSpPr>
        <p:spPr>
          <a:xfrm>
            <a:off x="804672" y="9336024"/>
            <a:ext cx="36576" cy="100584"/>
          </a:xfrm>
          <a:prstGeom prst="line">
            <a:avLst/>
          </a:prstGeom>
          <a:ln w="10160">
            <a:solidFill>
              <a:srgbClr val="9A825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Balance right cord"/>
          <p:cNvCxnSpPr/>
          <p:nvPr/>
        </p:nvCxnSpPr>
        <p:spPr>
          <a:xfrm flipH="1">
            <a:off x="950976" y="9336024"/>
            <a:ext cx="36576" cy="100584"/>
          </a:xfrm>
          <a:prstGeom prst="line">
            <a:avLst/>
          </a:prstGeom>
          <a:ln w="10160">
            <a:solidFill>
              <a:srgbClr val="9A825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" name="Balance right cord 2"/>
          <p:cNvCxnSpPr/>
          <p:nvPr/>
        </p:nvCxnSpPr>
        <p:spPr>
          <a:xfrm>
            <a:off x="987552" y="9336024"/>
            <a:ext cx="36576" cy="100584"/>
          </a:xfrm>
          <a:prstGeom prst="line">
            <a:avLst/>
          </a:prstGeom>
          <a:ln w="10160">
            <a:solidFill>
              <a:srgbClr val="9A825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" name="Balance left pan"/>
          <p:cNvCxnSpPr/>
          <p:nvPr/>
        </p:nvCxnSpPr>
        <p:spPr>
          <a:xfrm>
            <a:off x="758952" y="9436608"/>
            <a:ext cx="91440" cy="0"/>
          </a:xfrm>
          <a:prstGeom prst="line">
            <a:avLst/>
          </a:prstGeom>
          <a:ln w="12700">
            <a:solidFill>
              <a:srgbClr val="9A825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Balance right pan"/>
          <p:cNvCxnSpPr/>
          <p:nvPr/>
        </p:nvCxnSpPr>
        <p:spPr>
          <a:xfrm>
            <a:off x="941832" y="9436608"/>
            <a:ext cx="91439" cy="0"/>
          </a:xfrm>
          <a:prstGeom prst="line">
            <a:avLst/>
          </a:prstGeom>
          <a:ln w="12700">
            <a:solidFill>
              <a:srgbClr val="9A825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Balance base"/>
          <p:cNvCxnSpPr/>
          <p:nvPr/>
        </p:nvCxnSpPr>
        <p:spPr>
          <a:xfrm>
            <a:off x="822960" y="9500616"/>
            <a:ext cx="146304" cy="0"/>
          </a:xfrm>
          <a:prstGeom prst="line">
            <a:avLst/>
          </a:prstGeom>
          <a:ln w="12700">
            <a:solidFill>
              <a:srgbClr val="9A825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2" name="Scientific boundary footer text"/>
          <p:cNvSpPr txBox="1"/>
          <p:nvPr/>
        </p:nvSpPr>
        <p:spPr>
          <a:xfrm>
            <a:off x="1124712" y="9262872"/>
            <a:ext cx="11795760" cy="256032"/>
          </a:xfrm>
          <a:prstGeom prst="rect">
            <a:avLst/>
          </a:prstGeom>
          <a:noFill/>
          <a:effectLst/>
        </p:spPr>
        <p:txBody>
          <a:bodyPr wrap="square" lIns="9144" rIns="9144" tIns="9144" bIns="9144" anchor="ctr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>
                <a:solidFill>
                  <a:srgbClr val="242629"/>
                </a:solidFill>
                <a:latin typeface="Arial"/>
              </a:rPr>
              <a:t>Each follow-up is one observed future, not the only possible future. Report-derived findings are weak evaluation labels. Post-current clinical events are retrospective and non-causal.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Representative longitudinal MIMIC trajectories</dc:title>
  <dc:subject>Editable appendix figure for MedWorld-JEPA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