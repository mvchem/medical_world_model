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203363" cy="64230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 snapToObjects="1">
      <p:cViewPr>
        <p:scale>
          <a:sx n="76" d="100"/>
          <a:sy n="76" d="100"/>
        </p:scale>
        <p:origin x="1512" y="9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rrent observations encoding"/>
          <p:cNvSpPr/>
          <p:nvPr/>
        </p:nvSpPr>
        <p:spPr>
          <a:xfrm>
            <a:off x="76200" y="434340"/>
            <a:ext cx="9083040" cy="2400300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647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abel: Current observations, t"/>
          <p:cNvSpPr txBox="1"/>
          <p:nvPr/>
        </p:nvSpPr>
        <p:spPr>
          <a:xfrm>
            <a:off x="220980" y="441960"/>
            <a:ext cx="227838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Comic Sans MS"/>
              </a:rPr>
              <a:t>Current observations, t</a:t>
            </a:r>
          </a:p>
        </p:txBody>
      </p:sp>
      <p:sp>
        <p:nvSpPr>
          <p:cNvPr id="6" name="Label: Image"/>
          <p:cNvSpPr txBox="1"/>
          <p:nvPr/>
        </p:nvSpPr>
        <p:spPr>
          <a:xfrm>
            <a:off x="472440" y="754380"/>
            <a:ext cx="76200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Image</a:t>
            </a:r>
          </a:p>
        </p:txBody>
      </p:sp>
      <p:pic>
        <p:nvPicPr>
          <p:cNvPr id="7" name="Current chest radiograp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990599"/>
            <a:ext cx="1028700" cy="861060"/>
          </a:xfrm>
          <a:prstGeom prst="rect">
            <a:avLst/>
          </a:prstGeom>
        </p:spPr>
      </p:pic>
      <p:sp>
        <p:nvSpPr>
          <p:cNvPr id="8" name="V-JEPA encoder"/>
          <p:cNvSpPr/>
          <p:nvPr/>
        </p:nvSpPr>
        <p:spPr>
          <a:xfrm rot="5400000">
            <a:off x="1417320" y="922020"/>
            <a:ext cx="990599" cy="868680"/>
          </a:xfrm>
          <a:prstGeom prst="trapezoid">
            <a:avLst>
              <a:gd name="adj" fmla="val 30000"/>
            </a:avLst>
          </a:prstGeom>
          <a:solidFill>
            <a:srgbClr val="BBDDFA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abel: V-JEPA / encoder"/>
          <p:cNvSpPr txBox="1"/>
          <p:nvPr/>
        </p:nvSpPr>
        <p:spPr>
          <a:xfrm>
            <a:off x="1546860" y="1127760"/>
            <a:ext cx="739140" cy="5105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0" name="Visual feature"/>
          <p:cNvSpPr/>
          <p:nvPr/>
        </p:nvSpPr>
        <p:spPr>
          <a:xfrm>
            <a:off x="2606040" y="118872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Visual feature"/>
          <p:cNvSpPr/>
          <p:nvPr/>
        </p:nvSpPr>
        <p:spPr>
          <a:xfrm>
            <a:off x="2750820" y="118872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Visual feature"/>
          <p:cNvSpPr/>
          <p:nvPr/>
        </p:nvSpPr>
        <p:spPr>
          <a:xfrm>
            <a:off x="2895600" y="118872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Visual feature"/>
          <p:cNvSpPr/>
          <p:nvPr/>
        </p:nvSpPr>
        <p:spPr>
          <a:xfrm>
            <a:off x="2606040" y="133350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Visual feature"/>
          <p:cNvSpPr/>
          <p:nvPr/>
        </p:nvSpPr>
        <p:spPr>
          <a:xfrm>
            <a:off x="2750820" y="133350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Visual feature"/>
          <p:cNvSpPr/>
          <p:nvPr/>
        </p:nvSpPr>
        <p:spPr>
          <a:xfrm>
            <a:off x="2895600" y="133350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Visual feature"/>
          <p:cNvSpPr/>
          <p:nvPr/>
        </p:nvSpPr>
        <p:spPr>
          <a:xfrm>
            <a:off x="2606040" y="147828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Visual feature"/>
          <p:cNvSpPr/>
          <p:nvPr/>
        </p:nvSpPr>
        <p:spPr>
          <a:xfrm>
            <a:off x="2750820" y="147828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Visual feature"/>
          <p:cNvSpPr/>
          <p:nvPr/>
        </p:nvSpPr>
        <p:spPr>
          <a:xfrm>
            <a:off x="2895600" y="147828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Equation: Dt"/>
          <p:cNvSpPr txBox="1"/>
          <p:nvPr/>
        </p:nvSpPr>
        <p:spPr>
          <a:xfrm>
            <a:off x="2682240" y="883920"/>
            <a:ext cx="495299" cy="281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80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680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20" name="Visual adapter"/>
          <p:cNvSpPr/>
          <p:nvPr/>
        </p:nvSpPr>
        <p:spPr>
          <a:xfrm>
            <a:off x="3246120" y="1089660"/>
            <a:ext cx="800100" cy="5715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FFDE6"/>
              </a:gs>
              <a:gs pos="100000">
                <a:srgbClr val="F9F9CB"/>
              </a:gs>
            </a:gsLst>
            <a:lin ang="16200000" scaled="0"/>
          </a:gradFill>
          <a:ln w="15240">
            <a:solidFill>
              <a:srgbClr val="514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abel: Visual / adapter"/>
          <p:cNvSpPr txBox="1"/>
          <p:nvPr/>
        </p:nvSpPr>
        <p:spPr>
          <a:xfrm>
            <a:off x="3291840" y="1135380"/>
            <a:ext cx="708660" cy="4800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22" name="Current report"/>
          <p:cNvSpPr/>
          <p:nvPr/>
        </p:nvSpPr>
        <p:spPr>
          <a:xfrm>
            <a:off x="213360" y="1973580"/>
            <a:ext cx="1440180" cy="71628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9EF"/>
              </a:gs>
              <a:gs pos="100000">
                <a:srgbClr val="FFF0D9"/>
              </a:gs>
            </a:gsLst>
            <a:lin ang="16200000" scaled="0"/>
          </a:gradFill>
          <a:ln w="12700">
            <a:solidFill>
              <a:srgbClr val="725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abel: Report"/>
          <p:cNvSpPr txBox="1"/>
          <p:nvPr/>
        </p:nvSpPr>
        <p:spPr>
          <a:xfrm>
            <a:off x="350520" y="2004060"/>
            <a:ext cx="127254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1717"/>
                </a:solidFill>
                <a:latin typeface="Comic Sans MS"/>
              </a:rPr>
              <a:t>Report</a:t>
            </a:r>
          </a:p>
        </p:txBody>
      </p:sp>
      <p:sp>
        <p:nvSpPr>
          <p:cNvPr id="24" name="Report page"/>
          <p:cNvSpPr/>
          <p:nvPr/>
        </p:nvSpPr>
        <p:spPr>
          <a:xfrm>
            <a:off x="365760" y="2263140"/>
            <a:ext cx="251460" cy="335280"/>
          </a:xfrm>
          <a:custGeom>
            <a:avLst/>
            <a:gdLst/>
            <a:ahLst/>
            <a:cxnLst/>
            <a:rect l="l" t="t" r="r" b="b"/>
            <a:pathLst>
              <a:path w="33" h="44">
                <a:moveTo>
                  <a:pt x="0" y="0"/>
                </a:moveTo>
                <a:lnTo>
                  <a:pt x="23" y="0"/>
                </a:lnTo>
                <a:lnTo>
                  <a:pt x="33" y="10"/>
                </a:lnTo>
                <a:lnTo>
                  <a:pt x="3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FFF9EB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ion"/>
          <p:cNvCxnSpPr/>
          <p:nvPr/>
        </p:nvCxnSpPr>
        <p:spPr>
          <a:xfrm>
            <a:off x="541020" y="2263140"/>
            <a:ext cx="0" cy="7620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ion"/>
          <p:cNvCxnSpPr/>
          <p:nvPr/>
        </p:nvCxnSpPr>
        <p:spPr>
          <a:xfrm>
            <a:off x="541020" y="2339340"/>
            <a:ext cx="76200" cy="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ion"/>
          <p:cNvCxnSpPr/>
          <p:nvPr/>
        </p:nvCxnSpPr>
        <p:spPr>
          <a:xfrm>
            <a:off x="411480" y="2385060"/>
            <a:ext cx="152400" cy="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ion"/>
          <p:cNvCxnSpPr/>
          <p:nvPr/>
        </p:nvCxnSpPr>
        <p:spPr>
          <a:xfrm>
            <a:off x="411480" y="2446020"/>
            <a:ext cx="152400" cy="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ion"/>
          <p:cNvCxnSpPr/>
          <p:nvPr/>
        </p:nvCxnSpPr>
        <p:spPr>
          <a:xfrm>
            <a:off x="411480" y="2506980"/>
            <a:ext cx="152400" cy="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Label: Findings: … / Impression: …"/>
          <p:cNvSpPr txBox="1"/>
          <p:nvPr/>
        </p:nvSpPr>
        <p:spPr>
          <a:xfrm>
            <a:off x="769620" y="2225040"/>
            <a:ext cx="8382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717"/>
                </a:solidFill>
                <a:latin typeface="Arial"/>
              </a:rPr>
              <a:t>Findings: …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717"/>
                </a:solidFill>
                <a:latin typeface="Arial"/>
              </a:rPr>
              <a:t>Impression: …</a:t>
            </a:r>
          </a:p>
        </p:txBody>
      </p:sp>
      <p:sp>
        <p:nvSpPr>
          <p:cNvPr id="31" name="Tokenizer + embedding"/>
          <p:cNvSpPr/>
          <p:nvPr/>
        </p:nvSpPr>
        <p:spPr>
          <a:xfrm>
            <a:off x="1965960" y="2080260"/>
            <a:ext cx="998219" cy="51054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FFFDE6"/>
              </a:gs>
              <a:gs pos="100000">
                <a:srgbClr val="F9F9CB"/>
              </a:gs>
            </a:gsLst>
            <a:lin ang="16200000" scaled="0"/>
          </a:gradFill>
          <a:ln w="15240">
            <a:solidFill>
              <a:srgbClr val="514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Label: Tokenizer + / embedding"/>
          <p:cNvSpPr txBox="1"/>
          <p:nvPr/>
        </p:nvSpPr>
        <p:spPr>
          <a:xfrm>
            <a:off x="2026920" y="2125980"/>
            <a:ext cx="876300" cy="411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33" name="Report text token"/>
          <p:cNvSpPr/>
          <p:nvPr/>
        </p:nvSpPr>
        <p:spPr>
          <a:xfrm>
            <a:off x="3230880" y="223266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0D0CF"/>
              </a:gs>
              <a:gs pos="100000">
                <a:srgbClr val="BABABA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port text token"/>
          <p:cNvSpPr/>
          <p:nvPr/>
        </p:nvSpPr>
        <p:spPr>
          <a:xfrm>
            <a:off x="3429000" y="223266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0D0CF"/>
              </a:gs>
              <a:gs pos="100000">
                <a:srgbClr val="BABABA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port text token"/>
          <p:cNvSpPr/>
          <p:nvPr/>
        </p:nvSpPr>
        <p:spPr>
          <a:xfrm>
            <a:off x="3627120" y="223266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0D0CF"/>
              </a:gs>
              <a:gs pos="100000">
                <a:srgbClr val="BABABA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Label: Text tokens"/>
          <p:cNvSpPr txBox="1"/>
          <p:nvPr/>
        </p:nvSpPr>
        <p:spPr>
          <a:xfrm>
            <a:off x="3200400" y="2430780"/>
            <a:ext cx="777240" cy="2438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37" name="VLM"/>
          <p:cNvSpPr/>
          <p:nvPr/>
        </p:nvSpPr>
        <p:spPr>
          <a:xfrm>
            <a:off x="4274820" y="944880"/>
            <a:ext cx="3063240" cy="157734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0CFEF"/>
              </a:gs>
              <a:gs pos="100000">
                <a:srgbClr val="E5BCE8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Label: VLM"/>
          <p:cNvSpPr txBox="1"/>
          <p:nvPr/>
        </p:nvSpPr>
        <p:spPr>
          <a:xfrm>
            <a:off x="5410200" y="990599"/>
            <a:ext cx="6096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39" name="Label: LoRA"/>
          <p:cNvSpPr txBox="1"/>
          <p:nvPr/>
        </p:nvSpPr>
        <p:spPr>
          <a:xfrm>
            <a:off x="6819900" y="1013460"/>
            <a:ext cx="44958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Arial"/>
              </a:rPr>
              <a:t>LoRA</a:t>
            </a:r>
          </a:p>
        </p:txBody>
      </p:sp>
      <p:sp>
        <p:nvSpPr>
          <p:cNvPr id="40" name="VLM input tokens"/>
          <p:cNvSpPr/>
          <p:nvPr/>
        </p:nvSpPr>
        <p:spPr>
          <a:xfrm>
            <a:off x="4358640" y="1318260"/>
            <a:ext cx="2895600" cy="579120"/>
          </a:xfrm>
          <a:prstGeom prst="roundRect">
            <a:avLst>
              <a:gd name="adj" fmla="val 14000"/>
            </a:avLst>
          </a:prstGeom>
          <a:solidFill>
            <a:srgbClr val="FFFBEF"/>
          </a:solidFill>
          <a:ln w="12700">
            <a:solidFill>
              <a:srgbClr val="963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Label: Visual tokens"/>
          <p:cNvSpPr txBox="1"/>
          <p:nvPr/>
        </p:nvSpPr>
        <p:spPr>
          <a:xfrm>
            <a:off x="4427220" y="1371600"/>
            <a:ext cx="75438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1717"/>
                </a:solidFill>
                <a:latin typeface="Comic Sans MS"/>
              </a:rPr>
              <a:t>Visual tokens</a:t>
            </a:r>
          </a:p>
        </p:txBody>
      </p:sp>
      <p:sp>
        <p:nvSpPr>
          <p:cNvPr id="42" name="Label: Text tokens"/>
          <p:cNvSpPr txBox="1"/>
          <p:nvPr/>
        </p:nvSpPr>
        <p:spPr>
          <a:xfrm>
            <a:off x="5295900" y="1371600"/>
            <a:ext cx="73152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43" name="Label: Learned slots"/>
          <p:cNvSpPr txBox="1"/>
          <p:nvPr/>
        </p:nvSpPr>
        <p:spPr>
          <a:xfrm>
            <a:off x="6339840" y="1371600"/>
            <a:ext cx="82296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1717"/>
                </a:solidFill>
                <a:latin typeface="Comic Sans MS"/>
              </a:rPr>
              <a:t>Learned slots</a:t>
            </a:r>
          </a:p>
        </p:txBody>
      </p:sp>
      <p:sp>
        <p:nvSpPr>
          <p:cNvPr id="44" name="VLM visual token"/>
          <p:cNvSpPr/>
          <p:nvPr/>
        </p:nvSpPr>
        <p:spPr>
          <a:xfrm>
            <a:off x="4465320" y="1623060"/>
            <a:ext cx="152400" cy="1752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4D9FA"/>
              </a:gs>
              <a:gs pos="100000">
                <a:srgbClr val="75B6EC"/>
              </a:gs>
            </a:gsLst>
            <a:lin ang="16200000" scaled="0"/>
          </a:gradFill>
          <a:ln w="12700">
            <a:solidFill>
              <a:srgbClr val="285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VLM text token"/>
          <p:cNvSpPr/>
          <p:nvPr/>
        </p:nvSpPr>
        <p:spPr>
          <a:xfrm>
            <a:off x="5257800" y="161544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1D1CF"/>
              </a:gs>
              <a:gs pos="100000">
                <a:srgbClr val="B9B9B9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VLM visual token"/>
          <p:cNvSpPr/>
          <p:nvPr/>
        </p:nvSpPr>
        <p:spPr>
          <a:xfrm>
            <a:off x="4655820" y="1623060"/>
            <a:ext cx="152400" cy="1752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4D9FA"/>
              </a:gs>
              <a:gs pos="100000">
                <a:srgbClr val="75B6EC"/>
              </a:gs>
            </a:gsLst>
            <a:lin ang="16200000" scaled="0"/>
          </a:gradFill>
          <a:ln w="12700">
            <a:solidFill>
              <a:srgbClr val="285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VLM text token"/>
          <p:cNvSpPr/>
          <p:nvPr/>
        </p:nvSpPr>
        <p:spPr>
          <a:xfrm>
            <a:off x="5448300" y="161544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1D1CF"/>
              </a:gs>
              <a:gs pos="100000">
                <a:srgbClr val="B9B9B9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VLM visual token"/>
          <p:cNvSpPr/>
          <p:nvPr/>
        </p:nvSpPr>
        <p:spPr>
          <a:xfrm>
            <a:off x="4846320" y="1623060"/>
            <a:ext cx="152400" cy="1752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4D9FA"/>
              </a:gs>
              <a:gs pos="100000">
                <a:srgbClr val="75B6EC"/>
              </a:gs>
            </a:gsLst>
            <a:lin ang="16200000" scaled="0"/>
          </a:gradFill>
          <a:ln w="12700">
            <a:solidFill>
              <a:srgbClr val="285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VLM text token"/>
          <p:cNvSpPr/>
          <p:nvPr/>
        </p:nvSpPr>
        <p:spPr>
          <a:xfrm>
            <a:off x="5638800" y="161544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1D1CF"/>
              </a:gs>
              <a:gs pos="100000">
                <a:srgbClr val="B9B9B9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Label: …"/>
          <p:cNvSpPr txBox="1"/>
          <p:nvPr/>
        </p:nvSpPr>
        <p:spPr>
          <a:xfrm>
            <a:off x="5036820" y="1592580"/>
            <a:ext cx="1905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51" name="Label: …"/>
          <p:cNvSpPr txBox="1"/>
          <p:nvPr/>
        </p:nvSpPr>
        <p:spPr>
          <a:xfrm>
            <a:off x="5829300" y="1592580"/>
            <a:ext cx="1905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52" name="Learned state slot"/>
          <p:cNvSpPr/>
          <p:nvPr/>
        </p:nvSpPr>
        <p:spPr>
          <a:xfrm>
            <a:off x="6073140" y="16078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Learned state slot"/>
          <p:cNvSpPr/>
          <p:nvPr/>
        </p:nvSpPr>
        <p:spPr>
          <a:xfrm>
            <a:off x="6229350" y="16078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Learned state slot"/>
          <p:cNvSpPr/>
          <p:nvPr/>
        </p:nvSpPr>
        <p:spPr>
          <a:xfrm>
            <a:off x="6385560" y="16078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earned state slot"/>
          <p:cNvSpPr/>
          <p:nvPr/>
        </p:nvSpPr>
        <p:spPr>
          <a:xfrm>
            <a:off x="6541770" y="16078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Learned state slot"/>
          <p:cNvSpPr/>
          <p:nvPr/>
        </p:nvSpPr>
        <p:spPr>
          <a:xfrm>
            <a:off x="6697980" y="16078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Label: …"/>
          <p:cNvSpPr txBox="1"/>
          <p:nvPr/>
        </p:nvSpPr>
        <p:spPr>
          <a:xfrm>
            <a:off x="6850380" y="1600200"/>
            <a:ext cx="17526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58" name="Learned state slot"/>
          <p:cNvSpPr/>
          <p:nvPr/>
        </p:nvSpPr>
        <p:spPr>
          <a:xfrm>
            <a:off x="7040880" y="16078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ransformer block"/>
          <p:cNvSpPr/>
          <p:nvPr/>
        </p:nvSpPr>
        <p:spPr>
          <a:xfrm>
            <a:off x="5113020" y="1981199"/>
            <a:ext cx="152400" cy="44196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FFFFEC"/>
              </a:gs>
              <a:gs pos="100000">
                <a:srgbClr val="F3F5BF"/>
              </a:gs>
            </a:gsLst>
            <a:lin ang="16200000" scaled="0"/>
          </a:gradFill>
          <a:ln w="1524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ransformer block"/>
          <p:cNvSpPr/>
          <p:nvPr/>
        </p:nvSpPr>
        <p:spPr>
          <a:xfrm>
            <a:off x="5364480" y="1981199"/>
            <a:ext cx="152400" cy="44196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FFFFEC"/>
              </a:gs>
              <a:gs pos="100000">
                <a:srgbClr val="F3F5BF"/>
              </a:gs>
            </a:gsLst>
            <a:lin ang="16200000" scaled="0"/>
          </a:gradFill>
          <a:ln w="1524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Label: …"/>
          <p:cNvSpPr txBox="1"/>
          <p:nvPr/>
        </p:nvSpPr>
        <p:spPr>
          <a:xfrm>
            <a:off x="5676900" y="2072640"/>
            <a:ext cx="243840" cy="259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62" name="Label: Transformer"/>
          <p:cNvSpPr txBox="1"/>
          <p:nvPr/>
        </p:nvSpPr>
        <p:spPr>
          <a:xfrm>
            <a:off x="5996940" y="2095499"/>
            <a:ext cx="937259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63" name="Current state"/>
          <p:cNvSpPr/>
          <p:nvPr/>
        </p:nvSpPr>
        <p:spPr>
          <a:xfrm>
            <a:off x="7627620" y="792480"/>
            <a:ext cx="1424940" cy="1859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61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Label: Current state"/>
          <p:cNvSpPr txBox="1"/>
          <p:nvPr/>
        </p:nvSpPr>
        <p:spPr>
          <a:xfrm>
            <a:off x="7703820" y="838200"/>
            <a:ext cx="100584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Comic Sans MS"/>
              </a:rPr>
              <a:t>Current state</a:t>
            </a:r>
          </a:p>
        </p:txBody>
      </p:sp>
      <p:sp>
        <p:nvSpPr>
          <p:cNvPr id="65" name="Equation: Rt"/>
          <p:cNvSpPr txBox="1"/>
          <p:nvPr/>
        </p:nvSpPr>
        <p:spPr>
          <a:xfrm>
            <a:off x="8740140" y="822960"/>
            <a:ext cx="3124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R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66" name="Image state panel"/>
          <p:cNvSpPr/>
          <p:nvPr/>
        </p:nvSpPr>
        <p:spPr>
          <a:xfrm>
            <a:off x="7719060" y="1135380"/>
            <a:ext cx="1242060" cy="60960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E7F3FF"/>
              </a:gs>
              <a:gs pos="100000">
                <a:srgbClr val="CCE5FE"/>
              </a:gs>
            </a:gsLst>
            <a:lin ang="16200000" scaled="0"/>
          </a:gradFill>
          <a:ln w="11430">
            <a:solidFill>
              <a:srgbClr val="78A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Equation: Dt"/>
          <p:cNvSpPr txBox="1"/>
          <p:nvPr/>
        </p:nvSpPr>
        <p:spPr>
          <a:xfrm>
            <a:off x="7795260" y="1203960"/>
            <a:ext cx="50292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68" name="Visual feature"/>
          <p:cNvSpPr/>
          <p:nvPr/>
        </p:nvSpPr>
        <p:spPr>
          <a:xfrm>
            <a:off x="8183879" y="120396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Visual feature"/>
          <p:cNvSpPr/>
          <p:nvPr/>
        </p:nvSpPr>
        <p:spPr>
          <a:xfrm>
            <a:off x="8351520" y="120396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Visual feature"/>
          <p:cNvSpPr/>
          <p:nvPr/>
        </p:nvSpPr>
        <p:spPr>
          <a:xfrm>
            <a:off x="8519160" y="120396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Visual feature"/>
          <p:cNvSpPr/>
          <p:nvPr/>
        </p:nvSpPr>
        <p:spPr>
          <a:xfrm>
            <a:off x="8183879" y="137160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Visual feature"/>
          <p:cNvSpPr/>
          <p:nvPr/>
        </p:nvSpPr>
        <p:spPr>
          <a:xfrm>
            <a:off x="8351520" y="137160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Visual feature"/>
          <p:cNvSpPr/>
          <p:nvPr/>
        </p:nvSpPr>
        <p:spPr>
          <a:xfrm>
            <a:off x="8519160" y="137160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Visual feature"/>
          <p:cNvSpPr/>
          <p:nvPr/>
        </p:nvSpPr>
        <p:spPr>
          <a:xfrm>
            <a:off x="8183879" y="153924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Visual feature"/>
          <p:cNvSpPr/>
          <p:nvPr/>
        </p:nvSpPr>
        <p:spPr>
          <a:xfrm>
            <a:off x="8351520" y="153924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Visual feature"/>
          <p:cNvSpPr/>
          <p:nvPr/>
        </p:nvSpPr>
        <p:spPr>
          <a:xfrm>
            <a:off x="8519160" y="153924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Label: …"/>
          <p:cNvSpPr txBox="1"/>
          <p:nvPr/>
        </p:nvSpPr>
        <p:spPr>
          <a:xfrm>
            <a:off x="8663940" y="1310640"/>
            <a:ext cx="25908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78" name="Semantic state panel"/>
          <p:cNvSpPr/>
          <p:nvPr/>
        </p:nvSpPr>
        <p:spPr>
          <a:xfrm>
            <a:off x="7719060" y="1813560"/>
            <a:ext cx="1242060" cy="46482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FDF0F8"/>
              </a:gs>
              <a:gs pos="100000">
                <a:srgbClr val="F5D7EB"/>
              </a:gs>
            </a:gsLst>
            <a:lin ang="16200000" scaled="0"/>
          </a:gradFill>
          <a:ln w="11430">
            <a:solidFill>
              <a:srgbClr val="D48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Equation: Ŝt"/>
          <p:cNvSpPr txBox="1"/>
          <p:nvPr/>
        </p:nvSpPr>
        <p:spPr>
          <a:xfrm>
            <a:off x="7795260" y="1851660"/>
            <a:ext cx="54102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Ŝ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80" name="Learned state slot"/>
          <p:cNvSpPr/>
          <p:nvPr/>
        </p:nvSpPr>
        <p:spPr>
          <a:xfrm>
            <a:off x="8122920" y="1950720"/>
            <a:ext cx="129540" cy="1905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Learned state slot"/>
          <p:cNvSpPr/>
          <p:nvPr/>
        </p:nvSpPr>
        <p:spPr>
          <a:xfrm>
            <a:off x="8298179" y="1950720"/>
            <a:ext cx="129540" cy="1905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Learned state slot"/>
          <p:cNvSpPr/>
          <p:nvPr/>
        </p:nvSpPr>
        <p:spPr>
          <a:xfrm>
            <a:off x="8473440" y="1950720"/>
            <a:ext cx="129540" cy="1905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Label: …"/>
          <p:cNvSpPr txBox="1"/>
          <p:nvPr/>
        </p:nvSpPr>
        <p:spPr>
          <a:xfrm>
            <a:off x="8663940" y="1935480"/>
            <a:ext cx="25908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84" name="Equation: Rt = [Dt; St]"/>
          <p:cNvSpPr txBox="1"/>
          <p:nvPr/>
        </p:nvSpPr>
        <p:spPr>
          <a:xfrm>
            <a:off x="7871459" y="2301240"/>
            <a:ext cx="1310640" cy="327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i="1">
                <a:solidFill>
                  <a:srgbClr val="171717"/>
                </a:solidFill>
                <a:latin typeface="Times New Roman"/>
              </a:rPr>
              <a:t>R</a:t>
            </a:r>
            <a:r>
              <a:rPr sz="1500" i="1" baseline="-25000">
                <a:solidFill>
                  <a:srgbClr val="171717"/>
                </a:solidFill>
                <a:latin typeface="Times New Roman"/>
              </a:rPr>
              <a:t>t</a:t>
            </a:r>
            <a:r>
              <a:rPr sz="1500" i="1">
                <a:solidFill>
                  <a:srgbClr val="171717"/>
                </a:solidFill>
                <a:latin typeface="Times New Roman"/>
              </a:rPr>
              <a:t> = [D</a:t>
            </a:r>
            <a:r>
              <a:rPr sz="1500" i="1" baseline="-25000">
                <a:solidFill>
                  <a:srgbClr val="171717"/>
                </a:solidFill>
                <a:latin typeface="Times New Roman"/>
              </a:rPr>
              <a:t>t</a:t>
            </a:r>
            <a:r>
              <a:rPr sz="1500" i="1">
                <a:solidFill>
                  <a:srgbClr val="171717"/>
                </a:solidFill>
                <a:latin typeface="Times New Roman"/>
              </a:rPr>
              <a:t>; S</a:t>
            </a:r>
            <a:r>
              <a:rPr sz="1500" i="1" baseline="-25000">
                <a:solidFill>
                  <a:srgbClr val="171717"/>
                </a:solidFill>
                <a:latin typeface="Times New Roman"/>
              </a:rPr>
              <a:t>t</a:t>
            </a:r>
            <a:r>
              <a:rPr sz="1500" i="1">
                <a:solidFill>
                  <a:srgbClr val="171717"/>
                </a:solidFill>
                <a:latin typeface="Times New Roman"/>
              </a:rPr>
              <a:t>]</a:t>
            </a:r>
          </a:p>
        </p:txBody>
      </p:sp>
      <p:cxnSp>
        <p:nvCxnSpPr>
          <p:cNvPr id="85" name="Image to encoder"/>
          <p:cNvCxnSpPr/>
          <p:nvPr/>
        </p:nvCxnSpPr>
        <p:spPr>
          <a:xfrm>
            <a:off x="1249680" y="1371600"/>
            <a:ext cx="22860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ncoder to image features"/>
          <p:cNvCxnSpPr/>
          <p:nvPr/>
        </p:nvCxnSpPr>
        <p:spPr>
          <a:xfrm>
            <a:off x="2346960" y="1371600"/>
            <a:ext cx="23622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Image features to adapter"/>
          <p:cNvCxnSpPr/>
          <p:nvPr/>
        </p:nvCxnSpPr>
        <p:spPr>
          <a:xfrm>
            <a:off x="3017520" y="1371600"/>
            <a:ext cx="22860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Visual input to VLM"/>
          <p:cNvCxnSpPr/>
          <p:nvPr/>
        </p:nvCxnSpPr>
        <p:spPr>
          <a:xfrm>
            <a:off x="4046220" y="1371600"/>
            <a:ext cx="22860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eport to tokenizer"/>
          <p:cNvCxnSpPr/>
          <p:nvPr/>
        </p:nvCxnSpPr>
        <p:spPr>
          <a:xfrm>
            <a:off x="1653540" y="2331720"/>
            <a:ext cx="31242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Tokenizer to text tokens"/>
          <p:cNvCxnSpPr/>
          <p:nvPr/>
        </p:nvCxnSpPr>
        <p:spPr>
          <a:xfrm>
            <a:off x="2964180" y="2331720"/>
            <a:ext cx="23622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Text input to VLM"/>
          <p:cNvCxnSpPr/>
          <p:nvPr/>
        </p:nvCxnSpPr>
        <p:spPr>
          <a:xfrm>
            <a:off x="3810000" y="2331720"/>
            <a:ext cx="228600" cy="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Text input to VLM"/>
          <p:cNvCxnSpPr/>
          <p:nvPr/>
        </p:nvCxnSpPr>
        <p:spPr>
          <a:xfrm flipV="1">
            <a:off x="4038600" y="2118360"/>
            <a:ext cx="0" cy="21336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Text input to VLM"/>
          <p:cNvCxnSpPr/>
          <p:nvPr/>
        </p:nvCxnSpPr>
        <p:spPr>
          <a:xfrm>
            <a:off x="4038600" y="2118360"/>
            <a:ext cx="23622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VLM to multimodal state"/>
          <p:cNvCxnSpPr/>
          <p:nvPr/>
        </p:nvCxnSpPr>
        <p:spPr>
          <a:xfrm>
            <a:off x="7338060" y="1752600"/>
            <a:ext cx="28956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bserved future encoding"/>
          <p:cNvSpPr/>
          <p:nvPr/>
        </p:nvSpPr>
        <p:spPr>
          <a:xfrm>
            <a:off x="76200" y="3048000"/>
            <a:ext cx="9083040" cy="2430780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647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Label: Observed future, t⁺"/>
          <p:cNvSpPr txBox="1"/>
          <p:nvPr/>
        </p:nvSpPr>
        <p:spPr>
          <a:xfrm>
            <a:off x="220980" y="3055620"/>
            <a:ext cx="196596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Comic Sans MS"/>
              </a:rPr>
              <a:t>Observed future, t⁺</a:t>
            </a:r>
          </a:p>
        </p:txBody>
      </p:sp>
      <p:sp>
        <p:nvSpPr>
          <p:cNvPr id="97" name="Label: Training target"/>
          <p:cNvSpPr txBox="1"/>
          <p:nvPr/>
        </p:nvSpPr>
        <p:spPr>
          <a:xfrm>
            <a:off x="2217420" y="3093720"/>
            <a:ext cx="121920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1717"/>
                </a:solidFill>
                <a:latin typeface="Comic Sans MS"/>
              </a:rPr>
              <a:t>Training target</a:t>
            </a:r>
          </a:p>
        </p:txBody>
      </p:sp>
      <p:sp>
        <p:nvSpPr>
          <p:cNvPr id="98" name="Label: Follow-up image"/>
          <p:cNvSpPr txBox="1"/>
          <p:nvPr/>
        </p:nvSpPr>
        <p:spPr>
          <a:xfrm>
            <a:off x="228600" y="3398520"/>
            <a:ext cx="129540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image</a:t>
            </a:r>
          </a:p>
        </p:txBody>
      </p:sp>
      <p:pic>
        <p:nvPicPr>
          <p:cNvPr id="99" name="Follow-up chest radi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3634740"/>
            <a:ext cx="1028700" cy="861060"/>
          </a:xfrm>
          <a:prstGeom prst="rect">
            <a:avLst/>
          </a:prstGeom>
        </p:spPr>
      </p:pic>
      <p:sp>
        <p:nvSpPr>
          <p:cNvPr id="100" name="V-JEPA encoder"/>
          <p:cNvSpPr/>
          <p:nvPr/>
        </p:nvSpPr>
        <p:spPr>
          <a:xfrm rot="5400000">
            <a:off x="1417320" y="3558540"/>
            <a:ext cx="990599" cy="868680"/>
          </a:xfrm>
          <a:prstGeom prst="trapezoid">
            <a:avLst>
              <a:gd name="adj" fmla="val 30000"/>
            </a:avLst>
          </a:prstGeom>
          <a:solidFill>
            <a:srgbClr val="BBDDFA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Label: V-JEPA / encoder"/>
          <p:cNvSpPr txBox="1"/>
          <p:nvPr/>
        </p:nvSpPr>
        <p:spPr>
          <a:xfrm>
            <a:off x="1546860" y="3764279"/>
            <a:ext cx="739140" cy="5105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02" name="Visual feature"/>
          <p:cNvSpPr/>
          <p:nvPr/>
        </p:nvSpPr>
        <p:spPr>
          <a:xfrm>
            <a:off x="2606040" y="382524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Visual feature"/>
          <p:cNvSpPr/>
          <p:nvPr/>
        </p:nvSpPr>
        <p:spPr>
          <a:xfrm>
            <a:off x="2750820" y="382524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Visual feature"/>
          <p:cNvSpPr/>
          <p:nvPr/>
        </p:nvSpPr>
        <p:spPr>
          <a:xfrm>
            <a:off x="2895600" y="382524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Visual feature"/>
          <p:cNvSpPr/>
          <p:nvPr/>
        </p:nvSpPr>
        <p:spPr>
          <a:xfrm>
            <a:off x="2606040" y="397002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Visual feature"/>
          <p:cNvSpPr/>
          <p:nvPr/>
        </p:nvSpPr>
        <p:spPr>
          <a:xfrm>
            <a:off x="2750820" y="397002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Visual feature"/>
          <p:cNvSpPr/>
          <p:nvPr/>
        </p:nvSpPr>
        <p:spPr>
          <a:xfrm>
            <a:off x="2895600" y="397002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Visual feature"/>
          <p:cNvSpPr/>
          <p:nvPr/>
        </p:nvSpPr>
        <p:spPr>
          <a:xfrm>
            <a:off x="2606040" y="411480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Visual feature"/>
          <p:cNvSpPr/>
          <p:nvPr/>
        </p:nvSpPr>
        <p:spPr>
          <a:xfrm>
            <a:off x="2750820" y="411480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Visual feature"/>
          <p:cNvSpPr/>
          <p:nvPr/>
        </p:nvSpPr>
        <p:spPr>
          <a:xfrm>
            <a:off x="2895600" y="4114800"/>
            <a:ext cx="121920" cy="12192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Equation: D*t+"/>
          <p:cNvSpPr txBox="1"/>
          <p:nvPr/>
        </p:nvSpPr>
        <p:spPr>
          <a:xfrm>
            <a:off x="2613660" y="3520440"/>
            <a:ext cx="495299" cy="281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80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68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680" i="1" baseline="-25000">
                <a:solidFill>
                  <a:srgbClr val="171717"/>
                </a:solidFill>
                <a:latin typeface="Times New Roman"/>
              </a:rPr>
              <a:t>t+</a:t>
            </a:r>
          </a:p>
        </p:txBody>
      </p:sp>
      <p:sp>
        <p:nvSpPr>
          <p:cNvPr id="112" name="Visual adapter"/>
          <p:cNvSpPr/>
          <p:nvPr/>
        </p:nvSpPr>
        <p:spPr>
          <a:xfrm>
            <a:off x="3246120" y="3733799"/>
            <a:ext cx="800100" cy="5715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FFDE6"/>
              </a:gs>
              <a:gs pos="100000">
                <a:srgbClr val="F9F9CB"/>
              </a:gs>
            </a:gsLst>
            <a:lin ang="16200000" scaled="0"/>
          </a:gradFill>
          <a:ln w="15240">
            <a:solidFill>
              <a:srgbClr val="514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Label: Visual / adapter"/>
          <p:cNvSpPr txBox="1"/>
          <p:nvPr/>
        </p:nvSpPr>
        <p:spPr>
          <a:xfrm>
            <a:off x="3291840" y="3779520"/>
            <a:ext cx="708660" cy="4800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114" name="Follow-up report"/>
          <p:cNvSpPr/>
          <p:nvPr/>
        </p:nvSpPr>
        <p:spPr>
          <a:xfrm>
            <a:off x="213360" y="4617720"/>
            <a:ext cx="1440180" cy="71628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FF9EF"/>
              </a:gs>
              <a:gs pos="100000">
                <a:srgbClr val="FFF0D9"/>
              </a:gs>
            </a:gsLst>
            <a:lin ang="16200000" scaled="0"/>
          </a:gradFill>
          <a:ln w="12700">
            <a:solidFill>
              <a:srgbClr val="725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Label: Follow-up report"/>
          <p:cNvSpPr txBox="1"/>
          <p:nvPr/>
        </p:nvSpPr>
        <p:spPr>
          <a:xfrm>
            <a:off x="350520" y="4648200"/>
            <a:ext cx="127254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1717"/>
                </a:solidFill>
                <a:latin typeface="Comic Sans MS"/>
              </a:rPr>
              <a:t>Follow-up report</a:t>
            </a:r>
          </a:p>
        </p:txBody>
      </p:sp>
      <p:sp>
        <p:nvSpPr>
          <p:cNvPr id="116" name="Report page"/>
          <p:cNvSpPr/>
          <p:nvPr/>
        </p:nvSpPr>
        <p:spPr>
          <a:xfrm>
            <a:off x="365760" y="4907280"/>
            <a:ext cx="251460" cy="335280"/>
          </a:xfrm>
          <a:custGeom>
            <a:avLst/>
            <a:gdLst/>
            <a:ahLst/>
            <a:cxnLst/>
            <a:rect l="l" t="t" r="r" b="b"/>
            <a:pathLst>
              <a:path w="33" h="44">
                <a:moveTo>
                  <a:pt x="0" y="0"/>
                </a:moveTo>
                <a:lnTo>
                  <a:pt x="23" y="0"/>
                </a:lnTo>
                <a:lnTo>
                  <a:pt x="33" y="10"/>
                </a:lnTo>
                <a:lnTo>
                  <a:pt x="3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FFF9EB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" name="Connection"/>
          <p:cNvCxnSpPr/>
          <p:nvPr/>
        </p:nvCxnSpPr>
        <p:spPr>
          <a:xfrm>
            <a:off x="541020" y="4907280"/>
            <a:ext cx="0" cy="7620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ion"/>
          <p:cNvCxnSpPr/>
          <p:nvPr/>
        </p:nvCxnSpPr>
        <p:spPr>
          <a:xfrm>
            <a:off x="541020" y="4983480"/>
            <a:ext cx="76200" cy="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ion"/>
          <p:cNvCxnSpPr/>
          <p:nvPr/>
        </p:nvCxnSpPr>
        <p:spPr>
          <a:xfrm>
            <a:off x="411480" y="5029200"/>
            <a:ext cx="152400" cy="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ion"/>
          <p:cNvCxnSpPr/>
          <p:nvPr/>
        </p:nvCxnSpPr>
        <p:spPr>
          <a:xfrm>
            <a:off x="411480" y="5090160"/>
            <a:ext cx="152400" cy="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ion"/>
          <p:cNvCxnSpPr/>
          <p:nvPr/>
        </p:nvCxnSpPr>
        <p:spPr>
          <a:xfrm>
            <a:off x="411480" y="5151120"/>
            <a:ext cx="152400" cy="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Label: Findings: … / Impression: …"/>
          <p:cNvSpPr txBox="1"/>
          <p:nvPr/>
        </p:nvSpPr>
        <p:spPr>
          <a:xfrm>
            <a:off x="769620" y="4869180"/>
            <a:ext cx="8382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717"/>
                </a:solidFill>
                <a:latin typeface="Arial"/>
              </a:rPr>
              <a:t>Findings: …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717"/>
                </a:solidFill>
                <a:latin typeface="Arial"/>
              </a:rPr>
              <a:t>Impression: …</a:t>
            </a:r>
          </a:p>
        </p:txBody>
      </p:sp>
      <p:sp>
        <p:nvSpPr>
          <p:cNvPr id="123" name="Tokenizer + embedding"/>
          <p:cNvSpPr/>
          <p:nvPr/>
        </p:nvSpPr>
        <p:spPr>
          <a:xfrm>
            <a:off x="1965960" y="4724400"/>
            <a:ext cx="998219" cy="51054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FFFDE6"/>
              </a:gs>
              <a:gs pos="100000">
                <a:srgbClr val="F9F9CB"/>
              </a:gs>
            </a:gsLst>
            <a:lin ang="16200000" scaled="0"/>
          </a:gradFill>
          <a:ln w="15240">
            <a:solidFill>
              <a:srgbClr val="514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Label: Tokenizer + / embedding"/>
          <p:cNvSpPr txBox="1"/>
          <p:nvPr/>
        </p:nvSpPr>
        <p:spPr>
          <a:xfrm>
            <a:off x="2026920" y="4770120"/>
            <a:ext cx="876300" cy="411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125" name="Report text token"/>
          <p:cNvSpPr/>
          <p:nvPr/>
        </p:nvSpPr>
        <p:spPr>
          <a:xfrm>
            <a:off x="3230880" y="487680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0D0CF"/>
              </a:gs>
              <a:gs pos="100000">
                <a:srgbClr val="BABABA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port text token"/>
          <p:cNvSpPr/>
          <p:nvPr/>
        </p:nvSpPr>
        <p:spPr>
          <a:xfrm>
            <a:off x="3429000" y="487680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0D0CF"/>
              </a:gs>
              <a:gs pos="100000">
                <a:srgbClr val="BABABA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port text token"/>
          <p:cNvSpPr/>
          <p:nvPr/>
        </p:nvSpPr>
        <p:spPr>
          <a:xfrm>
            <a:off x="3627120" y="487680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0D0CF"/>
              </a:gs>
              <a:gs pos="100000">
                <a:srgbClr val="BABABA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Label: Text tokens"/>
          <p:cNvSpPr txBox="1"/>
          <p:nvPr/>
        </p:nvSpPr>
        <p:spPr>
          <a:xfrm>
            <a:off x="3200400" y="5074920"/>
            <a:ext cx="777240" cy="2438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129" name="VLM"/>
          <p:cNvSpPr/>
          <p:nvPr/>
        </p:nvSpPr>
        <p:spPr>
          <a:xfrm>
            <a:off x="4274820" y="3573780"/>
            <a:ext cx="3063240" cy="1577340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F0CFEF"/>
              </a:gs>
              <a:gs pos="100000">
                <a:srgbClr val="E5BCE8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Label: VLM"/>
          <p:cNvSpPr txBox="1"/>
          <p:nvPr/>
        </p:nvSpPr>
        <p:spPr>
          <a:xfrm>
            <a:off x="5410200" y="3619500"/>
            <a:ext cx="60960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131" name="Label: LoRA"/>
          <p:cNvSpPr txBox="1"/>
          <p:nvPr/>
        </p:nvSpPr>
        <p:spPr>
          <a:xfrm>
            <a:off x="6819900" y="3642360"/>
            <a:ext cx="44958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Arial"/>
              </a:rPr>
              <a:t>LoRA</a:t>
            </a:r>
          </a:p>
        </p:txBody>
      </p:sp>
      <p:sp>
        <p:nvSpPr>
          <p:cNvPr id="132" name="VLM input tokens"/>
          <p:cNvSpPr/>
          <p:nvPr/>
        </p:nvSpPr>
        <p:spPr>
          <a:xfrm>
            <a:off x="4358640" y="3947160"/>
            <a:ext cx="2895600" cy="579120"/>
          </a:xfrm>
          <a:prstGeom prst="roundRect">
            <a:avLst>
              <a:gd name="adj" fmla="val 14000"/>
            </a:avLst>
          </a:prstGeom>
          <a:solidFill>
            <a:srgbClr val="FFFBEF"/>
          </a:solidFill>
          <a:ln w="12700">
            <a:solidFill>
              <a:srgbClr val="963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Label: Visual tokens"/>
          <p:cNvSpPr txBox="1"/>
          <p:nvPr/>
        </p:nvSpPr>
        <p:spPr>
          <a:xfrm>
            <a:off x="4427220" y="4000500"/>
            <a:ext cx="75438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1717"/>
                </a:solidFill>
                <a:latin typeface="Comic Sans MS"/>
              </a:rPr>
              <a:t>Visual tokens</a:t>
            </a:r>
          </a:p>
        </p:txBody>
      </p:sp>
      <p:sp>
        <p:nvSpPr>
          <p:cNvPr id="134" name="Label: Text tokens"/>
          <p:cNvSpPr txBox="1"/>
          <p:nvPr/>
        </p:nvSpPr>
        <p:spPr>
          <a:xfrm>
            <a:off x="5295900" y="4000500"/>
            <a:ext cx="73152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135" name="Label: Learned slots"/>
          <p:cNvSpPr txBox="1"/>
          <p:nvPr/>
        </p:nvSpPr>
        <p:spPr>
          <a:xfrm>
            <a:off x="6339840" y="4000500"/>
            <a:ext cx="82296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71717"/>
                </a:solidFill>
                <a:latin typeface="Comic Sans MS"/>
              </a:rPr>
              <a:t>Learned slots</a:t>
            </a:r>
          </a:p>
        </p:txBody>
      </p:sp>
      <p:sp>
        <p:nvSpPr>
          <p:cNvPr id="136" name="VLM visual token"/>
          <p:cNvSpPr/>
          <p:nvPr/>
        </p:nvSpPr>
        <p:spPr>
          <a:xfrm>
            <a:off x="4465320" y="4251960"/>
            <a:ext cx="152400" cy="1752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4D9FA"/>
              </a:gs>
              <a:gs pos="100000">
                <a:srgbClr val="75B6EC"/>
              </a:gs>
            </a:gsLst>
            <a:lin ang="16200000" scaled="0"/>
          </a:gradFill>
          <a:ln w="12700">
            <a:solidFill>
              <a:srgbClr val="285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VLM text token"/>
          <p:cNvSpPr/>
          <p:nvPr/>
        </p:nvSpPr>
        <p:spPr>
          <a:xfrm>
            <a:off x="5257800" y="424434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1D1CF"/>
              </a:gs>
              <a:gs pos="100000">
                <a:srgbClr val="B9B9B9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VLM visual token"/>
          <p:cNvSpPr/>
          <p:nvPr/>
        </p:nvSpPr>
        <p:spPr>
          <a:xfrm>
            <a:off x="4655820" y="4251960"/>
            <a:ext cx="152400" cy="1752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4D9FA"/>
              </a:gs>
              <a:gs pos="100000">
                <a:srgbClr val="75B6EC"/>
              </a:gs>
            </a:gsLst>
            <a:lin ang="16200000" scaled="0"/>
          </a:gradFill>
          <a:ln w="12700">
            <a:solidFill>
              <a:srgbClr val="285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VLM text token"/>
          <p:cNvSpPr/>
          <p:nvPr/>
        </p:nvSpPr>
        <p:spPr>
          <a:xfrm>
            <a:off x="5448300" y="424434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1D1CF"/>
              </a:gs>
              <a:gs pos="100000">
                <a:srgbClr val="B9B9B9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VLM visual token"/>
          <p:cNvSpPr/>
          <p:nvPr/>
        </p:nvSpPr>
        <p:spPr>
          <a:xfrm>
            <a:off x="4846320" y="4251960"/>
            <a:ext cx="152400" cy="1752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4D9FA"/>
              </a:gs>
              <a:gs pos="100000">
                <a:srgbClr val="75B6EC"/>
              </a:gs>
            </a:gsLst>
            <a:lin ang="16200000" scaled="0"/>
          </a:gradFill>
          <a:ln w="12700">
            <a:solidFill>
              <a:srgbClr val="285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VLM text token"/>
          <p:cNvSpPr/>
          <p:nvPr/>
        </p:nvSpPr>
        <p:spPr>
          <a:xfrm>
            <a:off x="5638800" y="4244340"/>
            <a:ext cx="152400" cy="1828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D1D1CF"/>
              </a:gs>
              <a:gs pos="100000">
                <a:srgbClr val="B9B9B9"/>
              </a:gs>
            </a:gsLst>
            <a:lin ang="16200000" scaled="0"/>
          </a:gra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Label: …"/>
          <p:cNvSpPr txBox="1"/>
          <p:nvPr/>
        </p:nvSpPr>
        <p:spPr>
          <a:xfrm>
            <a:off x="5036820" y="4221480"/>
            <a:ext cx="1905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143" name="Label: …"/>
          <p:cNvSpPr txBox="1"/>
          <p:nvPr/>
        </p:nvSpPr>
        <p:spPr>
          <a:xfrm>
            <a:off x="5829300" y="4221480"/>
            <a:ext cx="1905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144" name="Learned state slot"/>
          <p:cNvSpPr/>
          <p:nvPr/>
        </p:nvSpPr>
        <p:spPr>
          <a:xfrm>
            <a:off x="6073140" y="42367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Learned state slot"/>
          <p:cNvSpPr/>
          <p:nvPr/>
        </p:nvSpPr>
        <p:spPr>
          <a:xfrm>
            <a:off x="6229350" y="42367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Learned state slot"/>
          <p:cNvSpPr/>
          <p:nvPr/>
        </p:nvSpPr>
        <p:spPr>
          <a:xfrm>
            <a:off x="6385560" y="42367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Learned state slot"/>
          <p:cNvSpPr/>
          <p:nvPr/>
        </p:nvSpPr>
        <p:spPr>
          <a:xfrm>
            <a:off x="6541770" y="42367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Learned state slot"/>
          <p:cNvSpPr/>
          <p:nvPr/>
        </p:nvSpPr>
        <p:spPr>
          <a:xfrm>
            <a:off x="6697980" y="42367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Label: …"/>
          <p:cNvSpPr txBox="1"/>
          <p:nvPr/>
        </p:nvSpPr>
        <p:spPr>
          <a:xfrm>
            <a:off x="6850380" y="4229100"/>
            <a:ext cx="17526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150" name="Learned state slot"/>
          <p:cNvSpPr/>
          <p:nvPr/>
        </p:nvSpPr>
        <p:spPr>
          <a:xfrm>
            <a:off x="7040880" y="4236720"/>
            <a:ext cx="114300" cy="1828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ransformer block"/>
          <p:cNvSpPr/>
          <p:nvPr/>
        </p:nvSpPr>
        <p:spPr>
          <a:xfrm>
            <a:off x="5113020" y="4610100"/>
            <a:ext cx="152400" cy="44196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FFFFEC"/>
              </a:gs>
              <a:gs pos="100000">
                <a:srgbClr val="F3F5BF"/>
              </a:gs>
            </a:gsLst>
            <a:lin ang="16200000" scaled="0"/>
          </a:gradFill>
          <a:ln w="1524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ransformer block"/>
          <p:cNvSpPr/>
          <p:nvPr/>
        </p:nvSpPr>
        <p:spPr>
          <a:xfrm>
            <a:off x="5364480" y="4610100"/>
            <a:ext cx="152400" cy="44196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FFFFEC"/>
              </a:gs>
              <a:gs pos="100000">
                <a:srgbClr val="F3F5BF"/>
              </a:gs>
            </a:gsLst>
            <a:lin ang="16200000" scaled="0"/>
          </a:gradFill>
          <a:ln w="1524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Label: …"/>
          <p:cNvSpPr txBox="1"/>
          <p:nvPr/>
        </p:nvSpPr>
        <p:spPr>
          <a:xfrm>
            <a:off x="5676900" y="4701540"/>
            <a:ext cx="243840" cy="259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154" name="Label: Transformer"/>
          <p:cNvSpPr txBox="1"/>
          <p:nvPr/>
        </p:nvSpPr>
        <p:spPr>
          <a:xfrm>
            <a:off x="5996940" y="4724400"/>
            <a:ext cx="937259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55" name="Future target"/>
          <p:cNvSpPr/>
          <p:nvPr/>
        </p:nvSpPr>
        <p:spPr>
          <a:xfrm>
            <a:off x="7627620" y="3352800"/>
            <a:ext cx="14249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61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Label: Future target"/>
          <p:cNvSpPr txBox="1"/>
          <p:nvPr/>
        </p:nvSpPr>
        <p:spPr>
          <a:xfrm>
            <a:off x="7703820" y="3398520"/>
            <a:ext cx="100584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Comic Sans MS"/>
              </a:rPr>
              <a:t>Future target</a:t>
            </a:r>
          </a:p>
        </p:txBody>
      </p:sp>
      <p:sp>
        <p:nvSpPr>
          <p:cNvPr id="157" name="Equation: R*t+"/>
          <p:cNvSpPr txBox="1"/>
          <p:nvPr/>
        </p:nvSpPr>
        <p:spPr>
          <a:xfrm>
            <a:off x="8740140" y="3383280"/>
            <a:ext cx="3124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R</a:t>
            </a:r>
            <a:r>
              <a:rPr sz="15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t+</a:t>
            </a:r>
          </a:p>
        </p:txBody>
      </p:sp>
      <p:sp>
        <p:nvSpPr>
          <p:cNvPr id="158" name="Image state panel"/>
          <p:cNvSpPr/>
          <p:nvPr/>
        </p:nvSpPr>
        <p:spPr>
          <a:xfrm>
            <a:off x="7719060" y="3718560"/>
            <a:ext cx="1242060" cy="62484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E7F3FF"/>
              </a:gs>
              <a:gs pos="100000">
                <a:srgbClr val="CCE5FE"/>
              </a:gs>
            </a:gsLst>
            <a:lin ang="16200000" scaled="0"/>
          </a:gradFill>
          <a:ln w="11430">
            <a:solidFill>
              <a:srgbClr val="78A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Equation: D*t+"/>
          <p:cNvSpPr txBox="1"/>
          <p:nvPr/>
        </p:nvSpPr>
        <p:spPr>
          <a:xfrm>
            <a:off x="7795260" y="3787140"/>
            <a:ext cx="50292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t+</a:t>
            </a:r>
          </a:p>
        </p:txBody>
      </p:sp>
      <p:sp>
        <p:nvSpPr>
          <p:cNvPr id="160" name="Visual feature"/>
          <p:cNvSpPr/>
          <p:nvPr/>
        </p:nvSpPr>
        <p:spPr>
          <a:xfrm>
            <a:off x="8183879" y="378714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Visual feature"/>
          <p:cNvSpPr/>
          <p:nvPr/>
        </p:nvSpPr>
        <p:spPr>
          <a:xfrm>
            <a:off x="8351520" y="378714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Visual feature"/>
          <p:cNvSpPr/>
          <p:nvPr/>
        </p:nvSpPr>
        <p:spPr>
          <a:xfrm>
            <a:off x="8519160" y="378714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Visual feature"/>
          <p:cNvSpPr/>
          <p:nvPr/>
        </p:nvSpPr>
        <p:spPr>
          <a:xfrm>
            <a:off x="8183879" y="395478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Visual feature"/>
          <p:cNvSpPr/>
          <p:nvPr/>
        </p:nvSpPr>
        <p:spPr>
          <a:xfrm>
            <a:off x="8351520" y="395478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Visual feature"/>
          <p:cNvSpPr/>
          <p:nvPr/>
        </p:nvSpPr>
        <p:spPr>
          <a:xfrm>
            <a:off x="8519160" y="395478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Visual feature"/>
          <p:cNvSpPr/>
          <p:nvPr/>
        </p:nvSpPr>
        <p:spPr>
          <a:xfrm>
            <a:off x="8183879" y="412242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Visual feature"/>
          <p:cNvSpPr/>
          <p:nvPr/>
        </p:nvSpPr>
        <p:spPr>
          <a:xfrm>
            <a:off x="8351520" y="412242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Visual feature"/>
          <p:cNvSpPr/>
          <p:nvPr/>
        </p:nvSpPr>
        <p:spPr>
          <a:xfrm>
            <a:off x="8519160" y="412242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Label: …"/>
          <p:cNvSpPr txBox="1"/>
          <p:nvPr/>
        </p:nvSpPr>
        <p:spPr>
          <a:xfrm>
            <a:off x="8663940" y="3893820"/>
            <a:ext cx="25908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170" name="Semantic state panel"/>
          <p:cNvSpPr/>
          <p:nvPr/>
        </p:nvSpPr>
        <p:spPr>
          <a:xfrm>
            <a:off x="7719060" y="4411980"/>
            <a:ext cx="1242060" cy="487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FDF0F8"/>
              </a:gs>
              <a:gs pos="100000">
                <a:srgbClr val="F5D7EB"/>
              </a:gs>
            </a:gsLst>
            <a:lin ang="16200000" scaled="0"/>
          </a:gradFill>
          <a:ln w="11430">
            <a:solidFill>
              <a:srgbClr val="D48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Equation: Ŝ*t+"/>
          <p:cNvSpPr txBox="1"/>
          <p:nvPr/>
        </p:nvSpPr>
        <p:spPr>
          <a:xfrm>
            <a:off x="7795260" y="4450080"/>
            <a:ext cx="54102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Ŝ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t+</a:t>
            </a:r>
          </a:p>
        </p:txBody>
      </p:sp>
      <p:sp>
        <p:nvSpPr>
          <p:cNvPr id="172" name="Learned state slot"/>
          <p:cNvSpPr/>
          <p:nvPr/>
        </p:nvSpPr>
        <p:spPr>
          <a:xfrm>
            <a:off x="8183879" y="4549140"/>
            <a:ext cx="129540" cy="1905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Learned state slot"/>
          <p:cNvSpPr/>
          <p:nvPr/>
        </p:nvSpPr>
        <p:spPr>
          <a:xfrm>
            <a:off x="8359140" y="4549140"/>
            <a:ext cx="129540" cy="1905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Learned state slot"/>
          <p:cNvSpPr/>
          <p:nvPr/>
        </p:nvSpPr>
        <p:spPr>
          <a:xfrm>
            <a:off x="8534400" y="4549140"/>
            <a:ext cx="129540" cy="1905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Label: …"/>
          <p:cNvSpPr txBox="1"/>
          <p:nvPr/>
        </p:nvSpPr>
        <p:spPr>
          <a:xfrm>
            <a:off x="8663940" y="4533900"/>
            <a:ext cx="25908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176" name="Equation: R*t+ = [D*t+; Ŝ*t+]"/>
          <p:cNvSpPr txBox="1"/>
          <p:nvPr/>
        </p:nvSpPr>
        <p:spPr>
          <a:xfrm>
            <a:off x="7653023" y="4968240"/>
            <a:ext cx="1310640" cy="327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i="1" dirty="0">
                <a:solidFill>
                  <a:srgbClr val="171717"/>
                </a:solidFill>
                <a:latin typeface="Times New Roman"/>
              </a:rPr>
              <a:t>R</a:t>
            </a:r>
            <a:r>
              <a:rPr sz="1500" i="1" baseline="40000" dirty="0">
                <a:solidFill>
                  <a:srgbClr val="171717"/>
                </a:solidFill>
                <a:latin typeface="Times New Roman"/>
              </a:rPr>
              <a:t>*</a:t>
            </a:r>
            <a:r>
              <a:rPr sz="1500" i="1" baseline="-25000" dirty="0">
                <a:solidFill>
                  <a:srgbClr val="171717"/>
                </a:solidFill>
                <a:latin typeface="Times New Roman"/>
              </a:rPr>
              <a:t>t+</a:t>
            </a:r>
            <a:r>
              <a:rPr sz="1500" i="1" dirty="0">
                <a:solidFill>
                  <a:srgbClr val="171717"/>
                </a:solidFill>
                <a:latin typeface="Times New Roman"/>
              </a:rPr>
              <a:t> = [D</a:t>
            </a:r>
            <a:r>
              <a:rPr sz="1500" i="1" baseline="40000" dirty="0">
                <a:solidFill>
                  <a:srgbClr val="171717"/>
                </a:solidFill>
                <a:latin typeface="Times New Roman"/>
              </a:rPr>
              <a:t>*</a:t>
            </a:r>
            <a:r>
              <a:rPr sz="1500" i="1" baseline="-25000" dirty="0">
                <a:solidFill>
                  <a:srgbClr val="171717"/>
                </a:solidFill>
                <a:latin typeface="Times New Roman"/>
              </a:rPr>
              <a:t>t+</a:t>
            </a:r>
            <a:r>
              <a:rPr sz="1500" i="1" dirty="0">
                <a:solidFill>
                  <a:srgbClr val="171717"/>
                </a:solidFill>
                <a:latin typeface="Times New Roman"/>
              </a:rPr>
              <a:t>; </a:t>
            </a:r>
            <a:r>
              <a:rPr sz="1500" i="1" dirty="0" err="1">
                <a:solidFill>
                  <a:srgbClr val="171717"/>
                </a:solidFill>
                <a:latin typeface="Times New Roman"/>
              </a:rPr>
              <a:t>Ŝ</a:t>
            </a:r>
            <a:r>
              <a:rPr sz="1500" i="1" baseline="40000" dirty="0">
                <a:solidFill>
                  <a:srgbClr val="171717"/>
                </a:solidFill>
                <a:latin typeface="Times New Roman"/>
              </a:rPr>
              <a:t>*</a:t>
            </a:r>
            <a:r>
              <a:rPr sz="1500" i="1" baseline="-25000" dirty="0">
                <a:solidFill>
                  <a:srgbClr val="171717"/>
                </a:solidFill>
                <a:latin typeface="Times New Roman"/>
              </a:rPr>
              <a:t>t+</a:t>
            </a:r>
            <a:r>
              <a:rPr sz="1500" i="1" dirty="0">
                <a:solidFill>
                  <a:srgbClr val="171717"/>
                </a:solidFill>
                <a:latin typeface="Times New Roman"/>
              </a:rPr>
              <a:t>]</a:t>
            </a:r>
          </a:p>
        </p:txBody>
      </p:sp>
      <p:cxnSp>
        <p:nvCxnSpPr>
          <p:cNvPr id="177" name="Image to encoder"/>
          <p:cNvCxnSpPr/>
          <p:nvPr/>
        </p:nvCxnSpPr>
        <p:spPr>
          <a:xfrm>
            <a:off x="1249680" y="4015740"/>
            <a:ext cx="22860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Encoder to image features"/>
          <p:cNvCxnSpPr/>
          <p:nvPr/>
        </p:nvCxnSpPr>
        <p:spPr>
          <a:xfrm>
            <a:off x="2346960" y="4015740"/>
            <a:ext cx="23622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Image features to adapter"/>
          <p:cNvCxnSpPr/>
          <p:nvPr/>
        </p:nvCxnSpPr>
        <p:spPr>
          <a:xfrm>
            <a:off x="3017520" y="4015740"/>
            <a:ext cx="22860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Visual input to VLM"/>
          <p:cNvCxnSpPr/>
          <p:nvPr/>
        </p:nvCxnSpPr>
        <p:spPr>
          <a:xfrm>
            <a:off x="4046220" y="4015740"/>
            <a:ext cx="22860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Report to tokenizer"/>
          <p:cNvCxnSpPr/>
          <p:nvPr/>
        </p:nvCxnSpPr>
        <p:spPr>
          <a:xfrm>
            <a:off x="1653540" y="4975860"/>
            <a:ext cx="31242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Tokenizer to text tokens"/>
          <p:cNvCxnSpPr/>
          <p:nvPr/>
        </p:nvCxnSpPr>
        <p:spPr>
          <a:xfrm>
            <a:off x="2964180" y="4975860"/>
            <a:ext cx="23622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Text input to VLM"/>
          <p:cNvCxnSpPr/>
          <p:nvPr/>
        </p:nvCxnSpPr>
        <p:spPr>
          <a:xfrm>
            <a:off x="3810000" y="4975860"/>
            <a:ext cx="228600" cy="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Text input to VLM"/>
          <p:cNvCxnSpPr/>
          <p:nvPr/>
        </p:nvCxnSpPr>
        <p:spPr>
          <a:xfrm flipV="1">
            <a:off x="4038600" y="4747260"/>
            <a:ext cx="0" cy="22860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Text input to VLM"/>
          <p:cNvCxnSpPr/>
          <p:nvPr/>
        </p:nvCxnSpPr>
        <p:spPr>
          <a:xfrm>
            <a:off x="4038600" y="4747260"/>
            <a:ext cx="23622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VLM to multimodal state"/>
          <p:cNvCxnSpPr/>
          <p:nvPr/>
        </p:nvCxnSpPr>
        <p:spPr>
          <a:xfrm>
            <a:off x="7338060" y="4381500"/>
            <a:ext cx="28956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Label: Same encoding pipeline at both times"/>
          <p:cNvSpPr txBox="1"/>
          <p:nvPr/>
        </p:nvSpPr>
        <p:spPr>
          <a:xfrm>
            <a:off x="3108960" y="2834640"/>
            <a:ext cx="3657600" cy="2057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Comic Sans MS"/>
              </a:rPr>
              <a:t>Same encoding pipeline at both times</a:t>
            </a:r>
          </a:p>
        </p:txBody>
      </p:sp>
      <p:sp>
        <p:nvSpPr>
          <p:cNvPr id="188" name="Current state to task decoder"/>
          <p:cNvSpPr/>
          <p:nvPr/>
        </p:nvSpPr>
        <p:spPr>
          <a:xfrm>
            <a:off x="9052560" y="1508760"/>
            <a:ext cx="685800" cy="243840"/>
          </a:xfrm>
          <a:noFill/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Current state to latent world model"/>
          <p:cNvSpPr/>
          <p:nvPr/>
        </p:nvSpPr>
        <p:spPr>
          <a:xfrm>
            <a:off x="9052560" y="1752600"/>
            <a:ext cx="990599" cy="1264920"/>
          </a:xfrm>
          <a:noFill/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Label: Task query"/>
          <p:cNvSpPr txBox="1"/>
          <p:nvPr/>
        </p:nvSpPr>
        <p:spPr>
          <a:xfrm>
            <a:off x="9486900" y="472440"/>
            <a:ext cx="90678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Task query</a:t>
            </a:r>
          </a:p>
        </p:txBody>
      </p:sp>
      <p:sp>
        <p:nvSpPr>
          <p:cNvPr id="191" name="Task query"/>
          <p:cNvSpPr/>
          <p:nvPr/>
        </p:nvSpPr>
        <p:spPr>
          <a:xfrm>
            <a:off x="9845040" y="716280"/>
            <a:ext cx="190500" cy="19812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6DDFF"/>
              </a:gs>
              <a:gs pos="100000">
                <a:srgbClr val="7BB8EE"/>
              </a:gs>
            </a:gsLst>
            <a:lin ang="16200000" scaled="0"/>
          </a:gradFill>
          <a:ln w="15240">
            <a:solidFill>
              <a:srgbClr val="23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2" name="Connection"/>
          <p:cNvCxnSpPr/>
          <p:nvPr/>
        </p:nvCxnSpPr>
        <p:spPr>
          <a:xfrm>
            <a:off x="9936480" y="914400"/>
            <a:ext cx="0" cy="10668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ask decoder"/>
          <p:cNvSpPr/>
          <p:nvPr/>
        </p:nvSpPr>
        <p:spPr>
          <a:xfrm>
            <a:off x="9738360" y="1021080"/>
            <a:ext cx="1531620" cy="998219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D9ECC1"/>
              </a:gs>
              <a:gs pos="100000">
                <a:srgbClr val="C8DFAD"/>
              </a:gs>
            </a:gsLst>
            <a:lin ang="16200000" scaled="0"/>
          </a:gradFill>
          <a:ln w="16510">
            <a:solidFill>
              <a:srgbClr val="3E5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Label: Task decoder"/>
          <p:cNvSpPr txBox="1"/>
          <p:nvPr/>
        </p:nvSpPr>
        <p:spPr>
          <a:xfrm>
            <a:off x="9936480" y="1059180"/>
            <a:ext cx="12268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Task decoder</a:t>
            </a:r>
          </a:p>
        </p:txBody>
      </p:sp>
      <p:sp>
        <p:nvSpPr>
          <p:cNvPr id="195" name="Task transformer block"/>
          <p:cNvSpPr/>
          <p:nvPr/>
        </p:nvSpPr>
        <p:spPr>
          <a:xfrm>
            <a:off x="10134600" y="1371600"/>
            <a:ext cx="160020" cy="411480"/>
          </a:xfrm>
          <a:prstGeom prst="roundRect">
            <a:avLst>
              <a:gd name="adj" fmla="val 13000"/>
            </a:avLst>
          </a:prstGeom>
          <a:gradFill rotWithShape="1">
            <a:gsLst>
              <a:gs pos="0">
                <a:srgbClr val="FFFFEC"/>
              </a:gs>
              <a:gs pos="100000">
                <a:srgbClr val="F7F7CF"/>
              </a:gs>
            </a:gsLst>
            <a:lin ang="16200000" scaled="0"/>
          </a:gradFill>
          <a:ln w="1524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ask transformer block"/>
          <p:cNvSpPr/>
          <p:nvPr/>
        </p:nvSpPr>
        <p:spPr>
          <a:xfrm>
            <a:off x="10721340" y="1371600"/>
            <a:ext cx="160020" cy="411480"/>
          </a:xfrm>
          <a:prstGeom prst="roundRect">
            <a:avLst>
              <a:gd name="adj" fmla="val 13000"/>
            </a:avLst>
          </a:prstGeom>
          <a:gradFill rotWithShape="1">
            <a:gsLst>
              <a:gs pos="0">
                <a:srgbClr val="FFFFEC"/>
              </a:gs>
              <a:gs pos="100000">
                <a:srgbClr val="F7F7CF"/>
              </a:gs>
            </a:gsLst>
            <a:lin ang="16200000" scaled="0"/>
          </a:gradFill>
          <a:ln w="1524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Label: …"/>
          <p:cNvSpPr txBox="1"/>
          <p:nvPr/>
        </p:nvSpPr>
        <p:spPr>
          <a:xfrm>
            <a:off x="10355580" y="1402080"/>
            <a:ext cx="29718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198" name="Label: Transformer"/>
          <p:cNvSpPr txBox="1"/>
          <p:nvPr/>
        </p:nvSpPr>
        <p:spPr>
          <a:xfrm>
            <a:off x="10005060" y="1775460"/>
            <a:ext cx="104394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99" name="Label: Horizon h"/>
          <p:cNvSpPr txBox="1"/>
          <p:nvPr/>
        </p:nvSpPr>
        <p:spPr>
          <a:xfrm>
            <a:off x="9288780" y="3200400"/>
            <a:ext cx="662940" cy="2514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Horizon h</a:t>
            </a:r>
          </a:p>
        </p:txBody>
      </p:sp>
      <p:sp>
        <p:nvSpPr>
          <p:cNvPr id="200" name="Horizon token"/>
          <p:cNvSpPr/>
          <p:nvPr/>
        </p:nvSpPr>
        <p:spPr>
          <a:xfrm>
            <a:off x="9479280" y="3459480"/>
            <a:ext cx="220980" cy="21336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1" name="Connection"/>
          <p:cNvCxnSpPr/>
          <p:nvPr/>
        </p:nvCxnSpPr>
        <p:spPr>
          <a:xfrm>
            <a:off x="9700260" y="3566160"/>
            <a:ext cx="34290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Latent World Model"/>
          <p:cNvSpPr/>
          <p:nvPr/>
        </p:nvSpPr>
        <p:spPr>
          <a:xfrm>
            <a:off x="10043160" y="2674620"/>
            <a:ext cx="2034540" cy="1249680"/>
          </a:xfrm>
          <a:prstGeom prst="roundRect">
            <a:avLst>
              <a:gd name="adj" fmla="val 13000"/>
            </a:avLst>
          </a:prstGeom>
          <a:gradFill rotWithShape="1">
            <a:gsLst>
              <a:gs pos="0">
                <a:srgbClr val="F9E7D1"/>
              </a:gs>
              <a:gs pos="100000">
                <a:srgbClr val="EDD4BD"/>
              </a:gs>
            </a:gsLst>
            <a:lin ang="16200000" scaled="0"/>
          </a:gradFill>
          <a:ln w="16510">
            <a:solidFill>
              <a:srgbClr val="7048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Label: Latent World Model"/>
          <p:cNvSpPr txBox="1"/>
          <p:nvPr/>
        </p:nvSpPr>
        <p:spPr>
          <a:xfrm>
            <a:off x="10187940" y="2743200"/>
            <a:ext cx="1752600" cy="2971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171717"/>
                </a:solidFill>
                <a:latin typeface="Comic Sans MS"/>
              </a:rPr>
              <a:t>Latent World Model</a:t>
            </a:r>
          </a:p>
        </p:txBody>
      </p:sp>
      <p:sp>
        <p:nvSpPr>
          <p:cNvPr id="204" name="Label: LWM"/>
          <p:cNvSpPr txBox="1"/>
          <p:nvPr/>
        </p:nvSpPr>
        <p:spPr>
          <a:xfrm>
            <a:off x="11628120" y="3032760"/>
            <a:ext cx="3429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Arial"/>
              </a:rPr>
              <a:t>LWM</a:t>
            </a:r>
          </a:p>
        </p:txBody>
      </p:sp>
      <p:sp>
        <p:nvSpPr>
          <p:cNvPr id="205" name="Predictor block"/>
          <p:cNvSpPr/>
          <p:nvPr/>
        </p:nvSpPr>
        <p:spPr>
          <a:xfrm>
            <a:off x="10607040" y="3154680"/>
            <a:ext cx="175260" cy="4495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FFFFEC"/>
              </a:gs>
              <a:gs pos="100000">
                <a:srgbClr val="F8F7D3"/>
              </a:gs>
            </a:gsLst>
            <a:lin ang="16200000" scaled="0"/>
          </a:gradFill>
          <a:ln w="1524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Predictor block"/>
          <p:cNvSpPr/>
          <p:nvPr/>
        </p:nvSpPr>
        <p:spPr>
          <a:xfrm>
            <a:off x="11338560" y="3154680"/>
            <a:ext cx="175260" cy="4495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FFFFEC"/>
              </a:gs>
              <a:gs pos="100000">
                <a:srgbClr val="F8F7D3"/>
              </a:gs>
            </a:gsLst>
            <a:lin ang="16200000" scaled="0"/>
          </a:gradFill>
          <a:ln w="1524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Label: …"/>
          <p:cNvSpPr txBox="1"/>
          <p:nvPr/>
        </p:nvSpPr>
        <p:spPr>
          <a:xfrm>
            <a:off x="10858500" y="3192780"/>
            <a:ext cx="40386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208" name="Label: Predictor block"/>
          <p:cNvSpPr txBox="1"/>
          <p:nvPr/>
        </p:nvSpPr>
        <p:spPr>
          <a:xfrm>
            <a:off x="10492740" y="3634740"/>
            <a:ext cx="116586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Predictor block</a:t>
            </a:r>
          </a:p>
        </p:txBody>
      </p:sp>
      <p:cxnSp>
        <p:nvCxnSpPr>
          <p:cNvPr id="209" name="LWM to predicted future"/>
          <p:cNvCxnSpPr/>
          <p:nvPr/>
        </p:nvCxnSpPr>
        <p:spPr>
          <a:xfrm>
            <a:off x="12077700" y="3208020"/>
            <a:ext cx="25908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Predicted future"/>
          <p:cNvSpPr/>
          <p:nvPr/>
        </p:nvSpPr>
        <p:spPr>
          <a:xfrm>
            <a:off x="12336780" y="2316480"/>
            <a:ext cx="1737360" cy="1859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61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Label: Predicted future"/>
          <p:cNvSpPr txBox="1"/>
          <p:nvPr/>
        </p:nvSpPr>
        <p:spPr>
          <a:xfrm>
            <a:off x="12412980" y="2362200"/>
            <a:ext cx="119634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Comic Sans MS"/>
              </a:rPr>
              <a:t>Predicted future</a:t>
            </a:r>
          </a:p>
        </p:txBody>
      </p:sp>
      <p:sp>
        <p:nvSpPr>
          <p:cNvPr id="212" name="Equation: R̂t,h"/>
          <p:cNvSpPr txBox="1"/>
          <p:nvPr/>
        </p:nvSpPr>
        <p:spPr>
          <a:xfrm>
            <a:off x="13639800" y="2346960"/>
            <a:ext cx="43434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R̂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t,h</a:t>
            </a:r>
          </a:p>
        </p:txBody>
      </p:sp>
      <p:sp>
        <p:nvSpPr>
          <p:cNvPr id="213" name="Image state panel"/>
          <p:cNvSpPr/>
          <p:nvPr/>
        </p:nvSpPr>
        <p:spPr>
          <a:xfrm>
            <a:off x="12428220" y="2682240"/>
            <a:ext cx="1554480" cy="57912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E7F3FF"/>
              </a:gs>
              <a:gs pos="100000">
                <a:srgbClr val="CCE5FE"/>
              </a:gs>
            </a:gsLst>
            <a:lin ang="16200000" scaled="0"/>
          </a:gradFill>
          <a:ln w="11430">
            <a:solidFill>
              <a:srgbClr val="78A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Equation: D̂t,h"/>
          <p:cNvSpPr txBox="1"/>
          <p:nvPr/>
        </p:nvSpPr>
        <p:spPr>
          <a:xfrm>
            <a:off x="12542520" y="2750820"/>
            <a:ext cx="50292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D̂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t,h</a:t>
            </a:r>
          </a:p>
        </p:txBody>
      </p:sp>
      <p:sp>
        <p:nvSpPr>
          <p:cNvPr id="215" name="Visual feature"/>
          <p:cNvSpPr/>
          <p:nvPr/>
        </p:nvSpPr>
        <p:spPr>
          <a:xfrm>
            <a:off x="13014960" y="275082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Visual feature"/>
          <p:cNvSpPr/>
          <p:nvPr/>
        </p:nvSpPr>
        <p:spPr>
          <a:xfrm>
            <a:off x="13182600" y="275082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Visual feature"/>
          <p:cNvSpPr/>
          <p:nvPr/>
        </p:nvSpPr>
        <p:spPr>
          <a:xfrm>
            <a:off x="13350240" y="275082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Visual feature"/>
          <p:cNvSpPr/>
          <p:nvPr/>
        </p:nvSpPr>
        <p:spPr>
          <a:xfrm>
            <a:off x="13014960" y="291846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Visual feature"/>
          <p:cNvSpPr/>
          <p:nvPr/>
        </p:nvSpPr>
        <p:spPr>
          <a:xfrm>
            <a:off x="13182600" y="291846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Visual feature"/>
          <p:cNvSpPr/>
          <p:nvPr/>
        </p:nvSpPr>
        <p:spPr>
          <a:xfrm>
            <a:off x="13350240" y="291846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Visual feature"/>
          <p:cNvSpPr/>
          <p:nvPr/>
        </p:nvSpPr>
        <p:spPr>
          <a:xfrm>
            <a:off x="13014960" y="308610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Visual feature"/>
          <p:cNvSpPr/>
          <p:nvPr/>
        </p:nvSpPr>
        <p:spPr>
          <a:xfrm>
            <a:off x="13182600" y="308610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Visual feature"/>
          <p:cNvSpPr/>
          <p:nvPr/>
        </p:nvSpPr>
        <p:spPr>
          <a:xfrm>
            <a:off x="13350240" y="3086100"/>
            <a:ext cx="137160" cy="137160"/>
          </a:xfrm>
          <a:prstGeom prst="rect">
            <a:avLst/>
          </a:prstGeom>
          <a:gradFill rotWithShape="1">
            <a:gsLst>
              <a:gs pos="0">
                <a:srgbClr val="B4D9F8"/>
              </a:gs>
              <a:gs pos="100000">
                <a:srgbClr val="78B2E6"/>
              </a:gs>
            </a:gsLst>
            <a:lin ang="16200000" scaled="0"/>
          </a:gradFill>
          <a:ln w="9525">
            <a:solidFill>
              <a:srgbClr val="377C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Label: …"/>
          <p:cNvSpPr txBox="1"/>
          <p:nvPr/>
        </p:nvSpPr>
        <p:spPr>
          <a:xfrm>
            <a:off x="13685520" y="2857500"/>
            <a:ext cx="25908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225" name="Semantic state panel"/>
          <p:cNvSpPr/>
          <p:nvPr/>
        </p:nvSpPr>
        <p:spPr>
          <a:xfrm>
            <a:off x="12428220" y="3329940"/>
            <a:ext cx="1554480" cy="46482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FDF0F8"/>
              </a:gs>
              <a:gs pos="100000">
                <a:srgbClr val="F5D7EB"/>
              </a:gs>
            </a:gsLst>
            <a:lin ang="16200000" scaled="0"/>
          </a:gradFill>
          <a:ln w="11430">
            <a:solidFill>
              <a:srgbClr val="D48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Equation: Ŝ*t,h"/>
          <p:cNvSpPr txBox="1"/>
          <p:nvPr/>
        </p:nvSpPr>
        <p:spPr>
          <a:xfrm>
            <a:off x="12542520" y="3368040"/>
            <a:ext cx="54102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Ŝ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t,h</a:t>
            </a:r>
          </a:p>
        </p:txBody>
      </p:sp>
      <p:sp>
        <p:nvSpPr>
          <p:cNvPr id="227" name="Learned state slot"/>
          <p:cNvSpPr/>
          <p:nvPr/>
        </p:nvSpPr>
        <p:spPr>
          <a:xfrm>
            <a:off x="13007340" y="3467100"/>
            <a:ext cx="129540" cy="1905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Learned state slot"/>
          <p:cNvSpPr/>
          <p:nvPr/>
        </p:nvSpPr>
        <p:spPr>
          <a:xfrm>
            <a:off x="13182600" y="3467100"/>
            <a:ext cx="129540" cy="1905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Learned state slot"/>
          <p:cNvSpPr/>
          <p:nvPr/>
        </p:nvSpPr>
        <p:spPr>
          <a:xfrm>
            <a:off x="13357860" y="3467100"/>
            <a:ext cx="129540" cy="1905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EDB5D7"/>
              </a:gs>
              <a:gs pos="100000">
                <a:srgbClr val="D68ABC"/>
              </a:gs>
            </a:gsLst>
            <a:lin ang="16200000" scaled="0"/>
          </a:gradFill>
          <a:ln w="11430">
            <a:solidFill>
              <a:srgbClr val="983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Label: …"/>
          <p:cNvSpPr txBox="1"/>
          <p:nvPr/>
        </p:nvSpPr>
        <p:spPr>
          <a:xfrm>
            <a:off x="13685520" y="3451860"/>
            <a:ext cx="25908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231" name="Equation: R̂*t,h = [D*t+; Ŝ*t,h]"/>
          <p:cNvSpPr txBox="1"/>
          <p:nvPr/>
        </p:nvSpPr>
        <p:spPr>
          <a:xfrm>
            <a:off x="12504420" y="3825240"/>
            <a:ext cx="1623060" cy="327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R̂</a:t>
            </a:r>
            <a:r>
              <a:rPr sz="15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t,h</a:t>
            </a:r>
            <a:r>
              <a:rPr sz="1560" i="1">
                <a:solidFill>
                  <a:srgbClr val="171717"/>
                </a:solidFill>
                <a:latin typeface="Times New Roman"/>
              </a:rPr>
              <a:t> = [D</a:t>
            </a:r>
            <a:r>
              <a:rPr sz="15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t+</a:t>
            </a:r>
            <a:r>
              <a:rPr sz="1560" i="1">
                <a:solidFill>
                  <a:srgbClr val="171717"/>
                </a:solidFill>
                <a:latin typeface="Times New Roman"/>
              </a:rPr>
              <a:t>; Ŝ</a:t>
            </a:r>
            <a:r>
              <a:rPr sz="15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t,h</a:t>
            </a:r>
            <a:r>
              <a:rPr sz="1560" i="1">
                <a:solidFill>
                  <a:srgbClr val="171717"/>
                </a:solidFill>
                <a:latin typeface="Times New Roman"/>
              </a:rPr>
              <a:t>]</a:t>
            </a:r>
          </a:p>
        </p:txBody>
      </p:sp>
      <p:sp>
        <p:nvSpPr>
          <p:cNvPr id="232" name="Label: Task loss"/>
          <p:cNvSpPr txBox="1"/>
          <p:nvPr/>
        </p:nvSpPr>
        <p:spPr>
          <a:xfrm>
            <a:off x="12313920" y="7620"/>
            <a:ext cx="1066800" cy="2895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1717"/>
                </a:solidFill>
                <a:latin typeface="Comic Sans MS"/>
              </a:rPr>
              <a:t>Task loss</a:t>
            </a:r>
          </a:p>
        </p:txBody>
      </p:sp>
      <p:sp>
        <p:nvSpPr>
          <p:cNvPr id="233" name="Task losses"/>
          <p:cNvSpPr/>
          <p:nvPr/>
        </p:nvSpPr>
        <p:spPr>
          <a:xfrm>
            <a:off x="11551920" y="312420"/>
            <a:ext cx="2583180" cy="1790700"/>
          </a:xfrm>
          <a:prstGeom prst="roundRect">
            <a:avLst>
              <a:gd name="adj" fmla="val 5000"/>
            </a:avLst>
          </a:prstGeom>
          <a:noFill/>
          <a:ln w="11430">
            <a:solidFill>
              <a:srgbClr val="73A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Classification card"/>
          <p:cNvSpPr/>
          <p:nvPr/>
        </p:nvSpPr>
        <p:spPr>
          <a:xfrm>
            <a:off x="11605260" y="373380"/>
            <a:ext cx="1196340" cy="8153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8FCFF"/>
              </a:gs>
              <a:gs pos="100000">
                <a:srgbClr val="EAF4FE"/>
              </a:gs>
            </a:gsLst>
            <a:lin ang="16200000" scaled="0"/>
          </a:gradFill>
          <a:ln w="10160">
            <a:solidFill>
              <a:srgbClr val="7CA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Label: Classification"/>
          <p:cNvSpPr txBox="1"/>
          <p:nvPr/>
        </p:nvSpPr>
        <p:spPr>
          <a:xfrm>
            <a:off x="11635740" y="403860"/>
            <a:ext cx="113538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Classification</a:t>
            </a:r>
          </a:p>
        </p:txBody>
      </p:sp>
      <p:sp>
        <p:nvSpPr>
          <p:cNvPr id="236" name="Segmentation card"/>
          <p:cNvSpPr/>
          <p:nvPr/>
        </p:nvSpPr>
        <p:spPr>
          <a:xfrm>
            <a:off x="12885420" y="373380"/>
            <a:ext cx="1196340" cy="8153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8FCFF"/>
              </a:gs>
              <a:gs pos="100000">
                <a:srgbClr val="EAF4FE"/>
              </a:gs>
            </a:gsLst>
            <a:lin ang="16200000" scaled="0"/>
          </a:gradFill>
          <a:ln w="10160">
            <a:solidFill>
              <a:srgbClr val="7CA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Label: Segmentation"/>
          <p:cNvSpPr txBox="1"/>
          <p:nvPr/>
        </p:nvSpPr>
        <p:spPr>
          <a:xfrm>
            <a:off x="12915900" y="403860"/>
            <a:ext cx="113538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Segmentation</a:t>
            </a:r>
          </a:p>
        </p:txBody>
      </p:sp>
      <p:sp>
        <p:nvSpPr>
          <p:cNvPr id="238" name="Disease recognition card"/>
          <p:cNvSpPr/>
          <p:nvPr/>
        </p:nvSpPr>
        <p:spPr>
          <a:xfrm>
            <a:off x="11605260" y="1280160"/>
            <a:ext cx="1196340" cy="762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8FCFF"/>
              </a:gs>
              <a:gs pos="100000">
                <a:srgbClr val="EAF4FE"/>
              </a:gs>
            </a:gsLst>
            <a:lin ang="16200000" scaled="0"/>
          </a:gradFill>
          <a:ln w="10160">
            <a:solidFill>
              <a:srgbClr val="7CA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Label: Disease recognition"/>
          <p:cNvSpPr txBox="1"/>
          <p:nvPr/>
        </p:nvSpPr>
        <p:spPr>
          <a:xfrm>
            <a:off x="11635740" y="1310640"/>
            <a:ext cx="113538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1717"/>
                </a:solidFill>
                <a:latin typeface="Comic Sans MS"/>
              </a:rPr>
              <a:t>Disease recognition</a:t>
            </a:r>
          </a:p>
        </p:txBody>
      </p:sp>
      <p:sp>
        <p:nvSpPr>
          <p:cNvPr id="240" name="Super-resolution card"/>
          <p:cNvSpPr/>
          <p:nvPr/>
        </p:nvSpPr>
        <p:spPr>
          <a:xfrm>
            <a:off x="12885420" y="1280160"/>
            <a:ext cx="1196340" cy="762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8FCFF"/>
              </a:gs>
              <a:gs pos="100000">
                <a:srgbClr val="EAF4FE"/>
              </a:gs>
            </a:gsLst>
            <a:lin ang="16200000" scaled="0"/>
          </a:gradFill>
          <a:ln w="10160">
            <a:solidFill>
              <a:srgbClr val="7CA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Label: Super-resolution"/>
          <p:cNvSpPr txBox="1"/>
          <p:nvPr/>
        </p:nvSpPr>
        <p:spPr>
          <a:xfrm>
            <a:off x="12915900" y="1310640"/>
            <a:ext cx="113538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Super-resolution</a:t>
            </a:r>
          </a:p>
        </p:txBody>
      </p:sp>
      <p:cxnSp>
        <p:nvCxnSpPr>
          <p:cNvPr id="242" name="Decoder to top task losses"/>
          <p:cNvCxnSpPr/>
          <p:nvPr/>
        </p:nvCxnSpPr>
        <p:spPr>
          <a:xfrm>
            <a:off x="11269980" y="1508760"/>
            <a:ext cx="76200" cy="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Decoder to top task losses"/>
          <p:cNvCxnSpPr/>
          <p:nvPr/>
        </p:nvCxnSpPr>
        <p:spPr>
          <a:xfrm flipV="1">
            <a:off x="11346180" y="807720"/>
            <a:ext cx="0" cy="70104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Decoder to top task losses"/>
          <p:cNvCxnSpPr/>
          <p:nvPr/>
        </p:nvCxnSpPr>
        <p:spPr>
          <a:xfrm>
            <a:off x="11346180" y="807720"/>
            <a:ext cx="20574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Decoder to bottom task losses"/>
          <p:cNvCxnSpPr/>
          <p:nvPr/>
        </p:nvCxnSpPr>
        <p:spPr>
          <a:xfrm>
            <a:off x="11346180" y="1508760"/>
            <a:ext cx="20574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ion"/>
          <p:cNvCxnSpPr/>
          <p:nvPr/>
        </p:nvCxnSpPr>
        <p:spPr>
          <a:xfrm>
            <a:off x="11894820" y="1082040"/>
            <a:ext cx="533400" cy="0"/>
          </a:xfrm>
          <a:prstGeom prst="line">
            <a:avLst/>
          </a:prstGeom>
          <a:ln w="11430">
            <a:solidFill>
              <a:srgbClr val="537C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Classification bar"/>
          <p:cNvSpPr/>
          <p:nvPr/>
        </p:nvSpPr>
        <p:spPr>
          <a:xfrm>
            <a:off x="11955780" y="914400"/>
            <a:ext cx="91440" cy="167640"/>
          </a:xfrm>
          <a:prstGeom prst="rect">
            <a:avLst/>
          </a:prstGeom>
          <a:gradFill rotWithShape="1">
            <a:gsLst>
              <a:gs pos="0">
                <a:srgbClr val="A9D3F9"/>
              </a:gs>
              <a:gs pos="100000">
                <a:srgbClr val="6DAEE8"/>
              </a:gs>
            </a:gsLst>
            <a:lin ang="16200000" scaled="0"/>
          </a:gradFill>
          <a:ln w="8890">
            <a:solidFill>
              <a:srgbClr val="448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Classification bar"/>
          <p:cNvSpPr/>
          <p:nvPr/>
        </p:nvSpPr>
        <p:spPr>
          <a:xfrm>
            <a:off x="12100560" y="800100"/>
            <a:ext cx="91440" cy="281940"/>
          </a:xfrm>
          <a:prstGeom prst="rect">
            <a:avLst/>
          </a:prstGeom>
          <a:gradFill rotWithShape="1">
            <a:gsLst>
              <a:gs pos="0">
                <a:srgbClr val="A9D3F9"/>
              </a:gs>
              <a:gs pos="100000">
                <a:srgbClr val="6DAEE8"/>
              </a:gs>
            </a:gsLst>
            <a:lin ang="16200000" scaled="0"/>
          </a:gradFill>
          <a:ln w="8890">
            <a:solidFill>
              <a:srgbClr val="448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Classification bar"/>
          <p:cNvSpPr/>
          <p:nvPr/>
        </p:nvSpPr>
        <p:spPr>
          <a:xfrm>
            <a:off x="12245340" y="655320"/>
            <a:ext cx="91440" cy="426720"/>
          </a:xfrm>
          <a:prstGeom prst="rect">
            <a:avLst/>
          </a:prstGeom>
          <a:gradFill rotWithShape="1">
            <a:gsLst>
              <a:gs pos="0">
                <a:srgbClr val="A9D3F9"/>
              </a:gs>
              <a:gs pos="100000">
                <a:srgbClr val="6DAEE8"/>
              </a:gs>
            </a:gsLst>
            <a:lin ang="16200000" scaled="0"/>
          </a:gradFill>
          <a:ln w="8890">
            <a:solidFill>
              <a:srgbClr val="448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Label: ⋮"/>
          <p:cNvSpPr txBox="1"/>
          <p:nvPr/>
        </p:nvSpPr>
        <p:spPr>
          <a:xfrm>
            <a:off x="11871960" y="617220"/>
            <a:ext cx="13716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4ADE0"/>
                </a:solidFill>
                <a:latin typeface="Comic Sans MS"/>
              </a:rPr>
              <a:t>⋮</a:t>
            </a:r>
          </a:p>
        </p:txBody>
      </p:sp>
      <p:pic>
        <p:nvPicPr>
          <p:cNvPr id="251" name="Segmentation radi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0" y="586740"/>
            <a:ext cx="708660" cy="563880"/>
          </a:xfrm>
          <a:prstGeom prst="rect">
            <a:avLst/>
          </a:prstGeom>
        </p:spPr>
      </p:pic>
      <p:sp>
        <p:nvSpPr>
          <p:cNvPr id="252" name="Disease label"/>
          <p:cNvSpPr/>
          <p:nvPr/>
        </p:nvSpPr>
        <p:spPr>
          <a:xfrm>
            <a:off x="11681460" y="1577340"/>
            <a:ext cx="1036320" cy="327660"/>
          </a:xfrm>
          <a:prstGeom prst="roundRect">
            <a:avLst>
              <a:gd name="adj" fmla="val 16000"/>
            </a:avLst>
          </a:prstGeom>
          <a:solidFill>
            <a:srgbClr val="F2F9FF"/>
          </a:solidFill>
          <a:ln w="12700">
            <a:solidFill>
              <a:srgbClr val="557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Label: Disease: …"/>
          <p:cNvSpPr txBox="1"/>
          <p:nvPr/>
        </p:nvSpPr>
        <p:spPr>
          <a:xfrm>
            <a:off x="11757660" y="1607820"/>
            <a:ext cx="899160" cy="2362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Disease: …</a:t>
            </a:r>
          </a:p>
        </p:txBody>
      </p:sp>
      <p:pic>
        <p:nvPicPr>
          <p:cNvPr id="254" name="Low-resolution detai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7340" y="1562100"/>
            <a:ext cx="350520" cy="358140"/>
          </a:xfrm>
          <a:prstGeom prst="rect">
            <a:avLst/>
          </a:prstGeom>
        </p:spPr>
      </p:pic>
      <p:pic>
        <p:nvPicPr>
          <p:cNvPr id="255" name="High-resolution detai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6940" y="1539240"/>
            <a:ext cx="350520" cy="365760"/>
          </a:xfrm>
          <a:prstGeom prst="rect">
            <a:avLst/>
          </a:prstGeom>
        </p:spPr>
      </p:pic>
      <p:sp>
        <p:nvSpPr>
          <p:cNvPr id="256" name="Low-resolution image border"/>
          <p:cNvSpPr/>
          <p:nvPr/>
        </p:nvSpPr>
        <p:spPr>
          <a:xfrm>
            <a:off x="12999720" y="1554480"/>
            <a:ext cx="365760" cy="373380"/>
          </a:xfrm>
          <a:prstGeom prst="rect">
            <a:avLst/>
          </a:prstGeom>
          <a:noFill/>
          <a:ln w="10160">
            <a:solidFill>
              <a:srgbClr val="81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High-resolution image border"/>
          <p:cNvSpPr/>
          <p:nvPr/>
        </p:nvSpPr>
        <p:spPr>
          <a:xfrm>
            <a:off x="13609320" y="1531620"/>
            <a:ext cx="365760" cy="381000"/>
          </a:xfrm>
          <a:prstGeom prst="rect">
            <a:avLst/>
          </a:prstGeom>
          <a:noFill/>
          <a:ln w="10160">
            <a:solidFill>
              <a:srgbClr val="4D64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8" name="Connection"/>
          <p:cNvCxnSpPr/>
          <p:nvPr/>
        </p:nvCxnSpPr>
        <p:spPr>
          <a:xfrm>
            <a:off x="13373100" y="173736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ion"/>
          <p:cNvCxnSpPr/>
          <p:nvPr/>
        </p:nvCxnSpPr>
        <p:spPr>
          <a:xfrm flipV="1">
            <a:off x="13395960" y="1630680"/>
            <a:ext cx="38100" cy="53340"/>
          </a:xfrm>
          <a:prstGeom prst="line">
            <a:avLst/>
          </a:prstGeom>
          <a:ln w="8255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ion"/>
          <p:cNvCxnSpPr/>
          <p:nvPr/>
        </p:nvCxnSpPr>
        <p:spPr>
          <a:xfrm flipV="1">
            <a:off x="13434060" y="1554480"/>
            <a:ext cx="152400" cy="76200"/>
          </a:xfrm>
          <a:prstGeom prst="line">
            <a:avLst/>
          </a:prstGeom>
          <a:ln w="8255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Label: MSE"/>
          <p:cNvSpPr txBox="1"/>
          <p:nvPr/>
        </p:nvSpPr>
        <p:spPr>
          <a:xfrm>
            <a:off x="13312140" y="1874519"/>
            <a:ext cx="373380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1">
                <a:solidFill>
                  <a:srgbClr val="171717"/>
                </a:solidFill>
                <a:latin typeface="Arial"/>
              </a:rPr>
              <a:t>MSE</a:t>
            </a:r>
          </a:p>
        </p:txBody>
      </p:sp>
      <p:cxnSp>
        <p:nvCxnSpPr>
          <p:cNvPr id="262" name="Prediction to latent loss"/>
          <p:cNvCxnSpPr/>
          <p:nvPr/>
        </p:nvCxnSpPr>
        <p:spPr>
          <a:xfrm>
            <a:off x="13129260" y="4175760"/>
            <a:ext cx="0" cy="42672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op-gradient future target"/>
          <p:cNvCxnSpPr/>
          <p:nvPr/>
        </p:nvCxnSpPr>
        <p:spPr>
          <a:xfrm>
            <a:off x="9052560" y="4953000"/>
            <a:ext cx="2819400" cy="0"/>
          </a:xfrm>
          <a:prstGeom prst="line">
            <a:avLst/>
          </a:prstGeom>
          <a:ln w="19050">
            <a:solidFill>
              <a:srgbClr val="17171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Label: stop-grad"/>
          <p:cNvSpPr txBox="1"/>
          <p:nvPr/>
        </p:nvSpPr>
        <p:spPr>
          <a:xfrm>
            <a:off x="10088880" y="4686300"/>
            <a:ext cx="982980" cy="2514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1">
                <a:solidFill>
                  <a:srgbClr val="171717"/>
                </a:solidFill>
                <a:latin typeface="Comic Sans MS"/>
              </a:rPr>
              <a:t>stop-grad</a:t>
            </a:r>
          </a:p>
        </p:txBody>
      </p:sp>
      <p:sp>
        <p:nvSpPr>
          <p:cNvPr id="265" name="Latent prediction loss"/>
          <p:cNvSpPr/>
          <p:nvPr/>
        </p:nvSpPr>
        <p:spPr>
          <a:xfrm>
            <a:off x="11871960" y="4602480"/>
            <a:ext cx="2263140" cy="7010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FE4D5"/>
              </a:gs>
              <a:gs pos="100000">
                <a:srgbClr val="F9D2BA"/>
              </a:gs>
            </a:gsLst>
            <a:lin ang="16200000" scaled="0"/>
          </a:gradFill>
          <a:ln w="15240">
            <a:solidFill>
              <a:srgbClr val="743C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Label: Latent prediction loss"/>
          <p:cNvSpPr txBox="1"/>
          <p:nvPr/>
        </p:nvSpPr>
        <p:spPr>
          <a:xfrm>
            <a:off x="11986260" y="4663440"/>
            <a:ext cx="2034540" cy="281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Comic Sans MS"/>
              </a:rPr>
              <a:t>Latent prediction loss</a:t>
            </a:r>
          </a:p>
        </p:txBody>
      </p:sp>
      <p:sp>
        <p:nvSpPr>
          <p:cNvPr id="267" name="Equation: D̂ ↔ D*; Ŝ ↔ S*"/>
          <p:cNvSpPr txBox="1"/>
          <p:nvPr/>
        </p:nvSpPr>
        <p:spPr>
          <a:xfrm>
            <a:off x="12336780" y="4960620"/>
            <a:ext cx="1706880" cy="281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D̂ ↔ D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739" i="1">
                <a:solidFill>
                  <a:srgbClr val="171717"/>
                </a:solidFill>
                <a:latin typeface="Times New Roman"/>
              </a:rPr>
              <a:t>; Ŝ ↔ S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</Words>
  <Application>Microsoft Macintosh PowerPoint</Application>
  <PresentationFormat>Custom</PresentationFormat>
  <Paragraphs>89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Comic Sans MS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— fig1_v5</dc:title>
  <dc:subject/>
  <dc:creator/>
  <cp:keywords/>
  <dc:description>generated using python-pptx</dc:description>
  <cp:lastModifiedBy>mu song</cp:lastModifiedBy>
  <cp:revision>3</cp:revision>
  <dcterms:created xsi:type="dcterms:W3CDTF">2013-01-27T09:14:16Z</dcterms:created>
  <dcterms:modified xsi:type="dcterms:W3CDTF">2026-09-06T14:14:57Z</dcterms:modified>
  <cp:category/>
</cp:coreProperties>
</file>