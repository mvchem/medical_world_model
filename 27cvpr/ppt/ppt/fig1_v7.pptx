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173200" cy="563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840" y="9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rent observations lane"/>
          <p:cNvSpPr/>
          <p:nvPr/>
        </p:nvSpPr>
        <p:spPr>
          <a:xfrm>
            <a:off x="15240" y="22860"/>
            <a:ext cx="14142720" cy="2697480"/>
          </a:xfrm>
          <a:prstGeom prst="roundRect">
            <a:avLst>
              <a:gd name="adj" fmla="val 4500"/>
            </a:avLst>
          </a:prstGeom>
          <a:solidFill>
            <a:srgbClr val="F0F9EF"/>
          </a:solidFill>
          <a:ln w="11430">
            <a:solidFill>
              <a:srgbClr val="398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bserved future lane"/>
          <p:cNvSpPr/>
          <p:nvPr/>
        </p:nvSpPr>
        <p:spPr>
          <a:xfrm>
            <a:off x="15240" y="3116580"/>
            <a:ext cx="9464040" cy="2499360"/>
          </a:xfrm>
          <a:prstGeom prst="roundRect">
            <a:avLst>
              <a:gd name="adj" fmla="val 5500"/>
            </a:avLst>
          </a:prstGeom>
          <a:solidFill>
            <a:srgbClr val="EDF7FE"/>
          </a:solidFill>
          <a:ln w="11430">
            <a:solidFill>
              <a:srgbClr val="65A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uture prediction stage"/>
          <p:cNvSpPr/>
          <p:nvPr/>
        </p:nvSpPr>
        <p:spPr>
          <a:xfrm>
            <a:off x="9525000" y="3147060"/>
            <a:ext cx="4632960" cy="2446020"/>
          </a:xfrm>
          <a:prstGeom prst="roundRect">
            <a:avLst>
              <a:gd name="adj" fmla="val 5500"/>
            </a:avLst>
          </a:prstGeom>
          <a:solidFill>
            <a:srgbClr val="FDEAE0"/>
          </a:solidFill>
          <a:ln w="11430">
            <a:solidFill>
              <a:srgbClr val="FF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tage 1 heading"/>
          <p:cNvSpPr/>
          <p:nvPr/>
        </p:nvSpPr>
        <p:spPr>
          <a:xfrm>
            <a:off x="9944100" y="71120"/>
            <a:ext cx="4198620" cy="373380"/>
          </a:xfrm>
          <a:prstGeom prst="roundRect">
            <a:avLst>
              <a:gd name="adj" fmla="val 25000"/>
            </a:avLst>
          </a:prstGeom>
          <a:solidFill>
            <a:srgbClr val="E1F3D9"/>
          </a:solidFill>
          <a:ln w="10160">
            <a:solidFill>
              <a:srgbClr val="D1ED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bel: Stage 1: Task-supervised state pretraining"/>
          <p:cNvSpPr txBox="1"/>
          <p:nvPr/>
        </p:nvSpPr>
        <p:spPr>
          <a:xfrm>
            <a:off x="10035540" y="101600"/>
            <a:ext cx="403860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Comic Sans MS"/>
              </a:rPr>
              <a:t>Stage 1: Task-supervised state pretraining</a:t>
            </a:r>
          </a:p>
        </p:txBody>
      </p:sp>
      <p:sp>
        <p:nvSpPr>
          <p:cNvPr id="7" name="Stage 2 heading"/>
          <p:cNvSpPr/>
          <p:nvPr/>
        </p:nvSpPr>
        <p:spPr>
          <a:xfrm>
            <a:off x="10218420" y="2758440"/>
            <a:ext cx="3939540" cy="342900"/>
          </a:xfrm>
          <a:prstGeom prst="roundRect">
            <a:avLst>
              <a:gd name="adj" fmla="val 23000"/>
            </a:avLst>
          </a:prstGeom>
          <a:solidFill>
            <a:srgbClr val="FEE6DD"/>
          </a:solidFill>
          <a:ln w="10160">
            <a:solidFill>
              <a:srgbClr val="FFB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bel: Stage 2: Future-state prediction fine-tuning"/>
          <p:cNvSpPr txBox="1"/>
          <p:nvPr/>
        </p:nvSpPr>
        <p:spPr>
          <a:xfrm>
            <a:off x="10287000" y="2781300"/>
            <a:ext cx="3810000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D200B"/>
                </a:solidFill>
                <a:latin typeface="Comic Sans MS"/>
              </a:rPr>
              <a:t>Stage 2: Future-state prediction fine-tuning</a:t>
            </a:r>
          </a:p>
        </p:txBody>
      </p:sp>
      <p:sp>
        <p:nvSpPr>
          <p:cNvPr id="9" name="Label: Same encoding pipeline at both times"/>
          <p:cNvSpPr txBox="1"/>
          <p:nvPr/>
        </p:nvSpPr>
        <p:spPr>
          <a:xfrm>
            <a:off x="5539740" y="2796540"/>
            <a:ext cx="28498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6773"/>
                </a:solidFill>
                <a:latin typeface="Comic Sans MS"/>
              </a:rPr>
              <a:t>Same encoding pipeline at both times</a:t>
            </a:r>
          </a:p>
        </p:txBody>
      </p:sp>
      <p:sp>
        <p:nvSpPr>
          <p:cNvPr id="10" name="Label: Current observations, t"/>
          <p:cNvSpPr txBox="1"/>
          <p:nvPr/>
        </p:nvSpPr>
        <p:spPr>
          <a:xfrm>
            <a:off x="167640" y="91440"/>
            <a:ext cx="245364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Current observations, t</a:t>
            </a:r>
          </a:p>
        </p:txBody>
      </p:sp>
      <p:sp>
        <p:nvSpPr>
          <p:cNvPr id="11" name="Label: Image"/>
          <p:cNvSpPr txBox="1"/>
          <p:nvPr/>
        </p:nvSpPr>
        <p:spPr>
          <a:xfrm>
            <a:off x="411480" y="441960"/>
            <a:ext cx="7315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Image</a:t>
            </a:r>
          </a:p>
        </p:txBody>
      </p:sp>
      <p:pic>
        <p:nvPicPr>
          <p:cNvPr id="12" name="Current chest radiograp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693420"/>
            <a:ext cx="1059180" cy="960120"/>
          </a:xfrm>
          <a:prstGeom prst="rect">
            <a:avLst/>
          </a:prstGeom>
          <a:effectLst/>
        </p:spPr>
      </p:pic>
      <p:sp>
        <p:nvSpPr>
          <p:cNvPr id="13" name="Current V-JEPA encoder"/>
          <p:cNvSpPr/>
          <p:nvPr/>
        </p:nvSpPr>
        <p:spPr>
          <a:xfrm>
            <a:off x="1417320" y="58674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bel: V-JEPA / encoder"/>
          <p:cNvSpPr txBox="1"/>
          <p:nvPr/>
        </p:nvSpPr>
        <p:spPr>
          <a:xfrm>
            <a:off x="1485900" y="94488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5" name="Current D feature"/>
          <p:cNvSpPr/>
          <p:nvPr/>
        </p:nvSpPr>
        <p:spPr>
          <a:xfrm>
            <a:off x="25146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urrent D feature"/>
          <p:cNvSpPr/>
          <p:nvPr/>
        </p:nvSpPr>
        <p:spPr>
          <a:xfrm>
            <a:off x="26670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urrent D feature"/>
          <p:cNvSpPr/>
          <p:nvPr/>
        </p:nvSpPr>
        <p:spPr>
          <a:xfrm>
            <a:off x="28194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urrent D feature"/>
          <p:cNvSpPr/>
          <p:nvPr/>
        </p:nvSpPr>
        <p:spPr>
          <a:xfrm>
            <a:off x="25146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urrent D feature"/>
          <p:cNvSpPr/>
          <p:nvPr/>
        </p:nvSpPr>
        <p:spPr>
          <a:xfrm>
            <a:off x="26670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urrent D feature"/>
          <p:cNvSpPr/>
          <p:nvPr/>
        </p:nvSpPr>
        <p:spPr>
          <a:xfrm>
            <a:off x="28194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urrent D feature"/>
          <p:cNvSpPr/>
          <p:nvPr/>
        </p:nvSpPr>
        <p:spPr>
          <a:xfrm>
            <a:off x="25146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rrent D feature"/>
          <p:cNvSpPr/>
          <p:nvPr/>
        </p:nvSpPr>
        <p:spPr>
          <a:xfrm>
            <a:off x="26670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urrent D feature"/>
          <p:cNvSpPr/>
          <p:nvPr/>
        </p:nvSpPr>
        <p:spPr>
          <a:xfrm>
            <a:off x="28194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quation: Dt"/>
          <p:cNvSpPr txBox="1"/>
          <p:nvPr/>
        </p:nvSpPr>
        <p:spPr>
          <a:xfrm>
            <a:off x="2583180" y="60198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25" name="Visual adapter"/>
          <p:cNvSpPr/>
          <p:nvPr/>
        </p:nvSpPr>
        <p:spPr>
          <a:xfrm>
            <a:off x="3169920" y="91440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bel: Visual / adapter"/>
          <p:cNvSpPr txBox="1"/>
          <p:nvPr/>
        </p:nvSpPr>
        <p:spPr>
          <a:xfrm>
            <a:off x="3276600" y="99060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27" name="Report"/>
          <p:cNvSpPr/>
          <p:nvPr/>
        </p:nvSpPr>
        <p:spPr>
          <a:xfrm>
            <a:off x="160020" y="179832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abel: Report"/>
          <p:cNvSpPr txBox="1"/>
          <p:nvPr/>
        </p:nvSpPr>
        <p:spPr>
          <a:xfrm>
            <a:off x="266700" y="182880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Report</a:t>
            </a:r>
          </a:p>
        </p:txBody>
      </p:sp>
      <p:sp>
        <p:nvSpPr>
          <p:cNvPr id="29" name="Report document"/>
          <p:cNvSpPr/>
          <p:nvPr/>
        </p:nvSpPr>
        <p:spPr>
          <a:xfrm>
            <a:off x="297180" y="209550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ion"/>
          <p:cNvCxnSpPr/>
          <p:nvPr/>
        </p:nvCxnSpPr>
        <p:spPr>
          <a:xfrm>
            <a:off x="472440" y="209550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ion"/>
          <p:cNvCxnSpPr/>
          <p:nvPr/>
        </p:nvCxnSpPr>
        <p:spPr>
          <a:xfrm>
            <a:off x="472440" y="217932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ion"/>
          <p:cNvCxnSpPr/>
          <p:nvPr/>
        </p:nvCxnSpPr>
        <p:spPr>
          <a:xfrm>
            <a:off x="350520" y="223266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ion"/>
          <p:cNvCxnSpPr/>
          <p:nvPr/>
        </p:nvCxnSpPr>
        <p:spPr>
          <a:xfrm>
            <a:off x="350520" y="229362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ion"/>
          <p:cNvCxnSpPr/>
          <p:nvPr/>
        </p:nvCxnSpPr>
        <p:spPr>
          <a:xfrm>
            <a:off x="350520" y="236220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abel: Findings: ... / Impression: ..."/>
          <p:cNvSpPr txBox="1"/>
          <p:nvPr/>
        </p:nvSpPr>
        <p:spPr>
          <a:xfrm>
            <a:off x="708660" y="208026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36" name="Tokenizer and embedding"/>
          <p:cNvSpPr/>
          <p:nvPr/>
        </p:nvSpPr>
        <p:spPr>
          <a:xfrm>
            <a:off x="1882139" y="195072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abel: Tokenizer + / embedding"/>
          <p:cNvSpPr txBox="1"/>
          <p:nvPr/>
        </p:nvSpPr>
        <p:spPr>
          <a:xfrm>
            <a:off x="1950720" y="198882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38" name="Report text token"/>
          <p:cNvSpPr/>
          <p:nvPr/>
        </p:nvSpPr>
        <p:spPr>
          <a:xfrm>
            <a:off x="317754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port text token"/>
          <p:cNvSpPr/>
          <p:nvPr/>
        </p:nvSpPr>
        <p:spPr>
          <a:xfrm>
            <a:off x="339090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port text token"/>
          <p:cNvSpPr/>
          <p:nvPr/>
        </p:nvSpPr>
        <p:spPr>
          <a:xfrm>
            <a:off x="360426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Label: Text tokens"/>
          <p:cNvSpPr txBox="1"/>
          <p:nvPr/>
        </p:nvSpPr>
        <p:spPr>
          <a:xfrm>
            <a:off x="3131820" y="230886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42" name="Current VLM"/>
          <p:cNvSpPr/>
          <p:nvPr/>
        </p:nvSpPr>
        <p:spPr>
          <a:xfrm>
            <a:off x="4236720" y="64770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abel: VLM"/>
          <p:cNvSpPr txBox="1"/>
          <p:nvPr/>
        </p:nvSpPr>
        <p:spPr>
          <a:xfrm>
            <a:off x="5440680" y="693420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44" name="Label: LoRA"/>
          <p:cNvSpPr txBox="1"/>
          <p:nvPr/>
        </p:nvSpPr>
        <p:spPr>
          <a:xfrm>
            <a:off x="7040880" y="73914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45" name="Current VLM input strip"/>
          <p:cNvSpPr/>
          <p:nvPr/>
        </p:nvSpPr>
        <p:spPr>
          <a:xfrm>
            <a:off x="4305300" y="105918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Label: Visual tokens"/>
          <p:cNvSpPr txBox="1"/>
          <p:nvPr/>
        </p:nvSpPr>
        <p:spPr>
          <a:xfrm>
            <a:off x="4404360" y="111252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47" name="Label: Text tokens"/>
          <p:cNvSpPr txBox="1"/>
          <p:nvPr/>
        </p:nvSpPr>
        <p:spPr>
          <a:xfrm>
            <a:off x="5349240" y="111252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48" name="Label: Learned slots U"/>
          <p:cNvSpPr txBox="1"/>
          <p:nvPr/>
        </p:nvSpPr>
        <p:spPr>
          <a:xfrm>
            <a:off x="6362700" y="111252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49" name="Current VLM visual token"/>
          <p:cNvSpPr/>
          <p:nvPr/>
        </p:nvSpPr>
        <p:spPr>
          <a:xfrm>
            <a:off x="441198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urrent VLM text token"/>
          <p:cNvSpPr/>
          <p:nvPr/>
        </p:nvSpPr>
        <p:spPr>
          <a:xfrm>
            <a:off x="532638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urrent VLM visual token"/>
          <p:cNvSpPr/>
          <p:nvPr/>
        </p:nvSpPr>
        <p:spPr>
          <a:xfrm>
            <a:off x="462534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urrent VLM text token"/>
          <p:cNvSpPr/>
          <p:nvPr/>
        </p:nvSpPr>
        <p:spPr>
          <a:xfrm>
            <a:off x="553974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urrent VLM visual token"/>
          <p:cNvSpPr/>
          <p:nvPr/>
        </p:nvSpPr>
        <p:spPr>
          <a:xfrm>
            <a:off x="483870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urrent VLM text token"/>
          <p:cNvSpPr/>
          <p:nvPr/>
        </p:nvSpPr>
        <p:spPr>
          <a:xfrm>
            <a:off x="575310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abel: ..."/>
          <p:cNvSpPr txBox="1"/>
          <p:nvPr/>
        </p:nvSpPr>
        <p:spPr>
          <a:xfrm>
            <a:off x="5090160" y="132588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6" name="Label: ..."/>
          <p:cNvSpPr txBox="1"/>
          <p:nvPr/>
        </p:nvSpPr>
        <p:spPr>
          <a:xfrm>
            <a:off x="5989320" y="132588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7" name="Current VLM input slot 1/8"/>
          <p:cNvSpPr/>
          <p:nvPr/>
        </p:nvSpPr>
        <p:spPr>
          <a:xfrm>
            <a:off x="62179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urrent VLM input slot 2/8"/>
          <p:cNvSpPr/>
          <p:nvPr/>
        </p:nvSpPr>
        <p:spPr>
          <a:xfrm>
            <a:off x="63703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urrent VLM input slot 3/8"/>
          <p:cNvSpPr/>
          <p:nvPr/>
        </p:nvSpPr>
        <p:spPr>
          <a:xfrm>
            <a:off x="65227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urrent VLM input slot 4/8"/>
          <p:cNvSpPr/>
          <p:nvPr/>
        </p:nvSpPr>
        <p:spPr>
          <a:xfrm>
            <a:off x="66751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urrent VLM input slot 5/8"/>
          <p:cNvSpPr/>
          <p:nvPr/>
        </p:nvSpPr>
        <p:spPr>
          <a:xfrm>
            <a:off x="68275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urrent VLM input slot 6/8"/>
          <p:cNvSpPr/>
          <p:nvPr/>
        </p:nvSpPr>
        <p:spPr>
          <a:xfrm>
            <a:off x="69799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urrent VLM input slot 7/8"/>
          <p:cNvSpPr/>
          <p:nvPr/>
        </p:nvSpPr>
        <p:spPr>
          <a:xfrm>
            <a:off x="71323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urrent VLM input slot 8/8"/>
          <p:cNvSpPr/>
          <p:nvPr/>
        </p:nvSpPr>
        <p:spPr>
          <a:xfrm>
            <a:off x="72847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Equation: 8 × d"/>
          <p:cNvSpPr txBox="1"/>
          <p:nvPr/>
        </p:nvSpPr>
        <p:spPr>
          <a:xfrm>
            <a:off x="6614160" y="156972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66" name="Connection"/>
          <p:cNvCxnSpPr/>
          <p:nvPr/>
        </p:nvCxnSpPr>
        <p:spPr>
          <a:xfrm>
            <a:off x="5905500" y="175260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rrent VLM transformer block"/>
          <p:cNvSpPr/>
          <p:nvPr/>
        </p:nvSpPr>
        <p:spPr>
          <a:xfrm>
            <a:off x="5135880" y="187452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Current VLM transformer block"/>
          <p:cNvSpPr/>
          <p:nvPr/>
        </p:nvSpPr>
        <p:spPr>
          <a:xfrm>
            <a:off x="5410200" y="187452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Label: ..."/>
          <p:cNvSpPr txBox="1"/>
          <p:nvPr/>
        </p:nvSpPr>
        <p:spPr>
          <a:xfrm>
            <a:off x="5768340" y="199644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70" name="Label: Transformer"/>
          <p:cNvSpPr txBox="1"/>
          <p:nvPr/>
        </p:nvSpPr>
        <p:spPr>
          <a:xfrm>
            <a:off x="6134100" y="202692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71" name="Current state"/>
          <p:cNvSpPr/>
          <p:nvPr/>
        </p:nvSpPr>
        <p:spPr>
          <a:xfrm>
            <a:off x="8107680" y="1181100"/>
            <a:ext cx="137160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abel: Current state"/>
          <p:cNvSpPr txBox="1"/>
          <p:nvPr/>
        </p:nvSpPr>
        <p:spPr>
          <a:xfrm>
            <a:off x="8168640" y="127254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Current state</a:t>
            </a:r>
          </a:p>
        </p:txBody>
      </p:sp>
      <p:sp>
        <p:nvSpPr>
          <p:cNvPr id="73" name="Equation: St"/>
          <p:cNvSpPr txBox="1"/>
          <p:nvPr/>
        </p:nvSpPr>
        <p:spPr>
          <a:xfrm>
            <a:off x="9197340" y="124206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74" name="Current state output token 1/8"/>
          <p:cNvSpPr/>
          <p:nvPr/>
        </p:nvSpPr>
        <p:spPr>
          <a:xfrm>
            <a:off x="81991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Current state output token 2/8"/>
          <p:cNvSpPr/>
          <p:nvPr/>
        </p:nvSpPr>
        <p:spPr>
          <a:xfrm>
            <a:off x="83515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urrent state output token 3/8"/>
          <p:cNvSpPr/>
          <p:nvPr/>
        </p:nvSpPr>
        <p:spPr>
          <a:xfrm>
            <a:off x="85039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urrent state output token 4/8"/>
          <p:cNvSpPr/>
          <p:nvPr/>
        </p:nvSpPr>
        <p:spPr>
          <a:xfrm>
            <a:off x="86563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urrent state output token 5/8"/>
          <p:cNvSpPr/>
          <p:nvPr/>
        </p:nvSpPr>
        <p:spPr>
          <a:xfrm>
            <a:off x="88087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Current state output token 6/8"/>
          <p:cNvSpPr/>
          <p:nvPr/>
        </p:nvSpPr>
        <p:spPr>
          <a:xfrm>
            <a:off x="89611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urrent state output token 7/8"/>
          <p:cNvSpPr/>
          <p:nvPr/>
        </p:nvSpPr>
        <p:spPr>
          <a:xfrm>
            <a:off x="91135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urrent state output token 8/8"/>
          <p:cNvSpPr/>
          <p:nvPr/>
        </p:nvSpPr>
        <p:spPr>
          <a:xfrm>
            <a:off x="92659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Equation: 8 × d"/>
          <p:cNvSpPr txBox="1"/>
          <p:nvPr/>
        </p:nvSpPr>
        <p:spPr>
          <a:xfrm>
            <a:off x="8610600" y="184404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83" name="Image to encoder"/>
          <p:cNvCxnSpPr/>
          <p:nvPr/>
        </p:nvCxnSpPr>
        <p:spPr>
          <a:xfrm>
            <a:off x="1219200" y="1158240"/>
            <a:ext cx="19812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ncoder to spatial features"/>
          <p:cNvCxnSpPr/>
          <p:nvPr/>
        </p:nvCxnSpPr>
        <p:spPr>
          <a:xfrm>
            <a:off x="2293620" y="118110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patial features to visual adapter"/>
          <p:cNvCxnSpPr/>
          <p:nvPr/>
        </p:nvCxnSpPr>
        <p:spPr>
          <a:xfrm>
            <a:off x="2948940" y="118110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isual adapter to VLM"/>
          <p:cNvCxnSpPr/>
          <p:nvPr/>
        </p:nvCxnSpPr>
        <p:spPr>
          <a:xfrm>
            <a:off x="3977639" y="118110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eport to tokenizer"/>
          <p:cNvCxnSpPr/>
          <p:nvPr/>
        </p:nvCxnSpPr>
        <p:spPr>
          <a:xfrm>
            <a:off x="1600200" y="219456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Tokenizer to report tokens"/>
          <p:cNvCxnSpPr/>
          <p:nvPr/>
        </p:nvCxnSpPr>
        <p:spPr>
          <a:xfrm>
            <a:off x="2918460" y="219456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port tokens to VLM"/>
          <p:cNvCxnSpPr/>
          <p:nvPr/>
        </p:nvCxnSpPr>
        <p:spPr>
          <a:xfrm>
            <a:off x="3779520" y="219456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eport tokens to VLM"/>
          <p:cNvCxnSpPr/>
          <p:nvPr/>
        </p:nvCxnSpPr>
        <p:spPr>
          <a:xfrm flipV="1">
            <a:off x="4015740" y="1927860"/>
            <a:ext cx="0" cy="2667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eport tokens to VLM"/>
          <p:cNvCxnSpPr/>
          <p:nvPr/>
        </p:nvCxnSpPr>
        <p:spPr>
          <a:xfrm>
            <a:off x="4015740" y="192786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lot hidden states to state readout"/>
          <p:cNvCxnSpPr/>
          <p:nvPr/>
        </p:nvCxnSpPr>
        <p:spPr>
          <a:xfrm>
            <a:off x="7574280" y="175260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Label: Slot hidden / states"/>
          <p:cNvSpPr txBox="1"/>
          <p:nvPr/>
        </p:nvSpPr>
        <p:spPr>
          <a:xfrm>
            <a:off x="7597140" y="1386839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sp>
        <p:nvSpPr>
          <p:cNvPr id="94" name="Label: Observed future, t⁺"/>
          <p:cNvSpPr txBox="1"/>
          <p:nvPr/>
        </p:nvSpPr>
        <p:spPr>
          <a:xfrm>
            <a:off x="167640" y="3154680"/>
            <a:ext cx="19050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Observed future, t⁺</a:t>
            </a:r>
          </a:p>
        </p:txBody>
      </p:sp>
      <p:sp>
        <p:nvSpPr>
          <p:cNvPr id="95" name="Label: (Training target)"/>
          <p:cNvSpPr txBox="1"/>
          <p:nvPr/>
        </p:nvSpPr>
        <p:spPr>
          <a:xfrm>
            <a:off x="2156460" y="3169920"/>
            <a:ext cx="129540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(Training target)</a:t>
            </a:r>
          </a:p>
        </p:txBody>
      </p:sp>
      <p:sp>
        <p:nvSpPr>
          <p:cNvPr id="96" name="Label: Follow-up image"/>
          <p:cNvSpPr txBox="1"/>
          <p:nvPr/>
        </p:nvSpPr>
        <p:spPr>
          <a:xfrm>
            <a:off x="182880" y="3489959"/>
            <a:ext cx="13030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image</a:t>
            </a:r>
          </a:p>
        </p:txBody>
      </p:sp>
      <p:pic>
        <p:nvPicPr>
          <p:cNvPr id="97" name="Follow-up chest radi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3733800"/>
            <a:ext cx="1028700" cy="861060"/>
          </a:xfrm>
          <a:prstGeom prst="rect">
            <a:avLst/>
          </a:prstGeom>
          <a:effectLst/>
        </p:spPr>
      </p:pic>
      <p:sp>
        <p:nvSpPr>
          <p:cNvPr id="98" name="Future V-JEPA encoder"/>
          <p:cNvSpPr/>
          <p:nvPr/>
        </p:nvSpPr>
        <p:spPr>
          <a:xfrm>
            <a:off x="1417320" y="355854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Label: V-JEPA / encoder"/>
          <p:cNvSpPr txBox="1"/>
          <p:nvPr/>
        </p:nvSpPr>
        <p:spPr>
          <a:xfrm>
            <a:off x="1485900" y="391668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00" name="Future D feature"/>
          <p:cNvSpPr/>
          <p:nvPr/>
        </p:nvSpPr>
        <p:spPr>
          <a:xfrm>
            <a:off x="25146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uture D feature"/>
          <p:cNvSpPr/>
          <p:nvPr/>
        </p:nvSpPr>
        <p:spPr>
          <a:xfrm>
            <a:off x="26670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uture D feature"/>
          <p:cNvSpPr/>
          <p:nvPr/>
        </p:nvSpPr>
        <p:spPr>
          <a:xfrm>
            <a:off x="28194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uture D feature"/>
          <p:cNvSpPr/>
          <p:nvPr/>
        </p:nvSpPr>
        <p:spPr>
          <a:xfrm>
            <a:off x="25146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uture D feature"/>
          <p:cNvSpPr/>
          <p:nvPr/>
        </p:nvSpPr>
        <p:spPr>
          <a:xfrm>
            <a:off x="26670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uture D feature"/>
          <p:cNvSpPr/>
          <p:nvPr/>
        </p:nvSpPr>
        <p:spPr>
          <a:xfrm>
            <a:off x="28194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Future D feature"/>
          <p:cNvSpPr/>
          <p:nvPr/>
        </p:nvSpPr>
        <p:spPr>
          <a:xfrm>
            <a:off x="25146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Future D feature"/>
          <p:cNvSpPr/>
          <p:nvPr/>
        </p:nvSpPr>
        <p:spPr>
          <a:xfrm>
            <a:off x="26670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Future D feature"/>
          <p:cNvSpPr/>
          <p:nvPr/>
        </p:nvSpPr>
        <p:spPr>
          <a:xfrm>
            <a:off x="28194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Equation: D*t⁺"/>
          <p:cNvSpPr txBox="1"/>
          <p:nvPr/>
        </p:nvSpPr>
        <p:spPr>
          <a:xfrm>
            <a:off x="2583180" y="357378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10" name="Visual adapter"/>
          <p:cNvSpPr/>
          <p:nvPr/>
        </p:nvSpPr>
        <p:spPr>
          <a:xfrm>
            <a:off x="3169920" y="388620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Label: Visual / adapter"/>
          <p:cNvSpPr txBox="1"/>
          <p:nvPr/>
        </p:nvSpPr>
        <p:spPr>
          <a:xfrm>
            <a:off x="3276600" y="396240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112" name="Follow-up report"/>
          <p:cNvSpPr/>
          <p:nvPr/>
        </p:nvSpPr>
        <p:spPr>
          <a:xfrm>
            <a:off x="160020" y="473964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Label: Follow-up report"/>
          <p:cNvSpPr txBox="1"/>
          <p:nvPr/>
        </p:nvSpPr>
        <p:spPr>
          <a:xfrm>
            <a:off x="266700" y="477012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report</a:t>
            </a:r>
          </a:p>
        </p:txBody>
      </p:sp>
      <p:sp>
        <p:nvSpPr>
          <p:cNvPr id="114" name="Report document"/>
          <p:cNvSpPr/>
          <p:nvPr/>
        </p:nvSpPr>
        <p:spPr>
          <a:xfrm>
            <a:off x="297180" y="503682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ion"/>
          <p:cNvCxnSpPr/>
          <p:nvPr/>
        </p:nvCxnSpPr>
        <p:spPr>
          <a:xfrm>
            <a:off x="472440" y="503682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ion"/>
          <p:cNvCxnSpPr/>
          <p:nvPr/>
        </p:nvCxnSpPr>
        <p:spPr>
          <a:xfrm>
            <a:off x="472440" y="512064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ion"/>
          <p:cNvCxnSpPr/>
          <p:nvPr/>
        </p:nvCxnSpPr>
        <p:spPr>
          <a:xfrm>
            <a:off x="350520" y="517398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ion"/>
          <p:cNvCxnSpPr/>
          <p:nvPr/>
        </p:nvCxnSpPr>
        <p:spPr>
          <a:xfrm>
            <a:off x="350520" y="523494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ion"/>
          <p:cNvCxnSpPr/>
          <p:nvPr/>
        </p:nvCxnSpPr>
        <p:spPr>
          <a:xfrm>
            <a:off x="350520" y="530352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Label: Findings: ... / Impression: ..."/>
          <p:cNvSpPr txBox="1"/>
          <p:nvPr/>
        </p:nvSpPr>
        <p:spPr>
          <a:xfrm>
            <a:off x="708660" y="502158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121" name="Tokenizer and embedding"/>
          <p:cNvSpPr/>
          <p:nvPr/>
        </p:nvSpPr>
        <p:spPr>
          <a:xfrm>
            <a:off x="1882139" y="490728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abel: Tokenizer + / embedding"/>
          <p:cNvSpPr txBox="1"/>
          <p:nvPr/>
        </p:nvSpPr>
        <p:spPr>
          <a:xfrm>
            <a:off x="1950720" y="494538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123" name="Report text token"/>
          <p:cNvSpPr/>
          <p:nvPr/>
        </p:nvSpPr>
        <p:spPr>
          <a:xfrm>
            <a:off x="317754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port text token"/>
          <p:cNvSpPr/>
          <p:nvPr/>
        </p:nvSpPr>
        <p:spPr>
          <a:xfrm>
            <a:off x="339090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port text token"/>
          <p:cNvSpPr/>
          <p:nvPr/>
        </p:nvSpPr>
        <p:spPr>
          <a:xfrm>
            <a:off x="360426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Label: Text tokens"/>
          <p:cNvSpPr txBox="1"/>
          <p:nvPr/>
        </p:nvSpPr>
        <p:spPr>
          <a:xfrm>
            <a:off x="3131820" y="526542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127" name="Future VLM"/>
          <p:cNvSpPr/>
          <p:nvPr/>
        </p:nvSpPr>
        <p:spPr>
          <a:xfrm>
            <a:off x="4236720" y="357378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Label: VLM"/>
          <p:cNvSpPr txBox="1"/>
          <p:nvPr/>
        </p:nvSpPr>
        <p:spPr>
          <a:xfrm>
            <a:off x="5440680" y="3619499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129" name="Label: LoRA"/>
          <p:cNvSpPr txBox="1"/>
          <p:nvPr/>
        </p:nvSpPr>
        <p:spPr>
          <a:xfrm>
            <a:off x="7040880" y="366522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130" name="Future VLM input strip"/>
          <p:cNvSpPr/>
          <p:nvPr/>
        </p:nvSpPr>
        <p:spPr>
          <a:xfrm>
            <a:off x="4305300" y="398526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Label: Visual tokens"/>
          <p:cNvSpPr txBox="1"/>
          <p:nvPr/>
        </p:nvSpPr>
        <p:spPr>
          <a:xfrm>
            <a:off x="4404360" y="403860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132" name="Label: Text tokens"/>
          <p:cNvSpPr txBox="1"/>
          <p:nvPr/>
        </p:nvSpPr>
        <p:spPr>
          <a:xfrm>
            <a:off x="5349240" y="403860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133" name="Label: Learned slots U"/>
          <p:cNvSpPr txBox="1"/>
          <p:nvPr/>
        </p:nvSpPr>
        <p:spPr>
          <a:xfrm>
            <a:off x="6362700" y="403860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134" name="Future VLM visual token"/>
          <p:cNvSpPr/>
          <p:nvPr/>
        </p:nvSpPr>
        <p:spPr>
          <a:xfrm>
            <a:off x="441198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uture VLM text token"/>
          <p:cNvSpPr/>
          <p:nvPr/>
        </p:nvSpPr>
        <p:spPr>
          <a:xfrm>
            <a:off x="532638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uture VLM visual token"/>
          <p:cNvSpPr/>
          <p:nvPr/>
        </p:nvSpPr>
        <p:spPr>
          <a:xfrm>
            <a:off x="462534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Future VLM text token"/>
          <p:cNvSpPr/>
          <p:nvPr/>
        </p:nvSpPr>
        <p:spPr>
          <a:xfrm>
            <a:off x="553974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Future VLM visual token"/>
          <p:cNvSpPr/>
          <p:nvPr/>
        </p:nvSpPr>
        <p:spPr>
          <a:xfrm>
            <a:off x="483870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uture VLM text token"/>
          <p:cNvSpPr/>
          <p:nvPr/>
        </p:nvSpPr>
        <p:spPr>
          <a:xfrm>
            <a:off x="575310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Label: ..."/>
          <p:cNvSpPr txBox="1"/>
          <p:nvPr/>
        </p:nvSpPr>
        <p:spPr>
          <a:xfrm>
            <a:off x="5090160" y="425196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1" name="Label: ..."/>
          <p:cNvSpPr txBox="1"/>
          <p:nvPr/>
        </p:nvSpPr>
        <p:spPr>
          <a:xfrm>
            <a:off x="5989320" y="425196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2" name="Future VLM input slot 1/8"/>
          <p:cNvSpPr/>
          <p:nvPr/>
        </p:nvSpPr>
        <p:spPr>
          <a:xfrm>
            <a:off x="62179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uture VLM input slot 2/8"/>
          <p:cNvSpPr/>
          <p:nvPr/>
        </p:nvSpPr>
        <p:spPr>
          <a:xfrm>
            <a:off x="63703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Future VLM input slot 3/8"/>
          <p:cNvSpPr/>
          <p:nvPr/>
        </p:nvSpPr>
        <p:spPr>
          <a:xfrm>
            <a:off x="65227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uture VLM input slot 4/8"/>
          <p:cNvSpPr/>
          <p:nvPr/>
        </p:nvSpPr>
        <p:spPr>
          <a:xfrm>
            <a:off x="66751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uture VLM input slot 5/8"/>
          <p:cNvSpPr/>
          <p:nvPr/>
        </p:nvSpPr>
        <p:spPr>
          <a:xfrm>
            <a:off x="68275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Future VLM input slot 6/8"/>
          <p:cNvSpPr/>
          <p:nvPr/>
        </p:nvSpPr>
        <p:spPr>
          <a:xfrm>
            <a:off x="69799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uture VLM input slot 7/8"/>
          <p:cNvSpPr/>
          <p:nvPr/>
        </p:nvSpPr>
        <p:spPr>
          <a:xfrm>
            <a:off x="71323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Future VLM input slot 8/8"/>
          <p:cNvSpPr/>
          <p:nvPr/>
        </p:nvSpPr>
        <p:spPr>
          <a:xfrm>
            <a:off x="72847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Equation: 8 × d"/>
          <p:cNvSpPr txBox="1"/>
          <p:nvPr/>
        </p:nvSpPr>
        <p:spPr>
          <a:xfrm>
            <a:off x="6614160" y="449580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51" name="Connection"/>
          <p:cNvCxnSpPr/>
          <p:nvPr/>
        </p:nvCxnSpPr>
        <p:spPr>
          <a:xfrm>
            <a:off x="5905500" y="467868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Future VLM transformer block"/>
          <p:cNvSpPr/>
          <p:nvPr/>
        </p:nvSpPr>
        <p:spPr>
          <a:xfrm>
            <a:off x="5135880" y="48006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Future VLM transformer block"/>
          <p:cNvSpPr/>
          <p:nvPr/>
        </p:nvSpPr>
        <p:spPr>
          <a:xfrm>
            <a:off x="5410200" y="48006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Label: ..."/>
          <p:cNvSpPr txBox="1"/>
          <p:nvPr/>
        </p:nvSpPr>
        <p:spPr>
          <a:xfrm>
            <a:off x="5768340" y="492252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55" name="Label: Transformer"/>
          <p:cNvSpPr txBox="1"/>
          <p:nvPr/>
        </p:nvSpPr>
        <p:spPr>
          <a:xfrm>
            <a:off x="6134100" y="495300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56" name="Future target"/>
          <p:cNvSpPr/>
          <p:nvPr/>
        </p:nvSpPr>
        <p:spPr>
          <a:xfrm>
            <a:off x="8107680" y="4175760"/>
            <a:ext cx="134112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Label: Future target"/>
          <p:cNvSpPr txBox="1"/>
          <p:nvPr/>
        </p:nvSpPr>
        <p:spPr>
          <a:xfrm>
            <a:off x="8168640" y="426720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Future target</a:t>
            </a:r>
          </a:p>
        </p:txBody>
      </p:sp>
      <p:sp>
        <p:nvSpPr>
          <p:cNvPr id="158" name="Equation: S*t⁺"/>
          <p:cNvSpPr txBox="1"/>
          <p:nvPr/>
        </p:nvSpPr>
        <p:spPr>
          <a:xfrm>
            <a:off x="9121140" y="423672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59" name="Future target output token 1/8"/>
          <p:cNvSpPr/>
          <p:nvPr/>
        </p:nvSpPr>
        <p:spPr>
          <a:xfrm>
            <a:off x="81991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Future target output token 2/8"/>
          <p:cNvSpPr/>
          <p:nvPr/>
        </p:nvSpPr>
        <p:spPr>
          <a:xfrm>
            <a:off x="83515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uture target output token 3/8"/>
          <p:cNvSpPr/>
          <p:nvPr/>
        </p:nvSpPr>
        <p:spPr>
          <a:xfrm>
            <a:off x="85039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Future target output token 4/8"/>
          <p:cNvSpPr/>
          <p:nvPr/>
        </p:nvSpPr>
        <p:spPr>
          <a:xfrm>
            <a:off x="86563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uture target output token 5/8"/>
          <p:cNvSpPr/>
          <p:nvPr/>
        </p:nvSpPr>
        <p:spPr>
          <a:xfrm>
            <a:off x="88087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Future target output token 6/8"/>
          <p:cNvSpPr/>
          <p:nvPr/>
        </p:nvSpPr>
        <p:spPr>
          <a:xfrm>
            <a:off x="89611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Future target output token 7/8"/>
          <p:cNvSpPr/>
          <p:nvPr/>
        </p:nvSpPr>
        <p:spPr>
          <a:xfrm>
            <a:off x="91135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Future target output token 8/8"/>
          <p:cNvSpPr/>
          <p:nvPr/>
        </p:nvSpPr>
        <p:spPr>
          <a:xfrm>
            <a:off x="92659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Equation: 8 × d"/>
          <p:cNvSpPr txBox="1"/>
          <p:nvPr/>
        </p:nvSpPr>
        <p:spPr>
          <a:xfrm>
            <a:off x="8610600" y="489204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68" name="Image to encoder"/>
          <p:cNvCxnSpPr/>
          <p:nvPr/>
        </p:nvCxnSpPr>
        <p:spPr>
          <a:xfrm>
            <a:off x="1203960" y="4130040"/>
            <a:ext cx="2133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ncoder to spatial features"/>
          <p:cNvCxnSpPr/>
          <p:nvPr/>
        </p:nvCxnSpPr>
        <p:spPr>
          <a:xfrm>
            <a:off x="2293620" y="415290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patial features to visual adapter"/>
          <p:cNvCxnSpPr/>
          <p:nvPr/>
        </p:nvCxnSpPr>
        <p:spPr>
          <a:xfrm>
            <a:off x="2948940" y="415290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Visual adapter to VLM"/>
          <p:cNvCxnSpPr/>
          <p:nvPr/>
        </p:nvCxnSpPr>
        <p:spPr>
          <a:xfrm>
            <a:off x="3977639" y="415290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port to tokenizer"/>
          <p:cNvCxnSpPr/>
          <p:nvPr/>
        </p:nvCxnSpPr>
        <p:spPr>
          <a:xfrm>
            <a:off x="1600200" y="515112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Tokenizer to report tokens"/>
          <p:cNvCxnSpPr/>
          <p:nvPr/>
        </p:nvCxnSpPr>
        <p:spPr>
          <a:xfrm>
            <a:off x="2918460" y="515112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port tokens to VLM"/>
          <p:cNvCxnSpPr/>
          <p:nvPr/>
        </p:nvCxnSpPr>
        <p:spPr>
          <a:xfrm>
            <a:off x="3779520" y="515112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port tokens to VLM"/>
          <p:cNvCxnSpPr/>
          <p:nvPr/>
        </p:nvCxnSpPr>
        <p:spPr>
          <a:xfrm flipV="1">
            <a:off x="4015740" y="4853940"/>
            <a:ext cx="0" cy="2971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Report tokens to VLM"/>
          <p:cNvCxnSpPr/>
          <p:nvPr/>
        </p:nvCxnSpPr>
        <p:spPr>
          <a:xfrm>
            <a:off x="4015740" y="485394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lot hidden states to state readout"/>
          <p:cNvCxnSpPr/>
          <p:nvPr/>
        </p:nvCxnSpPr>
        <p:spPr>
          <a:xfrm>
            <a:off x="7574280" y="467868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Label: Slot hidden / states"/>
          <p:cNvSpPr txBox="1"/>
          <p:nvPr/>
        </p:nvSpPr>
        <p:spPr>
          <a:xfrm>
            <a:off x="7597140" y="4312920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cxnSp>
        <p:nvCxnSpPr>
          <p:cNvPr id="179" name="Input image to spatial task decoder"/>
          <p:cNvCxnSpPr/>
          <p:nvPr/>
        </p:nvCxnSpPr>
        <p:spPr>
          <a:xfrm flipV="1">
            <a:off x="1164336" y="365760"/>
            <a:ext cx="0" cy="32766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Input image to spatial task decoder"/>
          <p:cNvCxnSpPr/>
          <p:nvPr/>
        </p:nvCxnSpPr>
        <p:spPr>
          <a:xfrm>
            <a:off x="1164336" y="365760"/>
            <a:ext cx="8695944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Input image to spatial task decoder"/>
          <p:cNvCxnSpPr/>
          <p:nvPr/>
        </p:nvCxnSpPr>
        <p:spPr>
          <a:xfrm>
            <a:off x="9860280" y="365760"/>
            <a:ext cx="0" cy="1059180"/>
          </a:xfrm>
          <a:prstGeom prst="line">
            <a:avLst/>
          </a:prstGeom>
          <a:ln w="1778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Equation: Xt (spatial input)"/>
          <p:cNvSpPr txBox="1"/>
          <p:nvPr/>
        </p:nvSpPr>
        <p:spPr>
          <a:xfrm>
            <a:off x="4701540" y="91440"/>
            <a:ext cx="3352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i="1">
                <a:solidFill>
                  <a:srgbClr val="0086DC"/>
                </a:solidFill>
                <a:latin typeface="Times New Roman"/>
              </a:rPr>
              <a:t>X</a:t>
            </a:r>
            <a:r>
              <a:rPr sz="1440" i="1" baseline="-25000">
                <a:solidFill>
                  <a:srgbClr val="0086DC"/>
                </a:solidFill>
                <a:latin typeface="Times New Roman"/>
              </a:rPr>
              <a:t>t</a:t>
            </a:r>
          </a:p>
        </p:txBody>
      </p:sp>
      <p:sp>
        <p:nvSpPr>
          <p:cNvPr id="185" name="Task decoder"/>
          <p:cNvSpPr/>
          <p:nvPr/>
        </p:nvSpPr>
        <p:spPr>
          <a:xfrm>
            <a:off x="9662160" y="1424940"/>
            <a:ext cx="1638300" cy="1165860"/>
          </a:xfrm>
          <a:prstGeom prst="roundRect">
            <a:avLst>
              <a:gd name="adj" fmla="val 12000"/>
            </a:avLst>
          </a:prstGeom>
          <a:solidFill>
            <a:srgbClr val="CFE7B5"/>
          </a:solidFill>
          <a:ln w="13970">
            <a:solidFill>
              <a:srgbClr val="3E6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Label: Task decoder"/>
          <p:cNvSpPr txBox="1"/>
          <p:nvPr/>
        </p:nvSpPr>
        <p:spPr>
          <a:xfrm>
            <a:off x="9799320" y="1524000"/>
            <a:ext cx="13716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1717"/>
                </a:solidFill>
                <a:latin typeface="Comic Sans MS"/>
              </a:rPr>
              <a:t>Task decoder</a:t>
            </a:r>
          </a:p>
        </p:txBody>
      </p:sp>
      <p:sp>
        <p:nvSpPr>
          <p:cNvPr id="187" name="Task transformer block"/>
          <p:cNvSpPr/>
          <p:nvPr/>
        </p:nvSpPr>
        <p:spPr>
          <a:xfrm>
            <a:off x="10058400" y="182880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ask transformer block"/>
          <p:cNvSpPr/>
          <p:nvPr/>
        </p:nvSpPr>
        <p:spPr>
          <a:xfrm>
            <a:off x="10713720" y="182880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Label: ..."/>
          <p:cNvSpPr txBox="1"/>
          <p:nvPr/>
        </p:nvSpPr>
        <p:spPr>
          <a:xfrm>
            <a:off x="10347960" y="1889760"/>
            <a:ext cx="23622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90" name="Label: Transformer"/>
          <p:cNvSpPr txBox="1"/>
          <p:nvPr/>
        </p:nvSpPr>
        <p:spPr>
          <a:xfrm>
            <a:off x="9959340" y="2316480"/>
            <a:ext cx="115062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91" name="Label: Task query"/>
          <p:cNvSpPr txBox="1"/>
          <p:nvPr/>
        </p:nvSpPr>
        <p:spPr>
          <a:xfrm>
            <a:off x="10073640" y="655320"/>
            <a:ext cx="83820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Task query</a:t>
            </a:r>
          </a:p>
        </p:txBody>
      </p:sp>
      <p:sp>
        <p:nvSpPr>
          <p:cNvPr id="192" name="Equation: Q"/>
          <p:cNvSpPr txBox="1"/>
          <p:nvPr/>
        </p:nvSpPr>
        <p:spPr>
          <a:xfrm>
            <a:off x="11033760" y="655320"/>
            <a:ext cx="22860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Q</a:t>
            </a:r>
          </a:p>
        </p:txBody>
      </p:sp>
      <p:sp>
        <p:nvSpPr>
          <p:cNvPr id="193" name="Task query prompt"/>
          <p:cNvSpPr/>
          <p:nvPr/>
        </p:nvSpPr>
        <p:spPr>
          <a:xfrm>
            <a:off x="9944100" y="906780"/>
            <a:ext cx="1295400" cy="335280"/>
          </a:xfrm>
          <a:prstGeom prst="roundRect">
            <a:avLst>
              <a:gd name="adj" fmla="val 8000"/>
            </a:avLst>
          </a:prstGeom>
          <a:solidFill>
            <a:srgbClr val="F3FAFE"/>
          </a:soli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lIns="30480" rIns="30480" tIns="0" bIns="0"/>
          <a:lstStyle/>
          <a:p>
            <a:pPr algn="ctr"/>
            <a:r>
              <a:rPr lang="en-US" sz="930">
                <a:solidFill>
                  <a:srgbClr val="171717"/>
                </a:solidFill>
                <a:latin typeface="Arial"/>
              </a:rPr>
              <a:t>Segment the lungs.</a:t>
            </a:r>
            <a:endParaRPr lang="en-US"/>
          </a:p>
        </p:txBody>
      </p:sp>
      <p:cxnSp>
        <p:nvCxnSpPr>
          <p:cNvPr id="194" name="Task query to task decoder"/>
          <p:cNvCxnSpPr/>
          <p:nvPr/>
        </p:nvCxnSpPr>
        <p:spPr>
          <a:xfrm>
            <a:off x="10591800" y="1242060"/>
            <a:ext cx="0" cy="1828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rent state to task decoder"/>
          <p:cNvCxnSpPr/>
          <p:nvPr/>
        </p:nvCxnSpPr>
        <p:spPr>
          <a:xfrm>
            <a:off x="9479280" y="1638300"/>
            <a:ext cx="1828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urrent state to latent world model"/>
          <p:cNvCxnSpPr/>
          <p:nvPr/>
        </p:nvCxnSpPr>
        <p:spPr>
          <a:xfrm>
            <a:off x="9547860" y="1638300"/>
            <a:ext cx="0" cy="12877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urrent state to latent world model"/>
          <p:cNvCxnSpPr/>
          <p:nvPr/>
        </p:nvCxnSpPr>
        <p:spPr>
          <a:xfrm>
            <a:off x="9547860" y="2926080"/>
            <a:ext cx="6019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urrent state to latent world model"/>
          <p:cNvCxnSpPr/>
          <p:nvPr/>
        </p:nvCxnSpPr>
        <p:spPr>
          <a:xfrm>
            <a:off x="10149840" y="2926080"/>
            <a:ext cx="0" cy="4572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urrent state to latent world model"/>
          <p:cNvCxnSpPr/>
          <p:nvPr/>
        </p:nvCxnSpPr>
        <p:spPr>
          <a:xfrm>
            <a:off x="10149840" y="3383280"/>
            <a:ext cx="2819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ask loss panel"/>
          <p:cNvSpPr/>
          <p:nvPr/>
        </p:nvSpPr>
        <p:spPr>
          <a:xfrm>
            <a:off x="11518900" y="472440"/>
            <a:ext cx="2598420" cy="2183130"/>
          </a:xfrm>
          <a:prstGeom prst="roundRect">
            <a:avLst>
              <a:gd name="adj" fmla="val 5500"/>
            </a:avLst>
          </a:prstGeom>
          <a:solidFill>
            <a:srgbClr val="E8F5FF"/>
          </a:solidFill>
          <a:ln w="11430">
            <a:solidFill>
              <a:srgbClr val="59A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Label: Task loss (Stage 1)"/>
          <p:cNvSpPr txBox="1"/>
          <p:nvPr/>
        </p:nvSpPr>
        <p:spPr>
          <a:xfrm>
            <a:off x="11838940" y="477520"/>
            <a:ext cx="195834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dirty="0">
                <a:solidFill>
                  <a:srgbClr val="171717"/>
                </a:solidFill>
                <a:latin typeface="Comic Sans MS"/>
              </a:rPr>
              <a:t>Task loss (Stage 1)</a:t>
            </a:r>
          </a:p>
        </p:txBody>
      </p:sp>
      <p:sp>
        <p:nvSpPr>
          <p:cNvPr id="202" name="Classification card"/>
          <p:cNvSpPr/>
          <p:nvPr/>
        </p:nvSpPr>
        <p:spPr>
          <a:xfrm>
            <a:off x="11587480" y="784860"/>
            <a:ext cx="123444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Label: Classification"/>
          <p:cNvSpPr txBox="1"/>
          <p:nvPr/>
        </p:nvSpPr>
        <p:spPr>
          <a:xfrm>
            <a:off x="11610340" y="822960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Classification</a:t>
            </a:r>
          </a:p>
        </p:txBody>
      </p:sp>
      <p:sp>
        <p:nvSpPr>
          <p:cNvPr id="204" name="Segmentation card"/>
          <p:cNvSpPr/>
          <p:nvPr/>
        </p:nvSpPr>
        <p:spPr>
          <a:xfrm>
            <a:off x="12867640" y="784860"/>
            <a:ext cx="116586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Label: Segmentation"/>
          <p:cNvSpPr txBox="1"/>
          <p:nvPr/>
        </p:nvSpPr>
        <p:spPr>
          <a:xfrm>
            <a:off x="12890500" y="822960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Segmentation</a:t>
            </a:r>
          </a:p>
        </p:txBody>
      </p:sp>
      <p:sp>
        <p:nvSpPr>
          <p:cNvPr id="206" name="Disease recognition card"/>
          <p:cNvSpPr/>
          <p:nvPr/>
        </p:nvSpPr>
        <p:spPr>
          <a:xfrm>
            <a:off x="11587480" y="1783080"/>
            <a:ext cx="123444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Label: Disease recognition"/>
          <p:cNvSpPr txBox="1"/>
          <p:nvPr/>
        </p:nvSpPr>
        <p:spPr>
          <a:xfrm>
            <a:off x="11610340" y="1821179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1717"/>
                </a:solidFill>
                <a:latin typeface="Comic Sans MS"/>
              </a:rPr>
              <a:t>Disease recognition</a:t>
            </a:r>
          </a:p>
        </p:txBody>
      </p:sp>
      <p:sp>
        <p:nvSpPr>
          <p:cNvPr id="208" name="Super-resolution card"/>
          <p:cNvSpPr/>
          <p:nvPr/>
        </p:nvSpPr>
        <p:spPr>
          <a:xfrm>
            <a:off x="12867640" y="1783080"/>
            <a:ext cx="116586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Label: Super-resolution"/>
          <p:cNvSpPr txBox="1"/>
          <p:nvPr/>
        </p:nvSpPr>
        <p:spPr>
          <a:xfrm>
            <a:off x="12890500" y="1821179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Super-resolution</a:t>
            </a:r>
          </a:p>
        </p:txBody>
      </p:sp>
      <p:cxnSp>
        <p:nvCxnSpPr>
          <p:cNvPr id="210" name="Task decoder to top task outputs"/>
          <p:cNvCxnSpPr/>
          <p:nvPr/>
        </p:nvCxnSpPr>
        <p:spPr>
          <a:xfrm>
            <a:off x="11300460" y="1905000"/>
            <a:ext cx="1066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Task decoder to top task outputs"/>
          <p:cNvCxnSpPr/>
          <p:nvPr/>
        </p:nvCxnSpPr>
        <p:spPr>
          <a:xfrm flipV="1">
            <a:off x="11407140" y="1249680"/>
            <a:ext cx="0" cy="65532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Task decoder to top task outputs"/>
          <p:cNvCxnSpPr/>
          <p:nvPr/>
        </p:nvCxnSpPr>
        <p:spPr>
          <a:xfrm>
            <a:off x="11407140" y="1249680"/>
            <a:ext cx="111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Task decoder to lower task outputs"/>
          <p:cNvCxnSpPr/>
          <p:nvPr/>
        </p:nvCxnSpPr>
        <p:spPr>
          <a:xfrm>
            <a:off x="11300460" y="2072640"/>
            <a:ext cx="2184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lassification axes"/>
          <p:cNvCxnSpPr/>
          <p:nvPr/>
        </p:nvCxnSpPr>
        <p:spPr>
          <a:xfrm>
            <a:off x="11922760" y="1120140"/>
            <a:ext cx="0" cy="44958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lassification axes"/>
          <p:cNvCxnSpPr/>
          <p:nvPr/>
        </p:nvCxnSpPr>
        <p:spPr>
          <a:xfrm>
            <a:off x="11922760" y="1569720"/>
            <a:ext cx="571500" cy="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Classification bar"/>
          <p:cNvSpPr/>
          <p:nvPr/>
        </p:nvSpPr>
        <p:spPr>
          <a:xfrm>
            <a:off x="11968480" y="1394460"/>
            <a:ext cx="99060" cy="17526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Classification bar"/>
          <p:cNvSpPr/>
          <p:nvPr/>
        </p:nvSpPr>
        <p:spPr>
          <a:xfrm>
            <a:off x="12120880" y="1272540"/>
            <a:ext cx="99060" cy="2971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Classification bar"/>
          <p:cNvSpPr/>
          <p:nvPr/>
        </p:nvSpPr>
        <p:spPr>
          <a:xfrm>
            <a:off x="12273280" y="1120140"/>
            <a:ext cx="99060" cy="4495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Segmentation chest radi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2900" y="1097280"/>
            <a:ext cx="792480" cy="541020"/>
          </a:xfrm>
          <a:prstGeom prst="rect">
            <a:avLst/>
          </a:prstGeom>
          <a:effectLst/>
        </p:spPr>
      </p:pic>
      <p:sp>
        <p:nvSpPr>
          <p:cNvPr id="220" name="Disease text box"/>
          <p:cNvSpPr/>
          <p:nvPr/>
        </p:nvSpPr>
        <p:spPr>
          <a:xfrm>
            <a:off x="11694160" y="2103120"/>
            <a:ext cx="1021080" cy="327660"/>
          </a:xfrm>
          <a:prstGeom prst="roundRect">
            <a:avLst>
              <a:gd name="adj" fmla="val 16000"/>
            </a:avLst>
          </a:prstGeom>
          <a:solidFill>
            <a:srgbClr val="F8FCFF"/>
          </a:solidFill>
          <a:ln w="10160">
            <a:solidFill>
              <a:srgbClr val="456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Label: Disease: ..."/>
          <p:cNvSpPr txBox="1"/>
          <p:nvPr/>
        </p:nvSpPr>
        <p:spPr>
          <a:xfrm>
            <a:off x="11739880" y="2133600"/>
            <a:ext cx="9525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Disease: ...</a:t>
            </a:r>
          </a:p>
        </p:txBody>
      </p:sp>
      <p:pic>
        <p:nvPicPr>
          <p:cNvPr id="222" name="Low-resolution image detai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4320" y="2095500"/>
            <a:ext cx="335280" cy="312420"/>
          </a:xfrm>
          <a:prstGeom prst="rect">
            <a:avLst/>
          </a:prstGeom>
          <a:effectLst/>
        </p:spPr>
      </p:pic>
      <p:pic>
        <p:nvPicPr>
          <p:cNvPr id="223" name="High-resolution image detai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8680" y="2072640"/>
            <a:ext cx="342900" cy="327660"/>
          </a:xfrm>
          <a:prstGeom prst="rect">
            <a:avLst/>
          </a:prstGeom>
          <a:effectLst/>
        </p:spPr>
      </p:pic>
      <p:sp>
        <p:nvSpPr>
          <p:cNvPr id="224" name="Low-resolution outline"/>
          <p:cNvSpPr/>
          <p:nvPr/>
        </p:nvSpPr>
        <p:spPr>
          <a:xfrm>
            <a:off x="12974320" y="2087880"/>
            <a:ext cx="335280" cy="327660"/>
          </a:xfrm>
          <a:prstGeom prst="rect">
            <a:avLst/>
          </a:prstGeom>
          <a:noFill/>
          <a:ln w="10160">
            <a:solidFill>
              <a:srgbClr val="A5C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High-resolution outline"/>
          <p:cNvSpPr/>
          <p:nvPr/>
        </p:nvSpPr>
        <p:spPr>
          <a:xfrm>
            <a:off x="13561060" y="2065020"/>
            <a:ext cx="358140" cy="342900"/>
          </a:xfrm>
          <a:prstGeom prst="rect">
            <a:avLst/>
          </a:prstGeom>
          <a:noFill/>
          <a:ln w="10160">
            <a:solidFill>
              <a:srgbClr val="587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6" name="Super-resolution comparison"/>
          <p:cNvCxnSpPr/>
          <p:nvPr/>
        </p:nvCxnSpPr>
        <p:spPr>
          <a:xfrm>
            <a:off x="13332460" y="2255520"/>
            <a:ext cx="220980" cy="0"/>
          </a:xfrm>
          <a:prstGeom prst="line">
            <a:avLst/>
          </a:prstGeom>
          <a:ln w="1143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ion"/>
          <p:cNvCxnSpPr/>
          <p:nvPr/>
        </p:nvCxnSpPr>
        <p:spPr>
          <a:xfrm flipV="1">
            <a:off x="13347700" y="2125980"/>
            <a:ext cx="60960" cy="6858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ion"/>
          <p:cNvCxnSpPr/>
          <p:nvPr/>
        </p:nvCxnSpPr>
        <p:spPr>
          <a:xfrm flipV="1">
            <a:off x="13408660" y="2065020"/>
            <a:ext cx="129540" cy="60960"/>
          </a:xfrm>
          <a:prstGeom prst="line">
            <a:avLst/>
          </a:prstGeom>
          <a:ln w="1016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Label: MSE"/>
          <p:cNvSpPr txBox="1"/>
          <p:nvPr/>
        </p:nvSpPr>
        <p:spPr>
          <a:xfrm>
            <a:off x="13248640" y="2407920"/>
            <a:ext cx="388620" cy="1752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Arial"/>
              </a:rPr>
              <a:t>MSE</a:t>
            </a:r>
          </a:p>
        </p:txBody>
      </p:sp>
      <p:sp>
        <p:nvSpPr>
          <p:cNvPr id="230" name="Latent World Model"/>
          <p:cNvSpPr/>
          <p:nvPr/>
        </p:nvSpPr>
        <p:spPr>
          <a:xfrm>
            <a:off x="10431780" y="3223260"/>
            <a:ext cx="1844040" cy="1112520"/>
          </a:xfrm>
          <a:prstGeom prst="roundRect">
            <a:avLst>
              <a:gd name="adj" fmla="val 13000"/>
            </a:avLst>
          </a:prstGeom>
          <a:solidFill>
            <a:srgbClr val="F3D8BF"/>
          </a:solidFill>
          <a:ln w="15240">
            <a:solidFill>
              <a:srgbClr val="794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Label: Latent World Model"/>
          <p:cNvSpPr txBox="1"/>
          <p:nvPr/>
        </p:nvSpPr>
        <p:spPr>
          <a:xfrm>
            <a:off x="10492740" y="3307080"/>
            <a:ext cx="172212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71717"/>
                </a:solidFill>
                <a:latin typeface="Comic Sans MS"/>
              </a:rPr>
              <a:t>Latent World Model</a:t>
            </a:r>
          </a:p>
        </p:txBody>
      </p:sp>
      <p:sp>
        <p:nvSpPr>
          <p:cNvPr id="232" name="Predictor block"/>
          <p:cNvSpPr/>
          <p:nvPr/>
        </p:nvSpPr>
        <p:spPr>
          <a:xfrm>
            <a:off x="10858500" y="363474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Predictor block"/>
          <p:cNvSpPr/>
          <p:nvPr/>
        </p:nvSpPr>
        <p:spPr>
          <a:xfrm>
            <a:off x="11650980" y="363474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Label: ..."/>
          <p:cNvSpPr txBox="1"/>
          <p:nvPr/>
        </p:nvSpPr>
        <p:spPr>
          <a:xfrm>
            <a:off x="11209020" y="3703319"/>
            <a:ext cx="27432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235" name="Label: Predictor block"/>
          <p:cNvSpPr txBox="1"/>
          <p:nvPr/>
        </p:nvSpPr>
        <p:spPr>
          <a:xfrm>
            <a:off x="10728960" y="4084320"/>
            <a:ext cx="13182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Predictor block</a:t>
            </a:r>
          </a:p>
        </p:txBody>
      </p:sp>
      <p:sp>
        <p:nvSpPr>
          <p:cNvPr id="236" name="Label: Horizon h"/>
          <p:cNvSpPr txBox="1"/>
          <p:nvPr/>
        </p:nvSpPr>
        <p:spPr>
          <a:xfrm>
            <a:off x="9616440" y="3512820"/>
            <a:ext cx="85344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Horizon h</a:t>
            </a:r>
          </a:p>
        </p:txBody>
      </p:sp>
      <p:sp>
        <p:nvSpPr>
          <p:cNvPr id="237" name="Horizon token"/>
          <p:cNvSpPr/>
          <p:nvPr/>
        </p:nvSpPr>
        <p:spPr>
          <a:xfrm>
            <a:off x="9829800" y="3764280"/>
            <a:ext cx="23622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8" name="Horizon to latent world model"/>
          <p:cNvCxnSpPr/>
          <p:nvPr/>
        </p:nvCxnSpPr>
        <p:spPr>
          <a:xfrm>
            <a:off x="10066020" y="3878580"/>
            <a:ext cx="365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Predicted future"/>
          <p:cNvSpPr/>
          <p:nvPr/>
        </p:nvSpPr>
        <p:spPr>
          <a:xfrm>
            <a:off x="12633960" y="3322320"/>
            <a:ext cx="1409700" cy="10058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Label: Predicted future"/>
          <p:cNvSpPr txBox="1"/>
          <p:nvPr/>
        </p:nvSpPr>
        <p:spPr>
          <a:xfrm>
            <a:off x="12694920" y="3360419"/>
            <a:ext cx="12877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Predicted future</a:t>
            </a:r>
          </a:p>
        </p:txBody>
      </p:sp>
      <p:sp>
        <p:nvSpPr>
          <p:cNvPr id="241" name="Equation: Ŝt,h"/>
          <p:cNvSpPr txBox="1"/>
          <p:nvPr/>
        </p:nvSpPr>
        <p:spPr>
          <a:xfrm>
            <a:off x="13228320" y="3543300"/>
            <a:ext cx="64008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Ŝ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t,h</a:t>
            </a:r>
          </a:p>
        </p:txBody>
      </p:sp>
      <p:sp>
        <p:nvSpPr>
          <p:cNvPr id="242" name="Predicted future output token 1/8"/>
          <p:cNvSpPr/>
          <p:nvPr/>
        </p:nvSpPr>
        <p:spPr>
          <a:xfrm>
            <a:off x="127254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Predicted future output token 2/8"/>
          <p:cNvSpPr/>
          <p:nvPr/>
        </p:nvSpPr>
        <p:spPr>
          <a:xfrm>
            <a:off x="128778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Predicted future output token 3/8"/>
          <p:cNvSpPr/>
          <p:nvPr/>
        </p:nvSpPr>
        <p:spPr>
          <a:xfrm>
            <a:off x="130302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Predicted future output token 4/8"/>
          <p:cNvSpPr/>
          <p:nvPr/>
        </p:nvSpPr>
        <p:spPr>
          <a:xfrm>
            <a:off x="131826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Predicted future output token 5/8"/>
          <p:cNvSpPr/>
          <p:nvPr/>
        </p:nvSpPr>
        <p:spPr>
          <a:xfrm>
            <a:off x="133350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Predicted future output token 6/8"/>
          <p:cNvSpPr/>
          <p:nvPr/>
        </p:nvSpPr>
        <p:spPr>
          <a:xfrm>
            <a:off x="134874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redicted future output token 7/8"/>
          <p:cNvSpPr/>
          <p:nvPr/>
        </p:nvSpPr>
        <p:spPr>
          <a:xfrm>
            <a:off x="136398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Predicted future output token 8/8"/>
          <p:cNvSpPr/>
          <p:nvPr/>
        </p:nvSpPr>
        <p:spPr>
          <a:xfrm>
            <a:off x="137922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Equation: 8 × d"/>
          <p:cNvSpPr txBox="1"/>
          <p:nvPr/>
        </p:nvSpPr>
        <p:spPr>
          <a:xfrm>
            <a:off x="13136880" y="408432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251" name="Latent world model to predicted future state"/>
          <p:cNvCxnSpPr/>
          <p:nvPr/>
        </p:nvCxnSpPr>
        <p:spPr>
          <a:xfrm>
            <a:off x="12275820" y="3810000"/>
            <a:ext cx="3581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Latent prediction loss"/>
          <p:cNvSpPr/>
          <p:nvPr/>
        </p:nvSpPr>
        <p:spPr>
          <a:xfrm>
            <a:off x="12138660" y="4625340"/>
            <a:ext cx="1927860" cy="739140"/>
          </a:xfrm>
          <a:prstGeom prst="roundRect">
            <a:avLst>
              <a:gd name="adj" fmla="val 13000"/>
            </a:avLst>
          </a:prstGeom>
          <a:solidFill>
            <a:srgbClr val="FAD9C8"/>
          </a:solidFill>
          <a:ln w="12700">
            <a:solidFill>
              <a:srgbClr val="8747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Label: Latent prediction loss"/>
          <p:cNvSpPr txBox="1"/>
          <p:nvPr/>
        </p:nvSpPr>
        <p:spPr>
          <a:xfrm>
            <a:off x="12207240" y="4701540"/>
            <a:ext cx="17907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Latent prediction loss</a:t>
            </a:r>
          </a:p>
        </p:txBody>
      </p:sp>
      <p:sp>
        <p:nvSpPr>
          <p:cNvPr id="254" name="Equation: (Ŝt,h ↔ S*t⁺)"/>
          <p:cNvSpPr txBox="1"/>
          <p:nvPr/>
        </p:nvSpPr>
        <p:spPr>
          <a:xfrm>
            <a:off x="12435840" y="4983480"/>
            <a:ext cx="162306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0" i="1">
                <a:solidFill>
                  <a:srgbClr val="171717"/>
                </a:solidFill>
                <a:latin typeface="Times New Roman"/>
              </a:rPr>
              <a:t>(Ŝ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t,h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 ↔ S</a:t>
            </a:r>
            <a:r>
              <a:rPr sz="18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t⁺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)</a:t>
            </a:r>
          </a:p>
        </p:txBody>
      </p:sp>
      <p:cxnSp>
        <p:nvCxnSpPr>
          <p:cNvPr id="255" name="Predicted future state to latent loss"/>
          <p:cNvCxnSpPr/>
          <p:nvPr/>
        </p:nvCxnSpPr>
        <p:spPr>
          <a:xfrm>
            <a:off x="13304520" y="4328160"/>
            <a:ext cx="0" cy="2971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Observed future target to latent loss (stop-grad)"/>
          <p:cNvCxnSpPr/>
          <p:nvPr/>
        </p:nvCxnSpPr>
        <p:spPr>
          <a:xfrm>
            <a:off x="9448800" y="4960620"/>
            <a:ext cx="2689860" cy="0"/>
          </a:xfrm>
          <a:prstGeom prst="line">
            <a:avLst/>
          </a:prstGeom>
          <a:ln w="12700">
            <a:solidFill>
              <a:srgbClr val="17171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Label: stop-grad"/>
          <p:cNvSpPr txBox="1"/>
          <p:nvPr/>
        </p:nvSpPr>
        <p:spPr>
          <a:xfrm>
            <a:off x="10340340" y="4709160"/>
            <a:ext cx="82296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Comic Sans MS"/>
              </a:rPr>
              <a:t>stop-grad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</Words>
  <Application>Microsoft Office PowerPoint</Application>
  <PresentationFormat>自定义</PresentationFormat>
  <Paragraphs>84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Comic Sans MS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— fig1_v6</dc:title>
  <dc:subject/>
  <dc:creator/>
  <cp:keywords/>
  <dc:description>generated using python-pptx</dc:description>
  <cp:lastModifiedBy>mu song</cp:lastModifiedBy>
  <cp:revision>2</cp:revision>
  <dcterms:created xsi:type="dcterms:W3CDTF">2013-01-27T09:14:16Z</dcterms:created>
  <dcterms:modified xsi:type="dcterms:W3CDTF">2026-09-07T03:07:40Z</dcterms:modified>
  <cp:category/>
</cp:coreProperties>
</file>