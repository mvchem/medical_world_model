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045184" cy="936345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Evidence to encoder"/>
          <p:cNvCxnSpPr/>
          <p:nvPr/>
        </p:nvCxnSpPr>
        <p:spPr>
          <a:xfrm>
            <a:off x="2871216" y="2459736"/>
            <a:ext cx="228600" cy="0"/>
          </a:xfrm>
          <a:prstGeom prst="line">
            <a:avLst/>
          </a:prstGeom>
          <a:ln w="15875">
            <a:solidFill>
              <a:srgbClr val="10447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Encoder to VLM 1"/>
          <p:cNvCxnSpPr/>
          <p:nvPr/>
        </p:nvCxnSpPr>
        <p:spPr>
          <a:xfrm>
            <a:off x="4242816" y="2468880"/>
            <a:ext cx="292608" cy="0"/>
          </a:xfrm>
          <a:prstGeom prst="line">
            <a:avLst/>
          </a:prstGeom>
          <a:ln w="16510">
            <a:solidFill>
              <a:srgbClr val="104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Encoder to VLM 2"/>
          <p:cNvCxnSpPr/>
          <p:nvPr/>
        </p:nvCxnSpPr>
        <p:spPr>
          <a:xfrm>
            <a:off x="4535424" y="2468880"/>
            <a:ext cx="0" cy="1097280"/>
          </a:xfrm>
          <a:prstGeom prst="line">
            <a:avLst/>
          </a:prstGeom>
          <a:ln w="16510">
            <a:solidFill>
              <a:srgbClr val="104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Encoder to VLM 3"/>
          <p:cNvCxnSpPr/>
          <p:nvPr/>
        </p:nvCxnSpPr>
        <p:spPr>
          <a:xfrm>
            <a:off x="4535424" y="3566160"/>
            <a:ext cx="237744" cy="0"/>
          </a:xfrm>
          <a:prstGeom prst="line">
            <a:avLst/>
          </a:prstGeom>
          <a:ln w="16510">
            <a:solidFill>
              <a:srgbClr val="10447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ncoder to resampler"/>
          <p:cNvCxnSpPr/>
          <p:nvPr/>
        </p:nvCxnSpPr>
        <p:spPr>
          <a:xfrm>
            <a:off x="3648456" y="3758184"/>
            <a:ext cx="0" cy="1106424"/>
          </a:xfrm>
          <a:prstGeom prst="line">
            <a:avLst/>
          </a:prstGeom>
          <a:ln w="14604">
            <a:solidFill>
              <a:srgbClr val="10447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text route 576"/>
          <p:cNvCxnSpPr/>
          <p:nvPr/>
        </p:nvCxnSpPr>
        <p:spPr>
          <a:xfrm>
            <a:off x="2807208" y="5266944"/>
            <a:ext cx="283464" cy="0"/>
          </a:xfrm>
          <a:prstGeom prst="line">
            <a:avLst/>
          </a:prstGeom>
          <a:ln w="13335">
            <a:solidFill>
              <a:srgbClr val="6F98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text route 616"/>
          <p:cNvCxnSpPr/>
          <p:nvPr/>
        </p:nvCxnSpPr>
        <p:spPr>
          <a:xfrm>
            <a:off x="2807208" y="5632704"/>
            <a:ext cx="283464" cy="0"/>
          </a:xfrm>
          <a:prstGeom prst="line">
            <a:avLst/>
          </a:prstGeom>
          <a:ln w="13335">
            <a:solidFill>
              <a:srgbClr val="10447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text route 691"/>
          <p:cNvCxnSpPr/>
          <p:nvPr/>
        </p:nvCxnSpPr>
        <p:spPr>
          <a:xfrm>
            <a:off x="2807208" y="6318504"/>
            <a:ext cx="283464" cy="0"/>
          </a:xfrm>
          <a:prstGeom prst="line">
            <a:avLst/>
          </a:prstGeom>
          <a:ln w="13335">
            <a:solidFill>
              <a:srgbClr val="10447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port to tokenizer"/>
          <p:cNvCxnSpPr/>
          <p:nvPr/>
        </p:nvCxnSpPr>
        <p:spPr>
          <a:xfrm>
            <a:off x="2807208" y="6995160"/>
            <a:ext cx="283464" cy="0"/>
          </a:xfrm>
          <a:prstGeom prst="line">
            <a:avLst/>
          </a:prstGeom>
          <a:ln w="13335">
            <a:solidFill>
              <a:srgbClr val="D34B2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esampler to representation"/>
          <p:cNvCxnSpPr/>
          <p:nvPr/>
        </p:nvCxnSpPr>
        <p:spPr>
          <a:xfrm>
            <a:off x="4645152" y="5715000"/>
            <a:ext cx="466344" cy="0"/>
          </a:xfrm>
          <a:prstGeom prst="line">
            <a:avLst/>
          </a:prstGeom>
          <a:ln w="15240">
            <a:solidFill>
              <a:srgbClr val="10447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Dense memory read 569"/>
          <p:cNvCxnSpPr/>
          <p:nvPr/>
        </p:nvCxnSpPr>
        <p:spPr>
          <a:xfrm>
            <a:off x="5202936" y="1956816"/>
            <a:ext cx="0" cy="713232"/>
          </a:xfrm>
          <a:prstGeom prst="line">
            <a:avLst/>
          </a:prstGeom>
          <a:ln w="12065">
            <a:solidFill>
              <a:srgbClr val="104477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Dense memory read 703"/>
          <p:cNvCxnSpPr/>
          <p:nvPr/>
        </p:nvCxnSpPr>
        <p:spPr>
          <a:xfrm>
            <a:off x="6428232" y="1956816"/>
            <a:ext cx="0" cy="713232"/>
          </a:xfrm>
          <a:prstGeom prst="line">
            <a:avLst/>
          </a:prstGeom>
          <a:ln w="12065">
            <a:solidFill>
              <a:srgbClr val="104477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Dense memory read 822"/>
          <p:cNvCxnSpPr/>
          <p:nvPr/>
        </p:nvCxnSpPr>
        <p:spPr>
          <a:xfrm>
            <a:off x="7516368" y="1956816"/>
            <a:ext cx="0" cy="713232"/>
          </a:xfrm>
          <a:prstGeom prst="line">
            <a:avLst/>
          </a:prstGeom>
          <a:ln w="12065">
            <a:solidFill>
              <a:srgbClr val="104477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LM to representation"/>
          <p:cNvCxnSpPr/>
          <p:nvPr/>
        </p:nvCxnSpPr>
        <p:spPr>
          <a:xfrm>
            <a:off x="6547104" y="5010912"/>
            <a:ext cx="0" cy="374904"/>
          </a:xfrm>
          <a:prstGeom prst="line">
            <a:avLst/>
          </a:prstGeom>
          <a:ln w="15240">
            <a:solidFill>
              <a:srgbClr val="5A347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epresentation to predictor 1"/>
          <p:cNvCxnSpPr/>
          <p:nvPr/>
        </p:nvCxnSpPr>
        <p:spPr>
          <a:xfrm>
            <a:off x="7982712" y="5733288"/>
            <a:ext cx="640080" cy="0"/>
          </a:xfrm>
          <a:prstGeom prst="line">
            <a:avLst/>
          </a:prstGeom>
          <a:ln w="15875">
            <a:solidFill>
              <a:srgbClr val="5A34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Representation to predictor 2"/>
          <p:cNvCxnSpPr/>
          <p:nvPr/>
        </p:nvCxnSpPr>
        <p:spPr>
          <a:xfrm>
            <a:off x="8622792" y="5733288"/>
            <a:ext cx="0" cy="804672"/>
          </a:xfrm>
          <a:prstGeom prst="line">
            <a:avLst/>
          </a:prstGeom>
          <a:ln w="15875">
            <a:solidFill>
              <a:srgbClr val="5A347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lots to query panel"/>
          <p:cNvCxnSpPr/>
          <p:nvPr/>
        </p:nvCxnSpPr>
        <p:spPr>
          <a:xfrm>
            <a:off x="8275320" y="3849624"/>
            <a:ext cx="301752" cy="0"/>
          </a:xfrm>
          <a:prstGeom prst="line">
            <a:avLst/>
          </a:prstGeom>
          <a:ln w="13335">
            <a:solidFill>
              <a:srgbClr val="5A347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Read route to downstream reuse 1"/>
          <p:cNvCxnSpPr/>
          <p:nvPr/>
        </p:nvCxnSpPr>
        <p:spPr>
          <a:xfrm flipV="1">
            <a:off x="8613648" y="1243584"/>
            <a:ext cx="0" cy="1719072"/>
          </a:xfrm>
          <a:prstGeom prst="line">
            <a:avLst/>
          </a:prstGeom>
          <a:ln w="12700">
            <a:solidFill>
              <a:srgbClr val="08747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Read route to downstream reuse 2"/>
          <p:cNvCxnSpPr/>
          <p:nvPr/>
        </p:nvCxnSpPr>
        <p:spPr>
          <a:xfrm>
            <a:off x="8613648" y="1243584"/>
            <a:ext cx="1325880" cy="0"/>
          </a:xfrm>
          <a:prstGeom prst="line">
            <a:avLst/>
          </a:prstGeom>
          <a:ln w="12700">
            <a:solidFill>
              <a:srgbClr val="087477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Task query to downstream reuse 1"/>
          <p:cNvCxnSpPr/>
          <p:nvPr/>
        </p:nvCxnSpPr>
        <p:spPr>
          <a:xfrm>
            <a:off x="9665208" y="3858768"/>
            <a:ext cx="557784" cy="0"/>
          </a:xfrm>
          <a:prstGeom prst="line">
            <a:avLst/>
          </a:prstGeom>
          <a:ln w="15875">
            <a:solidFill>
              <a:srgbClr val="087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ask query to downstream reuse 2"/>
          <p:cNvCxnSpPr/>
          <p:nvPr/>
        </p:nvCxnSpPr>
        <p:spPr>
          <a:xfrm flipV="1">
            <a:off x="10222992" y="2688336"/>
            <a:ext cx="0" cy="1170432"/>
          </a:xfrm>
          <a:prstGeom prst="line">
            <a:avLst/>
          </a:prstGeom>
          <a:ln w="15875">
            <a:solidFill>
              <a:srgbClr val="08747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Forecast query to horizon 1"/>
          <p:cNvCxnSpPr/>
          <p:nvPr/>
        </p:nvCxnSpPr>
        <p:spPr>
          <a:xfrm>
            <a:off x="9665208" y="4764024"/>
            <a:ext cx="338328" cy="0"/>
          </a:xfrm>
          <a:prstGeom prst="line">
            <a:avLst/>
          </a:prstGeom>
          <a:ln w="15240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Forecast query to horizon 2"/>
          <p:cNvCxnSpPr/>
          <p:nvPr/>
        </p:nvCxnSpPr>
        <p:spPr>
          <a:xfrm>
            <a:off x="10003536" y="4764024"/>
            <a:ext cx="0" cy="886968"/>
          </a:xfrm>
          <a:prstGeom prst="line">
            <a:avLst/>
          </a:prstGeom>
          <a:ln w="15240">
            <a:solidFill>
              <a:srgbClr val="D34B2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Horizon to transition query"/>
          <p:cNvCxnSpPr/>
          <p:nvPr/>
        </p:nvCxnSpPr>
        <p:spPr>
          <a:xfrm>
            <a:off x="10003536" y="6199632"/>
            <a:ext cx="0" cy="402336"/>
          </a:xfrm>
          <a:prstGeom prst="line">
            <a:avLst/>
          </a:prstGeom>
          <a:ln w="13970">
            <a:solidFill>
              <a:srgbClr val="D34B2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Predictor to transition"/>
          <p:cNvCxnSpPr/>
          <p:nvPr/>
        </p:nvCxnSpPr>
        <p:spPr>
          <a:xfrm>
            <a:off x="9674352" y="7470648"/>
            <a:ext cx="173736" cy="0"/>
          </a:xfrm>
          <a:prstGeom prst="line">
            <a:avLst/>
          </a:prstGeom>
          <a:ln w="15240">
            <a:solidFill>
              <a:srgbClr val="D34B2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Transition to prediction"/>
          <p:cNvCxnSpPr/>
          <p:nvPr/>
        </p:nvCxnSpPr>
        <p:spPr>
          <a:xfrm>
            <a:off x="10899648" y="7470648"/>
            <a:ext cx="182880" cy="0"/>
          </a:xfrm>
          <a:prstGeom prst="line">
            <a:avLst/>
          </a:prstGeom>
          <a:ln w="15240">
            <a:solidFill>
              <a:srgbClr val="D34B2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MA target to loss"/>
          <p:cNvCxnSpPr/>
          <p:nvPr/>
        </p:nvCxnSpPr>
        <p:spPr>
          <a:xfrm>
            <a:off x="12380976" y="5733288"/>
            <a:ext cx="0" cy="201168"/>
          </a:xfrm>
          <a:prstGeom prst="line">
            <a:avLst/>
          </a:prstGeom>
          <a:ln w="13335">
            <a:solidFill>
              <a:srgbClr val="3D7C42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Horizon loss signal 1"/>
          <p:cNvCxnSpPr/>
          <p:nvPr/>
        </p:nvCxnSpPr>
        <p:spPr>
          <a:xfrm>
            <a:off x="10387584" y="5925312"/>
            <a:ext cx="813816" cy="0"/>
          </a:xfrm>
          <a:prstGeom prst="line">
            <a:avLst/>
          </a:prstGeom>
          <a:ln w="12700">
            <a:solidFill>
              <a:srgbClr val="D34B2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Horizon loss signal 2"/>
          <p:cNvCxnSpPr/>
          <p:nvPr/>
        </p:nvCxnSpPr>
        <p:spPr>
          <a:xfrm>
            <a:off x="11201400" y="5925312"/>
            <a:ext cx="210312" cy="82296"/>
          </a:xfrm>
          <a:prstGeom prst="line">
            <a:avLst/>
          </a:prstGeom>
          <a:ln w="12700">
            <a:solidFill>
              <a:srgbClr val="D34B2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Horizon loss signal 3"/>
          <p:cNvCxnSpPr/>
          <p:nvPr/>
        </p:nvCxnSpPr>
        <p:spPr>
          <a:xfrm>
            <a:off x="11411712" y="6007608"/>
            <a:ext cx="539496" cy="219456"/>
          </a:xfrm>
          <a:prstGeom prst="line">
            <a:avLst/>
          </a:prstGeom>
          <a:ln w="12700">
            <a:solidFill>
              <a:srgbClr val="D34B22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Prediction to loss"/>
          <p:cNvCxnSpPr/>
          <p:nvPr/>
        </p:nvCxnSpPr>
        <p:spPr>
          <a:xfrm flipV="1">
            <a:off x="12380976" y="6720840"/>
            <a:ext cx="0" cy="256032"/>
          </a:xfrm>
          <a:prstGeom prst="line">
            <a:avLst/>
          </a:prstGeom>
          <a:ln w="13335">
            <a:solidFill>
              <a:srgbClr val="D34B22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Future loss shapes representation 1"/>
          <p:cNvCxnSpPr/>
          <p:nvPr/>
        </p:nvCxnSpPr>
        <p:spPr>
          <a:xfrm flipH="1">
            <a:off x="10515600" y="8220456"/>
            <a:ext cx="566928" cy="237744"/>
          </a:xfrm>
          <a:prstGeom prst="line">
            <a:avLst/>
          </a:prstGeom>
          <a:ln w="13335">
            <a:solidFill>
              <a:srgbClr val="D34B2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Future loss shapes representation 2"/>
          <p:cNvCxnSpPr/>
          <p:nvPr/>
        </p:nvCxnSpPr>
        <p:spPr>
          <a:xfrm flipH="1">
            <a:off x="5504688" y="8458200"/>
            <a:ext cx="5010912" cy="0"/>
          </a:xfrm>
          <a:prstGeom prst="line">
            <a:avLst/>
          </a:prstGeom>
          <a:ln w="13335">
            <a:solidFill>
              <a:srgbClr val="D34B2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Future loss shapes representation 3"/>
          <p:cNvCxnSpPr/>
          <p:nvPr/>
        </p:nvCxnSpPr>
        <p:spPr>
          <a:xfrm flipH="1" flipV="1">
            <a:off x="4910328" y="8321040"/>
            <a:ext cx="594360" cy="137160"/>
          </a:xfrm>
          <a:prstGeom prst="line">
            <a:avLst/>
          </a:prstGeom>
          <a:ln w="13335">
            <a:solidFill>
              <a:srgbClr val="D34B2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Future loss shapes representation 4"/>
          <p:cNvCxnSpPr/>
          <p:nvPr/>
        </p:nvCxnSpPr>
        <p:spPr>
          <a:xfrm flipV="1">
            <a:off x="4910328" y="8101583"/>
            <a:ext cx="0" cy="219457"/>
          </a:xfrm>
          <a:prstGeom prst="line">
            <a:avLst/>
          </a:prstGeom>
          <a:ln w="13335">
            <a:solidFill>
              <a:srgbClr val="D34B2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Future loss shapes representation 5"/>
          <p:cNvCxnSpPr/>
          <p:nvPr/>
        </p:nvCxnSpPr>
        <p:spPr>
          <a:xfrm flipV="1">
            <a:off x="4910328" y="7507224"/>
            <a:ext cx="768096" cy="594359"/>
          </a:xfrm>
          <a:prstGeom prst="line">
            <a:avLst/>
          </a:prstGeom>
          <a:ln w="13335">
            <a:solidFill>
              <a:srgbClr val="D34B2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Future loss shapes representation 6"/>
          <p:cNvCxnSpPr/>
          <p:nvPr/>
        </p:nvCxnSpPr>
        <p:spPr>
          <a:xfrm flipV="1">
            <a:off x="5678424" y="6949440"/>
            <a:ext cx="502920" cy="557784"/>
          </a:xfrm>
          <a:prstGeom prst="line">
            <a:avLst/>
          </a:prstGeom>
          <a:ln w="13335">
            <a:solidFill>
              <a:srgbClr val="D34B2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Future loss shapes representation 7"/>
          <p:cNvCxnSpPr/>
          <p:nvPr/>
        </p:nvCxnSpPr>
        <p:spPr>
          <a:xfrm flipV="1">
            <a:off x="6181344" y="6062472"/>
            <a:ext cx="182880" cy="886968"/>
          </a:xfrm>
          <a:prstGeom prst="line">
            <a:avLst/>
          </a:prstGeom>
          <a:ln w="13335">
            <a:solidFill>
              <a:srgbClr val="D34B22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vidence panel"/>
          <p:cNvSpPr/>
          <p:nvPr/>
        </p:nvSpPr>
        <p:spPr>
          <a:xfrm>
            <a:off x="91440" y="164592"/>
            <a:ext cx="2788920" cy="7187184"/>
          </a:xfrm>
          <a:prstGeom prst="roundRect">
            <a:avLst>
              <a:gd name="adj" fmla="val 8000"/>
            </a:avLst>
          </a:prstGeom>
          <a:solidFill>
            <a:srgbClr val="FFFDFC"/>
          </a:solidFill>
          <a:ln w="16510">
            <a:solidFill>
              <a:srgbClr val="6F98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vidence heading"/>
          <p:cNvSpPr txBox="1"/>
          <p:nvPr/>
        </p:nvSpPr>
        <p:spPr>
          <a:xfrm>
            <a:off x="603504" y="310896"/>
            <a:ext cx="1783080" cy="32918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4477"/>
                </a:solidFill>
                <a:latin typeface="Arial"/>
              </a:rPr>
              <a:t>Evidence ≤ t</a:t>
            </a:r>
          </a:p>
        </p:txBody>
      </p:sp>
      <p:sp>
        <p:nvSpPr>
          <p:cNvPr id="42" name="Evidence section 1"/>
          <p:cNvSpPr/>
          <p:nvPr/>
        </p:nvSpPr>
        <p:spPr>
          <a:xfrm>
            <a:off x="210312" y="685800"/>
            <a:ext cx="2560320" cy="1216152"/>
          </a:xfrm>
          <a:prstGeom prst="roundRect">
            <a:avLst>
              <a:gd name="adj" fmla="val 8000"/>
            </a:avLst>
          </a:prstGeom>
          <a:solidFill>
            <a:srgbClr val="FFFDFC"/>
          </a:solidFill>
          <a:ln w="10795">
            <a:solidFill>
              <a:srgbClr val="6F98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2D studies label"/>
          <p:cNvSpPr txBox="1"/>
          <p:nvPr/>
        </p:nvSpPr>
        <p:spPr>
          <a:xfrm>
            <a:off x="329184" y="749808"/>
            <a:ext cx="2322576" cy="21945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4477"/>
                </a:solidFill>
                <a:latin typeface="Arial"/>
              </a:rPr>
              <a:t>2D studies</a:t>
            </a:r>
          </a:p>
        </p:txBody>
      </p:sp>
      <p:sp>
        <p:nvSpPr>
          <p:cNvPr id="44" name="Evidence section 2"/>
          <p:cNvSpPr/>
          <p:nvPr/>
        </p:nvSpPr>
        <p:spPr>
          <a:xfrm>
            <a:off x="210312" y="2066543"/>
            <a:ext cx="2560320" cy="1335024"/>
          </a:xfrm>
          <a:prstGeom prst="roundRect">
            <a:avLst>
              <a:gd name="adj" fmla="val 8000"/>
            </a:avLst>
          </a:prstGeom>
          <a:solidFill>
            <a:srgbClr val="FFFDFC"/>
          </a:solidFill>
          <a:ln w="10795">
            <a:solidFill>
              <a:srgbClr val="6F98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3D studies label"/>
          <p:cNvSpPr txBox="1"/>
          <p:nvPr/>
        </p:nvSpPr>
        <p:spPr>
          <a:xfrm>
            <a:off x="329184" y="2130552"/>
            <a:ext cx="2322576" cy="21945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4477"/>
                </a:solidFill>
                <a:latin typeface="Arial"/>
              </a:rPr>
              <a:t>3D studies</a:t>
            </a:r>
          </a:p>
        </p:txBody>
      </p:sp>
      <p:sp>
        <p:nvSpPr>
          <p:cNvPr id="46" name="Evidence section 3"/>
          <p:cNvSpPr/>
          <p:nvPr/>
        </p:nvSpPr>
        <p:spPr>
          <a:xfrm>
            <a:off x="201168" y="3566160"/>
            <a:ext cx="2569464" cy="1325880"/>
          </a:xfrm>
          <a:prstGeom prst="roundRect">
            <a:avLst>
              <a:gd name="adj" fmla="val 8000"/>
            </a:avLst>
          </a:prstGeom>
          <a:solidFill>
            <a:srgbClr val="FFFDFC"/>
          </a:solidFill>
          <a:ln w="10795">
            <a:solidFill>
              <a:srgbClr val="E89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port (text) label"/>
          <p:cNvSpPr txBox="1"/>
          <p:nvPr/>
        </p:nvSpPr>
        <p:spPr>
          <a:xfrm>
            <a:off x="320040" y="3630168"/>
            <a:ext cx="2331720" cy="21945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9872"/>
                </a:solidFill>
                <a:latin typeface="Arial"/>
              </a:rPr>
              <a:t>Report (text)</a:t>
            </a:r>
          </a:p>
        </p:txBody>
      </p:sp>
      <p:sp>
        <p:nvSpPr>
          <p:cNvPr id="48" name="Evidence section 4"/>
          <p:cNvSpPr/>
          <p:nvPr/>
        </p:nvSpPr>
        <p:spPr>
          <a:xfrm>
            <a:off x="201168" y="5056632"/>
            <a:ext cx="2569464" cy="2084831"/>
          </a:xfrm>
          <a:prstGeom prst="roundRect">
            <a:avLst>
              <a:gd name="adj" fmla="val 8000"/>
            </a:avLst>
          </a:prstGeom>
          <a:solidFill>
            <a:srgbClr val="FFFDFC"/>
          </a:solidFill>
          <a:ln w="10795">
            <a:solidFill>
              <a:srgbClr val="8D7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History &amp; context label"/>
          <p:cNvSpPr txBox="1"/>
          <p:nvPr/>
        </p:nvSpPr>
        <p:spPr>
          <a:xfrm>
            <a:off x="320040" y="5120640"/>
            <a:ext cx="2331720" cy="21945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D78AE"/>
                </a:solidFill>
                <a:latin typeface="Arial"/>
              </a:rPr>
              <a:t>History &amp; context</a:t>
            </a:r>
          </a:p>
        </p:txBody>
      </p:sp>
      <p:pic>
        <p:nvPicPr>
          <p:cNvPr id="50" name="Medical evidence thumbnail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014984"/>
            <a:ext cx="685800" cy="731520"/>
          </a:xfrm>
          <a:prstGeom prst="rect">
            <a:avLst/>
          </a:prstGeom>
          <a:effectLst/>
        </p:spPr>
      </p:pic>
      <p:pic>
        <p:nvPicPr>
          <p:cNvPr id="51" name="Medical evidence thumbnail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014984"/>
            <a:ext cx="649224" cy="731520"/>
          </a:xfrm>
          <a:prstGeom prst="rect">
            <a:avLst/>
          </a:prstGeom>
          <a:effectLst/>
        </p:spPr>
      </p:pic>
      <p:pic>
        <p:nvPicPr>
          <p:cNvPr id="52" name="Medical evidence thumbnail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928" y="1014984"/>
            <a:ext cx="667512" cy="731520"/>
          </a:xfrm>
          <a:prstGeom prst="rect">
            <a:avLst/>
          </a:prstGeom>
          <a:effectLst/>
        </p:spPr>
      </p:pic>
      <p:pic>
        <p:nvPicPr>
          <p:cNvPr id="53" name="Medical evidence thumbnail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2386584"/>
            <a:ext cx="685800" cy="850392"/>
          </a:xfrm>
          <a:prstGeom prst="rect">
            <a:avLst/>
          </a:prstGeom>
          <a:effectLst/>
        </p:spPr>
      </p:pic>
      <p:pic>
        <p:nvPicPr>
          <p:cNvPr id="54" name="Medical evidence thumbnail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2386584"/>
            <a:ext cx="685800" cy="850392"/>
          </a:xfrm>
          <a:prstGeom prst="rect">
            <a:avLst/>
          </a:prstGeom>
          <a:effectLst/>
        </p:spPr>
      </p:pic>
      <p:pic>
        <p:nvPicPr>
          <p:cNvPr id="55" name="Medical evidence thumbnail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6504" y="2386584"/>
            <a:ext cx="713232" cy="850392"/>
          </a:xfrm>
          <a:prstGeom prst="rect">
            <a:avLst/>
          </a:prstGeom>
          <a:effectLst/>
        </p:spPr>
      </p:pic>
      <p:sp>
        <p:nvSpPr>
          <p:cNvPr id="56" name="2D studies ellipsis"/>
          <p:cNvSpPr txBox="1"/>
          <p:nvPr/>
        </p:nvSpPr>
        <p:spPr>
          <a:xfrm>
            <a:off x="2441448" y="1207008"/>
            <a:ext cx="256032" cy="32918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4477"/>
                </a:solidFill>
                <a:latin typeface="Arial"/>
              </a:rPr>
              <a:t>…</a:t>
            </a:r>
          </a:p>
        </p:txBody>
      </p:sp>
      <p:sp>
        <p:nvSpPr>
          <p:cNvPr id="57" name="3D studies ellipsis"/>
          <p:cNvSpPr txBox="1"/>
          <p:nvPr/>
        </p:nvSpPr>
        <p:spPr>
          <a:xfrm>
            <a:off x="2468880" y="2615184"/>
            <a:ext cx="237744" cy="32918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4477"/>
                </a:solidFill>
                <a:latin typeface="Arial"/>
              </a:rPr>
              <a:t>…</a:t>
            </a:r>
          </a:p>
        </p:txBody>
      </p:sp>
      <p:sp>
        <p:nvSpPr>
          <p:cNvPr id="58" name="Report text card"/>
          <p:cNvSpPr/>
          <p:nvPr/>
        </p:nvSpPr>
        <p:spPr>
          <a:xfrm>
            <a:off x="301752" y="3886200"/>
            <a:ext cx="2039112" cy="91440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8255">
            <a:solidFill>
              <a:srgbClr val="E89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report text"/>
          <p:cNvSpPr txBox="1"/>
          <p:nvPr/>
        </p:nvSpPr>
        <p:spPr>
          <a:xfrm>
            <a:off x="393192" y="3950208"/>
            <a:ext cx="1856231" cy="79552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01721"/>
                </a:solidFill>
                <a:latin typeface="Arial"/>
              </a:rPr>
              <a:t>Findings: Bilateral ground-glass
opacities in the lungs  …
Impression: Infectious or
inflammatory etiology  …</a:t>
            </a:r>
          </a:p>
        </p:txBody>
      </p:sp>
      <p:sp>
        <p:nvSpPr>
          <p:cNvPr id="60" name="Report document icon"/>
          <p:cNvSpPr/>
          <p:nvPr/>
        </p:nvSpPr>
        <p:spPr>
          <a:xfrm>
            <a:off x="2432304" y="4379976"/>
            <a:ext cx="228600" cy="310896"/>
          </a:xfrm>
          <a:prstGeom prst="rect">
            <a:avLst/>
          </a:prstGeom>
          <a:solidFill>
            <a:srgbClr val="FFFDFC"/>
          </a:solidFill>
          <a:ln w="10160">
            <a:solidFill>
              <a:srgbClr val="E89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Report document line 1"/>
          <p:cNvCxnSpPr/>
          <p:nvPr/>
        </p:nvCxnSpPr>
        <p:spPr>
          <a:xfrm>
            <a:off x="2487168" y="4462272"/>
            <a:ext cx="100584" cy="0"/>
          </a:xfrm>
          <a:prstGeom prst="line">
            <a:avLst/>
          </a:prstGeom>
          <a:ln w="8890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Report document line 2"/>
          <p:cNvCxnSpPr/>
          <p:nvPr/>
        </p:nvCxnSpPr>
        <p:spPr>
          <a:xfrm>
            <a:off x="2487168" y="4517136"/>
            <a:ext cx="128016" cy="0"/>
          </a:xfrm>
          <a:prstGeom prst="line">
            <a:avLst/>
          </a:prstGeom>
          <a:ln w="8890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Report document line 3"/>
          <p:cNvCxnSpPr/>
          <p:nvPr/>
        </p:nvCxnSpPr>
        <p:spPr>
          <a:xfrm>
            <a:off x="2487168" y="4572000"/>
            <a:ext cx="91440" cy="0"/>
          </a:xfrm>
          <a:prstGeom prst="line">
            <a:avLst/>
          </a:prstGeom>
          <a:ln w="8890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port document dots"/>
          <p:cNvSpPr txBox="1"/>
          <p:nvPr/>
        </p:nvSpPr>
        <p:spPr>
          <a:xfrm>
            <a:off x="2414016" y="4690872"/>
            <a:ext cx="265176" cy="10972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450" b="0" i="0">
                <a:solidFill>
                  <a:srgbClr val="E89872"/>
                </a:solidFill>
                <a:latin typeface="Arial"/>
              </a:rPr>
              <a:t>▰▰▰</a:t>
            </a:r>
          </a:p>
        </p:txBody>
      </p:sp>
      <p:sp>
        <p:nvSpPr>
          <p:cNvPr id="65" name="Person head"/>
          <p:cNvSpPr/>
          <p:nvPr/>
        </p:nvSpPr>
        <p:spPr>
          <a:xfrm>
            <a:off x="475488" y="5486400"/>
            <a:ext cx="109728" cy="109728"/>
          </a:xfrm>
          <a:prstGeom prst="ellipse">
            <a:avLst/>
          </a:prstGeom>
          <a:solidFill>
            <a:srgbClr val="8D78AE"/>
          </a:solidFill>
          <a:ln w="6985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Person shoulders"/>
          <p:cNvSpPr/>
          <p:nvPr/>
        </p:nvSpPr>
        <p:spPr>
          <a:xfrm>
            <a:off x="438912" y="5596128"/>
            <a:ext cx="182880" cy="109728"/>
          </a:xfrm>
          <a:custGeom>
            <a:avLst/>
            <a:gdLst/>
            <a:ahLst/>
            <a:cxnLst/>
            <a:rect l="l" t="t" r="r" b="b"/>
            <a:pathLst>
              <a:path w="20" h="12">
                <a:moveTo>
                  <a:pt x="0" y="12"/>
                </a:moveTo>
                <a:lnTo>
                  <a:pt x="3" y="3"/>
                </a:lnTo>
                <a:lnTo>
                  <a:pt x="10" y="0"/>
                </a:lnTo>
                <a:lnTo>
                  <a:pt x="17" y="3"/>
                </a:lnTo>
                <a:lnTo>
                  <a:pt x="20" y="12"/>
                </a:lnTo>
                <a:close/>
              </a:path>
            </a:pathLst>
          </a:custGeom>
          <a:solidFill>
            <a:srgbClr val="8D78AE"/>
          </a:solidFill>
          <a:ln w="6985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Age sex label"/>
          <p:cNvSpPr txBox="1"/>
          <p:nvPr/>
        </p:nvSpPr>
        <p:spPr>
          <a:xfrm>
            <a:off x="713232" y="5449824"/>
            <a:ext cx="1179576" cy="23774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01721"/>
                </a:solidFill>
                <a:latin typeface="Arial"/>
              </a:rPr>
              <a:t>Age / Sex</a:t>
            </a:r>
          </a:p>
        </p:txBody>
      </p:sp>
      <p:sp>
        <p:nvSpPr>
          <p:cNvPr id="68" name="Context clipboard"/>
          <p:cNvSpPr/>
          <p:nvPr/>
        </p:nvSpPr>
        <p:spPr>
          <a:xfrm>
            <a:off x="1901952" y="5458968"/>
            <a:ext cx="201168" cy="283464"/>
          </a:xfrm>
          <a:prstGeom prst="rect">
            <a:avLst/>
          </a:prstGeom>
          <a:solidFill>
            <a:srgbClr val="FFFDFC"/>
          </a:solidFill>
          <a:ln w="8890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Clipboard clip"/>
          <p:cNvSpPr/>
          <p:nvPr/>
        </p:nvSpPr>
        <p:spPr>
          <a:xfrm>
            <a:off x="1956816" y="5431536"/>
            <a:ext cx="82296" cy="45720"/>
          </a:xfrm>
          <a:prstGeom prst="roundRect">
            <a:avLst>
              <a:gd name="adj" fmla="val 8000"/>
            </a:avLst>
          </a:prstGeom>
          <a:solidFill>
            <a:srgbClr val="E89872"/>
          </a:solidFill>
          <a:ln w="6350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Clipboard cell 0-0"/>
          <p:cNvSpPr/>
          <p:nvPr/>
        </p:nvSpPr>
        <p:spPr>
          <a:xfrm>
            <a:off x="1947672" y="5532120"/>
            <a:ext cx="36576" cy="36576"/>
          </a:xfrm>
          <a:prstGeom prst="rect">
            <a:avLst/>
          </a:prstGeom>
          <a:solidFill>
            <a:srgbClr val="E9E4F0"/>
          </a:solidFill>
          <a:ln w="4445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Clipboard cell 0-1"/>
          <p:cNvSpPr/>
          <p:nvPr/>
        </p:nvSpPr>
        <p:spPr>
          <a:xfrm>
            <a:off x="2011680" y="5532120"/>
            <a:ext cx="36576" cy="36576"/>
          </a:xfrm>
          <a:prstGeom prst="rect">
            <a:avLst/>
          </a:prstGeom>
          <a:solidFill>
            <a:srgbClr val="E9E4F0"/>
          </a:solidFill>
          <a:ln w="4445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Clipboard cell 1-0"/>
          <p:cNvSpPr/>
          <p:nvPr/>
        </p:nvSpPr>
        <p:spPr>
          <a:xfrm>
            <a:off x="1947672" y="5586984"/>
            <a:ext cx="36576" cy="36576"/>
          </a:xfrm>
          <a:prstGeom prst="rect">
            <a:avLst/>
          </a:prstGeom>
          <a:solidFill>
            <a:srgbClr val="E9E4F0"/>
          </a:solidFill>
          <a:ln w="4445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Clipboard cell 1-1"/>
          <p:cNvSpPr/>
          <p:nvPr/>
        </p:nvSpPr>
        <p:spPr>
          <a:xfrm>
            <a:off x="2011680" y="5586984"/>
            <a:ext cx="36576" cy="36576"/>
          </a:xfrm>
          <a:prstGeom prst="rect">
            <a:avLst/>
          </a:prstGeom>
          <a:solidFill>
            <a:srgbClr val="E9E4F0"/>
          </a:solidFill>
          <a:ln w="4445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Clipboard cell 2-0"/>
          <p:cNvSpPr/>
          <p:nvPr/>
        </p:nvSpPr>
        <p:spPr>
          <a:xfrm>
            <a:off x="1947672" y="5641848"/>
            <a:ext cx="36576" cy="36576"/>
          </a:xfrm>
          <a:prstGeom prst="rect">
            <a:avLst/>
          </a:prstGeom>
          <a:solidFill>
            <a:srgbClr val="E9E4F0"/>
          </a:solidFill>
          <a:ln w="4445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Clipboard cell 2-1"/>
          <p:cNvSpPr/>
          <p:nvPr/>
        </p:nvSpPr>
        <p:spPr>
          <a:xfrm>
            <a:off x="2011680" y="5641848"/>
            <a:ext cx="36576" cy="36576"/>
          </a:xfrm>
          <a:prstGeom prst="rect">
            <a:avLst/>
          </a:prstGeom>
          <a:solidFill>
            <a:srgbClr val="E9E4F0"/>
          </a:solidFill>
          <a:ln w="4445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Context ellipsis"/>
          <p:cNvSpPr txBox="1"/>
          <p:nvPr/>
        </p:nvSpPr>
        <p:spPr>
          <a:xfrm>
            <a:off x="2313432" y="5504688"/>
            <a:ext cx="237744" cy="210312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4477"/>
                </a:solidFill>
                <a:latin typeface="Arial"/>
              </a:rPr>
              <a:t>…</a:t>
            </a:r>
          </a:p>
        </p:txBody>
      </p:sp>
      <p:sp>
        <p:nvSpPr>
          <p:cNvPr id="77" name="Diagnosis clipboard"/>
          <p:cNvSpPr/>
          <p:nvPr/>
        </p:nvSpPr>
        <p:spPr>
          <a:xfrm>
            <a:off x="448056" y="5861304"/>
            <a:ext cx="164592" cy="228600"/>
          </a:xfrm>
          <a:prstGeom prst="rect">
            <a:avLst/>
          </a:prstGeom>
          <a:solidFill>
            <a:srgbClr val="FFFDFC"/>
          </a:solidFill>
          <a:ln w="8890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iagnosis clip"/>
          <p:cNvSpPr/>
          <p:nvPr/>
        </p:nvSpPr>
        <p:spPr>
          <a:xfrm>
            <a:off x="493776" y="5833872"/>
            <a:ext cx="73152" cy="45720"/>
          </a:xfrm>
          <a:prstGeom prst="roundRect">
            <a:avLst>
              <a:gd name="adj" fmla="val 8000"/>
            </a:avLst>
          </a:prstGeom>
          <a:solidFill>
            <a:srgbClr val="E89872"/>
          </a:solidFill>
          <a:ln w="6350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Diagnosis line 1"/>
          <p:cNvCxnSpPr/>
          <p:nvPr/>
        </p:nvCxnSpPr>
        <p:spPr>
          <a:xfrm>
            <a:off x="493776" y="5925312"/>
            <a:ext cx="82296" cy="0"/>
          </a:xfrm>
          <a:prstGeom prst="line">
            <a:avLst/>
          </a:prstGeom>
          <a:ln w="6985">
            <a:solidFill>
              <a:srgbClr val="5A34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Diagnosis line 2"/>
          <p:cNvCxnSpPr/>
          <p:nvPr/>
        </p:nvCxnSpPr>
        <p:spPr>
          <a:xfrm>
            <a:off x="493776" y="5971032"/>
            <a:ext cx="82296" cy="0"/>
          </a:xfrm>
          <a:prstGeom prst="line">
            <a:avLst/>
          </a:prstGeom>
          <a:ln w="6985">
            <a:solidFill>
              <a:srgbClr val="5A34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Diagnosis line 3"/>
          <p:cNvCxnSpPr/>
          <p:nvPr/>
        </p:nvCxnSpPr>
        <p:spPr>
          <a:xfrm>
            <a:off x="493776" y="6016752"/>
            <a:ext cx="82296" cy="0"/>
          </a:xfrm>
          <a:prstGeom prst="line">
            <a:avLst/>
          </a:prstGeom>
          <a:ln w="6985">
            <a:solidFill>
              <a:srgbClr val="5A34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Prior diagnoses label"/>
          <p:cNvSpPr txBox="1"/>
          <p:nvPr/>
        </p:nvSpPr>
        <p:spPr>
          <a:xfrm>
            <a:off x="713232" y="5833872"/>
            <a:ext cx="1380744" cy="24688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01721"/>
                </a:solidFill>
                <a:latin typeface="Arial"/>
              </a:rPr>
              <a:t>Prior diagnoses</a:t>
            </a:r>
          </a:p>
        </p:txBody>
      </p:sp>
      <p:sp>
        <p:nvSpPr>
          <p:cNvPr id="83" name="Lab tube"/>
          <p:cNvSpPr/>
          <p:nvPr/>
        </p:nvSpPr>
        <p:spPr>
          <a:xfrm>
            <a:off x="484632" y="6236208"/>
            <a:ext cx="91440" cy="210312"/>
          </a:xfrm>
          <a:prstGeom prst="roundRect">
            <a:avLst>
              <a:gd name="adj" fmla="val 8000"/>
            </a:avLst>
          </a:prstGeom>
          <a:solidFill>
            <a:srgbClr val="E5DFF0"/>
          </a:solidFill>
          <a:ln w="8890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Lab tube lip"/>
          <p:cNvCxnSpPr/>
          <p:nvPr/>
        </p:nvCxnSpPr>
        <p:spPr>
          <a:xfrm>
            <a:off x="466344" y="6227064"/>
            <a:ext cx="128016" cy="0"/>
          </a:xfrm>
          <a:prstGeom prst="line">
            <a:avLst/>
          </a:prstGeom>
          <a:ln w="10160">
            <a:solidFill>
              <a:srgbClr val="5A34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Lab tube liquid"/>
          <p:cNvSpPr/>
          <p:nvPr/>
        </p:nvSpPr>
        <p:spPr>
          <a:xfrm>
            <a:off x="512064" y="6355080"/>
            <a:ext cx="36576" cy="64008"/>
          </a:xfrm>
          <a:prstGeom prst="rect">
            <a:avLst/>
          </a:prstGeom>
          <a:solidFill>
            <a:srgbClr val="8D7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Labs label"/>
          <p:cNvSpPr txBox="1"/>
          <p:nvPr/>
        </p:nvSpPr>
        <p:spPr>
          <a:xfrm>
            <a:off x="713232" y="6199632"/>
            <a:ext cx="1371600" cy="256032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01721"/>
                </a:solidFill>
                <a:latin typeface="Arial"/>
              </a:rPr>
              <a:t>Labs</a:t>
            </a:r>
          </a:p>
        </p:txBody>
      </p:sp>
      <p:sp>
        <p:nvSpPr>
          <p:cNvPr id="87" name="Timing label"/>
          <p:cNvSpPr txBox="1"/>
          <p:nvPr/>
        </p:nvSpPr>
        <p:spPr>
          <a:xfrm>
            <a:off x="320040" y="6592824"/>
            <a:ext cx="466344" cy="210312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101721"/>
                </a:solidFill>
                <a:latin typeface="Arial"/>
              </a:rPr>
              <a:t>Timing</a:t>
            </a:r>
          </a:p>
        </p:txBody>
      </p:sp>
      <p:cxnSp>
        <p:nvCxnSpPr>
          <p:cNvPr id="88" name="Timing axis"/>
          <p:cNvCxnSpPr/>
          <p:nvPr/>
        </p:nvCxnSpPr>
        <p:spPr>
          <a:xfrm>
            <a:off x="841248" y="6693408"/>
            <a:ext cx="1627632" cy="0"/>
          </a:xfrm>
          <a:prstGeom prst="line">
            <a:avLst/>
          </a:prstGeom>
          <a:ln w="9525">
            <a:solidFill>
              <a:srgbClr val="A9AEAD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iming point 1"/>
          <p:cNvSpPr/>
          <p:nvPr/>
        </p:nvSpPr>
        <p:spPr>
          <a:xfrm>
            <a:off x="1078992" y="6629400"/>
            <a:ext cx="128016" cy="128016"/>
          </a:xfrm>
          <a:prstGeom prst="ellipse">
            <a:avLst/>
          </a:prstGeom>
          <a:solidFill>
            <a:srgbClr val="D7D6D2"/>
          </a:solidFill>
          <a:ln w="6985">
            <a:solidFill>
              <a:srgbClr val="A9AE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iming point 2"/>
          <p:cNvSpPr/>
          <p:nvPr/>
        </p:nvSpPr>
        <p:spPr>
          <a:xfrm>
            <a:off x="1508760" y="6629400"/>
            <a:ext cx="128016" cy="128016"/>
          </a:xfrm>
          <a:prstGeom prst="ellipse">
            <a:avLst/>
          </a:prstGeom>
          <a:solidFill>
            <a:srgbClr val="D7D6D2"/>
          </a:solidFill>
          <a:ln w="6985">
            <a:solidFill>
              <a:srgbClr val="A9AE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iming point 3"/>
          <p:cNvSpPr/>
          <p:nvPr/>
        </p:nvSpPr>
        <p:spPr>
          <a:xfrm>
            <a:off x="1938528" y="6629400"/>
            <a:ext cx="128016" cy="128016"/>
          </a:xfrm>
          <a:prstGeom prst="ellipse">
            <a:avLst/>
          </a:prstGeom>
          <a:solidFill>
            <a:srgbClr val="6F98BE"/>
          </a:solidFill>
          <a:ln w="6985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iming t-2"/>
          <p:cNvSpPr txBox="1"/>
          <p:nvPr/>
        </p:nvSpPr>
        <p:spPr>
          <a:xfrm>
            <a:off x="969264" y="6784848"/>
            <a:ext cx="356616" cy="21945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101721"/>
                </a:solidFill>
                <a:latin typeface="Times New Roman"/>
              </a:rPr>
              <a:t>t-2</a:t>
            </a:r>
          </a:p>
        </p:txBody>
      </p:sp>
      <p:sp>
        <p:nvSpPr>
          <p:cNvPr id="93" name="Timing t-1"/>
          <p:cNvSpPr txBox="1"/>
          <p:nvPr/>
        </p:nvSpPr>
        <p:spPr>
          <a:xfrm>
            <a:off x="1399032" y="6784848"/>
            <a:ext cx="356616" cy="21945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101721"/>
                </a:solidFill>
                <a:latin typeface="Times New Roman"/>
              </a:rPr>
              <a:t>t-1</a:t>
            </a:r>
          </a:p>
        </p:txBody>
      </p:sp>
      <p:sp>
        <p:nvSpPr>
          <p:cNvPr id="94" name="Timing t"/>
          <p:cNvSpPr txBox="1"/>
          <p:nvPr/>
        </p:nvSpPr>
        <p:spPr>
          <a:xfrm>
            <a:off x="1847088" y="6784848"/>
            <a:ext cx="320040" cy="21945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101721"/>
                </a:solidFill>
                <a:latin typeface="Times New Roman"/>
              </a:rPr>
              <a:t>t</a:t>
            </a:r>
          </a:p>
        </p:txBody>
      </p:sp>
      <p:sp>
        <p:nvSpPr>
          <p:cNvPr id="95" name="Timing ellipsis"/>
          <p:cNvSpPr txBox="1"/>
          <p:nvPr/>
        </p:nvSpPr>
        <p:spPr>
          <a:xfrm>
            <a:off x="2496312" y="6574536"/>
            <a:ext cx="219456" cy="22860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4477"/>
                </a:solidFill>
                <a:latin typeface="Arial"/>
              </a:rPr>
              <a:t>…</a:t>
            </a:r>
          </a:p>
        </p:txBody>
      </p:sp>
      <p:sp>
        <p:nvSpPr>
          <p:cNvPr id="96" name="Visual token key 1"/>
          <p:cNvSpPr/>
          <p:nvPr/>
        </p:nvSpPr>
        <p:spPr>
          <a:xfrm>
            <a:off x="676656" y="7635240"/>
            <a:ext cx="118872" cy="146304"/>
          </a:xfrm>
          <a:prstGeom prst="roundRect">
            <a:avLst>
              <a:gd name="adj" fmla="val 15384"/>
            </a:avLst>
          </a:prstGeom>
          <a:solidFill>
            <a:srgbClr val="6F98BE"/>
          </a:solidFill>
          <a:ln w="8255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Visual token key 2"/>
          <p:cNvSpPr/>
          <p:nvPr/>
        </p:nvSpPr>
        <p:spPr>
          <a:xfrm>
            <a:off x="832104" y="7635240"/>
            <a:ext cx="118872" cy="146304"/>
          </a:xfrm>
          <a:prstGeom prst="roundRect">
            <a:avLst>
              <a:gd name="adj" fmla="val 15384"/>
            </a:avLst>
          </a:prstGeom>
          <a:solidFill>
            <a:srgbClr val="6F98BE"/>
          </a:solidFill>
          <a:ln w="8255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Visual token key label"/>
          <p:cNvSpPr txBox="1"/>
          <p:nvPr/>
        </p:nvSpPr>
        <p:spPr>
          <a:xfrm>
            <a:off x="1106424" y="7607808"/>
            <a:ext cx="1527048" cy="21945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01721"/>
                </a:solidFill>
                <a:latin typeface="Arial"/>
              </a:rPr>
              <a:t>Visual tokens (studies)</a:t>
            </a:r>
          </a:p>
        </p:txBody>
      </p:sp>
      <p:sp>
        <p:nvSpPr>
          <p:cNvPr id="99" name="Text token key 1"/>
          <p:cNvSpPr/>
          <p:nvPr/>
        </p:nvSpPr>
        <p:spPr>
          <a:xfrm>
            <a:off x="676656" y="7927848"/>
            <a:ext cx="118872" cy="146304"/>
          </a:xfrm>
          <a:prstGeom prst="roundRect">
            <a:avLst>
              <a:gd name="adj" fmla="val 15384"/>
            </a:avLst>
          </a:prstGeom>
          <a:solidFill>
            <a:srgbClr val="E8967C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 token key 2"/>
          <p:cNvSpPr/>
          <p:nvPr/>
        </p:nvSpPr>
        <p:spPr>
          <a:xfrm>
            <a:off x="832104" y="7927848"/>
            <a:ext cx="118872" cy="146304"/>
          </a:xfrm>
          <a:prstGeom prst="roundRect">
            <a:avLst>
              <a:gd name="adj" fmla="val 15384"/>
            </a:avLst>
          </a:prstGeom>
          <a:solidFill>
            <a:srgbClr val="E8967C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 token key label"/>
          <p:cNvSpPr txBox="1"/>
          <p:nvPr/>
        </p:nvSpPr>
        <p:spPr>
          <a:xfrm>
            <a:off x="1106424" y="7900416"/>
            <a:ext cx="1609344" cy="21945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01721"/>
                </a:solidFill>
                <a:latin typeface="Arial"/>
              </a:rPr>
              <a:t>Text / context tokens</a:t>
            </a:r>
          </a:p>
        </p:txBody>
      </p:sp>
      <p:sp>
        <p:nvSpPr>
          <p:cNvPr id="102" name="Special token key 1"/>
          <p:cNvSpPr/>
          <p:nvPr/>
        </p:nvSpPr>
        <p:spPr>
          <a:xfrm>
            <a:off x="676656" y="8220456"/>
            <a:ext cx="118872" cy="146304"/>
          </a:xfrm>
          <a:prstGeom prst="roundRect">
            <a:avLst>
              <a:gd name="adj" fmla="val 15384"/>
            </a:avLst>
          </a:prstGeom>
          <a:solidFill>
            <a:srgbClr val="8D78AE"/>
          </a:solidFill>
          <a:ln w="8255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Special token key 2"/>
          <p:cNvSpPr/>
          <p:nvPr/>
        </p:nvSpPr>
        <p:spPr>
          <a:xfrm>
            <a:off x="832104" y="8220456"/>
            <a:ext cx="118872" cy="146304"/>
          </a:xfrm>
          <a:prstGeom prst="roundRect">
            <a:avLst>
              <a:gd name="adj" fmla="val 15384"/>
            </a:avLst>
          </a:prstGeom>
          <a:solidFill>
            <a:srgbClr val="8D78AE"/>
          </a:solidFill>
          <a:ln w="8255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Special token key label"/>
          <p:cNvSpPr txBox="1"/>
          <p:nvPr/>
        </p:nvSpPr>
        <p:spPr>
          <a:xfrm>
            <a:off x="1106424" y="8193024"/>
            <a:ext cx="1508760" cy="21945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01721"/>
                </a:solidFill>
                <a:latin typeface="Arial"/>
              </a:rPr>
              <a:t>Special tokens</a:t>
            </a:r>
          </a:p>
        </p:txBody>
      </p:sp>
      <p:sp>
        <p:nvSpPr>
          <p:cNvPr id="105" name="2D 3D encoder panel"/>
          <p:cNvSpPr/>
          <p:nvPr/>
        </p:nvSpPr>
        <p:spPr>
          <a:xfrm>
            <a:off x="3099816" y="1005840"/>
            <a:ext cx="1143000" cy="2761488"/>
          </a:xfrm>
          <a:custGeom>
            <a:avLst/>
            <a:gdLst/>
            <a:ahLst/>
            <a:cxnLst/>
            <a:rect l="l" t="t" r="r" b="b"/>
            <a:pathLst>
              <a:path w="125" h="302">
                <a:moveTo>
                  <a:pt x="0" y="0"/>
                </a:moveTo>
                <a:lnTo>
                  <a:pt x="125" y="36"/>
                </a:lnTo>
                <a:lnTo>
                  <a:pt x="125" y="255"/>
                </a:lnTo>
                <a:lnTo>
                  <a:pt x="0" y="302"/>
                </a:lnTo>
                <a:close/>
              </a:path>
            </a:pathLst>
          </a:custGeom>
          <a:solidFill>
            <a:srgbClr val="EEF3F6"/>
          </a:solidFill>
          <a:ln w="13335">
            <a:solidFill>
              <a:srgbClr val="6F98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ncoder label"/>
          <p:cNvSpPr txBox="1"/>
          <p:nvPr/>
        </p:nvSpPr>
        <p:spPr>
          <a:xfrm>
            <a:off x="3236976" y="1737360"/>
            <a:ext cx="850392" cy="60350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04477"/>
                </a:solidFill>
                <a:latin typeface="Arial"/>
              </a:rPr>
              <a:t>2D / 3D
encoder</a:t>
            </a:r>
          </a:p>
        </p:txBody>
      </p:sp>
      <p:sp>
        <p:nvSpPr>
          <p:cNvPr id="107" name="Encoder cube front"/>
          <p:cNvSpPr/>
          <p:nvPr/>
        </p:nvSpPr>
        <p:spPr>
          <a:xfrm>
            <a:off x="3282696" y="2532522"/>
            <a:ext cx="493776" cy="493776"/>
          </a:xfrm>
          <a:prstGeom prst="rect">
            <a:avLst/>
          </a:prstGeom>
          <a:solidFill>
            <a:srgbClr val="AFC7DB"/>
          </a:solidFill>
          <a:ln w="10160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Encoder cube front vertical 1"/>
          <p:cNvCxnSpPr/>
          <p:nvPr/>
        </p:nvCxnSpPr>
        <p:spPr>
          <a:xfrm>
            <a:off x="3447288" y="2532522"/>
            <a:ext cx="0" cy="493776"/>
          </a:xfrm>
          <a:prstGeom prst="line">
            <a:avLst/>
          </a:prstGeom>
          <a:ln w="4445">
            <a:solidFill>
              <a:srgbClr val="104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ncoder cube front vertical 2"/>
          <p:cNvCxnSpPr/>
          <p:nvPr/>
        </p:nvCxnSpPr>
        <p:spPr>
          <a:xfrm>
            <a:off x="3611880" y="2532522"/>
            <a:ext cx="0" cy="493776"/>
          </a:xfrm>
          <a:prstGeom prst="line">
            <a:avLst/>
          </a:prstGeom>
          <a:ln w="4445">
            <a:solidFill>
              <a:srgbClr val="104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ncoder cube front horizontal 1"/>
          <p:cNvCxnSpPr/>
          <p:nvPr/>
        </p:nvCxnSpPr>
        <p:spPr>
          <a:xfrm>
            <a:off x="3282696" y="2697114"/>
            <a:ext cx="493776" cy="0"/>
          </a:xfrm>
          <a:prstGeom prst="line">
            <a:avLst/>
          </a:prstGeom>
          <a:ln w="4445">
            <a:solidFill>
              <a:srgbClr val="104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Encoder cube front horizontal 2"/>
          <p:cNvCxnSpPr/>
          <p:nvPr/>
        </p:nvCxnSpPr>
        <p:spPr>
          <a:xfrm>
            <a:off x="3282696" y="2861706"/>
            <a:ext cx="493776" cy="0"/>
          </a:xfrm>
          <a:prstGeom prst="line">
            <a:avLst/>
          </a:prstGeom>
          <a:ln w="4445">
            <a:solidFill>
              <a:srgbClr val="104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Encoder cube top"/>
          <p:cNvSpPr/>
          <p:nvPr/>
        </p:nvSpPr>
        <p:spPr>
          <a:xfrm>
            <a:off x="3282696" y="2414016"/>
            <a:ext cx="612648" cy="118872"/>
          </a:xfrm>
          <a:custGeom>
            <a:avLst/>
            <a:gdLst/>
            <a:ahLst/>
            <a:cxnLst/>
            <a:rect l="l" t="t" r="r" b="b"/>
            <a:pathLst>
              <a:path w="67" h="13">
                <a:moveTo>
                  <a:pt x="0" y="13"/>
                </a:moveTo>
                <a:lnTo>
                  <a:pt x="13" y="0"/>
                </a:lnTo>
                <a:lnTo>
                  <a:pt x="67" y="0"/>
                </a:lnTo>
                <a:lnTo>
                  <a:pt x="54" y="13"/>
                </a:lnTo>
                <a:close/>
              </a:path>
            </a:pathLst>
          </a:custGeom>
          <a:solidFill>
            <a:srgbClr val="AFC7DB"/>
          </a:solidFill>
          <a:ln w="8255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Encoder cube side"/>
          <p:cNvSpPr/>
          <p:nvPr/>
        </p:nvSpPr>
        <p:spPr>
          <a:xfrm>
            <a:off x="3776472" y="2414016"/>
            <a:ext cx="118872" cy="612648"/>
          </a:xfrm>
          <a:custGeom>
            <a:avLst/>
            <a:gdLst/>
            <a:ahLst/>
            <a:cxnLst/>
            <a:rect l="l" t="t" r="r" b="b"/>
            <a:pathLst>
              <a:path w="13" h="67">
                <a:moveTo>
                  <a:pt x="0" y="13"/>
                </a:moveTo>
                <a:lnTo>
                  <a:pt x="13" y="0"/>
                </a:lnTo>
                <a:lnTo>
                  <a:pt x="13" y="54"/>
                </a:lnTo>
                <a:lnTo>
                  <a:pt x="0" y="67"/>
                </a:lnTo>
                <a:close/>
              </a:path>
            </a:pathLst>
          </a:custGeom>
          <a:solidFill>
            <a:srgbClr val="7298BA"/>
          </a:solidFill>
          <a:ln w="8255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4" name="Encoder cube top grid 1"/>
          <p:cNvCxnSpPr/>
          <p:nvPr/>
        </p:nvCxnSpPr>
        <p:spPr>
          <a:xfrm flipH="1">
            <a:off x="3447288" y="2414016"/>
            <a:ext cx="118506" cy="118506"/>
          </a:xfrm>
          <a:prstGeom prst="line">
            <a:avLst/>
          </a:prstGeom>
          <a:ln w="3810">
            <a:solidFill>
              <a:srgbClr val="104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Encoder cube side grid 1"/>
          <p:cNvCxnSpPr/>
          <p:nvPr/>
        </p:nvCxnSpPr>
        <p:spPr>
          <a:xfrm flipV="1">
            <a:off x="3776472" y="2578608"/>
            <a:ext cx="118506" cy="118506"/>
          </a:xfrm>
          <a:prstGeom prst="line">
            <a:avLst/>
          </a:prstGeom>
          <a:ln w="3810">
            <a:solidFill>
              <a:srgbClr val="104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Encoder cube top grid 2"/>
          <p:cNvCxnSpPr/>
          <p:nvPr/>
        </p:nvCxnSpPr>
        <p:spPr>
          <a:xfrm flipH="1">
            <a:off x="3611880" y="2414016"/>
            <a:ext cx="118506" cy="118506"/>
          </a:xfrm>
          <a:prstGeom prst="line">
            <a:avLst/>
          </a:prstGeom>
          <a:ln w="3810">
            <a:solidFill>
              <a:srgbClr val="104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Encoder cube side grid 2"/>
          <p:cNvCxnSpPr/>
          <p:nvPr/>
        </p:nvCxnSpPr>
        <p:spPr>
          <a:xfrm flipV="1">
            <a:off x="3776472" y="2743200"/>
            <a:ext cx="118506" cy="118506"/>
          </a:xfrm>
          <a:prstGeom prst="line">
            <a:avLst/>
          </a:prstGeom>
          <a:ln w="3810">
            <a:solidFill>
              <a:srgbClr val="104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sampler projector"/>
          <p:cNvSpPr/>
          <p:nvPr/>
        </p:nvSpPr>
        <p:spPr>
          <a:xfrm>
            <a:off x="3099816" y="4873752"/>
            <a:ext cx="1545336" cy="1645920"/>
          </a:xfrm>
          <a:prstGeom prst="roundRect">
            <a:avLst>
              <a:gd name="adj" fmla="val 8000"/>
            </a:avLst>
          </a:prstGeom>
          <a:solidFill>
            <a:srgbClr val="F8FBFC"/>
          </a:solidFill>
          <a:ln w="12700">
            <a:solidFill>
              <a:srgbClr val="6F98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sampler projector label"/>
          <p:cNvSpPr txBox="1"/>
          <p:nvPr/>
        </p:nvSpPr>
        <p:spPr>
          <a:xfrm>
            <a:off x="3218688" y="4965192"/>
            <a:ext cx="1325880" cy="42976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04477"/>
                </a:solidFill>
                <a:latin typeface="Arial"/>
              </a:rPr>
              <a:t>Resampler
+ projector</a:t>
            </a:r>
          </a:p>
        </p:txBody>
      </p:sp>
      <p:sp>
        <p:nvSpPr>
          <p:cNvPr id="120" name="Resampler funnel"/>
          <p:cNvSpPr/>
          <p:nvPr/>
        </p:nvSpPr>
        <p:spPr>
          <a:xfrm>
            <a:off x="3209544" y="5541264"/>
            <a:ext cx="338328" cy="512064"/>
          </a:xfrm>
          <a:custGeom>
            <a:avLst/>
            <a:gdLst/>
            <a:ahLst/>
            <a:cxnLst/>
            <a:rect l="l" t="t" r="r" b="b"/>
            <a:pathLst>
              <a:path w="37" h="56">
                <a:moveTo>
                  <a:pt x="0" y="0"/>
                </a:moveTo>
                <a:lnTo>
                  <a:pt x="37" y="0"/>
                </a:lnTo>
                <a:lnTo>
                  <a:pt x="19" y="56"/>
                </a:lnTo>
                <a:close/>
              </a:path>
            </a:pathLst>
          </a:custGeom>
          <a:solidFill>
            <a:srgbClr val="80A4C1"/>
          </a:solidFill>
          <a:ln w="10795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Funnel band 605"/>
          <p:cNvCxnSpPr/>
          <p:nvPr/>
        </p:nvCxnSpPr>
        <p:spPr>
          <a:xfrm>
            <a:off x="3227832" y="5532120"/>
            <a:ext cx="292608" cy="0"/>
          </a:xfrm>
          <a:prstGeom prst="line">
            <a:avLst/>
          </a:prstGeom>
          <a:ln w="4445">
            <a:solidFill>
              <a:srgbClr val="104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Funnel band 613"/>
          <p:cNvCxnSpPr/>
          <p:nvPr/>
        </p:nvCxnSpPr>
        <p:spPr>
          <a:xfrm>
            <a:off x="3227832" y="5605272"/>
            <a:ext cx="292608" cy="0"/>
          </a:xfrm>
          <a:prstGeom prst="line">
            <a:avLst/>
          </a:prstGeom>
          <a:ln w="4445">
            <a:solidFill>
              <a:srgbClr val="104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Funnel band 621"/>
          <p:cNvCxnSpPr/>
          <p:nvPr/>
        </p:nvCxnSpPr>
        <p:spPr>
          <a:xfrm>
            <a:off x="3227832" y="5678424"/>
            <a:ext cx="292608" cy="0"/>
          </a:xfrm>
          <a:prstGeom prst="line">
            <a:avLst/>
          </a:prstGeom>
          <a:ln w="4445">
            <a:solidFill>
              <a:srgbClr val="104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sampler row arrow 1"/>
          <p:cNvSpPr txBox="1"/>
          <p:nvPr/>
        </p:nvSpPr>
        <p:spPr>
          <a:xfrm>
            <a:off x="3639312" y="5532120"/>
            <a:ext cx="182880" cy="20116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4477"/>
                </a:solidFill>
                <a:latin typeface="Arial"/>
              </a:rPr>
              <a:t>→</a:t>
            </a:r>
          </a:p>
        </p:txBody>
      </p:sp>
      <p:sp>
        <p:nvSpPr>
          <p:cNvPr id="125" name="Resampler token 1-1"/>
          <p:cNvSpPr/>
          <p:nvPr/>
        </p:nvSpPr>
        <p:spPr>
          <a:xfrm>
            <a:off x="3895344" y="5532120"/>
            <a:ext cx="137160" cy="155448"/>
          </a:xfrm>
          <a:prstGeom prst="roundRect">
            <a:avLst>
              <a:gd name="adj" fmla="val 13333"/>
            </a:avLst>
          </a:prstGeom>
          <a:solidFill>
            <a:srgbClr val="A9C2D7"/>
          </a:solidFill>
          <a:ln w="8255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sampler token 1-2"/>
          <p:cNvSpPr/>
          <p:nvPr/>
        </p:nvSpPr>
        <p:spPr>
          <a:xfrm>
            <a:off x="4059936" y="5532120"/>
            <a:ext cx="137160" cy="155448"/>
          </a:xfrm>
          <a:prstGeom prst="roundRect">
            <a:avLst>
              <a:gd name="adj" fmla="val 13333"/>
            </a:avLst>
          </a:prstGeom>
          <a:solidFill>
            <a:srgbClr val="A9C2D7"/>
          </a:solidFill>
          <a:ln w="8255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sampler token 1-3"/>
          <p:cNvSpPr/>
          <p:nvPr/>
        </p:nvSpPr>
        <p:spPr>
          <a:xfrm>
            <a:off x="4224528" y="5532120"/>
            <a:ext cx="137160" cy="155448"/>
          </a:xfrm>
          <a:prstGeom prst="roundRect">
            <a:avLst>
              <a:gd name="adj" fmla="val 13333"/>
            </a:avLst>
          </a:prstGeom>
          <a:solidFill>
            <a:srgbClr val="A9C2D7"/>
          </a:solidFill>
          <a:ln w="8255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sampler token 1-4"/>
          <p:cNvSpPr/>
          <p:nvPr/>
        </p:nvSpPr>
        <p:spPr>
          <a:xfrm>
            <a:off x="4389120" y="5532120"/>
            <a:ext cx="137160" cy="155448"/>
          </a:xfrm>
          <a:prstGeom prst="roundRect">
            <a:avLst>
              <a:gd name="adj" fmla="val 13333"/>
            </a:avLst>
          </a:prstGeom>
          <a:solidFill>
            <a:srgbClr val="A9C2D7"/>
          </a:solidFill>
          <a:ln w="8255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sampler row arrow 2"/>
          <p:cNvSpPr txBox="1"/>
          <p:nvPr/>
        </p:nvSpPr>
        <p:spPr>
          <a:xfrm>
            <a:off x="3639312" y="5852160"/>
            <a:ext cx="182880" cy="20116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4477"/>
                </a:solidFill>
                <a:latin typeface="Arial"/>
              </a:rPr>
              <a:t>→</a:t>
            </a:r>
          </a:p>
        </p:txBody>
      </p:sp>
      <p:sp>
        <p:nvSpPr>
          <p:cNvPr id="130" name="Resampler token 2-1"/>
          <p:cNvSpPr/>
          <p:nvPr/>
        </p:nvSpPr>
        <p:spPr>
          <a:xfrm>
            <a:off x="3895344" y="5852160"/>
            <a:ext cx="137160" cy="155448"/>
          </a:xfrm>
          <a:prstGeom prst="roundRect">
            <a:avLst>
              <a:gd name="adj" fmla="val 13333"/>
            </a:avLst>
          </a:prstGeom>
          <a:solidFill>
            <a:srgbClr val="A9C2D7"/>
          </a:solidFill>
          <a:ln w="8255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sampler token 2-2"/>
          <p:cNvSpPr/>
          <p:nvPr/>
        </p:nvSpPr>
        <p:spPr>
          <a:xfrm>
            <a:off x="4059936" y="5852160"/>
            <a:ext cx="137160" cy="155448"/>
          </a:xfrm>
          <a:prstGeom prst="roundRect">
            <a:avLst>
              <a:gd name="adj" fmla="val 13333"/>
            </a:avLst>
          </a:prstGeom>
          <a:solidFill>
            <a:srgbClr val="A9C2D7"/>
          </a:solidFill>
          <a:ln w="8255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sampler token 2-3"/>
          <p:cNvSpPr/>
          <p:nvPr/>
        </p:nvSpPr>
        <p:spPr>
          <a:xfrm>
            <a:off x="4224528" y="5852160"/>
            <a:ext cx="137160" cy="155448"/>
          </a:xfrm>
          <a:prstGeom prst="roundRect">
            <a:avLst>
              <a:gd name="adj" fmla="val 13333"/>
            </a:avLst>
          </a:prstGeom>
          <a:solidFill>
            <a:srgbClr val="A9C2D7"/>
          </a:solidFill>
          <a:ln w="8255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sampler token 2-4"/>
          <p:cNvSpPr/>
          <p:nvPr/>
        </p:nvSpPr>
        <p:spPr>
          <a:xfrm>
            <a:off x="4389120" y="5852160"/>
            <a:ext cx="137160" cy="155448"/>
          </a:xfrm>
          <a:prstGeom prst="roundRect">
            <a:avLst>
              <a:gd name="adj" fmla="val 13333"/>
            </a:avLst>
          </a:prstGeom>
          <a:solidFill>
            <a:srgbClr val="A9C2D7"/>
          </a:solidFill>
          <a:ln w="8255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sampler row arrow 3"/>
          <p:cNvSpPr txBox="1"/>
          <p:nvPr/>
        </p:nvSpPr>
        <p:spPr>
          <a:xfrm>
            <a:off x="3639312" y="6172200"/>
            <a:ext cx="182880" cy="20116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4477"/>
                </a:solidFill>
                <a:latin typeface="Arial"/>
              </a:rPr>
              <a:t>…</a:t>
            </a:r>
          </a:p>
        </p:txBody>
      </p:sp>
      <p:sp>
        <p:nvSpPr>
          <p:cNvPr id="135" name="Resampler token 3-1"/>
          <p:cNvSpPr/>
          <p:nvPr/>
        </p:nvSpPr>
        <p:spPr>
          <a:xfrm>
            <a:off x="3895344" y="6172200"/>
            <a:ext cx="137160" cy="155448"/>
          </a:xfrm>
          <a:prstGeom prst="roundRect">
            <a:avLst>
              <a:gd name="adj" fmla="val 13333"/>
            </a:avLst>
          </a:prstGeom>
          <a:solidFill>
            <a:srgbClr val="A9C2D7"/>
          </a:solidFill>
          <a:ln w="8255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sampler token 3-2"/>
          <p:cNvSpPr/>
          <p:nvPr/>
        </p:nvSpPr>
        <p:spPr>
          <a:xfrm>
            <a:off x="4059936" y="6172200"/>
            <a:ext cx="137160" cy="155448"/>
          </a:xfrm>
          <a:prstGeom prst="roundRect">
            <a:avLst>
              <a:gd name="adj" fmla="val 13333"/>
            </a:avLst>
          </a:prstGeom>
          <a:solidFill>
            <a:srgbClr val="A9C2D7"/>
          </a:solidFill>
          <a:ln w="8255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sampler token 3-3"/>
          <p:cNvSpPr/>
          <p:nvPr/>
        </p:nvSpPr>
        <p:spPr>
          <a:xfrm>
            <a:off x="4224528" y="6172200"/>
            <a:ext cx="137160" cy="155448"/>
          </a:xfrm>
          <a:prstGeom prst="roundRect">
            <a:avLst>
              <a:gd name="adj" fmla="val 13333"/>
            </a:avLst>
          </a:prstGeom>
          <a:solidFill>
            <a:srgbClr val="A9C2D7"/>
          </a:solidFill>
          <a:ln w="8255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sampler token 3-4"/>
          <p:cNvSpPr/>
          <p:nvPr/>
        </p:nvSpPr>
        <p:spPr>
          <a:xfrm>
            <a:off x="4389120" y="6172200"/>
            <a:ext cx="137160" cy="155448"/>
          </a:xfrm>
          <a:prstGeom prst="roundRect">
            <a:avLst>
              <a:gd name="adj" fmla="val 13333"/>
            </a:avLst>
          </a:prstGeom>
          <a:solidFill>
            <a:srgbClr val="A9C2D7"/>
          </a:solidFill>
          <a:ln w="8255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 context tokenizer"/>
          <p:cNvSpPr/>
          <p:nvPr/>
        </p:nvSpPr>
        <p:spPr>
          <a:xfrm>
            <a:off x="3090672" y="6720840"/>
            <a:ext cx="1554480" cy="557784"/>
          </a:xfrm>
          <a:prstGeom prst="roundRect">
            <a:avLst>
              <a:gd name="adj" fmla="val 8000"/>
            </a:avLst>
          </a:prstGeom>
          <a:solidFill>
            <a:srgbClr val="FFF9F4"/>
          </a:solidFill>
          <a:ln w="11430">
            <a:solidFill>
              <a:srgbClr val="E89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 context tokenizer label"/>
          <p:cNvSpPr txBox="1"/>
          <p:nvPr/>
        </p:nvSpPr>
        <p:spPr>
          <a:xfrm>
            <a:off x="3218688" y="6784848"/>
            <a:ext cx="1316736" cy="42062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 i="0">
                <a:solidFill>
                  <a:srgbClr val="A8230E"/>
                </a:solidFill>
                <a:latin typeface="Arial"/>
              </a:rPr>
              <a:t>Text &amp; context
tokenizer</a:t>
            </a:r>
          </a:p>
        </p:txBody>
      </p:sp>
      <p:sp>
        <p:nvSpPr>
          <p:cNvPr id="141" name="Dense memory panel"/>
          <p:cNvSpPr/>
          <p:nvPr/>
        </p:nvSpPr>
        <p:spPr>
          <a:xfrm>
            <a:off x="4599432" y="356616"/>
            <a:ext cx="3511296" cy="1783080"/>
          </a:xfrm>
          <a:prstGeom prst="roundRect">
            <a:avLst>
              <a:gd name="adj" fmla="val 8000"/>
            </a:avLst>
          </a:prstGeom>
          <a:solidFill>
            <a:srgbClr val="FBFCFD"/>
          </a:solidFill>
          <a:ln w="13335">
            <a:solidFill>
              <a:srgbClr val="6F98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Dense memory heading"/>
          <p:cNvSpPr txBox="1"/>
          <p:nvPr/>
        </p:nvSpPr>
        <p:spPr>
          <a:xfrm>
            <a:off x="4754880" y="429768"/>
            <a:ext cx="3200400" cy="32004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04477"/>
                </a:solidFill>
                <a:latin typeface="Arial"/>
              </a:rPr>
              <a:t>Dense memory  Dₜ¹:ᴸ  (multiscale)</a:t>
            </a:r>
          </a:p>
        </p:txBody>
      </p:sp>
      <p:sp>
        <p:nvSpPr>
          <p:cNvPr id="143" name="Coarse memory label"/>
          <p:cNvSpPr txBox="1"/>
          <p:nvPr/>
        </p:nvSpPr>
        <p:spPr>
          <a:xfrm>
            <a:off x="4809744" y="758952"/>
            <a:ext cx="877824" cy="24688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01721"/>
                </a:solidFill>
                <a:latin typeface="Times New Roman"/>
              </a:rPr>
              <a:t>L (coarse)</a:t>
            </a:r>
          </a:p>
        </p:txBody>
      </p:sp>
      <p:sp>
        <p:nvSpPr>
          <p:cNvPr id="144" name="Intermediate memory label"/>
          <p:cNvSpPr txBox="1"/>
          <p:nvPr/>
        </p:nvSpPr>
        <p:spPr>
          <a:xfrm>
            <a:off x="6172200" y="768096"/>
            <a:ext cx="630936" cy="24688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101721"/>
                </a:solidFill>
                <a:latin typeface="Times New Roman"/>
              </a:rPr>
              <a:t>ℓ</a:t>
            </a:r>
          </a:p>
        </p:txBody>
      </p:sp>
      <p:sp>
        <p:nvSpPr>
          <p:cNvPr id="145" name="Fine memory label"/>
          <p:cNvSpPr txBox="1"/>
          <p:nvPr/>
        </p:nvSpPr>
        <p:spPr>
          <a:xfrm>
            <a:off x="7214616" y="768096"/>
            <a:ext cx="704088" cy="24688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01721"/>
                </a:solidFill>
                <a:latin typeface="Times New Roman"/>
              </a:rPr>
              <a:t>1 (fine)</a:t>
            </a:r>
          </a:p>
        </p:txBody>
      </p:sp>
      <p:sp>
        <p:nvSpPr>
          <p:cNvPr id="146" name="Coarse dense memory cell 1-1"/>
          <p:cNvSpPr/>
          <p:nvPr/>
        </p:nvSpPr>
        <p:spPr>
          <a:xfrm>
            <a:off x="4736592" y="1033271"/>
            <a:ext cx="164592" cy="15697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Coarse dense memory cell 1-2"/>
          <p:cNvSpPr/>
          <p:nvPr/>
        </p:nvSpPr>
        <p:spPr>
          <a:xfrm>
            <a:off x="4901184" y="1033271"/>
            <a:ext cx="164592" cy="156972"/>
          </a:xfrm>
          <a:prstGeom prst="rect">
            <a:avLst/>
          </a:prstGeom>
          <a:solidFill>
            <a:srgbClr val="6F94B6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Coarse dense memory cell 1-3"/>
          <p:cNvSpPr/>
          <p:nvPr/>
        </p:nvSpPr>
        <p:spPr>
          <a:xfrm>
            <a:off x="5065776" y="1033271"/>
            <a:ext cx="164592" cy="156972"/>
          </a:xfrm>
          <a:prstGeom prst="rect">
            <a:avLst/>
          </a:prstGeom>
          <a:solidFill>
            <a:srgbClr val="BCD0DF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Coarse dense memory cell 1-4"/>
          <p:cNvSpPr/>
          <p:nvPr/>
        </p:nvSpPr>
        <p:spPr>
          <a:xfrm>
            <a:off x="5230368" y="1033271"/>
            <a:ext cx="164592" cy="156972"/>
          </a:xfrm>
          <a:prstGeom prst="rect">
            <a:avLst/>
          </a:prstGeom>
          <a:solidFill>
            <a:srgbClr val="EAF0F4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Coarse dense memory cell 1-5"/>
          <p:cNvSpPr/>
          <p:nvPr/>
        </p:nvSpPr>
        <p:spPr>
          <a:xfrm>
            <a:off x="5394960" y="1033271"/>
            <a:ext cx="164592" cy="156972"/>
          </a:xfrm>
          <a:prstGeom prst="rect">
            <a:avLst/>
          </a:prstGeom>
          <a:solidFill>
            <a:srgbClr val="91AEC7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Coarse dense memory cell 1-6"/>
          <p:cNvSpPr/>
          <p:nvPr/>
        </p:nvSpPr>
        <p:spPr>
          <a:xfrm>
            <a:off x="5559552" y="1033271"/>
            <a:ext cx="164592" cy="15697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Coarse dense memory cell 2-1"/>
          <p:cNvSpPr/>
          <p:nvPr/>
        </p:nvSpPr>
        <p:spPr>
          <a:xfrm>
            <a:off x="4736592" y="1190243"/>
            <a:ext cx="164592" cy="15697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Coarse dense memory cell 2-2"/>
          <p:cNvSpPr/>
          <p:nvPr/>
        </p:nvSpPr>
        <p:spPr>
          <a:xfrm>
            <a:off x="4901184" y="1190243"/>
            <a:ext cx="164592" cy="156972"/>
          </a:xfrm>
          <a:prstGeom prst="rect">
            <a:avLst/>
          </a:prstGeom>
          <a:solidFill>
            <a:srgbClr val="EAF0F4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Coarse dense memory cell 2-3"/>
          <p:cNvSpPr/>
          <p:nvPr/>
        </p:nvSpPr>
        <p:spPr>
          <a:xfrm>
            <a:off x="5065776" y="1190243"/>
            <a:ext cx="164592" cy="156972"/>
          </a:xfrm>
          <a:prstGeom prst="rect">
            <a:avLst/>
          </a:prstGeom>
          <a:solidFill>
            <a:srgbClr val="6F94B6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Coarse dense memory cell 2-4"/>
          <p:cNvSpPr/>
          <p:nvPr/>
        </p:nvSpPr>
        <p:spPr>
          <a:xfrm>
            <a:off x="5230368" y="1190243"/>
            <a:ext cx="164592" cy="156972"/>
          </a:xfrm>
          <a:prstGeom prst="rect">
            <a:avLst/>
          </a:prstGeom>
          <a:solidFill>
            <a:srgbClr val="91AEC7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Coarse dense memory cell 2-5"/>
          <p:cNvSpPr/>
          <p:nvPr/>
        </p:nvSpPr>
        <p:spPr>
          <a:xfrm>
            <a:off x="5394960" y="1190243"/>
            <a:ext cx="164592" cy="156972"/>
          </a:xfrm>
          <a:prstGeom prst="rect">
            <a:avLst/>
          </a:prstGeom>
          <a:solidFill>
            <a:srgbClr val="BCD0DF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Coarse dense memory cell 2-6"/>
          <p:cNvSpPr/>
          <p:nvPr/>
        </p:nvSpPr>
        <p:spPr>
          <a:xfrm>
            <a:off x="5559552" y="1190243"/>
            <a:ext cx="164592" cy="15697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Coarse dense memory cell 3-1"/>
          <p:cNvSpPr/>
          <p:nvPr/>
        </p:nvSpPr>
        <p:spPr>
          <a:xfrm>
            <a:off x="4736592" y="1347216"/>
            <a:ext cx="164592" cy="15697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Coarse dense memory cell 3-2"/>
          <p:cNvSpPr/>
          <p:nvPr/>
        </p:nvSpPr>
        <p:spPr>
          <a:xfrm>
            <a:off x="4901184" y="1347216"/>
            <a:ext cx="164592" cy="15697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Coarse dense memory cell 3-3"/>
          <p:cNvSpPr/>
          <p:nvPr/>
        </p:nvSpPr>
        <p:spPr>
          <a:xfrm>
            <a:off x="5065776" y="1347216"/>
            <a:ext cx="164592" cy="15697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Coarse dense memory cell 3-4"/>
          <p:cNvSpPr/>
          <p:nvPr/>
        </p:nvSpPr>
        <p:spPr>
          <a:xfrm>
            <a:off x="5230368" y="1347216"/>
            <a:ext cx="164592" cy="15697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Coarse dense memory cell 3-5"/>
          <p:cNvSpPr/>
          <p:nvPr/>
        </p:nvSpPr>
        <p:spPr>
          <a:xfrm>
            <a:off x="5394960" y="1347216"/>
            <a:ext cx="164592" cy="15697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Coarse dense memory cell 3-6"/>
          <p:cNvSpPr/>
          <p:nvPr/>
        </p:nvSpPr>
        <p:spPr>
          <a:xfrm>
            <a:off x="5559552" y="1347216"/>
            <a:ext cx="164592" cy="15697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Coarse dense memory cell 4-1"/>
          <p:cNvSpPr/>
          <p:nvPr/>
        </p:nvSpPr>
        <p:spPr>
          <a:xfrm>
            <a:off x="4736592" y="1504188"/>
            <a:ext cx="164592" cy="15697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Coarse dense memory cell 4-2"/>
          <p:cNvSpPr/>
          <p:nvPr/>
        </p:nvSpPr>
        <p:spPr>
          <a:xfrm>
            <a:off x="4901184" y="1504188"/>
            <a:ext cx="164592" cy="156972"/>
          </a:xfrm>
          <a:prstGeom prst="rect">
            <a:avLst/>
          </a:prstGeom>
          <a:solidFill>
            <a:srgbClr val="BCD0DF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Coarse dense memory cell 4-3"/>
          <p:cNvSpPr/>
          <p:nvPr/>
        </p:nvSpPr>
        <p:spPr>
          <a:xfrm>
            <a:off x="5065776" y="1504188"/>
            <a:ext cx="164592" cy="156972"/>
          </a:xfrm>
          <a:prstGeom prst="rect">
            <a:avLst/>
          </a:prstGeom>
          <a:solidFill>
            <a:srgbClr val="91AEC7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Coarse dense memory cell 4-4"/>
          <p:cNvSpPr/>
          <p:nvPr/>
        </p:nvSpPr>
        <p:spPr>
          <a:xfrm>
            <a:off x="5230368" y="1504188"/>
            <a:ext cx="164592" cy="156972"/>
          </a:xfrm>
          <a:prstGeom prst="rect">
            <a:avLst/>
          </a:prstGeom>
          <a:solidFill>
            <a:srgbClr val="6F94B6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Coarse dense memory cell 4-5"/>
          <p:cNvSpPr/>
          <p:nvPr/>
        </p:nvSpPr>
        <p:spPr>
          <a:xfrm>
            <a:off x="5394960" y="1504188"/>
            <a:ext cx="164592" cy="156972"/>
          </a:xfrm>
          <a:prstGeom prst="rect">
            <a:avLst/>
          </a:prstGeom>
          <a:solidFill>
            <a:srgbClr val="EAF0F4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Coarse dense memory cell 4-6"/>
          <p:cNvSpPr/>
          <p:nvPr/>
        </p:nvSpPr>
        <p:spPr>
          <a:xfrm>
            <a:off x="5559552" y="1504188"/>
            <a:ext cx="164592" cy="15697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Coarse dense memory cell 5-1"/>
          <p:cNvSpPr/>
          <p:nvPr/>
        </p:nvSpPr>
        <p:spPr>
          <a:xfrm>
            <a:off x="4736592" y="1661160"/>
            <a:ext cx="164592" cy="15697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Coarse dense memory cell 5-2"/>
          <p:cNvSpPr/>
          <p:nvPr/>
        </p:nvSpPr>
        <p:spPr>
          <a:xfrm>
            <a:off x="4901184" y="1661160"/>
            <a:ext cx="164592" cy="156972"/>
          </a:xfrm>
          <a:prstGeom prst="rect">
            <a:avLst/>
          </a:prstGeom>
          <a:solidFill>
            <a:srgbClr val="91AEC7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Coarse dense memory cell 5-3"/>
          <p:cNvSpPr/>
          <p:nvPr/>
        </p:nvSpPr>
        <p:spPr>
          <a:xfrm>
            <a:off x="5065776" y="1661160"/>
            <a:ext cx="164592" cy="156972"/>
          </a:xfrm>
          <a:prstGeom prst="rect">
            <a:avLst/>
          </a:prstGeom>
          <a:solidFill>
            <a:srgbClr val="EAF0F4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Coarse dense memory cell 5-4"/>
          <p:cNvSpPr/>
          <p:nvPr/>
        </p:nvSpPr>
        <p:spPr>
          <a:xfrm>
            <a:off x="5230368" y="1661160"/>
            <a:ext cx="164592" cy="156972"/>
          </a:xfrm>
          <a:prstGeom prst="rect">
            <a:avLst/>
          </a:prstGeom>
          <a:solidFill>
            <a:srgbClr val="BCD0DF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Coarse dense memory cell 5-5"/>
          <p:cNvSpPr/>
          <p:nvPr/>
        </p:nvSpPr>
        <p:spPr>
          <a:xfrm>
            <a:off x="5394960" y="1661160"/>
            <a:ext cx="164592" cy="156972"/>
          </a:xfrm>
          <a:prstGeom prst="rect">
            <a:avLst/>
          </a:prstGeom>
          <a:solidFill>
            <a:srgbClr val="6F94B6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Coarse dense memory cell 5-6"/>
          <p:cNvSpPr/>
          <p:nvPr/>
        </p:nvSpPr>
        <p:spPr>
          <a:xfrm>
            <a:off x="5559552" y="1661160"/>
            <a:ext cx="164592" cy="15697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Coarse dense memory cell 6-1"/>
          <p:cNvSpPr/>
          <p:nvPr/>
        </p:nvSpPr>
        <p:spPr>
          <a:xfrm>
            <a:off x="4736592" y="1818132"/>
            <a:ext cx="164592" cy="15697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Coarse dense memory cell 6-2"/>
          <p:cNvSpPr/>
          <p:nvPr/>
        </p:nvSpPr>
        <p:spPr>
          <a:xfrm>
            <a:off x="4901184" y="1818132"/>
            <a:ext cx="164592" cy="156972"/>
          </a:xfrm>
          <a:prstGeom prst="rect">
            <a:avLst/>
          </a:prstGeom>
          <a:solidFill>
            <a:srgbClr val="6F94B6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Coarse dense memory cell 6-3"/>
          <p:cNvSpPr/>
          <p:nvPr/>
        </p:nvSpPr>
        <p:spPr>
          <a:xfrm>
            <a:off x="5065776" y="1818132"/>
            <a:ext cx="164592" cy="156972"/>
          </a:xfrm>
          <a:prstGeom prst="rect">
            <a:avLst/>
          </a:prstGeom>
          <a:solidFill>
            <a:srgbClr val="BCD0DF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Coarse dense memory cell 6-4"/>
          <p:cNvSpPr/>
          <p:nvPr/>
        </p:nvSpPr>
        <p:spPr>
          <a:xfrm>
            <a:off x="5230368" y="1818132"/>
            <a:ext cx="164592" cy="156972"/>
          </a:xfrm>
          <a:prstGeom prst="rect">
            <a:avLst/>
          </a:prstGeom>
          <a:solidFill>
            <a:srgbClr val="EAF0F4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Coarse dense memory cell 6-5"/>
          <p:cNvSpPr/>
          <p:nvPr/>
        </p:nvSpPr>
        <p:spPr>
          <a:xfrm>
            <a:off x="5394960" y="1818132"/>
            <a:ext cx="164592" cy="156972"/>
          </a:xfrm>
          <a:prstGeom prst="rect">
            <a:avLst/>
          </a:prstGeom>
          <a:solidFill>
            <a:srgbClr val="91AEC7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Coarse dense memory cell 6-6"/>
          <p:cNvSpPr/>
          <p:nvPr/>
        </p:nvSpPr>
        <p:spPr>
          <a:xfrm>
            <a:off x="5559552" y="1818132"/>
            <a:ext cx="164592" cy="15697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Coarse dense memory border"/>
          <p:cNvSpPr/>
          <p:nvPr/>
        </p:nvSpPr>
        <p:spPr>
          <a:xfrm>
            <a:off x="4736592" y="1033271"/>
            <a:ext cx="987552" cy="941832"/>
          </a:xfrm>
          <a:prstGeom prst="rect">
            <a:avLst/>
          </a:prstGeom>
          <a:noFill/>
          <a:ln w="10160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Intermediate dense memory cell 1-1"/>
          <p:cNvSpPr/>
          <p:nvPr/>
        </p:nvSpPr>
        <p:spPr>
          <a:xfrm>
            <a:off x="6080760" y="1106424"/>
            <a:ext cx="157276" cy="153619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Intermediate dense memory cell 1-2"/>
          <p:cNvSpPr/>
          <p:nvPr/>
        </p:nvSpPr>
        <p:spPr>
          <a:xfrm>
            <a:off x="6238036" y="1106424"/>
            <a:ext cx="157276" cy="153619"/>
          </a:xfrm>
          <a:prstGeom prst="rect">
            <a:avLst/>
          </a:prstGeom>
          <a:solidFill>
            <a:srgbClr val="6F94B6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Intermediate dense memory cell 1-3"/>
          <p:cNvSpPr/>
          <p:nvPr/>
        </p:nvSpPr>
        <p:spPr>
          <a:xfrm>
            <a:off x="6395313" y="1106424"/>
            <a:ext cx="157276" cy="153619"/>
          </a:xfrm>
          <a:prstGeom prst="rect">
            <a:avLst/>
          </a:prstGeom>
          <a:solidFill>
            <a:srgbClr val="BCD0DF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Intermediate dense memory cell 1-4"/>
          <p:cNvSpPr/>
          <p:nvPr/>
        </p:nvSpPr>
        <p:spPr>
          <a:xfrm>
            <a:off x="6552590" y="1106424"/>
            <a:ext cx="157276" cy="153619"/>
          </a:xfrm>
          <a:prstGeom prst="rect">
            <a:avLst/>
          </a:prstGeom>
          <a:solidFill>
            <a:srgbClr val="EAF0F4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Intermediate dense memory cell 1-5"/>
          <p:cNvSpPr/>
          <p:nvPr/>
        </p:nvSpPr>
        <p:spPr>
          <a:xfrm>
            <a:off x="6709867" y="1106424"/>
            <a:ext cx="157276" cy="153619"/>
          </a:xfrm>
          <a:prstGeom prst="rect">
            <a:avLst/>
          </a:prstGeom>
          <a:solidFill>
            <a:srgbClr val="91AEC7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Intermediate dense memory cell 2-1"/>
          <p:cNvSpPr/>
          <p:nvPr/>
        </p:nvSpPr>
        <p:spPr>
          <a:xfrm>
            <a:off x="6080760" y="1260043"/>
            <a:ext cx="157276" cy="153619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Intermediate dense memory cell 2-2"/>
          <p:cNvSpPr/>
          <p:nvPr/>
        </p:nvSpPr>
        <p:spPr>
          <a:xfrm>
            <a:off x="6238036" y="1260043"/>
            <a:ext cx="157276" cy="153619"/>
          </a:xfrm>
          <a:prstGeom prst="rect">
            <a:avLst/>
          </a:prstGeom>
          <a:solidFill>
            <a:srgbClr val="EAF0F4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Intermediate dense memory cell 2-3"/>
          <p:cNvSpPr/>
          <p:nvPr/>
        </p:nvSpPr>
        <p:spPr>
          <a:xfrm>
            <a:off x="6395313" y="1260043"/>
            <a:ext cx="157276" cy="153619"/>
          </a:xfrm>
          <a:prstGeom prst="rect">
            <a:avLst/>
          </a:prstGeom>
          <a:solidFill>
            <a:srgbClr val="6F94B6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Intermediate dense memory cell 2-4"/>
          <p:cNvSpPr/>
          <p:nvPr/>
        </p:nvSpPr>
        <p:spPr>
          <a:xfrm>
            <a:off x="6552590" y="1260043"/>
            <a:ext cx="157276" cy="153619"/>
          </a:xfrm>
          <a:prstGeom prst="rect">
            <a:avLst/>
          </a:prstGeom>
          <a:solidFill>
            <a:srgbClr val="91AEC7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Intermediate dense memory cell 2-5"/>
          <p:cNvSpPr/>
          <p:nvPr/>
        </p:nvSpPr>
        <p:spPr>
          <a:xfrm>
            <a:off x="6709867" y="1260043"/>
            <a:ext cx="157276" cy="153619"/>
          </a:xfrm>
          <a:prstGeom prst="rect">
            <a:avLst/>
          </a:prstGeom>
          <a:solidFill>
            <a:srgbClr val="BCD0DF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Intermediate dense memory cell 3-1"/>
          <p:cNvSpPr/>
          <p:nvPr/>
        </p:nvSpPr>
        <p:spPr>
          <a:xfrm>
            <a:off x="6080760" y="1413662"/>
            <a:ext cx="157276" cy="153619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Intermediate dense memory cell 3-2"/>
          <p:cNvSpPr/>
          <p:nvPr/>
        </p:nvSpPr>
        <p:spPr>
          <a:xfrm>
            <a:off x="6238036" y="1413662"/>
            <a:ext cx="157276" cy="153619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Intermediate dense memory cell 3-3"/>
          <p:cNvSpPr/>
          <p:nvPr/>
        </p:nvSpPr>
        <p:spPr>
          <a:xfrm>
            <a:off x="6395313" y="1413662"/>
            <a:ext cx="157276" cy="153619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Intermediate dense memory cell 3-4"/>
          <p:cNvSpPr/>
          <p:nvPr/>
        </p:nvSpPr>
        <p:spPr>
          <a:xfrm>
            <a:off x="6552590" y="1413662"/>
            <a:ext cx="157276" cy="153619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Intermediate dense memory cell 3-5"/>
          <p:cNvSpPr/>
          <p:nvPr/>
        </p:nvSpPr>
        <p:spPr>
          <a:xfrm>
            <a:off x="6709867" y="1413662"/>
            <a:ext cx="157276" cy="153619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Intermediate dense memory cell 4-1"/>
          <p:cNvSpPr/>
          <p:nvPr/>
        </p:nvSpPr>
        <p:spPr>
          <a:xfrm>
            <a:off x="6080760" y="1567281"/>
            <a:ext cx="157276" cy="153619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Intermediate dense memory cell 4-2"/>
          <p:cNvSpPr/>
          <p:nvPr/>
        </p:nvSpPr>
        <p:spPr>
          <a:xfrm>
            <a:off x="6238036" y="1567281"/>
            <a:ext cx="157276" cy="153619"/>
          </a:xfrm>
          <a:prstGeom prst="rect">
            <a:avLst/>
          </a:prstGeom>
          <a:solidFill>
            <a:srgbClr val="BCD0DF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Intermediate dense memory cell 4-3"/>
          <p:cNvSpPr/>
          <p:nvPr/>
        </p:nvSpPr>
        <p:spPr>
          <a:xfrm>
            <a:off x="6395313" y="1567281"/>
            <a:ext cx="157276" cy="153619"/>
          </a:xfrm>
          <a:prstGeom prst="rect">
            <a:avLst/>
          </a:prstGeom>
          <a:solidFill>
            <a:srgbClr val="91AEC7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Intermediate dense memory cell 4-4"/>
          <p:cNvSpPr/>
          <p:nvPr/>
        </p:nvSpPr>
        <p:spPr>
          <a:xfrm>
            <a:off x="6552590" y="1567281"/>
            <a:ext cx="157276" cy="153619"/>
          </a:xfrm>
          <a:prstGeom prst="rect">
            <a:avLst/>
          </a:prstGeom>
          <a:solidFill>
            <a:srgbClr val="6F94B6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Intermediate dense memory cell 4-5"/>
          <p:cNvSpPr/>
          <p:nvPr/>
        </p:nvSpPr>
        <p:spPr>
          <a:xfrm>
            <a:off x="6709867" y="1567281"/>
            <a:ext cx="157276" cy="153619"/>
          </a:xfrm>
          <a:prstGeom prst="rect">
            <a:avLst/>
          </a:prstGeom>
          <a:solidFill>
            <a:srgbClr val="EAF0F4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Intermediate dense memory cell 5-1"/>
          <p:cNvSpPr/>
          <p:nvPr/>
        </p:nvSpPr>
        <p:spPr>
          <a:xfrm>
            <a:off x="6080760" y="1720900"/>
            <a:ext cx="157276" cy="153619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Intermediate dense memory cell 5-2"/>
          <p:cNvSpPr/>
          <p:nvPr/>
        </p:nvSpPr>
        <p:spPr>
          <a:xfrm>
            <a:off x="6238036" y="1720900"/>
            <a:ext cx="157276" cy="153619"/>
          </a:xfrm>
          <a:prstGeom prst="rect">
            <a:avLst/>
          </a:prstGeom>
          <a:solidFill>
            <a:srgbClr val="91AEC7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Intermediate dense memory cell 5-3"/>
          <p:cNvSpPr/>
          <p:nvPr/>
        </p:nvSpPr>
        <p:spPr>
          <a:xfrm>
            <a:off x="6395313" y="1720900"/>
            <a:ext cx="157276" cy="153619"/>
          </a:xfrm>
          <a:prstGeom prst="rect">
            <a:avLst/>
          </a:prstGeom>
          <a:solidFill>
            <a:srgbClr val="EAF0F4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Intermediate dense memory cell 5-4"/>
          <p:cNvSpPr/>
          <p:nvPr/>
        </p:nvSpPr>
        <p:spPr>
          <a:xfrm>
            <a:off x="6552590" y="1720900"/>
            <a:ext cx="157276" cy="153619"/>
          </a:xfrm>
          <a:prstGeom prst="rect">
            <a:avLst/>
          </a:prstGeom>
          <a:solidFill>
            <a:srgbClr val="BCD0DF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Intermediate dense memory cell 5-5"/>
          <p:cNvSpPr/>
          <p:nvPr/>
        </p:nvSpPr>
        <p:spPr>
          <a:xfrm>
            <a:off x="6709867" y="1720900"/>
            <a:ext cx="157276" cy="153619"/>
          </a:xfrm>
          <a:prstGeom prst="rect">
            <a:avLst/>
          </a:prstGeom>
          <a:solidFill>
            <a:srgbClr val="6F94B6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Intermediate dense memory border"/>
          <p:cNvSpPr/>
          <p:nvPr/>
        </p:nvSpPr>
        <p:spPr>
          <a:xfrm>
            <a:off x="6080760" y="1106424"/>
            <a:ext cx="786384" cy="768096"/>
          </a:xfrm>
          <a:prstGeom prst="rect">
            <a:avLst/>
          </a:prstGeom>
          <a:noFill/>
          <a:ln w="10160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ine dense memory cell 1-1"/>
          <p:cNvSpPr/>
          <p:nvPr/>
        </p:nvSpPr>
        <p:spPr>
          <a:xfrm>
            <a:off x="7196328" y="1106424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ine dense memory cell 1-2"/>
          <p:cNvSpPr/>
          <p:nvPr/>
        </p:nvSpPr>
        <p:spPr>
          <a:xfrm>
            <a:off x="7273137" y="1106424"/>
            <a:ext cx="76809" cy="96012"/>
          </a:xfrm>
          <a:prstGeom prst="rect">
            <a:avLst/>
          </a:prstGeom>
          <a:solidFill>
            <a:srgbClr val="6F94B6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ine dense memory cell 1-3"/>
          <p:cNvSpPr/>
          <p:nvPr/>
        </p:nvSpPr>
        <p:spPr>
          <a:xfrm>
            <a:off x="7349947" y="1106424"/>
            <a:ext cx="76809" cy="96012"/>
          </a:xfrm>
          <a:prstGeom prst="rect">
            <a:avLst/>
          </a:prstGeom>
          <a:solidFill>
            <a:srgbClr val="BCD0DF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ine dense memory cell 1-4"/>
          <p:cNvSpPr/>
          <p:nvPr/>
        </p:nvSpPr>
        <p:spPr>
          <a:xfrm>
            <a:off x="7426756" y="1106424"/>
            <a:ext cx="76809" cy="96012"/>
          </a:xfrm>
          <a:prstGeom prst="rect">
            <a:avLst/>
          </a:prstGeom>
          <a:solidFill>
            <a:srgbClr val="EAF0F4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ine dense memory cell 1-5"/>
          <p:cNvSpPr/>
          <p:nvPr/>
        </p:nvSpPr>
        <p:spPr>
          <a:xfrm>
            <a:off x="7503566" y="1106424"/>
            <a:ext cx="76809" cy="96012"/>
          </a:xfrm>
          <a:prstGeom prst="rect">
            <a:avLst/>
          </a:prstGeom>
          <a:solidFill>
            <a:srgbClr val="91AEC7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ine dense memory cell 1-6"/>
          <p:cNvSpPr/>
          <p:nvPr/>
        </p:nvSpPr>
        <p:spPr>
          <a:xfrm>
            <a:off x="7580375" y="1106424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ine dense memory cell 1-7"/>
          <p:cNvSpPr/>
          <p:nvPr/>
        </p:nvSpPr>
        <p:spPr>
          <a:xfrm>
            <a:off x="7657185" y="1106424"/>
            <a:ext cx="76809" cy="96012"/>
          </a:xfrm>
          <a:prstGeom prst="rect">
            <a:avLst/>
          </a:prstGeom>
          <a:solidFill>
            <a:srgbClr val="6F94B6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ine dense memory cell 1-8"/>
          <p:cNvSpPr/>
          <p:nvPr/>
        </p:nvSpPr>
        <p:spPr>
          <a:xfrm>
            <a:off x="7733995" y="1106424"/>
            <a:ext cx="76809" cy="96012"/>
          </a:xfrm>
          <a:prstGeom prst="rect">
            <a:avLst/>
          </a:prstGeom>
          <a:solidFill>
            <a:srgbClr val="BCD0DF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ine dense memory cell 1-9"/>
          <p:cNvSpPr/>
          <p:nvPr/>
        </p:nvSpPr>
        <p:spPr>
          <a:xfrm>
            <a:off x="7810804" y="1106424"/>
            <a:ext cx="76809" cy="96012"/>
          </a:xfrm>
          <a:prstGeom prst="rect">
            <a:avLst/>
          </a:prstGeom>
          <a:solidFill>
            <a:srgbClr val="EAF0F4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ine dense memory cell 1-10"/>
          <p:cNvSpPr/>
          <p:nvPr/>
        </p:nvSpPr>
        <p:spPr>
          <a:xfrm>
            <a:off x="7887614" y="1106424"/>
            <a:ext cx="76809" cy="96012"/>
          </a:xfrm>
          <a:prstGeom prst="rect">
            <a:avLst/>
          </a:prstGeom>
          <a:solidFill>
            <a:srgbClr val="91AEC7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ine dense memory cell 2-1"/>
          <p:cNvSpPr/>
          <p:nvPr/>
        </p:nvSpPr>
        <p:spPr>
          <a:xfrm>
            <a:off x="7196328" y="1202436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ine dense memory cell 2-2"/>
          <p:cNvSpPr/>
          <p:nvPr/>
        </p:nvSpPr>
        <p:spPr>
          <a:xfrm>
            <a:off x="7273137" y="1202436"/>
            <a:ext cx="76809" cy="96012"/>
          </a:xfrm>
          <a:prstGeom prst="rect">
            <a:avLst/>
          </a:prstGeom>
          <a:solidFill>
            <a:srgbClr val="EAF0F4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ine dense memory cell 2-3"/>
          <p:cNvSpPr/>
          <p:nvPr/>
        </p:nvSpPr>
        <p:spPr>
          <a:xfrm>
            <a:off x="7349947" y="1202436"/>
            <a:ext cx="76809" cy="96012"/>
          </a:xfrm>
          <a:prstGeom prst="rect">
            <a:avLst/>
          </a:prstGeom>
          <a:solidFill>
            <a:srgbClr val="6F94B6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ine dense memory cell 2-4"/>
          <p:cNvSpPr/>
          <p:nvPr/>
        </p:nvSpPr>
        <p:spPr>
          <a:xfrm>
            <a:off x="7426756" y="1202436"/>
            <a:ext cx="76809" cy="96012"/>
          </a:xfrm>
          <a:prstGeom prst="rect">
            <a:avLst/>
          </a:prstGeom>
          <a:solidFill>
            <a:srgbClr val="91AEC7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ine dense memory cell 2-5"/>
          <p:cNvSpPr/>
          <p:nvPr/>
        </p:nvSpPr>
        <p:spPr>
          <a:xfrm>
            <a:off x="7503566" y="1202436"/>
            <a:ext cx="76809" cy="96012"/>
          </a:xfrm>
          <a:prstGeom prst="rect">
            <a:avLst/>
          </a:prstGeom>
          <a:solidFill>
            <a:srgbClr val="BCD0DF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ine dense memory cell 2-6"/>
          <p:cNvSpPr/>
          <p:nvPr/>
        </p:nvSpPr>
        <p:spPr>
          <a:xfrm>
            <a:off x="7580375" y="1202436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ine dense memory cell 2-7"/>
          <p:cNvSpPr/>
          <p:nvPr/>
        </p:nvSpPr>
        <p:spPr>
          <a:xfrm>
            <a:off x="7657185" y="1202436"/>
            <a:ext cx="76809" cy="96012"/>
          </a:xfrm>
          <a:prstGeom prst="rect">
            <a:avLst/>
          </a:prstGeom>
          <a:solidFill>
            <a:srgbClr val="EAF0F4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ine dense memory cell 2-8"/>
          <p:cNvSpPr/>
          <p:nvPr/>
        </p:nvSpPr>
        <p:spPr>
          <a:xfrm>
            <a:off x="7733995" y="1202436"/>
            <a:ext cx="76809" cy="96012"/>
          </a:xfrm>
          <a:prstGeom prst="rect">
            <a:avLst/>
          </a:prstGeom>
          <a:solidFill>
            <a:srgbClr val="6F94B6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ine dense memory cell 2-9"/>
          <p:cNvSpPr/>
          <p:nvPr/>
        </p:nvSpPr>
        <p:spPr>
          <a:xfrm>
            <a:off x="7810804" y="1202436"/>
            <a:ext cx="76809" cy="96012"/>
          </a:xfrm>
          <a:prstGeom prst="rect">
            <a:avLst/>
          </a:prstGeom>
          <a:solidFill>
            <a:srgbClr val="91AEC7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ine dense memory cell 2-10"/>
          <p:cNvSpPr/>
          <p:nvPr/>
        </p:nvSpPr>
        <p:spPr>
          <a:xfrm>
            <a:off x="7887614" y="1202436"/>
            <a:ext cx="76809" cy="96012"/>
          </a:xfrm>
          <a:prstGeom prst="rect">
            <a:avLst/>
          </a:prstGeom>
          <a:solidFill>
            <a:srgbClr val="BCD0DF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ine dense memory cell 3-1"/>
          <p:cNvSpPr/>
          <p:nvPr/>
        </p:nvSpPr>
        <p:spPr>
          <a:xfrm>
            <a:off x="7196328" y="1298448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ine dense memory cell 3-2"/>
          <p:cNvSpPr/>
          <p:nvPr/>
        </p:nvSpPr>
        <p:spPr>
          <a:xfrm>
            <a:off x="7273137" y="1298448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ine dense memory cell 3-3"/>
          <p:cNvSpPr/>
          <p:nvPr/>
        </p:nvSpPr>
        <p:spPr>
          <a:xfrm>
            <a:off x="7349947" y="1298448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ine dense memory cell 3-4"/>
          <p:cNvSpPr/>
          <p:nvPr/>
        </p:nvSpPr>
        <p:spPr>
          <a:xfrm>
            <a:off x="7426756" y="1298448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ine dense memory cell 3-5"/>
          <p:cNvSpPr/>
          <p:nvPr/>
        </p:nvSpPr>
        <p:spPr>
          <a:xfrm>
            <a:off x="7503566" y="1298448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ine dense memory cell 3-6"/>
          <p:cNvSpPr/>
          <p:nvPr/>
        </p:nvSpPr>
        <p:spPr>
          <a:xfrm>
            <a:off x="7580375" y="1298448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ine dense memory cell 3-7"/>
          <p:cNvSpPr/>
          <p:nvPr/>
        </p:nvSpPr>
        <p:spPr>
          <a:xfrm>
            <a:off x="7657185" y="1298448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ine dense memory cell 3-8"/>
          <p:cNvSpPr/>
          <p:nvPr/>
        </p:nvSpPr>
        <p:spPr>
          <a:xfrm>
            <a:off x="7733995" y="1298448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ine dense memory cell 3-9"/>
          <p:cNvSpPr/>
          <p:nvPr/>
        </p:nvSpPr>
        <p:spPr>
          <a:xfrm>
            <a:off x="7810804" y="1298448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ine dense memory cell 3-10"/>
          <p:cNvSpPr/>
          <p:nvPr/>
        </p:nvSpPr>
        <p:spPr>
          <a:xfrm>
            <a:off x="7887614" y="1298448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ine dense memory cell 4-1"/>
          <p:cNvSpPr/>
          <p:nvPr/>
        </p:nvSpPr>
        <p:spPr>
          <a:xfrm>
            <a:off x="7196328" y="1394460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ine dense memory cell 4-2"/>
          <p:cNvSpPr/>
          <p:nvPr/>
        </p:nvSpPr>
        <p:spPr>
          <a:xfrm>
            <a:off x="7273137" y="1394460"/>
            <a:ext cx="76809" cy="96012"/>
          </a:xfrm>
          <a:prstGeom prst="rect">
            <a:avLst/>
          </a:prstGeom>
          <a:solidFill>
            <a:srgbClr val="BCD0DF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ine dense memory cell 4-3"/>
          <p:cNvSpPr/>
          <p:nvPr/>
        </p:nvSpPr>
        <p:spPr>
          <a:xfrm>
            <a:off x="7349947" y="1394460"/>
            <a:ext cx="76809" cy="96012"/>
          </a:xfrm>
          <a:prstGeom prst="rect">
            <a:avLst/>
          </a:prstGeom>
          <a:solidFill>
            <a:srgbClr val="91AEC7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ine dense memory cell 4-4"/>
          <p:cNvSpPr/>
          <p:nvPr/>
        </p:nvSpPr>
        <p:spPr>
          <a:xfrm>
            <a:off x="7426756" y="1394460"/>
            <a:ext cx="76809" cy="96012"/>
          </a:xfrm>
          <a:prstGeom prst="rect">
            <a:avLst/>
          </a:prstGeom>
          <a:solidFill>
            <a:srgbClr val="6F94B6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ine dense memory cell 4-5"/>
          <p:cNvSpPr/>
          <p:nvPr/>
        </p:nvSpPr>
        <p:spPr>
          <a:xfrm>
            <a:off x="7503566" y="1394460"/>
            <a:ext cx="76809" cy="96012"/>
          </a:xfrm>
          <a:prstGeom prst="rect">
            <a:avLst/>
          </a:prstGeom>
          <a:solidFill>
            <a:srgbClr val="EAF0F4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ine dense memory cell 4-6"/>
          <p:cNvSpPr/>
          <p:nvPr/>
        </p:nvSpPr>
        <p:spPr>
          <a:xfrm>
            <a:off x="7580375" y="1394460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ine dense memory cell 4-7"/>
          <p:cNvSpPr/>
          <p:nvPr/>
        </p:nvSpPr>
        <p:spPr>
          <a:xfrm>
            <a:off x="7657185" y="1394460"/>
            <a:ext cx="76809" cy="96012"/>
          </a:xfrm>
          <a:prstGeom prst="rect">
            <a:avLst/>
          </a:prstGeom>
          <a:solidFill>
            <a:srgbClr val="BCD0DF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ine dense memory cell 4-8"/>
          <p:cNvSpPr/>
          <p:nvPr/>
        </p:nvSpPr>
        <p:spPr>
          <a:xfrm>
            <a:off x="7733995" y="1394460"/>
            <a:ext cx="76809" cy="96012"/>
          </a:xfrm>
          <a:prstGeom prst="rect">
            <a:avLst/>
          </a:prstGeom>
          <a:solidFill>
            <a:srgbClr val="91AEC7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ine dense memory cell 4-9"/>
          <p:cNvSpPr/>
          <p:nvPr/>
        </p:nvSpPr>
        <p:spPr>
          <a:xfrm>
            <a:off x="7810804" y="1394460"/>
            <a:ext cx="76809" cy="96012"/>
          </a:xfrm>
          <a:prstGeom prst="rect">
            <a:avLst/>
          </a:prstGeom>
          <a:solidFill>
            <a:srgbClr val="6F94B6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ine dense memory cell 4-10"/>
          <p:cNvSpPr/>
          <p:nvPr/>
        </p:nvSpPr>
        <p:spPr>
          <a:xfrm>
            <a:off x="7887614" y="1394460"/>
            <a:ext cx="76809" cy="96012"/>
          </a:xfrm>
          <a:prstGeom prst="rect">
            <a:avLst/>
          </a:prstGeom>
          <a:solidFill>
            <a:srgbClr val="EAF0F4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ine dense memory cell 5-1"/>
          <p:cNvSpPr/>
          <p:nvPr/>
        </p:nvSpPr>
        <p:spPr>
          <a:xfrm>
            <a:off x="7196328" y="1490472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ine dense memory cell 5-2"/>
          <p:cNvSpPr/>
          <p:nvPr/>
        </p:nvSpPr>
        <p:spPr>
          <a:xfrm>
            <a:off x="7273137" y="1490472"/>
            <a:ext cx="76809" cy="96012"/>
          </a:xfrm>
          <a:prstGeom prst="rect">
            <a:avLst/>
          </a:prstGeom>
          <a:solidFill>
            <a:srgbClr val="91AEC7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ine dense memory cell 5-3"/>
          <p:cNvSpPr/>
          <p:nvPr/>
        </p:nvSpPr>
        <p:spPr>
          <a:xfrm>
            <a:off x="7349947" y="1490472"/>
            <a:ext cx="76809" cy="96012"/>
          </a:xfrm>
          <a:prstGeom prst="rect">
            <a:avLst/>
          </a:prstGeom>
          <a:solidFill>
            <a:srgbClr val="EAF0F4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ine dense memory cell 5-4"/>
          <p:cNvSpPr/>
          <p:nvPr/>
        </p:nvSpPr>
        <p:spPr>
          <a:xfrm>
            <a:off x="7426756" y="1490472"/>
            <a:ext cx="76809" cy="96012"/>
          </a:xfrm>
          <a:prstGeom prst="rect">
            <a:avLst/>
          </a:prstGeom>
          <a:solidFill>
            <a:srgbClr val="BCD0DF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ine dense memory cell 5-5"/>
          <p:cNvSpPr/>
          <p:nvPr/>
        </p:nvSpPr>
        <p:spPr>
          <a:xfrm>
            <a:off x="7503566" y="1490472"/>
            <a:ext cx="76809" cy="96012"/>
          </a:xfrm>
          <a:prstGeom prst="rect">
            <a:avLst/>
          </a:prstGeom>
          <a:solidFill>
            <a:srgbClr val="6F94B6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ine dense memory cell 5-6"/>
          <p:cNvSpPr/>
          <p:nvPr/>
        </p:nvSpPr>
        <p:spPr>
          <a:xfrm>
            <a:off x="7580375" y="1490472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ine dense memory cell 5-7"/>
          <p:cNvSpPr/>
          <p:nvPr/>
        </p:nvSpPr>
        <p:spPr>
          <a:xfrm>
            <a:off x="7657185" y="1490472"/>
            <a:ext cx="76809" cy="96012"/>
          </a:xfrm>
          <a:prstGeom prst="rect">
            <a:avLst/>
          </a:prstGeom>
          <a:solidFill>
            <a:srgbClr val="91AEC7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ine dense memory cell 5-8"/>
          <p:cNvSpPr/>
          <p:nvPr/>
        </p:nvSpPr>
        <p:spPr>
          <a:xfrm>
            <a:off x="7733995" y="1490472"/>
            <a:ext cx="76809" cy="96012"/>
          </a:xfrm>
          <a:prstGeom prst="rect">
            <a:avLst/>
          </a:prstGeom>
          <a:solidFill>
            <a:srgbClr val="EAF0F4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ine dense memory cell 5-9"/>
          <p:cNvSpPr/>
          <p:nvPr/>
        </p:nvSpPr>
        <p:spPr>
          <a:xfrm>
            <a:off x="7810804" y="1490472"/>
            <a:ext cx="76809" cy="96012"/>
          </a:xfrm>
          <a:prstGeom prst="rect">
            <a:avLst/>
          </a:prstGeom>
          <a:solidFill>
            <a:srgbClr val="BCD0DF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ine dense memory cell 5-10"/>
          <p:cNvSpPr/>
          <p:nvPr/>
        </p:nvSpPr>
        <p:spPr>
          <a:xfrm>
            <a:off x="7887614" y="1490472"/>
            <a:ext cx="76809" cy="96012"/>
          </a:xfrm>
          <a:prstGeom prst="rect">
            <a:avLst/>
          </a:prstGeom>
          <a:solidFill>
            <a:srgbClr val="6F94B6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ine dense memory cell 6-1"/>
          <p:cNvSpPr/>
          <p:nvPr/>
        </p:nvSpPr>
        <p:spPr>
          <a:xfrm>
            <a:off x="7196328" y="1586484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ine dense memory cell 6-2"/>
          <p:cNvSpPr/>
          <p:nvPr/>
        </p:nvSpPr>
        <p:spPr>
          <a:xfrm>
            <a:off x="7273137" y="1586484"/>
            <a:ext cx="76809" cy="96012"/>
          </a:xfrm>
          <a:prstGeom prst="rect">
            <a:avLst/>
          </a:prstGeom>
          <a:solidFill>
            <a:srgbClr val="6F94B6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ine dense memory cell 6-3"/>
          <p:cNvSpPr/>
          <p:nvPr/>
        </p:nvSpPr>
        <p:spPr>
          <a:xfrm>
            <a:off x="7349947" y="1586484"/>
            <a:ext cx="76809" cy="96012"/>
          </a:xfrm>
          <a:prstGeom prst="rect">
            <a:avLst/>
          </a:prstGeom>
          <a:solidFill>
            <a:srgbClr val="BCD0DF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ine dense memory cell 6-4"/>
          <p:cNvSpPr/>
          <p:nvPr/>
        </p:nvSpPr>
        <p:spPr>
          <a:xfrm>
            <a:off x="7426756" y="1586484"/>
            <a:ext cx="76809" cy="96012"/>
          </a:xfrm>
          <a:prstGeom prst="rect">
            <a:avLst/>
          </a:prstGeom>
          <a:solidFill>
            <a:srgbClr val="EAF0F4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ine dense memory cell 6-5"/>
          <p:cNvSpPr/>
          <p:nvPr/>
        </p:nvSpPr>
        <p:spPr>
          <a:xfrm>
            <a:off x="7503566" y="1586484"/>
            <a:ext cx="76809" cy="96012"/>
          </a:xfrm>
          <a:prstGeom prst="rect">
            <a:avLst/>
          </a:prstGeom>
          <a:solidFill>
            <a:srgbClr val="91AEC7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ine dense memory cell 6-6"/>
          <p:cNvSpPr/>
          <p:nvPr/>
        </p:nvSpPr>
        <p:spPr>
          <a:xfrm>
            <a:off x="7580375" y="1586484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ine dense memory cell 6-7"/>
          <p:cNvSpPr/>
          <p:nvPr/>
        </p:nvSpPr>
        <p:spPr>
          <a:xfrm>
            <a:off x="7657185" y="1586484"/>
            <a:ext cx="76809" cy="96012"/>
          </a:xfrm>
          <a:prstGeom prst="rect">
            <a:avLst/>
          </a:prstGeom>
          <a:solidFill>
            <a:srgbClr val="6F94B6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ine dense memory cell 6-8"/>
          <p:cNvSpPr/>
          <p:nvPr/>
        </p:nvSpPr>
        <p:spPr>
          <a:xfrm>
            <a:off x="7733995" y="1586484"/>
            <a:ext cx="76809" cy="96012"/>
          </a:xfrm>
          <a:prstGeom prst="rect">
            <a:avLst/>
          </a:prstGeom>
          <a:solidFill>
            <a:srgbClr val="BCD0DF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ine dense memory cell 6-9"/>
          <p:cNvSpPr/>
          <p:nvPr/>
        </p:nvSpPr>
        <p:spPr>
          <a:xfrm>
            <a:off x="7810804" y="1586484"/>
            <a:ext cx="76809" cy="96012"/>
          </a:xfrm>
          <a:prstGeom prst="rect">
            <a:avLst/>
          </a:prstGeom>
          <a:solidFill>
            <a:srgbClr val="EAF0F4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ine dense memory cell 6-10"/>
          <p:cNvSpPr/>
          <p:nvPr/>
        </p:nvSpPr>
        <p:spPr>
          <a:xfrm>
            <a:off x="7887614" y="1586484"/>
            <a:ext cx="76809" cy="96012"/>
          </a:xfrm>
          <a:prstGeom prst="rect">
            <a:avLst/>
          </a:prstGeom>
          <a:solidFill>
            <a:srgbClr val="91AEC7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ine dense memory cell 7-1"/>
          <p:cNvSpPr/>
          <p:nvPr/>
        </p:nvSpPr>
        <p:spPr>
          <a:xfrm>
            <a:off x="7196328" y="1682496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ine dense memory cell 7-2"/>
          <p:cNvSpPr/>
          <p:nvPr/>
        </p:nvSpPr>
        <p:spPr>
          <a:xfrm>
            <a:off x="7273137" y="1682496"/>
            <a:ext cx="76809" cy="96012"/>
          </a:xfrm>
          <a:prstGeom prst="rect">
            <a:avLst/>
          </a:prstGeom>
          <a:solidFill>
            <a:srgbClr val="EAF0F4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ine dense memory cell 7-3"/>
          <p:cNvSpPr/>
          <p:nvPr/>
        </p:nvSpPr>
        <p:spPr>
          <a:xfrm>
            <a:off x="7349947" y="1682496"/>
            <a:ext cx="76809" cy="96012"/>
          </a:xfrm>
          <a:prstGeom prst="rect">
            <a:avLst/>
          </a:prstGeom>
          <a:solidFill>
            <a:srgbClr val="6F94B6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ine dense memory cell 7-4"/>
          <p:cNvSpPr/>
          <p:nvPr/>
        </p:nvSpPr>
        <p:spPr>
          <a:xfrm>
            <a:off x="7426756" y="1682496"/>
            <a:ext cx="76809" cy="96012"/>
          </a:xfrm>
          <a:prstGeom prst="rect">
            <a:avLst/>
          </a:prstGeom>
          <a:solidFill>
            <a:srgbClr val="91AEC7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ine dense memory cell 7-5"/>
          <p:cNvSpPr/>
          <p:nvPr/>
        </p:nvSpPr>
        <p:spPr>
          <a:xfrm>
            <a:off x="7503566" y="1682496"/>
            <a:ext cx="76809" cy="96012"/>
          </a:xfrm>
          <a:prstGeom prst="rect">
            <a:avLst/>
          </a:prstGeom>
          <a:solidFill>
            <a:srgbClr val="BCD0DF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ine dense memory cell 7-6"/>
          <p:cNvSpPr/>
          <p:nvPr/>
        </p:nvSpPr>
        <p:spPr>
          <a:xfrm>
            <a:off x="7580375" y="1682496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ine dense memory cell 7-7"/>
          <p:cNvSpPr/>
          <p:nvPr/>
        </p:nvSpPr>
        <p:spPr>
          <a:xfrm>
            <a:off x="7657185" y="1682496"/>
            <a:ext cx="76809" cy="96012"/>
          </a:xfrm>
          <a:prstGeom prst="rect">
            <a:avLst/>
          </a:prstGeom>
          <a:solidFill>
            <a:srgbClr val="EAF0F4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ine dense memory cell 7-8"/>
          <p:cNvSpPr/>
          <p:nvPr/>
        </p:nvSpPr>
        <p:spPr>
          <a:xfrm>
            <a:off x="7733995" y="1682496"/>
            <a:ext cx="76809" cy="96012"/>
          </a:xfrm>
          <a:prstGeom prst="rect">
            <a:avLst/>
          </a:prstGeom>
          <a:solidFill>
            <a:srgbClr val="6F94B6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ine dense memory cell 7-9"/>
          <p:cNvSpPr/>
          <p:nvPr/>
        </p:nvSpPr>
        <p:spPr>
          <a:xfrm>
            <a:off x="7810804" y="1682496"/>
            <a:ext cx="76809" cy="96012"/>
          </a:xfrm>
          <a:prstGeom prst="rect">
            <a:avLst/>
          </a:prstGeom>
          <a:solidFill>
            <a:srgbClr val="91AEC7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ine dense memory cell 7-10"/>
          <p:cNvSpPr/>
          <p:nvPr/>
        </p:nvSpPr>
        <p:spPr>
          <a:xfrm>
            <a:off x="7887614" y="1682496"/>
            <a:ext cx="76809" cy="96012"/>
          </a:xfrm>
          <a:prstGeom prst="rect">
            <a:avLst/>
          </a:prstGeom>
          <a:solidFill>
            <a:srgbClr val="BCD0DF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ine dense memory cell 8-1"/>
          <p:cNvSpPr/>
          <p:nvPr/>
        </p:nvSpPr>
        <p:spPr>
          <a:xfrm>
            <a:off x="7196328" y="1778508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ine dense memory cell 8-2"/>
          <p:cNvSpPr/>
          <p:nvPr/>
        </p:nvSpPr>
        <p:spPr>
          <a:xfrm>
            <a:off x="7273137" y="1778508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ine dense memory cell 8-3"/>
          <p:cNvSpPr/>
          <p:nvPr/>
        </p:nvSpPr>
        <p:spPr>
          <a:xfrm>
            <a:off x="7349947" y="1778508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ine dense memory cell 8-4"/>
          <p:cNvSpPr/>
          <p:nvPr/>
        </p:nvSpPr>
        <p:spPr>
          <a:xfrm>
            <a:off x="7426756" y="1778508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ine dense memory cell 8-5"/>
          <p:cNvSpPr/>
          <p:nvPr/>
        </p:nvSpPr>
        <p:spPr>
          <a:xfrm>
            <a:off x="7503566" y="1778508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ine dense memory cell 8-6"/>
          <p:cNvSpPr/>
          <p:nvPr/>
        </p:nvSpPr>
        <p:spPr>
          <a:xfrm>
            <a:off x="7580375" y="1778508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ine dense memory cell 8-7"/>
          <p:cNvSpPr/>
          <p:nvPr/>
        </p:nvSpPr>
        <p:spPr>
          <a:xfrm>
            <a:off x="7657185" y="1778508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ine dense memory cell 8-8"/>
          <p:cNvSpPr/>
          <p:nvPr/>
        </p:nvSpPr>
        <p:spPr>
          <a:xfrm>
            <a:off x="7733995" y="1778508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ine dense memory cell 8-9"/>
          <p:cNvSpPr/>
          <p:nvPr/>
        </p:nvSpPr>
        <p:spPr>
          <a:xfrm>
            <a:off x="7810804" y="1778508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ine dense memory cell 8-10"/>
          <p:cNvSpPr/>
          <p:nvPr/>
        </p:nvSpPr>
        <p:spPr>
          <a:xfrm>
            <a:off x="7887614" y="1778508"/>
            <a:ext cx="76809" cy="96012"/>
          </a:xfrm>
          <a:prstGeom prst="rect">
            <a:avLst/>
          </a:prstGeom>
          <a:solidFill>
            <a:srgbClr val="D9E5E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ine dense memory border"/>
          <p:cNvSpPr/>
          <p:nvPr/>
        </p:nvSpPr>
        <p:spPr>
          <a:xfrm>
            <a:off x="7196328" y="1106424"/>
            <a:ext cx="768096" cy="768096"/>
          </a:xfrm>
          <a:prstGeom prst="rect">
            <a:avLst/>
          </a:prstGeom>
          <a:noFill/>
          <a:ln w="10160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Dense memory ellipsis 1"/>
          <p:cNvSpPr txBox="1"/>
          <p:nvPr/>
        </p:nvSpPr>
        <p:spPr>
          <a:xfrm>
            <a:off x="5779008" y="1289304"/>
            <a:ext cx="237744" cy="29260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1721"/>
                </a:solidFill>
                <a:latin typeface="Arial"/>
              </a:rPr>
              <a:t>…</a:t>
            </a:r>
          </a:p>
        </p:txBody>
      </p:sp>
      <p:sp>
        <p:nvSpPr>
          <p:cNvPr id="291" name="Dense memory ellipsis 2"/>
          <p:cNvSpPr txBox="1"/>
          <p:nvPr/>
        </p:nvSpPr>
        <p:spPr>
          <a:xfrm>
            <a:off x="6912864" y="1289304"/>
            <a:ext cx="237744" cy="29260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1721"/>
                </a:solidFill>
                <a:latin typeface="Arial"/>
              </a:rPr>
              <a:t>…</a:t>
            </a:r>
          </a:p>
        </p:txBody>
      </p:sp>
      <p:sp>
        <p:nvSpPr>
          <p:cNvPr id="292" name="VLM LoRA panel"/>
          <p:cNvSpPr/>
          <p:nvPr/>
        </p:nvSpPr>
        <p:spPr>
          <a:xfrm>
            <a:off x="4773168" y="2715768"/>
            <a:ext cx="3502152" cy="2295144"/>
          </a:xfrm>
          <a:prstGeom prst="roundRect">
            <a:avLst>
              <a:gd name="adj" fmla="val 8000"/>
            </a:avLst>
          </a:prstGeom>
          <a:solidFill>
            <a:srgbClr val="FCF9FC"/>
          </a:solidFill>
          <a:ln w="13970">
            <a:solidFill>
              <a:srgbClr val="8D7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VLM LoRA heading"/>
          <p:cNvSpPr txBox="1"/>
          <p:nvPr/>
        </p:nvSpPr>
        <p:spPr>
          <a:xfrm>
            <a:off x="5440680" y="2825496"/>
            <a:ext cx="2157984" cy="35661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92252"/>
                </a:solidFill>
                <a:latin typeface="Arial"/>
              </a:rPr>
              <a:t>VLM + LoRA</a:t>
            </a:r>
          </a:p>
        </p:txBody>
      </p:sp>
      <p:sp>
        <p:nvSpPr>
          <p:cNvPr id="294" name="VLM trainable flame"/>
          <p:cNvSpPr/>
          <p:nvPr/>
        </p:nvSpPr>
        <p:spPr>
          <a:xfrm>
            <a:off x="7918704" y="2788920"/>
            <a:ext cx="118872" cy="201168"/>
          </a:xfrm>
          <a:custGeom>
            <a:avLst/>
            <a:gdLst/>
            <a:ahLst/>
            <a:cxnLst/>
            <a:rect l="l" t="t" r="r" b="b"/>
            <a:pathLst>
              <a:path w="13" h="22">
                <a:moveTo>
                  <a:pt x="8" y="0"/>
                </a:moveTo>
                <a:lnTo>
                  <a:pt x="13" y="9"/>
                </a:lnTo>
                <a:lnTo>
                  <a:pt x="12" y="18"/>
                </a:lnTo>
                <a:lnTo>
                  <a:pt x="7" y="22"/>
                </a:lnTo>
                <a:lnTo>
                  <a:pt x="1" y="18"/>
                </a:lnTo>
                <a:lnTo>
                  <a:pt x="0" y="10"/>
                </a:lnTo>
                <a:lnTo>
                  <a:pt x="5" y="4"/>
                </a:lnTo>
                <a:lnTo>
                  <a:pt x="5" y="12"/>
                </a:lnTo>
                <a:close/>
              </a:path>
            </a:pathLst>
          </a:custGeom>
          <a:solidFill>
            <a:srgbClr val="D34B22"/>
          </a:solidFill>
          <a:ln w="6985">
            <a:solidFill>
              <a:srgbClr val="A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VLM trainable flame inner"/>
          <p:cNvSpPr/>
          <p:nvPr/>
        </p:nvSpPr>
        <p:spPr>
          <a:xfrm>
            <a:off x="7955279" y="2871216"/>
            <a:ext cx="54864" cy="91440"/>
          </a:xfrm>
          <a:custGeom>
            <a:avLst/>
            <a:gdLst/>
            <a:ahLst/>
            <a:cxnLst/>
            <a:rect l="l" t="t" r="r" b="b"/>
            <a:pathLst>
              <a:path w="6" h="10">
                <a:moveTo>
                  <a:pt x="3" y="0"/>
                </a:moveTo>
                <a:lnTo>
                  <a:pt x="6" y="6"/>
                </a:lnTo>
                <a:lnTo>
                  <a:pt x="3" y="10"/>
                </a:lnTo>
                <a:lnTo>
                  <a:pt x="0" y="6"/>
                </a:lnTo>
                <a:close/>
              </a:path>
            </a:pathLst>
          </a:custGeom>
          <a:solidFill>
            <a:srgbClr val="FFFDFC"/>
          </a:solidFill>
          <a:ln w="3810">
            <a:solidFill>
              <a:srgbClr val="FFFD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VLM input context"/>
          <p:cNvSpPr/>
          <p:nvPr/>
        </p:nvSpPr>
        <p:spPr>
          <a:xfrm>
            <a:off x="4828032" y="3374136"/>
            <a:ext cx="1719072" cy="539496"/>
          </a:xfrm>
          <a:prstGeom prst="roundRect">
            <a:avLst>
              <a:gd name="adj" fmla="val 8000"/>
            </a:avLst>
          </a:prstGeom>
          <a:solidFill>
            <a:srgbClr val="FFFCFF"/>
          </a:solidFill>
          <a:ln w="7620">
            <a:solidFill>
              <a:srgbClr val="B8A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VLM slots region"/>
          <p:cNvSpPr/>
          <p:nvPr/>
        </p:nvSpPr>
        <p:spPr>
          <a:xfrm>
            <a:off x="6601968" y="3374136"/>
            <a:ext cx="1609344" cy="539496"/>
          </a:xfrm>
          <a:prstGeom prst="roundRect">
            <a:avLst>
              <a:gd name="adj" fmla="val 8000"/>
            </a:avLst>
          </a:prstGeom>
          <a:solidFill>
            <a:srgbClr val="FFFCFF"/>
          </a:solidFill>
          <a:ln w="7620">
            <a:solidFill>
              <a:srgbClr val="B8A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VLM visual token 1"/>
          <p:cNvSpPr/>
          <p:nvPr/>
        </p:nvSpPr>
        <p:spPr>
          <a:xfrm>
            <a:off x="4892040" y="3529584"/>
            <a:ext cx="146304" cy="164592"/>
          </a:xfrm>
          <a:prstGeom prst="roundRect">
            <a:avLst>
              <a:gd name="adj" fmla="val 12500"/>
            </a:avLst>
          </a:prstGeom>
          <a:solidFill>
            <a:srgbClr val="82A7C7"/>
          </a:solidFill>
          <a:ln w="8255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VLM visual token 2"/>
          <p:cNvSpPr/>
          <p:nvPr/>
        </p:nvSpPr>
        <p:spPr>
          <a:xfrm>
            <a:off x="5084064" y="3529584"/>
            <a:ext cx="146304" cy="164592"/>
          </a:xfrm>
          <a:prstGeom prst="roundRect">
            <a:avLst>
              <a:gd name="adj" fmla="val 12500"/>
            </a:avLst>
          </a:prstGeom>
          <a:solidFill>
            <a:srgbClr val="82A7C7"/>
          </a:solidFill>
          <a:ln w="8255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VLM visual token 3"/>
          <p:cNvSpPr/>
          <p:nvPr/>
        </p:nvSpPr>
        <p:spPr>
          <a:xfrm>
            <a:off x="5276088" y="3529584"/>
            <a:ext cx="146304" cy="164592"/>
          </a:xfrm>
          <a:prstGeom prst="roundRect">
            <a:avLst>
              <a:gd name="adj" fmla="val 12500"/>
            </a:avLst>
          </a:prstGeom>
          <a:solidFill>
            <a:srgbClr val="82A7C7"/>
          </a:solidFill>
          <a:ln w="8255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VLM visual token 4"/>
          <p:cNvSpPr/>
          <p:nvPr/>
        </p:nvSpPr>
        <p:spPr>
          <a:xfrm>
            <a:off x="5468112" y="3529584"/>
            <a:ext cx="146304" cy="164592"/>
          </a:xfrm>
          <a:prstGeom prst="roundRect">
            <a:avLst>
              <a:gd name="adj" fmla="val 12500"/>
            </a:avLst>
          </a:prstGeom>
          <a:solidFill>
            <a:srgbClr val="82A7C7"/>
          </a:solidFill>
          <a:ln w="8255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VLM input ellipsis"/>
          <p:cNvSpPr txBox="1"/>
          <p:nvPr/>
        </p:nvSpPr>
        <p:spPr>
          <a:xfrm>
            <a:off x="5660136" y="3502152"/>
            <a:ext cx="228600" cy="22860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1721"/>
                </a:solidFill>
                <a:latin typeface="Arial"/>
              </a:rPr>
              <a:t>…</a:t>
            </a:r>
          </a:p>
        </p:txBody>
      </p:sp>
      <p:sp>
        <p:nvSpPr>
          <p:cNvPr id="303" name="VLM context token 1"/>
          <p:cNvSpPr/>
          <p:nvPr/>
        </p:nvSpPr>
        <p:spPr>
          <a:xfrm>
            <a:off x="5961888" y="3529584"/>
            <a:ext cx="146304" cy="164592"/>
          </a:xfrm>
          <a:prstGeom prst="roundRect">
            <a:avLst>
              <a:gd name="adj" fmla="val 12500"/>
            </a:avLst>
          </a:prstGeom>
          <a:solidFill>
            <a:srgbClr val="E5957B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VLM context token 2"/>
          <p:cNvSpPr/>
          <p:nvPr/>
        </p:nvSpPr>
        <p:spPr>
          <a:xfrm>
            <a:off x="6153912" y="3529584"/>
            <a:ext cx="146304" cy="164592"/>
          </a:xfrm>
          <a:prstGeom prst="roundRect">
            <a:avLst>
              <a:gd name="adj" fmla="val 12500"/>
            </a:avLst>
          </a:prstGeom>
          <a:solidFill>
            <a:srgbClr val="E5957B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VLM context token 3"/>
          <p:cNvSpPr/>
          <p:nvPr/>
        </p:nvSpPr>
        <p:spPr>
          <a:xfrm>
            <a:off x="6345936" y="3529584"/>
            <a:ext cx="146304" cy="164592"/>
          </a:xfrm>
          <a:prstGeom prst="roundRect">
            <a:avLst>
              <a:gd name="adj" fmla="val 12500"/>
            </a:avLst>
          </a:prstGeom>
          <a:solidFill>
            <a:srgbClr val="E5957B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6" name="VLM token divider"/>
          <p:cNvCxnSpPr/>
          <p:nvPr/>
        </p:nvCxnSpPr>
        <p:spPr>
          <a:xfrm>
            <a:off x="6547104" y="3410712"/>
            <a:ext cx="0" cy="466344"/>
          </a:xfrm>
          <a:prstGeom prst="line">
            <a:avLst/>
          </a:prstGeom>
          <a:ln w="7620">
            <a:solidFill>
              <a:srgbClr val="B8A7C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" name="Generic slots label"/>
          <p:cNvSpPr txBox="1"/>
          <p:nvPr/>
        </p:nvSpPr>
        <p:spPr>
          <a:xfrm>
            <a:off x="6812280" y="3163824"/>
            <a:ext cx="1225296" cy="24688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92252"/>
                </a:solidFill>
                <a:latin typeface="Arial"/>
              </a:rPr>
              <a:t>8 generic slots  Sₜ</a:t>
            </a:r>
          </a:p>
        </p:txBody>
      </p:sp>
      <p:sp>
        <p:nvSpPr>
          <p:cNvPr id="308" name="Generic slot 1"/>
          <p:cNvSpPr/>
          <p:nvPr/>
        </p:nvSpPr>
        <p:spPr>
          <a:xfrm>
            <a:off x="6675120" y="3529584"/>
            <a:ext cx="146304" cy="164592"/>
          </a:xfrm>
          <a:prstGeom prst="roundRect">
            <a:avLst>
              <a:gd name="adj" fmla="val 12500"/>
            </a:avLst>
          </a:prstGeom>
          <a:solidFill>
            <a:srgbClr val="8D78AE"/>
          </a:solidFill>
          <a:ln w="8255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Slot number 1"/>
          <p:cNvSpPr txBox="1"/>
          <p:nvPr/>
        </p:nvSpPr>
        <p:spPr>
          <a:xfrm>
            <a:off x="6656832" y="3730752"/>
            <a:ext cx="182880" cy="18288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01721"/>
                </a:solidFill>
                <a:latin typeface="Arial"/>
              </a:rPr>
              <a:t>1</a:t>
            </a:r>
          </a:p>
        </p:txBody>
      </p:sp>
      <p:sp>
        <p:nvSpPr>
          <p:cNvPr id="310" name="Generic slot 2"/>
          <p:cNvSpPr/>
          <p:nvPr/>
        </p:nvSpPr>
        <p:spPr>
          <a:xfrm>
            <a:off x="6867144" y="3529584"/>
            <a:ext cx="146304" cy="164592"/>
          </a:xfrm>
          <a:prstGeom prst="roundRect">
            <a:avLst>
              <a:gd name="adj" fmla="val 12500"/>
            </a:avLst>
          </a:prstGeom>
          <a:solidFill>
            <a:srgbClr val="8D78AE"/>
          </a:solidFill>
          <a:ln w="8255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Slot number 2"/>
          <p:cNvSpPr txBox="1"/>
          <p:nvPr/>
        </p:nvSpPr>
        <p:spPr>
          <a:xfrm>
            <a:off x="6848856" y="3730752"/>
            <a:ext cx="182880" cy="18288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01721"/>
                </a:solidFill>
                <a:latin typeface="Arial"/>
              </a:rPr>
              <a:t>2</a:t>
            </a:r>
          </a:p>
        </p:txBody>
      </p:sp>
      <p:sp>
        <p:nvSpPr>
          <p:cNvPr id="312" name="Generic slot 3"/>
          <p:cNvSpPr/>
          <p:nvPr/>
        </p:nvSpPr>
        <p:spPr>
          <a:xfrm>
            <a:off x="7059168" y="3529584"/>
            <a:ext cx="146304" cy="164592"/>
          </a:xfrm>
          <a:prstGeom prst="roundRect">
            <a:avLst>
              <a:gd name="adj" fmla="val 12500"/>
            </a:avLst>
          </a:prstGeom>
          <a:solidFill>
            <a:srgbClr val="8D78AE"/>
          </a:solidFill>
          <a:ln w="8255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Slot number 3"/>
          <p:cNvSpPr txBox="1"/>
          <p:nvPr/>
        </p:nvSpPr>
        <p:spPr>
          <a:xfrm>
            <a:off x="7040880" y="3730752"/>
            <a:ext cx="182880" cy="18288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01721"/>
                </a:solidFill>
                <a:latin typeface="Arial"/>
              </a:rPr>
              <a:t>3</a:t>
            </a:r>
          </a:p>
        </p:txBody>
      </p:sp>
      <p:sp>
        <p:nvSpPr>
          <p:cNvPr id="314" name="Generic slot 4"/>
          <p:cNvSpPr/>
          <p:nvPr/>
        </p:nvSpPr>
        <p:spPr>
          <a:xfrm>
            <a:off x="7251192" y="3529584"/>
            <a:ext cx="146304" cy="164592"/>
          </a:xfrm>
          <a:prstGeom prst="roundRect">
            <a:avLst>
              <a:gd name="adj" fmla="val 12500"/>
            </a:avLst>
          </a:prstGeom>
          <a:solidFill>
            <a:srgbClr val="8D78AE"/>
          </a:solidFill>
          <a:ln w="8255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Slot number 4"/>
          <p:cNvSpPr txBox="1"/>
          <p:nvPr/>
        </p:nvSpPr>
        <p:spPr>
          <a:xfrm>
            <a:off x="7232904" y="3730752"/>
            <a:ext cx="182880" cy="18288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01721"/>
                </a:solidFill>
                <a:latin typeface="Arial"/>
              </a:rPr>
              <a:t>4</a:t>
            </a:r>
          </a:p>
        </p:txBody>
      </p:sp>
      <p:sp>
        <p:nvSpPr>
          <p:cNvPr id="316" name="Generic slot 5"/>
          <p:cNvSpPr/>
          <p:nvPr/>
        </p:nvSpPr>
        <p:spPr>
          <a:xfrm>
            <a:off x="7443216" y="3529584"/>
            <a:ext cx="146304" cy="164592"/>
          </a:xfrm>
          <a:prstGeom prst="roundRect">
            <a:avLst>
              <a:gd name="adj" fmla="val 12500"/>
            </a:avLst>
          </a:prstGeom>
          <a:solidFill>
            <a:srgbClr val="8D78AE"/>
          </a:solidFill>
          <a:ln w="8255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Slot number 5"/>
          <p:cNvSpPr txBox="1"/>
          <p:nvPr/>
        </p:nvSpPr>
        <p:spPr>
          <a:xfrm>
            <a:off x="7424927" y="3730752"/>
            <a:ext cx="182880" cy="18288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01721"/>
                </a:solidFill>
                <a:latin typeface="Arial"/>
              </a:rPr>
              <a:t>5</a:t>
            </a:r>
          </a:p>
        </p:txBody>
      </p:sp>
      <p:sp>
        <p:nvSpPr>
          <p:cNvPr id="318" name="Generic slot 6"/>
          <p:cNvSpPr/>
          <p:nvPr/>
        </p:nvSpPr>
        <p:spPr>
          <a:xfrm>
            <a:off x="7635240" y="3529584"/>
            <a:ext cx="146304" cy="164592"/>
          </a:xfrm>
          <a:prstGeom prst="roundRect">
            <a:avLst>
              <a:gd name="adj" fmla="val 12500"/>
            </a:avLst>
          </a:prstGeom>
          <a:solidFill>
            <a:srgbClr val="8D78AE"/>
          </a:solidFill>
          <a:ln w="8255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Slot number 6"/>
          <p:cNvSpPr txBox="1"/>
          <p:nvPr/>
        </p:nvSpPr>
        <p:spPr>
          <a:xfrm>
            <a:off x="7616952" y="3730752"/>
            <a:ext cx="182880" cy="18288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01721"/>
                </a:solidFill>
                <a:latin typeface="Arial"/>
              </a:rPr>
              <a:t>6</a:t>
            </a:r>
          </a:p>
        </p:txBody>
      </p:sp>
      <p:sp>
        <p:nvSpPr>
          <p:cNvPr id="320" name="Generic slot 7"/>
          <p:cNvSpPr/>
          <p:nvPr/>
        </p:nvSpPr>
        <p:spPr>
          <a:xfrm>
            <a:off x="7827264" y="3529584"/>
            <a:ext cx="146304" cy="164592"/>
          </a:xfrm>
          <a:prstGeom prst="roundRect">
            <a:avLst>
              <a:gd name="adj" fmla="val 12500"/>
            </a:avLst>
          </a:prstGeom>
          <a:solidFill>
            <a:srgbClr val="8D78AE"/>
          </a:solidFill>
          <a:ln w="8255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Slot number 7"/>
          <p:cNvSpPr txBox="1"/>
          <p:nvPr/>
        </p:nvSpPr>
        <p:spPr>
          <a:xfrm>
            <a:off x="7808975" y="3730752"/>
            <a:ext cx="182880" cy="18288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01721"/>
                </a:solidFill>
                <a:latin typeface="Arial"/>
              </a:rPr>
              <a:t>7</a:t>
            </a:r>
          </a:p>
        </p:txBody>
      </p:sp>
      <p:sp>
        <p:nvSpPr>
          <p:cNvPr id="322" name="Generic slot 8"/>
          <p:cNvSpPr/>
          <p:nvPr/>
        </p:nvSpPr>
        <p:spPr>
          <a:xfrm>
            <a:off x="8019288" y="3529584"/>
            <a:ext cx="146304" cy="164592"/>
          </a:xfrm>
          <a:prstGeom prst="roundRect">
            <a:avLst>
              <a:gd name="adj" fmla="val 12500"/>
            </a:avLst>
          </a:prstGeom>
          <a:solidFill>
            <a:srgbClr val="8D78AE"/>
          </a:solidFill>
          <a:ln w="8255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Slot number 8"/>
          <p:cNvSpPr txBox="1"/>
          <p:nvPr/>
        </p:nvSpPr>
        <p:spPr>
          <a:xfrm>
            <a:off x="8001000" y="3730752"/>
            <a:ext cx="182880" cy="18288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01721"/>
                </a:solidFill>
                <a:latin typeface="Arial"/>
              </a:rPr>
              <a:t>8</a:t>
            </a:r>
          </a:p>
        </p:txBody>
      </p:sp>
      <p:sp>
        <p:nvSpPr>
          <p:cNvPr id="324" name="Transformer block 1-1"/>
          <p:cNvSpPr/>
          <p:nvPr/>
        </p:nvSpPr>
        <p:spPr>
          <a:xfrm>
            <a:off x="4855464" y="4032504"/>
            <a:ext cx="173736" cy="164592"/>
          </a:xfrm>
          <a:prstGeom prst="roundRect">
            <a:avLst>
              <a:gd name="adj" fmla="val 8000"/>
            </a:avLst>
          </a:prstGeom>
          <a:solidFill>
            <a:srgbClr val="E5DCEB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5" name="Transformer vertical 1-1"/>
          <p:cNvCxnSpPr/>
          <p:nvPr/>
        </p:nvCxnSpPr>
        <p:spPr>
          <a:xfrm>
            <a:off x="4942332" y="4197096"/>
            <a:ext cx="0" cy="137160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Transformer block 1-2"/>
          <p:cNvSpPr/>
          <p:nvPr/>
        </p:nvSpPr>
        <p:spPr>
          <a:xfrm>
            <a:off x="5047488" y="4032504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7" name="Transformer vertical 1-2"/>
          <p:cNvCxnSpPr/>
          <p:nvPr/>
        </p:nvCxnSpPr>
        <p:spPr>
          <a:xfrm>
            <a:off x="5134356" y="4197096"/>
            <a:ext cx="0" cy="137160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" name="Transformer block 1-3"/>
          <p:cNvSpPr/>
          <p:nvPr/>
        </p:nvSpPr>
        <p:spPr>
          <a:xfrm>
            <a:off x="5239512" y="4032504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9" name="Transformer vertical 1-3"/>
          <p:cNvCxnSpPr/>
          <p:nvPr/>
        </p:nvCxnSpPr>
        <p:spPr>
          <a:xfrm>
            <a:off x="5326380" y="4197096"/>
            <a:ext cx="0" cy="137160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Transformer block 1-4"/>
          <p:cNvSpPr/>
          <p:nvPr/>
        </p:nvSpPr>
        <p:spPr>
          <a:xfrm>
            <a:off x="5431536" y="4032504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1" name="Transformer vertical 1-4"/>
          <p:cNvCxnSpPr/>
          <p:nvPr/>
        </p:nvCxnSpPr>
        <p:spPr>
          <a:xfrm>
            <a:off x="5518404" y="4197096"/>
            <a:ext cx="0" cy="137160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Transformer block 1-5"/>
          <p:cNvSpPr/>
          <p:nvPr/>
        </p:nvSpPr>
        <p:spPr>
          <a:xfrm>
            <a:off x="5623560" y="4032504"/>
            <a:ext cx="173736" cy="164592"/>
          </a:xfrm>
          <a:prstGeom prst="roundRect">
            <a:avLst>
              <a:gd name="adj" fmla="val 8000"/>
            </a:avLst>
          </a:prstGeom>
          <a:solidFill>
            <a:srgbClr val="E5DCEB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3" name="Transformer vertical 1-5"/>
          <p:cNvCxnSpPr/>
          <p:nvPr/>
        </p:nvCxnSpPr>
        <p:spPr>
          <a:xfrm>
            <a:off x="5710428" y="4197096"/>
            <a:ext cx="0" cy="137160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4" name="Transformer block 1-6"/>
          <p:cNvSpPr/>
          <p:nvPr/>
        </p:nvSpPr>
        <p:spPr>
          <a:xfrm>
            <a:off x="5815584" y="4032504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5" name="Transformer vertical 1-6"/>
          <p:cNvCxnSpPr/>
          <p:nvPr/>
        </p:nvCxnSpPr>
        <p:spPr>
          <a:xfrm>
            <a:off x="5902452" y="4197096"/>
            <a:ext cx="0" cy="137160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Transformer block 1-7"/>
          <p:cNvSpPr/>
          <p:nvPr/>
        </p:nvSpPr>
        <p:spPr>
          <a:xfrm>
            <a:off x="6007608" y="4032504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7" name="Transformer vertical 1-7"/>
          <p:cNvCxnSpPr/>
          <p:nvPr/>
        </p:nvCxnSpPr>
        <p:spPr>
          <a:xfrm>
            <a:off x="6094476" y="4197096"/>
            <a:ext cx="0" cy="137160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" name="Transformer block 1-8"/>
          <p:cNvSpPr/>
          <p:nvPr/>
        </p:nvSpPr>
        <p:spPr>
          <a:xfrm>
            <a:off x="6199632" y="4032504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9" name="Transformer vertical 1-8"/>
          <p:cNvCxnSpPr/>
          <p:nvPr/>
        </p:nvCxnSpPr>
        <p:spPr>
          <a:xfrm>
            <a:off x="6286500" y="4197096"/>
            <a:ext cx="0" cy="137160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Transformer block 1-9"/>
          <p:cNvSpPr/>
          <p:nvPr/>
        </p:nvSpPr>
        <p:spPr>
          <a:xfrm>
            <a:off x="6391656" y="4032504"/>
            <a:ext cx="173736" cy="164592"/>
          </a:xfrm>
          <a:prstGeom prst="roundRect">
            <a:avLst>
              <a:gd name="adj" fmla="val 8000"/>
            </a:avLst>
          </a:prstGeom>
          <a:solidFill>
            <a:srgbClr val="E5DCEB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1" name="Transformer vertical 1-9"/>
          <p:cNvCxnSpPr/>
          <p:nvPr/>
        </p:nvCxnSpPr>
        <p:spPr>
          <a:xfrm>
            <a:off x="6478524" y="4197096"/>
            <a:ext cx="0" cy="137160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Transformer block 1-10"/>
          <p:cNvSpPr/>
          <p:nvPr/>
        </p:nvSpPr>
        <p:spPr>
          <a:xfrm>
            <a:off x="6583680" y="4032504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3" name="Transformer vertical 1-10"/>
          <p:cNvCxnSpPr/>
          <p:nvPr/>
        </p:nvCxnSpPr>
        <p:spPr>
          <a:xfrm>
            <a:off x="6670548" y="4197096"/>
            <a:ext cx="0" cy="137160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Transformer block 1-11"/>
          <p:cNvSpPr/>
          <p:nvPr/>
        </p:nvSpPr>
        <p:spPr>
          <a:xfrm>
            <a:off x="6775704" y="4032504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5" name="Transformer vertical 1-11"/>
          <p:cNvCxnSpPr/>
          <p:nvPr/>
        </p:nvCxnSpPr>
        <p:spPr>
          <a:xfrm>
            <a:off x="6862572" y="4197096"/>
            <a:ext cx="0" cy="137160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ransformer block 1-12"/>
          <p:cNvSpPr/>
          <p:nvPr/>
        </p:nvSpPr>
        <p:spPr>
          <a:xfrm>
            <a:off x="6967728" y="4032504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7" name="Transformer vertical 1-12"/>
          <p:cNvCxnSpPr/>
          <p:nvPr/>
        </p:nvCxnSpPr>
        <p:spPr>
          <a:xfrm>
            <a:off x="7054596" y="4197096"/>
            <a:ext cx="0" cy="137160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Transformer block 1-13"/>
          <p:cNvSpPr/>
          <p:nvPr/>
        </p:nvSpPr>
        <p:spPr>
          <a:xfrm>
            <a:off x="7159752" y="4032504"/>
            <a:ext cx="173736" cy="164592"/>
          </a:xfrm>
          <a:prstGeom prst="roundRect">
            <a:avLst>
              <a:gd name="adj" fmla="val 8000"/>
            </a:avLst>
          </a:prstGeom>
          <a:solidFill>
            <a:srgbClr val="E5DCEB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9" name="Transformer vertical 1-13"/>
          <p:cNvCxnSpPr/>
          <p:nvPr/>
        </p:nvCxnSpPr>
        <p:spPr>
          <a:xfrm>
            <a:off x="7246620" y="4197096"/>
            <a:ext cx="0" cy="137160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Transformer block 1-14"/>
          <p:cNvSpPr/>
          <p:nvPr/>
        </p:nvSpPr>
        <p:spPr>
          <a:xfrm>
            <a:off x="7351775" y="4032504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1" name="Transformer vertical 1-14"/>
          <p:cNvCxnSpPr/>
          <p:nvPr/>
        </p:nvCxnSpPr>
        <p:spPr>
          <a:xfrm>
            <a:off x="7438644" y="4197096"/>
            <a:ext cx="0" cy="137160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2" name="Transformer block 1-15"/>
          <p:cNvSpPr/>
          <p:nvPr/>
        </p:nvSpPr>
        <p:spPr>
          <a:xfrm>
            <a:off x="7543800" y="4032504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3" name="Transformer vertical 1-15"/>
          <p:cNvCxnSpPr/>
          <p:nvPr/>
        </p:nvCxnSpPr>
        <p:spPr>
          <a:xfrm>
            <a:off x="7630668" y="4197096"/>
            <a:ext cx="0" cy="137160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Transformer block 1-16"/>
          <p:cNvSpPr/>
          <p:nvPr/>
        </p:nvSpPr>
        <p:spPr>
          <a:xfrm>
            <a:off x="7735824" y="4032504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5" name="Transformer vertical 1-16"/>
          <p:cNvCxnSpPr/>
          <p:nvPr/>
        </p:nvCxnSpPr>
        <p:spPr>
          <a:xfrm>
            <a:off x="7822692" y="4197096"/>
            <a:ext cx="0" cy="137160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Transformer block 1-17"/>
          <p:cNvSpPr/>
          <p:nvPr/>
        </p:nvSpPr>
        <p:spPr>
          <a:xfrm>
            <a:off x="7927848" y="4032504"/>
            <a:ext cx="173736" cy="164592"/>
          </a:xfrm>
          <a:prstGeom prst="roundRect">
            <a:avLst>
              <a:gd name="adj" fmla="val 8000"/>
            </a:avLst>
          </a:prstGeom>
          <a:solidFill>
            <a:srgbClr val="E5DCEB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7" name="Transformer vertical 1-17"/>
          <p:cNvCxnSpPr/>
          <p:nvPr/>
        </p:nvCxnSpPr>
        <p:spPr>
          <a:xfrm>
            <a:off x="8014716" y="4197096"/>
            <a:ext cx="0" cy="137160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Transformer lateral 1-1"/>
          <p:cNvCxnSpPr/>
          <p:nvPr/>
        </p:nvCxnSpPr>
        <p:spPr>
          <a:xfrm>
            <a:off x="4946904" y="4114800"/>
            <a:ext cx="182880" cy="0"/>
          </a:xfrm>
          <a:prstGeom prst="line">
            <a:avLst/>
          </a:prstGeom>
          <a:ln w="4064">
            <a:solidFill>
              <a:srgbClr val="D5CB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Transformer lateral 1-3"/>
          <p:cNvCxnSpPr/>
          <p:nvPr/>
        </p:nvCxnSpPr>
        <p:spPr>
          <a:xfrm>
            <a:off x="5330952" y="4114800"/>
            <a:ext cx="182880" cy="0"/>
          </a:xfrm>
          <a:prstGeom prst="line">
            <a:avLst/>
          </a:prstGeom>
          <a:ln w="4064">
            <a:solidFill>
              <a:srgbClr val="D5CB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Transformer lateral 1-5"/>
          <p:cNvCxnSpPr/>
          <p:nvPr/>
        </p:nvCxnSpPr>
        <p:spPr>
          <a:xfrm>
            <a:off x="5715000" y="4114800"/>
            <a:ext cx="182880" cy="0"/>
          </a:xfrm>
          <a:prstGeom prst="line">
            <a:avLst/>
          </a:prstGeom>
          <a:ln w="4064">
            <a:solidFill>
              <a:srgbClr val="D5CB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Transformer lateral 1-7"/>
          <p:cNvCxnSpPr/>
          <p:nvPr/>
        </p:nvCxnSpPr>
        <p:spPr>
          <a:xfrm>
            <a:off x="6099048" y="4114800"/>
            <a:ext cx="182880" cy="0"/>
          </a:xfrm>
          <a:prstGeom prst="line">
            <a:avLst/>
          </a:prstGeom>
          <a:ln w="4064">
            <a:solidFill>
              <a:srgbClr val="D5CB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Transformer lateral 1-9"/>
          <p:cNvCxnSpPr/>
          <p:nvPr/>
        </p:nvCxnSpPr>
        <p:spPr>
          <a:xfrm>
            <a:off x="6483096" y="4114800"/>
            <a:ext cx="182880" cy="0"/>
          </a:xfrm>
          <a:prstGeom prst="line">
            <a:avLst/>
          </a:prstGeom>
          <a:ln w="4064">
            <a:solidFill>
              <a:srgbClr val="D5CB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Transformer lateral 1-11"/>
          <p:cNvCxnSpPr/>
          <p:nvPr/>
        </p:nvCxnSpPr>
        <p:spPr>
          <a:xfrm>
            <a:off x="6867144" y="4114800"/>
            <a:ext cx="182880" cy="0"/>
          </a:xfrm>
          <a:prstGeom prst="line">
            <a:avLst/>
          </a:prstGeom>
          <a:ln w="4064">
            <a:solidFill>
              <a:srgbClr val="D5CB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Transformer lateral 1-13"/>
          <p:cNvCxnSpPr/>
          <p:nvPr/>
        </p:nvCxnSpPr>
        <p:spPr>
          <a:xfrm>
            <a:off x="7251192" y="4114800"/>
            <a:ext cx="182880" cy="0"/>
          </a:xfrm>
          <a:prstGeom prst="line">
            <a:avLst/>
          </a:prstGeom>
          <a:ln w="4064">
            <a:solidFill>
              <a:srgbClr val="D5CB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Transformer lateral 1-15"/>
          <p:cNvCxnSpPr/>
          <p:nvPr/>
        </p:nvCxnSpPr>
        <p:spPr>
          <a:xfrm>
            <a:off x="7635240" y="4114800"/>
            <a:ext cx="182880" cy="0"/>
          </a:xfrm>
          <a:prstGeom prst="line">
            <a:avLst/>
          </a:prstGeom>
          <a:ln w="4064">
            <a:solidFill>
              <a:srgbClr val="D5CB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6" name="Transformer block 2-1"/>
          <p:cNvSpPr/>
          <p:nvPr/>
        </p:nvSpPr>
        <p:spPr>
          <a:xfrm>
            <a:off x="4855464" y="4334256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7" name="Transformer vertical 2-1"/>
          <p:cNvCxnSpPr/>
          <p:nvPr/>
        </p:nvCxnSpPr>
        <p:spPr>
          <a:xfrm>
            <a:off x="4942332" y="4498848"/>
            <a:ext cx="0" cy="146304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Transformer block 2-2"/>
          <p:cNvSpPr/>
          <p:nvPr/>
        </p:nvSpPr>
        <p:spPr>
          <a:xfrm>
            <a:off x="5047488" y="4334256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9" name="Transformer vertical 2-2"/>
          <p:cNvCxnSpPr/>
          <p:nvPr/>
        </p:nvCxnSpPr>
        <p:spPr>
          <a:xfrm>
            <a:off x="5134356" y="4498848"/>
            <a:ext cx="0" cy="146304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0" name="Transformer block 2-3"/>
          <p:cNvSpPr/>
          <p:nvPr/>
        </p:nvSpPr>
        <p:spPr>
          <a:xfrm>
            <a:off x="5239512" y="4334256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1" name="Transformer vertical 2-3"/>
          <p:cNvCxnSpPr/>
          <p:nvPr/>
        </p:nvCxnSpPr>
        <p:spPr>
          <a:xfrm>
            <a:off x="5326380" y="4498848"/>
            <a:ext cx="0" cy="146304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2" name="Transformer block 2-4"/>
          <p:cNvSpPr/>
          <p:nvPr/>
        </p:nvSpPr>
        <p:spPr>
          <a:xfrm>
            <a:off x="5431536" y="4334256"/>
            <a:ext cx="173736" cy="164592"/>
          </a:xfrm>
          <a:prstGeom prst="roundRect">
            <a:avLst>
              <a:gd name="adj" fmla="val 8000"/>
            </a:avLst>
          </a:prstGeom>
          <a:solidFill>
            <a:srgbClr val="E5DCEB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3" name="Transformer vertical 2-4"/>
          <p:cNvCxnSpPr/>
          <p:nvPr/>
        </p:nvCxnSpPr>
        <p:spPr>
          <a:xfrm>
            <a:off x="5518404" y="4498848"/>
            <a:ext cx="0" cy="146304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4" name="Transformer block 2-5"/>
          <p:cNvSpPr/>
          <p:nvPr/>
        </p:nvSpPr>
        <p:spPr>
          <a:xfrm>
            <a:off x="5623560" y="4334256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5" name="Transformer vertical 2-5"/>
          <p:cNvCxnSpPr/>
          <p:nvPr/>
        </p:nvCxnSpPr>
        <p:spPr>
          <a:xfrm>
            <a:off x="5710428" y="4498848"/>
            <a:ext cx="0" cy="146304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Transformer block 2-6"/>
          <p:cNvSpPr/>
          <p:nvPr/>
        </p:nvSpPr>
        <p:spPr>
          <a:xfrm>
            <a:off x="5815584" y="4334256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7" name="Transformer vertical 2-6"/>
          <p:cNvCxnSpPr/>
          <p:nvPr/>
        </p:nvCxnSpPr>
        <p:spPr>
          <a:xfrm>
            <a:off x="5902452" y="4498848"/>
            <a:ext cx="0" cy="146304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ransformer block 2-7"/>
          <p:cNvSpPr/>
          <p:nvPr/>
        </p:nvSpPr>
        <p:spPr>
          <a:xfrm>
            <a:off x="6007608" y="4334256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9" name="Transformer vertical 2-7"/>
          <p:cNvCxnSpPr/>
          <p:nvPr/>
        </p:nvCxnSpPr>
        <p:spPr>
          <a:xfrm>
            <a:off x="6094476" y="4498848"/>
            <a:ext cx="0" cy="146304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0" name="Transformer block 2-8"/>
          <p:cNvSpPr/>
          <p:nvPr/>
        </p:nvSpPr>
        <p:spPr>
          <a:xfrm>
            <a:off x="6199632" y="4334256"/>
            <a:ext cx="173736" cy="164592"/>
          </a:xfrm>
          <a:prstGeom prst="roundRect">
            <a:avLst>
              <a:gd name="adj" fmla="val 8000"/>
            </a:avLst>
          </a:prstGeom>
          <a:solidFill>
            <a:srgbClr val="E5DCEB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1" name="Transformer vertical 2-8"/>
          <p:cNvCxnSpPr/>
          <p:nvPr/>
        </p:nvCxnSpPr>
        <p:spPr>
          <a:xfrm>
            <a:off x="6286500" y="4498848"/>
            <a:ext cx="0" cy="146304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Transformer block 2-9"/>
          <p:cNvSpPr/>
          <p:nvPr/>
        </p:nvSpPr>
        <p:spPr>
          <a:xfrm>
            <a:off x="6391656" y="4334256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3" name="Transformer vertical 2-9"/>
          <p:cNvCxnSpPr/>
          <p:nvPr/>
        </p:nvCxnSpPr>
        <p:spPr>
          <a:xfrm>
            <a:off x="6478524" y="4498848"/>
            <a:ext cx="0" cy="146304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4" name="Transformer block 2-10"/>
          <p:cNvSpPr/>
          <p:nvPr/>
        </p:nvSpPr>
        <p:spPr>
          <a:xfrm>
            <a:off x="6583680" y="4334256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5" name="Transformer vertical 2-10"/>
          <p:cNvCxnSpPr/>
          <p:nvPr/>
        </p:nvCxnSpPr>
        <p:spPr>
          <a:xfrm>
            <a:off x="6670548" y="4498848"/>
            <a:ext cx="0" cy="146304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Transformer block 2-11"/>
          <p:cNvSpPr/>
          <p:nvPr/>
        </p:nvSpPr>
        <p:spPr>
          <a:xfrm>
            <a:off x="6775704" y="4334256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7" name="Transformer vertical 2-11"/>
          <p:cNvCxnSpPr/>
          <p:nvPr/>
        </p:nvCxnSpPr>
        <p:spPr>
          <a:xfrm>
            <a:off x="6862572" y="4498848"/>
            <a:ext cx="0" cy="146304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8" name="Transformer block 2-12"/>
          <p:cNvSpPr/>
          <p:nvPr/>
        </p:nvSpPr>
        <p:spPr>
          <a:xfrm>
            <a:off x="6967728" y="4334256"/>
            <a:ext cx="173736" cy="164592"/>
          </a:xfrm>
          <a:prstGeom prst="roundRect">
            <a:avLst>
              <a:gd name="adj" fmla="val 8000"/>
            </a:avLst>
          </a:prstGeom>
          <a:solidFill>
            <a:srgbClr val="E5DCEB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9" name="Transformer vertical 2-12"/>
          <p:cNvCxnSpPr/>
          <p:nvPr/>
        </p:nvCxnSpPr>
        <p:spPr>
          <a:xfrm>
            <a:off x="7054596" y="4498848"/>
            <a:ext cx="0" cy="146304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0" name="Transformer block 2-13"/>
          <p:cNvSpPr/>
          <p:nvPr/>
        </p:nvSpPr>
        <p:spPr>
          <a:xfrm>
            <a:off x="7159752" y="4334256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1" name="Transformer vertical 2-13"/>
          <p:cNvCxnSpPr/>
          <p:nvPr/>
        </p:nvCxnSpPr>
        <p:spPr>
          <a:xfrm>
            <a:off x="7246620" y="4498848"/>
            <a:ext cx="0" cy="146304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2" name="Transformer block 2-14"/>
          <p:cNvSpPr/>
          <p:nvPr/>
        </p:nvSpPr>
        <p:spPr>
          <a:xfrm>
            <a:off x="7351775" y="4334256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3" name="Transformer vertical 2-14"/>
          <p:cNvCxnSpPr/>
          <p:nvPr/>
        </p:nvCxnSpPr>
        <p:spPr>
          <a:xfrm>
            <a:off x="7438644" y="4498848"/>
            <a:ext cx="0" cy="146304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Transformer block 2-15"/>
          <p:cNvSpPr/>
          <p:nvPr/>
        </p:nvSpPr>
        <p:spPr>
          <a:xfrm>
            <a:off x="7543800" y="4334256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5" name="Transformer vertical 2-15"/>
          <p:cNvCxnSpPr/>
          <p:nvPr/>
        </p:nvCxnSpPr>
        <p:spPr>
          <a:xfrm>
            <a:off x="7630668" y="4498848"/>
            <a:ext cx="0" cy="146304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Transformer block 2-16"/>
          <p:cNvSpPr/>
          <p:nvPr/>
        </p:nvSpPr>
        <p:spPr>
          <a:xfrm>
            <a:off x="7735824" y="4334256"/>
            <a:ext cx="173736" cy="164592"/>
          </a:xfrm>
          <a:prstGeom prst="roundRect">
            <a:avLst>
              <a:gd name="adj" fmla="val 8000"/>
            </a:avLst>
          </a:prstGeom>
          <a:solidFill>
            <a:srgbClr val="E5DCEB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7" name="Transformer vertical 2-16"/>
          <p:cNvCxnSpPr/>
          <p:nvPr/>
        </p:nvCxnSpPr>
        <p:spPr>
          <a:xfrm>
            <a:off x="7822692" y="4498848"/>
            <a:ext cx="0" cy="146304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8" name="Transformer block 2-17"/>
          <p:cNvSpPr/>
          <p:nvPr/>
        </p:nvSpPr>
        <p:spPr>
          <a:xfrm>
            <a:off x="7927848" y="4334256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9" name="Transformer vertical 2-17"/>
          <p:cNvCxnSpPr/>
          <p:nvPr/>
        </p:nvCxnSpPr>
        <p:spPr>
          <a:xfrm>
            <a:off x="8014716" y="4498848"/>
            <a:ext cx="0" cy="146304"/>
          </a:xfrm>
          <a:prstGeom prst="line">
            <a:avLst/>
          </a:prstGeom>
          <a:ln w="4445">
            <a:solidFill>
              <a:srgbClr val="C8B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Transformer lateral 2-2"/>
          <p:cNvCxnSpPr/>
          <p:nvPr/>
        </p:nvCxnSpPr>
        <p:spPr>
          <a:xfrm>
            <a:off x="5138928" y="4416552"/>
            <a:ext cx="182880" cy="0"/>
          </a:xfrm>
          <a:prstGeom prst="line">
            <a:avLst/>
          </a:prstGeom>
          <a:ln w="4064">
            <a:solidFill>
              <a:srgbClr val="D5CB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Transformer lateral 2-4"/>
          <p:cNvCxnSpPr/>
          <p:nvPr/>
        </p:nvCxnSpPr>
        <p:spPr>
          <a:xfrm>
            <a:off x="5522976" y="4416552"/>
            <a:ext cx="182880" cy="0"/>
          </a:xfrm>
          <a:prstGeom prst="line">
            <a:avLst/>
          </a:prstGeom>
          <a:ln w="4064">
            <a:solidFill>
              <a:srgbClr val="D5CB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Transformer lateral 2-6"/>
          <p:cNvCxnSpPr/>
          <p:nvPr/>
        </p:nvCxnSpPr>
        <p:spPr>
          <a:xfrm>
            <a:off x="5907024" y="4416552"/>
            <a:ext cx="182880" cy="0"/>
          </a:xfrm>
          <a:prstGeom prst="line">
            <a:avLst/>
          </a:prstGeom>
          <a:ln w="4064">
            <a:solidFill>
              <a:srgbClr val="D5CB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Transformer lateral 2-8"/>
          <p:cNvCxnSpPr/>
          <p:nvPr/>
        </p:nvCxnSpPr>
        <p:spPr>
          <a:xfrm>
            <a:off x="6291072" y="4416552"/>
            <a:ext cx="182880" cy="0"/>
          </a:xfrm>
          <a:prstGeom prst="line">
            <a:avLst/>
          </a:prstGeom>
          <a:ln w="4064">
            <a:solidFill>
              <a:srgbClr val="D5CB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Transformer lateral 2-10"/>
          <p:cNvCxnSpPr/>
          <p:nvPr/>
        </p:nvCxnSpPr>
        <p:spPr>
          <a:xfrm>
            <a:off x="6675120" y="4416552"/>
            <a:ext cx="182880" cy="0"/>
          </a:xfrm>
          <a:prstGeom prst="line">
            <a:avLst/>
          </a:prstGeom>
          <a:ln w="4064">
            <a:solidFill>
              <a:srgbClr val="D5CB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Transformer lateral 2-12"/>
          <p:cNvCxnSpPr/>
          <p:nvPr/>
        </p:nvCxnSpPr>
        <p:spPr>
          <a:xfrm>
            <a:off x="7059168" y="4416552"/>
            <a:ext cx="182880" cy="0"/>
          </a:xfrm>
          <a:prstGeom prst="line">
            <a:avLst/>
          </a:prstGeom>
          <a:ln w="4064">
            <a:solidFill>
              <a:srgbClr val="D5CB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Transformer lateral 2-14"/>
          <p:cNvCxnSpPr/>
          <p:nvPr/>
        </p:nvCxnSpPr>
        <p:spPr>
          <a:xfrm>
            <a:off x="7443216" y="4416552"/>
            <a:ext cx="182880" cy="0"/>
          </a:xfrm>
          <a:prstGeom prst="line">
            <a:avLst/>
          </a:prstGeom>
          <a:ln w="4064">
            <a:solidFill>
              <a:srgbClr val="D5CB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Transformer lateral 2-16"/>
          <p:cNvCxnSpPr/>
          <p:nvPr/>
        </p:nvCxnSpPr>
        <p:spPr>
          <a:xfrm>
            <a:off x="7827264" y="4416552"/>
            <a:ext cx="182880" cy="0"/>
          </a:xfrm>
          <a:prstGeom prst="line">
            <a:avLst/>
          </a:prstGeom>
          <a:ln w="4064">
            <a:solidFill>
              <a:srgbClr val="D5CB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8" name="Transformer block 3-1"/>
          <p:cNvSpPr/>
          <p:nvPr/>
        </p:nvSpPr>
        <p:spPr>
          <a:xfrm>
            <a:off x="4855464" y="4645152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Transformer block 3-2"/>
          <p:cNvSpPr/>
          <p:nvPr/>
        </p:nvSpPr>
        <p:spPr>
          <a:xfrm>
            <a:off x="5047488" y="4645152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Transformer block 3-3"/>
          <p:cNvSpPr/>
          <p:nvPr/>
        </p:nvSpPr>
        <p:spPr>
          <a:xfrm>
            <a:off x="5239512" y="4645152"/>
            <a:ext cx="173736" cy="164592"/>
          </a:xfrm>
          <a:prstGeom prst="roundRect">
            <a:avLst>
              <a:gd name="adj" fmla="val 8000"/>
            </a:avLst>
          </a:prstGeom>
          <a:solidFill>
            <a:srgbClr val="E5DCEB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Transformer block 3-4"/>
          <p:cNvSpPr/>
          <p:nvPr/>
        </p:nvSpPr>
        <p:spPr>
          <a:xfrm>
            <a:off x="5431536" y="4645152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ransformer block 3-5"/>
          <p:cNvSpPr/>
          <p:nvPr/>
        </p:nvSpPr>
        <p:spPr>
          <a:xfrm>
            <a:off x="5623560" y="4645152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Transformer block 3-6"/>
          <p:cNvSpPr/>
          <p:nvPr/>
        </p:nvSpPr>
        <p:spPr>
          <a:xfrm>
            <a:off x="5815584" y="4645152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ransformer block 3-7"/>
          <p:cNvSpPr/>
          <p:nvPr/>
        </p:nvSpPr>
        <p:spPr>
          <a:xfrm>
            <a:off x="6007608" y="4645152"/>
            <a:ext cx="173736" cy="164592"/>
          </a:xfrm>
          <a:prstGeom prst="roundRect">
            <a:avLst>
              <a:gd name="adj" fmla="val 8000"/>
            </a:avLst>
          </a:prstGeom>
          <a:solidFill>
            <a:srgbClr val="E5DCEB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Transformer block 3-8"/>
          <p:cNvSpPr/>
          <p:nvPr/>
        </p:nvSpPr>
        <p:spPr>
          <a:xfrm>
            <a:off x="6199632" y="4645152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ransformer block 3-9"/>
          <p:cNvSpPr/>
          <p:nvPr/>
        </p:nvSpPr>
        <p:spPr>
          <a:xfrm>
            <a:off x="6391656" y="4645152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Transformer block 3-10"/>
          <p:cNvSpPr/>
          <p:nvPr/>
        </p:nvSpPr>
        <p:spPr>
          <a:xfrm>
            <a:off x="6583680" y="4645152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ransformer block 3-11"/>
          <p:cNvSpPr/>
          <p:nvPr/>
        </p:nvSpPr>
        <p:spPr>
          <a:xfrm>
            <a:off x="6775704" y="4645152"/>
            <a:ext cx="173736" cy="164592"/>
          </a:xfrm>
          <a:prstGeom prst="roundRect">
            <a:avLst>
              <a:gd name="adj" fmla="val 8000"/>
            </a:avLst>
          </a:prstGeom>
          <a:solidFill>
            <a:srgbClr val="E5DCEB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ransformer block 3-12"/>
          <p:cNvSpPr/>
          <p:nvPr/>
        </p:nvSpPr>
        <p:spPr>
          <a:xfrm>
            <a:off x="6967728" y="4645152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Transformer block 3-13"/>
          <p:cNvSpPr/>
          <p:nvPr/>
        </p:nvSpPr>
        <p:spPr>
          <a:xfrm>
            <a:off x="7159752" y="4645152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Transformer block 3-14"/>
          <p:cNvSpPr/>
          <p:nvPr/>
        </p:nvSpPr>
        <p:spPr>
          <a:xfrm>
            <a:off x="7351775" y="4645152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Transformer block 3-15"/>
          <p:cNvSpPr/>
          <p:nvPr/>
        </p:nvSpPr>
        <p:spPr>
          <a:xfrm>
            <a:off x="7543800" y="4645152"/>
            <a:ext cx="173736" cy="164592"/>
          </a:xfrm>
          <a:prstGeom prst="roundRect">
            <a:avLst>
              <a:gd name="adj" fmla="val 8000"/>
            </a:avLst>
          </a:prstGeom>
          <a:solidFill>
            <a:srgbClr val="E5DCEB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Transformer block 3-16"/>
          <p:cNvSpPr/>
          <p:nvPr/>
        </p:nvSpPr>
        <p:spPr>
          <a:xfrm>
            <a:off x="7735824" y="4645152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Transformer block 3-17"/>
          <p:cNvSpPr/>
          <p:nvPr/>
        </p:nvSpPr>
        <p:spPr>
          <a:xfrm>
            <a:off x="7927848" y="4645152"/>
            <a:ext cx="173736" cy="164592"/>
          </a:xfrm>
          <a:prstGeom prst="roundRect">
            <a:avLst>
              <a:gd name="adj" fmla="val 8000"/>
            </a:avLst>
          </a:prstGeom>
          <a:solidFill>
            <a:srgbClr val="F0EAF3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5" name="Token projection 1"/>
          <p:cNvCxnSpPr/>
          <p:nvPr/>
        </p:nvCxnSpPr>
        <p:spPr>
          <a:xfrm>
            <a:off x="4965192" y="3694176"/>
            <a:ext cx="0" cy="338328"/>
          </a:xfrm>
          <a:prstGeom prst="line">
            <a:avLst/>
          </a:prstGeom>
          <a:ln w="5715">
            <a:solidFill>
              <a:srgbClr val="104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Token projection 2"/>
          <p:cNvCxnSpPr/>
          <p:nvPr/>
        </p:nvCxnSpPr>
        <p:spPr>
          <a:xfrm>
            <a:off x="5157216" y="3694176"/>
            <a:ext cx="0" cy="338328"/>
          </a:xfrm>
          <a:prstGeom prst="line">
            <a:avLst/>
          </a:prstGeom>
          <a:ln w="5715">
            <a:solidFill>
              <a:srgbClr val="104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Token projection 3"/>
          <p:cNvCxnSpPr/>
          <p:nvPr/>
        </p:nvCxnSpPr>
        <p:spPr>
          <a:xfrm>
            <a:off x="5349240" y="3694176"/>
            <a:ext cx="0" cy="338328"/>
          </a:xfrm>
          <a:prstGeom prst="line">
            <a:avLst/>
          </a:prstGeom>
          <a:ln w="5715">
            <a:solidFill>
              <a:srgbClr val="104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Token projection 4"/>
          <p:cNvCxnSpPr/>
          <p:nvPr/>
        </p:nvCxnSpPr>
        <p:spPr>
          <a:xfrm>
            <a:off x="5541264" y="3694176"/>
            <a:ext cx="0" cy="338328"/>
          </a:xfrm>
          <a:prstGeom prst="line">
            <a:avLst/>
          </a:prstGeom>
          <a:ln w="5715">
            <a:solidFill>
              <a:srgbClr val="104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Token projection 5"/>
          <p:cNvCxnSpPr/>
          <p:nvPr/>
        </p:nvCxnSpPr>
        <p:spPr>
          <a:xfrm>
            <a:off x="5733288" y="3694176"/>
            <a:ext cx="0" cy="338328"/>
          </a:xfrm>
          <a:prstGeom prst="line">
            <a:avLst/>
          </a:prstGeom>
          <a:ln w="571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Token projection 6"/>
          <p:cNvCxnSpPr/>
          <p:nvPr/>
        </p:nvCxnSpPr>
        <p:spPr>
          <a:xfrm>
            <a:off x="5925312" y="3694176"/>
            <a:ext cx="0" cy="338328"/>
          </a:xfrm>
          <a:prstGeom prst="line">
            <a:avLst/>
          </a:prstGeom>
          <a:ln w="571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Token projection 7"/>
          <p:cNvCxnSpPr/>
          <p:nvPr/>
        </p:nvCxnSpPr>
        <p:spPr>
          <a:xfrm>
            <a:off x="6117336" y="3694176"/>
            <a:ext cx="0" cy="338328"/>
          </a:xfrm>
          <a:prstGeom prst="line">
            <a:avLst/>
          </a:prstGeom>
          <a:ln w="571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lot projection 1"/>
          <p:cNvCxnSpPr/>
          <p:nvPr/>
        </p:nvCxnSpPr>
        <p:spPr>
          <a:xfrm>
            <a:off x="6748272" y="3694176"/>
            <a:ext cx="0" cy="338328"/>
          </a:xfrm>
          <a:prstGeom prst="line">
            <a:avLst/>
          </a:prstGeom>
          <a:ln w="5715">
            <a:solidFill>
              <a:srgbClr val="5A34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Slot projection 2"/>
          <p:cNvCxnSpPr/>
          <p:nvPr/>
        </p:nvCxnSpPr>
        <p:spPr>
          <a:xfrm>
            <a:off x="6940296" y="3694176"/>
            <a:ext cx="0" cy="338328"/>
          </a:xfrm>
          <a:prstGeom prst="line">
            <a:avLst/>
          </a:prstGeom>
          <a:ln w="5715">
            <a:solidFill>
              <a:srgbClr val="5A34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Slot projection 3"/>
          <p:cNvCxnSpPr/>
          <p:nvPr/>
        </p:nvCxnSpPr>
        <p:spPr>
          <a:xfrm>
            <a:off x="7132320" y="3694176"/>
            <a:ext cx="0" cy="338328"/>
          </a:xfrm>
          <a:prstGeom prst="line">
            <a:avLst/>
          </a:prstGeom>
          <a:ln w="5715">
            <a:solidFill>
              <a:srgbClr val="5A34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lot projection 4"/>
          <p:cNvCxnSpPr/>
          <p:nvPr/>
        </p:nvCxnSpPr>
        <p:spPr>
          <a:xfrm>
            <a:off x="7324344" y="3694176"/>
            <a:ext cx="0" cy="338328"/>
          </a:xfrm>
          <a:prstGeom prst="line">
            <a:avLst/>
          </a:prstGeom>
          <a:ln w="5715">
            <a:solidFill>
              <a:srgbClr val="5A34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Slot projection 5"/>
          <p:cNvCxnSpPr/>
          <p:nvPr/>
        </p:nvCxnSpPr>
        <p:spPr>
          <a:xfrm>
            <a:off x="7516368" y="3694176"/>
            <a:ext cx="0" cy="338328"/>
          </a:xfrm>
          <a:prstGeom prst="line">
            <a:avLst/>
          </a:prstGeom>
          <a:ln w="5715">
            <a:solidFill>
              <a:srgbClr val="5A34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Slot projection 6"/>
          <p:cNvCxnSpPr/>
          <p:nvPr/>
        </p:nvCxnSpPr>
        <p:spPr>
          <a:xfrm>
            <a:off x="7708392" y="3694176"/>
            <a:ext cx="0" cy="338328"/>
          </a:xfrm>
          <a:prstGeom prst="line">
            <a:avLst/>
          </a:prstGeom>
          <a:ln w="5715">
            <a:solidFill>
              <a:srgbClr val="5A34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8" name="Slot projection 7"/>
          <p:cNvCxnSpPr/>
          <p:nvPr/>
        </p:nvCxnSpPr>
        <p:spPr>
          <a:xfrm>
            <a:off x="7900416" y="3694176"/>
            <a:ext cx="0" cy="338328"/>
          </a:xfrm>
          <a:prstGeom prst="line">
            <a:avLst/>
          </a:prstGeom>
          <a:ln w="5715">
            <a:solidFill>
              <a:srgbClr val="5A34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9" name="Slot projection 8"/>
          <p:cNvCxnSpPr/>
          <p:nvPr/>
        </p:nvCxnSpPr>
        <p:spPr>
          <a:xfrm>
            <a:off x="8092440" y="3694176"/>
            <a:ext cx="0" cy="338328"/>
          </a:xfrm>
          <a:prstGeom prst="line">
            <a:avLst/>
          </a:prstGeom>
          <a:ln w="5715">
            <a:solidFill>
              <a:srgbClr val="5A34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ransformer readout left"/>
          <p:cNvSpPr/>
          <p:nvPr/>
        </p:nvSpPr>
        <p:spPr>
          <a:xfrm>
            <a:off x="4892040" y="4782312"/>
            <a:ext cx="1627632" cy="109728"/>
          </a:xfrm>
          <a:prstGeom prst="roundRect">
            <a:avLst>
              <a:gd name="adj" fmla="val 8000"/>
            </a:avLst>
          </a:prstGeom>
          <a:solidFill>
            <a:srgbClr val="EEE7F1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Transformer readout right"/>
          <p:cNvSpPr/>
          <p:nvPr/>
        </p:nvSpPr>
        <p:spPr>
          <a:xfrm>
            <a:off x="6629400" y="4782312"/>
            <a:ext cx="1517904" cy="109728"/>
          </a:xfrm>
          <a:prstGeom prst="roundRect">
            <a:avLst>
              <a:gd name="adj" fmla="val 8000"/>
            </a:avLst>
          </a:prstGeom>
          <a:solidFill>
            <a:srgbClr val="EEE7F1"/>
          </a:solidFill>
          <a:ln w="4445">
            <a:solidFill>
              <a:srgbClr val="C8B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VLM query output"/>
          <p:cNvSpPr/>
          <p:nvPr/>
        </p:nvSpPr>
        <p:spPr>
          <a:xfrm>
            <a:off x="8394192" y="3785615"/>
            <a:ext cx="109728" cy="109728"/>
          </a:xfrm>
          <a:prstGeom prst="ellipse">
            <a:avLst/>
          </a:prstGeom>
          <a:solidFill>
            <a:srgbClr val="5A3478"/>
          </a:solidFill>
          <a:ln w="6350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usable representation"/>
          <p:cNvSpPr/>
          <p:nvPr/>
        </p:nvSpPr>
        <p:spPr>
          <a:xfrm>
            <a:off x="5111496" y="5394960"/>
            <a:ext cx="2871216" cy="667512"/>
          </a:xfrm>
          <a:prstGeom prst="roundRect">
            <a:avLst>
              <a:gd name="adj" fmla="val 8000"/>
            </a:avLst>
          </a:prstGeom>
          <a:solidFill>
            <a:srgbClr val="FBF8FC"/>
          </a:solidFill>
          <a:ln w="13335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usable representation formula"/>
          <p:cNvSpPr txBox="1"/>
          <p:nvPr/>
        </p:nvSpPr>
        <p:spPr>
          <a:xfrm>
            <a:off x="5358384" y="5431536"/>
            <a:ext cx="2377440" cy="35661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E1749"/>
                </a:solidFill>
                <a:latin typeface="Times New Roman"/>
              </a:rPr>
              <a:t>Rₜ = (Dₜ¹:ᴸ, Sₜ)</a:t>
            </a:r>
          </a:p>
        </p:txBody>
      </p:sp>
      <p:sp>
        <p:nvSpPr>
          <p:cNvPr id="445" name="Reusable representation subtitle"/>
          <p:cNvSpPr txBox="1"/>
          <p:nvPr/>
        </p:nvSpPr>
        <p:spPr>
          <a:xfrm>
            <a:off x="5449824" y="5751576"/>
            <a:ext cx="2203704" cy="23774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01721"/>
                </a:solidFill>
                <a:latin typeface="Arial"/>
              </a:rPr>
              <a:t>Reusable current representation</a:t>
            </a:r>
          </a:p>
        </p:txBody>
      </p:sp>
      <p:sp>
        <p:nvSpPr>
          <p:cNvPr id="446" name="Read-only query panel"/>
          <p:cNvSpPr/>
          <p:nvPr/>
        </p:nvSpPr>
        <p:spPr>
          <a:xfrm>
            <a:off x="8577072" y="2962656"/>
            <a:ext cx="1088136" cy="2560320"/>
          </a:xfrm>
          <a:prstGeom prst="roundRect">
            <a:avLst>
              <a:gd name="adj" fmla="val 8000"/>
            </a:avLst>
          </a:prstGeom>
          <a:solidFill>
            <a:srgbClr val="FAFAF8"/>
          </a:solidFill>
          <a:ln w="12700">
            <a:solidFill>
              <a:srgbClr val="A9AE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ad-only queries heading"/>
          <p:cNvSpPr txBox="1"/>
          <p:nvPr/>
        </p:nvSpPr>
        <p:spPr>
          <a:xfrm>
            <a:off x="8695944" y="3063240"/>
            <a:ext cx="832104" cy="347472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01721"/>
                </a:solidFill>
                <a:latin typeface="Arial"/>
              </a:rPr>
              <a:t>Read-only
queries Q</a:t>
            </a:r>
          </a:p>
        </p:txBody>
      </p:sp>
      <p:sp>
        <p:nvSpPr>
          <p:cNvPr id="448" name="Read-only query lock shackle"/>
          <p:cNvSpPr/>
          <p:nvPr/>
        </p:nvSpPr>
        <p:spPr>
          <a:xfrm>
            <a:off x="9399574" y="3081528"/>
            <a:ext cx="71323" cy="77266"/>
          </a:xfrm>
          <a:prstGeom prst="ellipse">
            <a:avLst/>
          </a:prstGeom>
          <a:noFill/>
          <a:ln w="12700">
            <a:solidFill>
              <a:srgbClr val="6E74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ad-only query lock body"/>
          <p:cNvSpPr/>
          <p:nvPr/>
        </p:nvSpPr>
        <p:spPr>
          <a:xfrm>
            <a:off x="9381744" y="3123133"/>
            <a:ext cx="106984" cy="101041"/>
          </a:xfrm>
          <a:prstGeom prst="roundRect">
            <a:avLst>
              <a:gd name="adj" fmla="val 8000"/>
            </a:avLst>
          </a:prstGeom>
          <a:solidFill>
            <a:srgbClr val="6E7476"/>
          </a:solidFill>
          <a:ln w="7620">
            <a:solidFill>
              <a:srgbClr val="6E74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ad-only query lock keyhole"/>
          <p:cNvSpPr/>
          <p:nvPr/>
        </p:nvSpPr>
        <p:spPr>
          <a:xfrm>
            <a:off x="9424537" y="3146907"/>
            <a:ext cx="21396" cy="23774"/>
          </a:xfrm>
          <a:prstGeom prst="ellipse">
            <a:avLst/>
          </a:prstGeom>
          <a:solidFill>
            <a:srgbClr val="FFFDFC"/>
          </a:solidFill>
          <a:ln w="2540">
            <a:solidFill>
              <a:srgbClr val="FFFD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1" name="Read-only query lock key stem"/>
          <p:cNvCxnSpPr/>
          <p:nvPr/>
        </p:nvCxnSpPr>
        <p:spPr>
          <a:xfrm>
            <a:off x="9435236" y="3164738"/>
            <a:ext cx="0" cy="23774"/>
          </a:xfrm>
          <a:prstGeom prst="line">
            <a:avLst/>
          </a:prstGeom>
          <a:ln w="10160">
            <a:solidFill>
              <a:srgbClr val="FFFDF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2" name="Task query panel"/>
          <p:cNvSpPr/>
          <p:nvPr/>
        </p:nvSpPr>
        <p:spPr>
          <a:xfrm>
            <a:off x="8659368" y="3529584"/>
            <a:ext cx="914400" cy="795528"/>
          </a:xfrm>
          <a:prstGeom prst="roundRect">
            <a:avLst>
              <a:gd name="adj" fmla="val 8000"/>
            </a:avLst>
          </a:prstGeom>
          <a:solidFill>
            <a:srgbClr val="F2FAF8"/>
          </a:solidFill>
          <a:ln w="10795">
            <a:solidFill>
              <a:srgbClr val="55A8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Task query label"/>
          <p:cNvSpPr txBox="1"/>
          <p:nvPr/>
        </p:nvSpPr>
        <p:spPr>
          <a:xfrm>
            <a:off x="8732520" y="3575304"/>
            <a:ext cx="768096" cy="22860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114B5B"/>
                </a:solidFill>
                <a:latin typeface="Arial"/>
              </a:rPr>
              <a:t>Task query</a:t>
            </a:r>
          </a:p>
        </p:txBody>
      </p:sp>
      <p:sp>
        <p:nvSpPr>
          <p:cNvPr id="454" name="Task query symbol"/>
          <p:cNvSpPr txBox="1"/>
          <p:nvPr/>
        </p:nvSpPr>
        <p:spPr>
          <a:xfrm>
            <a:off x="8787384" y="3767328"/>
            <a:ext cx="658368" cy="22860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087477"/>
                </a:solidFill>
                <a:latin typeface="Times New Roman"/>
              </a:rPr>
              <a:t>q</a:t>
            </a:r>
          </a:p>
        </p:txBody>
      </p:sp>
      <p:sp>
        <p:nvSpPr>
          <p:cNvPr id="455" name="Task query token 1"/>
          <p:cNvSpPr/>
          <p:nvPr/>
        </p:nvSpPr>
        <p:spPr>
          <a:xfrm>
            <a:off x="8778240" y="4050791"/>
            <a:ext cx="137160" cy="155448"/>
          </a:xfrm>
          <a:prstGeom prst="roundRect">
            <a:avLst>
              <a:gd name="adj" fmla="val 13333"/>
            </a:avLst>
          </a:prstGeom>
          <a:solidFill>
            <a:srgbClr val="64B0AC"/>
          </a:solidFill>
          <a:ln w="8255">
            <a:solidFill>
              <a:srgbClr val="087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ask query token 2"/>
          <p:cNvSpPr/>
          <p:nvPr/>
        </p:nvSpPr>
        <p:spPr>
          <a:xfrm>
            <a:off x="8951976" y="4050791"/>
            <a:ext cx="137160" cy="155448"/>
          </a:xfrm>
          <a:prstGeom prst="roundRect">
            <a:avLst>
              <a:gd name="adj" fmla="val 13333"/>
            </a:avLst>
          </a:prstGeom>
          <a:solidFill>
            <a:srgbClr val="64B0AC"/>
          </a:solidFill>
          <a:ln w="8255">
            <a:solidFill>
              <a:srgbClr val="087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Task query token 3"/>
          <p:cNvSpPr/>
          <p:nvPr/>
        </p:nvSpPr>
        <p:spPr>
          <a:xfrm>
            <a:off x="9125712" y="4050791"/>
            <a:ext cx="137160" cy="155448"/>
          </a:xfrm>
          <a:prstGeom prst="roundRect">
            <a:avLst>
              <a:gd name="adj" fmla="val 13333"/>
            </a:avLst>
          </a:prstGeom>
          <a:solidFill>
            <a:srgbClr val="64B0AC"/>
          </a:solidFill>
          <a:ln w="8255">
            <a:solidFill>
              <a:srgbClr val="087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Task query token 4"/>
          <p:cNvSpPr/>
          <p:nvPr/>
        </p:nvSpPr>
        <p:spPr>
          <a:xfrm>
            <a:off x="9299448" y="4050791"/>
            <a:ext cx="137160" cy="155448"/>
          </a:xfrm>
          <a:prstGeom prst="roundRect">
            <a:avLst>
              <a:gd name="adj" fmla="val 13333"/>
            </a:avLst>
          </a:prstGeom>
          <a:solidFill>
            <a:srgbClr val="64B0AC"/>
          </a:solidFill>
          <a:ln w="8255">
            <a:solidFill>
              <a:srgbClr val="087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Forecast query panel"/>
          <p:cNvSpPr/>
          <p:nvPr/>
        </p:nvSpPr>
        <p:spPr>
          <a:xfrm>
            <a:off x="8659368" y="4553712"/>
            <a:ext cx="914400" cy="822960"/>
          </a:xfrm>
          <a:prstGeom prst="roundRect">
            <a:avLst>
              <a:gd name="adj" fmla="val 8000"/>
            </a:avLst>
          </a:prstGeom>
          <a:solidFill>
            <a:srgbClr val="FFF8F2"/>
          </a:solidFill>
          <a:ln w="10795">
            <a:solidFill>
              <a:srgbClr val="E89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Forecast query label"/>
          <p:cNvSpPr txBox="1"/>
          <p:nvPr/>
        </p:nvSpPr>
        <p:spPr>
          <a:xfrm>
            <a:off x="8695944" y="4608576"/>
            <a:ext cx="841248" cy="21945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B32612"/>
                </a:solidFill>
                <a:latin typeface="Arial"/>
              </a:rPr>
              <a:t>Forecast query</a:t>
            </a:r>
          </a:p>
        </p:txBody>
      </p:sp>
      <p:sp>
        <p:nvSpPr>
          <p:cNvPr id="461" name="Forecast query symbol"/>
          <p:cNvSpPr txBox="1"/>
          <p:nvPr/>
        </p:nvSpPr>
        <p:spPr>
          <a:xfrm>
            <a:off x="8759952" y="4809744"/>
            <a:ext cx="704088" cy="24688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D34B22"/>
                </a:solidFill>
                <a:latin typeface="Times New Roman"/>
              </a:rPr>
              <a:t>(A, h)</a:t>
            </a:r>
          </a:p>
        </p:txBody>
      </p:sp>
      <p:sp>
        <p:nvSpPr>
          <p:cNvPr id="462" name="Forecast query token 1"/>
          <p:cNvSpPr/>
          <p:nvPr/>
        </p:nvSpPr>
        <p:spPr>
          <a:xfrm>
            <a:off x="8778240" y="5111496"/>
            <a:ext cx="137160" cy="155448"/>
          </a:xfrm>
          <a:prstGeom prst="roundRect">
            <a:avLst>
              <a:gd name="adj" fmla="val 13333"/>
            </a:avLst>
          </a:prstGeom>
          <a:solidFill>
            <a:srgbClr val="F0B08F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Forecast query token 2"/>
          <p:cNvSpPr/>
          <p:nvPr/>
        </p:nvSpPr>
        <p:spPr>
          <a:xfrm>
            <a:off x="8951976" y="5111496"/>
            <a:ext cx="137160" cy="155448"/>
          </a:xfrm>
          <a:prstGeom prst="roundRect">
            <a:avLst>
              <a:gd name="adj" fmla="val 13333"/>
            </a:avLst>
          </a:prstGeom>
          <a:solidFill>
            <a:srgbClr val="F0B08F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Forecast query token 3"/>
          <p:cNvSpPr/>
          <p:nvPr/>
        </p:nvSpPr>
        <p:spPr>
          <a:xfrm>
            <a:off x="9125712" y="5111496"/>
            <a:ext cx="137160" cy="155448"/>
          </a:xfrm>
          <a:prstGeom prst="roundRect">
            <a:avLst>
              <a:gd name="adj" fmla="val 13333"/>
            </a:avLst>
          </a:prstGeom>
          <a:solidFill>
            <a:srgbClr val="F0B08F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Forecast query token 4"/>
          <p:cNvSpPr/>
          <p:nvPr/>
        </p:nvSpPr>
        <p:spPr>
          <a:xfrm>
            <a:off x="9299448" y="5111496"/>
            <a:ext cx="137160" cy="155448"/>
          </a:xfrm>
          <a:prstGeom prst="roundRect">
            <a:avLst>
              <a:gd name="adj" fmla="val 13333"/>
            </a:avLst>
          </a:prstGeom>
          <a:solidFill>
            <a:srgbClr val="F0B08F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Horizon cue"/>
          <p:cNvSpPr/>
          <p:nvPr/>
        </p:nvSpPr>
        <p:spPr>
          <a:xfrm>
            <a:off x="9601200" y="5650992"/>
            <a:ext cx="786384" cy="548640"/>
          </a:xfrm>
          <a:prstGeom prst="roundRect">
            <a:avLst>
              <a:gd name="adj" fmla="val 8000"/>
            </a:avLst>
          </a:prstGeom>
          <a:solidFill>
            <a:srgbClr val="FFF9F1"/>
          </a:solidFill>
          <a:ln w="10160">
            <a:solidFill>
              <a:srgbClr val="EAB5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Horizon symbol"/>
          <p:cNvSpPr txBox="1"/>
          <p:nvPr/>
        </p:nvSpPr>
        <p:spPr>
          <a:xfrm>
            <a:off x="9793224" y="5678424"/>
            <a:ext cx="411480" cy="23774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101721"/>
                </a:solidFill>
                <a:latin typeface="Times New Roman"/>
              </a:rPr>
              <a:t>h</a:t>
            </a:r>
          </a:p>
        </p:txBody>
      </p:sp>
      <p:sp>
        <p:nvSpPr>
          <p:cNvPr id="468" name="Horizon cue label"/>
          <p:cNvSpPr txBox="1"/>
          <p:nvPr/>
        </p:nvSpPr>
        <p:spPr>
          <a:xfrm>
            <a:off x="9665208" y="5897880"/>
            <a:ext cx="658368" cy="22860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01721"/>
                </a:solidFill>
                <a:latin typeface="Arial"/>
              </a:rPr>
              <a:t>(horizon cue)</a:t>
            </a:r>
          </a:p>
        </p:txBody>
      </p:sp>
      <p:sp>
        <p:nvSpPr>
          <p:cNvPr id="469" name="Transition query"/>
          <p:cNvSpPr/>
          <p:nvPr/>
        </p:nvSpPr>
        <p:spPr>
          <a:xfrm>
            <a:off x="9848088" y="6601968"/>
            <a:ext cx="1051560" cy="914400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 w="10795">
            <a:solidFill>
              <a:srgbClr val="E8A5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Transition query symbol"/>
          <p:cNvSpPr txBox="1"/>
          <p:nvPr/>
        </p:nvSpPr>
        <p:spPr>
          <a:xfrm>
            <a:off x="9976104" y="6647688"/>
            <a:ext cx="795528" cy="26517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101721"/>
                </a:solidFill>
                <a:latin typeface="Times New Roman"/>
              </a:rPr>
              <a:t>Aₜ,ₕ</a:t>
            </a:r>
          </a:p>
        </p:txBody>
      </p:sp>
      <p:sp>
        <p:nvSpPr>
          <p:cNvPr id="471" name="Transition query label"/>
          <p:cNvSpPr txBox="1"/>
          <p:nvPr/>
        </p:nvSpPr>
        <p:spPr>
          <a:xfrm>
            <a:off x="9912096" y="6885432"/>
            <a:ext cx="914400" cy="347472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01721"/>
                </a:solidFill>
                <a:latin typeface="Arial"/>
              </a:rPr>
              <a:t>(transition
query)</a:t>
            </a:r>
          </a:p>
        </p:txBody>
      </p:sp>
      <p:sp>
        <p:nvSpPr>
          <p:cNvPr id="472" name="Transition token 1"/>
          <p:cNvSpPr/>
          <p:nvPr/>
        </p:nvSpPr>
        <p:spPr>
          <a:xfrm>
            <a:off x="9948672" y="7269480"/>
            <a:ext cx="137160" cy="155448"/>
          </a:xfrm>
          <a:prstGeom prst="roundRect">
            <a:avLst>
              <a:gd name="adj" fmla="val 13333"/>
            </a:avLst>
          </a:prstGeom>
          <a:solidFill>
            <a:srgbClr val="FFE1CD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Transition token 2"/>
          <p:cNvSpPr/>
          <p:nvPr/>
        </p:nvSpPr>
        <p:spPr>
          <a:xfrm>
            <a:off x="10122408" y="7269480"/>
            <a:ext cx="137160" cy="155448"/>
          </a:xfrm>
          <a:prstGeom prst="roundRect">
            <a:avLst>
              <a:gd name="adj" fmla="val 13333"/>
            </a:avLst>
          </a:prstGeom>
          <a:solidFill>
            <a:srgbClr val="FFE1CD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Transition token 3"/>
          <p:cNvSpPr/>
          <p:nvPr/>
        </p:nvSpPr>
        <p:spPr>
          <a:xfrm>
            <a:off x="10296144" y="7269480"/>
            <a:ext cx="137160" cy="155448"/>
          </a:xfrm>
          <a:prstGeom prst="roundRect">
            <a:avLst>
              <a:gd name="adj" fmla="val 13333"/>
            </a:avLst>
          </a:prstGeom>
          <a:solidFill>
            <a:srgbClr val="FFE1CD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Transition token 4"/>
          <p:cNvSpPr/>
          <p:nvPr/>
        </p:nvSpPr>
        <p:spPr>
          <a:xfrm>
            <a:off x="10469880" y="7269480"/>
            <a:ext cx="137160" cy="155448"/>
          </a:xfrm>
          <a:prstGeom prst="roundRect">
            <a:avLst>
              <a:gd name="adj" fmla="val 13333"/>
            </a:avLst>
          </a:prstGeom>
          <a:solidFill>
            <a:srgbClr val="FFE1CD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Transition token 5"/>
          <p:cNvSpPr/>
          <p:nvPr/>
        </p:nvSpPr>
        <p:spPr>
          <a:xfrm>
            <a:off x="10643616" y="7269480"/>
            <a:ext cx="137160" cy="155448"/>
          </a:xfrm>
          <a:prstGeom prst="roundRect">
            <a:avLst>
              <a:gd name="adj" fmla="val 13333"/>
            </a:avLst>
          </a:prstGeom>
          <a:solidFill>
            <a:srgbClr val="FFE1CD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Downstream task reuse"/>
          <p:cNvSpPr/>
          <p:nvPr/>
        </p:nvSpPr>
        <p:spPr>
          <a:xfrm>
            <a:off x="9939528" y="137160"/>
            <a:ext cx="3950208" cy="2551176"/>
          </a:xfrm>
          <a:prstGeom prst="roundRect">
            <a:avLst>
              <a:gd name="adj" fmla="val 8000"/>
            </a:avLst>
          </a:prstGeom>
          <a:solidFill>
            <a:srgbClr val="F4F8F4"/>
          </a:solidFill>
          <a:ln w="14604">
            <a:solidFill>
              <a:srgbClr val="6B9B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Downstream inner outline"/>
          <p:cNvSpPr/>
          <p:nvPr/>
        </p:nvSpPr>
        <p:spPr>
          <a:xfrm>
            <a:off x="9985248" y="173736"/>
            <a:ext cx="3858768" cy="2468880"/>
          </a:xfrm>
          <a:prstGeom prst="roundRect">
            <a:avLst>
              <a:gd name="adj" fmla="val 8000"/>
            </a:avLst>
          </a:prstGeom>
          <a:noFill/>
          <a:ln w="5715">
            <a:solidFill>
              <a:srgbClr val="B1C7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Downstream task reuse heading"/>
          <p:cNvSpPr txBox="1"/>
          <p:nvPr/>
        </p:nvSpPr>
        <p:spPr>
          <a:xfrm>
            <a:off x="10131552" y="219456"/>
            <a:ext cx="3566160" cy="28346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07585D"/>
                </a:solidFill>
                <a:latin typeface="Arial"/>
              </a:rPr>
              <a:t>Downstream task reuse (read Sₜ, Dₜ¹:ᴸ)</a:t>
            </a:r>
          </a:p>
        </p:txBody>
      </p:sp>
      <p:sp>
        <p:nvSpPr>
          <p:cNvPr id="480" name="Global clinical output"/>
          <p:cNvSpPr/>
          <p:nvPr/>
        </p:nvSpPr>
        <p:spPr>
          <a:xfrm>
            <a:off x="10360152" y="539496"/>
            <a:ext cx="3127248" cy="886968"/>
          </a:xfrm>
          <a:prstGeom prst="roundRect">
            <a:avLst>
              <a:gd name="adj" fmla="val 8000"/>
            </a:avLst>
          </a:prstGeom>
          <a:solidFill>
            <a:srgbClr val="FFFEFC"/>
          </a:solidFill>
          <a:ln w="10795">
            <a:solidFill>
              <a:srgbClr val="55A8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Global clinical output heading"/>
          <p:cNvSpPr txBox="1"/>
          <p:nvPr/>
        </p:nvSpPr>
        <p:spPr>
          <a:xfrm>
            <a:off x="10460736" y="603504"/>
            <a:ext cx="1828800" cy="21945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7585D"/>
                </a:solidFill>
                <a:latin typeface="Arial"/>
              </a:rPr>
              <a:t>Global clinical output</a:t>
            </a:r>
          </a:p>
        </p:txBody>
      </p:sp>
      <p:cxnSp>
        <p:nvCxnSpPr>
          <p:cNvPr id="482" name="Risk chart axis"/>
          <p:cNvCxnSpPr/>
          <p:nvPr/>
        </p:nvCxnSpPr>
        <p:spPr>
          <a:xfrm>
            <a:off x="10643616" y="1143000"/>
            <a:ext cx="384048" cy="0"/>
          </a:xfrm>
          <a:prstGeom prst="line">
            <a:avLst/>
          </a:prstGeom>
          <a:ln w="8890">
            <a:solidFill>
              <a:srgbClr val="087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3" name="Risk chart bar 1"/>
          <p:cNvSpPr/>
          <p:nvPr/>
        </p:nvSpPr>
        <p:spPr>
          <a:xfrm>
            <a:off x="10707624" y="1024128"/>
            <a:ext cx="64008" cy="118872"/>
          </a:xfrm>
          <a:prstGeom prst="rect">
            <a:avLst/>
          </a:prstGeom>
          <a:solidFill>
            <a:srgbClr val="8BC0B9"/>
          </a:solidFill>
          <a:ln w="5715">
            <a:solidFill>
              <a:srgbClr val="087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isk chart bar 2"/>
          <p:cNvSpPr/>
          <p:nvPr/>
        </p:nvSpPr>
        <p:spPr>
          <a:xfrm>
            <a:off x="10799064" y="886968"/>
            <a:ext cx="64008" cy="256032"/>
          </a:xfrm>
          <a:prstGeom prst="rect">
            <a:avLst/>
          </a:prstGeom>
          <a:solidFill>
            <a:srgbClr val="087477"/>
          </a:solidFill>
          <a:ln w="5715">
            <a:solidFill>
              <a:srgbClr val="087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isk chart bar 3"/>
          <p:cNvSpPr/>
          <p:nvPr/>
        </p:nvSpPr>
        <p:spPr>
          <a:xfrm>
            <a:off x="10890504" y="987552"/>
            <a:ext cx="64008" cy="155448"/>
          </a:xfrm>
          <a:prstGeom prst="rect">
            <a:avLst/>
          </a:prstGeom>
          <a:solidFill>
            <a:srgbClr val="59A39B"/>
          </a:solidFill>
          <a:ln w="5715">
            <a:solidFill>
              <a:srgbClr val="087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Survival shield"/>
          <p:cNvSpPr/>
          <p:nvPr/>
        </p:nvSpPr>
        <p:spPr>
          <a:xfrm>
            <a:off x="11466576" y="850392"/>
            <a:ext cx="219456" cy="265176"/>
          </a:xfrm>
          <a:custGeom>
            <a:avLst/>
            <a:gdLst/>
            <a:ahLst/>
            <a:cxnLst/>
            <a:rect l="l" t="t" r="r" b="b"/>
            <a:pathLst>
              <a:path w="24" h="29">
                <a:moveTo>
                  <a:pt x="12" y="0"/>
                </a:moveTo>
                <a:lnTo>
                  <a:pt x="24" y="5"/>
                </a:lnTo>
                <a:lnTo>
                  <a:pt x="22" y="19"/>
                </a:lnTo>
                <a:lnTo>
                  <a:pt x="12" y="29"/>
                </a:lnTo>
                <a:lnTo>
                  <a:pt x="2" y="19"/>
                </a:lnTo>
                <a:lnTo>
                  <a:pt x="0" y="5"/>
                </a:lnTo>
                <a:close/>
              </a:path>
            </a:pathLst>
          </a:custGeom>
          <a:solidFill>
            <a:srgbClr val="087477"/>
          </a:solidFill>
          <a:ln w="8890">
            <a:solidFill>
              <a:srgbClr val="087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Survival shield inner"/>
          <p:cNvSpPr/>
          <p:nvPr/>
        </p:nvSpPr>
        <p:spPr>
          <a:xfrm>
            <a:off x="11503152" y="886968"/>
            <a:ext cx="146304" cy="173736"/>
          </a:xfrm>
          <a:custGeom>
            <a:avLst/>
            <a:gdLst/>
            <a:ahLst/>
            <a:cxnLst/>
            <a:rect l="l" t="t" r="r" b="b"/>
            <a:pathLst>
              <a:path w="16" h="19">
                <a:moveTo>
                  <a:pt x="8" y="0"/>
                </a:moveTo>
                <a:lnTo>
                  <a:pt x="16" y="3"/>
                </a:lnTo>
                <a:lnTo>
                  <a:pt x="14" y="13"/>
                </a:lnTo>
                <a:lnTo>
                  <a:pt x="8" y="19"/>
                </a:lnTo>
                <a:lnTo>
                  <a:pt x="2" y="13"/>
                </a:lnTo>
                <a:lnTo>
                  <a:pt x="0" y="3"/>
                </a:lnTo>
                <a:close/>
              </a:path>
            </a:pathLst>
          </a:custGeom>
          <a:solidFill>
            <a:srgbClr val="FFFDFC"/>
          </a:solidFill>
          <a:ln w="5080">
            <a:solidFill>
              <a:srgbClr val="FFFD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8" name="Survival shield vertical"/>
          <p:cNvCxnSpPr/>
          <p:nvPr/>
        </p:nvCxnSpPr>
        <p:spPr>
          <a:xfrm>
            <a:off x="11576304" y="914400"/>
            <a:ext cx="0" cy="109728"/>
          </a:xfrm>
          <a:prstGeom prst="line">
            <a:avLst/>
          </a:prstGeom>
          <a:ln w="12700">
            <a:solidFill>
              <a:srgbClr val="087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Survival shield horizontal"/>
          <p:cNvCxnSpPr/>
          <p:nvPr/>
        </p:nvCxnSpPr>
        <p:spPr>
          <a:xfrm>
            <a:off x="11539728" y="969264"/>
            <a:ext cx="73152" cy="0"/>
          </a:xfrm>
          <a:prstGeom prst="line">
            <a:avLst/>
          </a:prstGeom>
          <a:ln w="12700">
            <a:solidFill>
              <a:srgbClr val="087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0" name="Outcome heart"/>
          <p:cNvSpPr/>
          <p:nvPr/>
        </p:nvSpPr>
        <p:spPr>
          <a:xfrm>
            <a:off x="12225528" y="859536"/>
            <a:ext cx="347472" cy="310896"/>
          </a:xfrm>
          <a:prstGeom prst="heart">
            <a:avLst/>
          </a:prstGeom>
          <a:solidFill>
            <a:srgbClr val="087477"/>
          </a:solidFill>
          <a:ln>
            <a:solidFill>
              <a:srgbClr val="087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1" name="Outcome heart pulse 1"/>
          <p:cNvCxnSpPr/>
          <p:nvPr/>
        </p:nvCxnSpPr>
        <p:spPr>
          <a:xfrm>
            <a:off x="12262104" y="1014984"/>
            <a:ext cx="73152" cy="0"/>
          </a:xfrm>
          <a:prstGeom prst="line">
            <a:avLst/>
          </a:prstGeom>
          <a:ln w="12700">
            <a:solidFill>
              <a:srgbClr val="FFFDF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Outcome heart pulse 2"/>
          <p:cNvCxnSpPr/>
          <p:nvPr/>
        </p:nvCxnSpPr>
        <p:spPr>
          <a:xfrm flipV="1">
            <a:off x="12335256" y="941832"/>
            <a:ext cx="36576" cy="73152"/>
          </a:xfrm>
          <a:prstGeom prst="line">
            <a:avLst/>
          </a:prstGeom>
          <a:ln w="12700">
            <a:solidFill>
              <a:srgbClr val="FFFDF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Outcome heart pulse 3"/>
          <p:cNvCxnSpPr/>
          <p:nvPr/>
        </p:nvCxnSpPr>
        <p:spPr>
          <a:xfrm>
            <a:off x="12371832" y="941832"/>
            <a:ext cx="45720" cy="146304"/>
          </a:xfrm>
          <a:prstGeom prst="line">
            <a:avLst/>
          </a:prstGeom>
          <a:ln w="12700">
            <a:solidFill>
              <a:srgbClr val="FFFDF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Outcome heart pulse 4"/>
          <p:cNvCxnSpPr/>
          <p:nvPr/>
        </p:nvCxnSpPr>
        <p:spPr>
          <a:xfrm flipV="1">
            <a:off x="12417552" y="1005840"/>
            <a:ext cx="36576" cy="82296"/>
          </a:xfrm>
          <a:prstGeom prst="line">
            <a:avLst/>
          </a:prstGeom>
          <a:ln w="12700">
            <a:solidFill>
              <a:srgbClr val="FFFDF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Outcome heart pulse 5"/>
          <p:cNvCxnSpPr/>
          <p:nvPr/>
        </p:nvCxnSpPr>
        <p:spPr>
          <a:xfrm>
            <a:off x="12454128" y="1005840"/>
            <a:ext cx="82296" cy="0"/>
          </a:xfrm>
          <a:prstGeom prst="line">
            <a:avLst/>
          </a:prstGeom>
          <a:ln w="12700">
            <a:solidFill>
              <a:srgbClr val="FFFDF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Clinical output divider 1226"/>
          <p:cNvCxnSpPr/>
          <p:nvPr/>
        </p:nvCxnSpPr>
        <p:spPr>
          <a:xfrm>
            <a:off x="11210544" y="841248"/>
            <a:ext cx="0" cy="493776"/>
          </a:xfrm>
          <a:prstGeom prst="line">
            <a:avLst/>
          </a:prstGeom>
          <a:ln w="6985">
            <a:solidFill>
              <a:srgbClr val="C8DA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Clinical output divider 1310"/>
          <p:cNvCxnSpPr/>
          <p:nvPr/>
        </p:nvCxnSpPr>
        <p:spPr>
          <a:xfrm>
            <a:off x="11978640" y="841248"/>
            <a:ext cx="0" cy="493776"/>
          </a:xfrm>
          <a:prstGeom prst="line">
            <a:avLst/>
          </a:prstGeom>
          <a:ln w="6985">
            <a:solidFill>
              <a:srgbClr val="C8DA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8" name="Risk label"/>
          <p:cNvSpPr txBox="1"/>
          <p:nvPr/>
        </p:nvSpPr>
        <p:spPr>
          <a:xfrm>
            <a:off x="10588752" y="1188720"/>
            <a:ext cx="502920" cy="20116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01721"/>
                </a:solidFill>
                <a:latin typeface="Arial"/>
              </a:rPr>
              <a:t>Risk</a:t>
            </a:r>
          </a:p>
        </p:txBody>
      </p:sp>
      <p:sp>
        <p:nvSpPr>
          <p:cNvPr id="499" name="Survival label"/>
          <p:cNvSpPr txBox="1"/>
          <p:nvPr/>
        </p:nvSpPr>
        <p:spPr>
          <a:xfrm>
            <a:off x="11301984" y="1188720"/>
            <a:ext cx="612648" cy="20116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01721"/>
                </a:solidFill>
                <a:latin typeface="Arial"/>
              </a:rPr>
              <a:t>Survival</a:t>
            </a:r>
          </a:p>
        </p:txBody>
      </p:sp>
      <p:sp>
        <p:nvSpPr>
          <p:cNvPr id="500" name="Outcome label"/>
          <p:cNvSpPr txBox="1"/>
          <p:nvPr/>
        </p:nvSpPr>
        <p:spPr>
          <a:xfrm>
            <a:off x="12134088" y="1188720"/>
            <a:ext cx="630936" cy="20116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01721"/>
                </a:solidFill>
                <a:latin typeface="Arial"/>
              </a:rPr>
              <a:t>Outcome</a:t>
            </a:r>
          </a:p>
        </p:txBody>
      </p:sp>
      <p:sp>
        <p:nvSpPr>
          <p:cNvPr id="501" name="Global output ellipsis"/>
          <p:cNvSpPr txBox="1"/>
          <p:nvPr/>
        </p:nvSpPr>
        <p:spPr>
          <a:xfrm>
            <a:off x="12893040" y="868680"/>
            <a:ext cx="310896" cy="28346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1721"/>
                </a:solidFill>
                <a:latin typeface="Arial"/>
              </a:rPr>
              <a:t>…</a:t>
            </a:r>
          </a:p>
        </p:txBody>
      </p:sp>
      <p:sp>
        <p:nvSpPr>
          <p:cNvPr id="502" name="Dense localization segmentation"/>
          <p:cNvSpPr/>
          <p:nvPr/>
        </p:nvSpPr>
        <p:spPr>
          <a:xfrm>
            <a:off x="10360152" y="1499616"/>
            <a:ext cx="3127248" cy="1078992"/>
          </a:xfrm>
          <a:prstGeom prst="roundRect">
            <a:avLst>
              <a:gd name="adj" fmla="val 8000"/>
            </a:avLst>
          </a:prstGeom>
          <a:solidFill>
            <a:srgbClr val="FFFEFC"/>
          </a:solidFill>
          <a:ln w="10795">
            <a:solidFill>
              <a:srgbClr val="55A8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Dense localization heading"/>
          <p:cNvSpPr txBox="1"/>
          <p:nvPr/>
        </p:nvSpPr>
        <p:spPr>
          <a:xfrm>
            <a:off x="10469880" y="1545336"/>
            <a:ext cx="2350008" cy="22860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07585D"/>
                </a:solidFill>
                <a:latin typeface="Arial"/>
              </a:rPr>
              <a:t>Dense localization / segmentation</a:t>
            </a:r>
          </a:p>
        </p:txBody>
      </p:sp>
      <p:pic>
        <p:nvPicPr>
          <p:cNvPr id="504" name="Downstream medical thumbnail 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8168" y="1801368"/>
            <a:ext cx="832104" cy="502920"/>
          </a:xfrm>
          <a:prstGeom prst="rect">
            <a:avLst/>
          </a:prstGeom>
          <a:effectLst/>
        </p:spPr>
      </p:pic>
      <p:pic>
        <p:nvPicPr>
          <p:cNvPr id="505" name="Downstream medical thumbnail 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48288" y="1801368"/>
            <a:ext cx="731520" cy="502920"/>
          </a:xfrm>
          <a:prstGeom prst="rect">
            <a:avLst/>
          </a:prstGeom>
          <a:effectLst/>
        </p:spPr>
      </p:pic>
      <p:pic>
        <p:nvPicPr>
          <p:cNvPr id="506" name="Downstream medical thumbnail 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89536" y="1773936"/>
            <a:ext cx="859536" cy="594360"/>
          </a:xfrm>
          <a:prstGeom prst="rect">
            <a:avLst/>
          </a:prstGeom>
          <a:effectLst/>
        </p:spPr>
      </p:pic>
      <p:sp>
        <p:nvSpPr>
          <p:cNvPr id="507" name="Dense output ellipsis"/>
          <p:cNvSpPr txBox="1"/>
          <p:nvPr/>
        </p:nvSpPr>
        <p:spPr>
          <a:xfrm>
            <a:off x="13185648" y="1929384"/>
            <a:ext cx="256032" cy="28346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1721"/>
                </a:solidFill>
                <a:latin typeface="Arial"/>
              </a:rPr>
              <a:t>…</a:t>
            </a:r>
          </a:p>
        </p:txBody>
      </p:sp>
      <p:sp>
        <p:nvSpPr>
          <p:cNvPr id="508" name="Future EMA target"/>
          <p:cNvSpPr/>
          <p:nvPr/>
        </p:nvSpPr>
        <p:spPr>
          <a:xfrm>
            <a:off x="10707624" y="3127248"/>
            <a:ext cx="3136392" cy="1453896"/>
          </a:xfrm>
          <a:prstGeom prst="roundRect">
            <a:avLst>
              <a:gd name="adj" fmla="val 8000"/>
            </a:avLst>
          </a:prstGeom>
          <a:solidFill>
            <a:srgbClr val="F7FAF3"/>
          </a:solidFill>
          <a:ln w="12065">
            <a:solidFill>
              <a:srgbClr val="86B6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Future EMA heading"/>
          <p:cNvSpPr txBox="1"/>
          <p:nvPr/>
        </p:nvSpPr>
        <p:spPr>
          <a:xfrm>
            <a:off x="11155680" y="3182112"/>
            <a:ext cx="2194560" cy="28346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76524"/>
                </a:solidFill>
                <a:latin typeface="Arial"/>
              </a:rPr>
              <a:t>Future Xₜ⁺  ·  EMA target</a:t>
            </a:r>
          </a:p>
        </p:txBody>
      </p:sp>
      <p:sp>
        <p:nvSpPr>
          <p:cNvPr id="510" name="EMA shield"/>
          <p:cNvSpPr/>
          <p:nvPr/>
        </p:nvSpPr>
        <p:spPr>
          <a:xfrm>
            <a:off x="13502030" y="3218688"/>
            <a:ext cx="173736" cy="210312"/>
          </a:xfrm>
          <a:custGeom>
            <a:avLst/>
            <a:gdLst/>
            <a:ahLst/>
            <a:cxnLst/>
            <a:rect l="l" t="t" r="r" b="b"/>
            <a:pathLst>
              <a:path w="19" h="23">
                <a:moveTo>
                  <a:pt x="10" y="0"/>
                </a:moveTo>
                <a:lnTo>
                  <a:pt x="19" y="4"/>
                </a:lnTo>
                <a:lnTo>
                  <a:pt x="18" y="15"/>
                </a:lnTo>
                <a:lnTo>
                  <a:pt x="10" y="23"/>
                </a:lnTo>
                <a:lnTo>
                  <a:pt x="2" y="15"/>
                </a:lnTo>
                <a:lnTo>
                  <a:pt x="0" y="4"/>
                </a:lnTo>
                <a:close/>
              </a:path>
            </a:pathLst>
          </a:custGeom>
          <a:solidFill>
            <a:srgbClr val="3D7C42"/>
          </a:solidFill>
          <a:ln w="8890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EMA shield inner"/>
          <p:cNvSpPr/>
          <p:nvPr/>
        </p:nvSpPr>
        <p:spPr>
          <a:xfrm>
            <a:off x="13531291" y="3247948"/>
            <a:ext cx="118872" cy="137160"/>
          </a:xfrm>
          <a:custGeom>
            <a:avLst/>
            <a:gdLst/>
            <a:ahLst/>
            <a:cxnLst/>
            <a:rect l="l" t="t" r="r" b="b"/>
            <a:pathLst>
              <a:path w="13" h="15">
                <a:moveTo>
                  <a:pt x="6" y="0"/>
                </a:moveTo>
                <a:lnTo>
                  <a:pt x="13" y="2"/>
                </a:lnTo>
                <a:lnTo>
                  <a:pt x="11" y="10"/>
                </a:lnTo>
                <a:lnTo>
                  <a:pt x="6" y="15"/>
                </a:lnTo>
                <a:lnTo>
                  <a:pt x="2" y="10"/>
                </a:lnTo>
                <a:lnTo>
                  <a:pt x="0" y="2"/>
                </a:lnTo>
                <a:close/>
              </a:path>
            </a:pathLst>
          </a:custGeom>
          <a:solidFill>
            <a:srgbClr val="FFFDFC"/>
          </a:solidFill>
          <a:ln w="5080">
            <a:solidFill>
              <a:srgbClr val="FFFD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2" name="EMA shield vertical"/>
          <p:cNvCxnSpPr/>
          <p:nvPr/>
        </p:nvCxnSpPr>
        <p:spPr>
          <a:xfrm>
            <a:off x="13589812" y="3269894"/>
            <a:ext cx="0" cy="87782"/>
          </a:xfrm>
          <a:prstGeom prst="line">
            <a:avLst/>
          </a:prstGeom>
          <a:ln w="12700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EMA shield horizontal"/>
          <p:cNvCxnSpPr/>
          <p:nvPr/>
        </p:nvCxnSpPr>
        <p:spPr>
          <a:xfrm>
            <a:off x="13560552" y="3313785"/>
            <a:ext cx="58521" cy="0"/>
          </a:xfrm>
          <a:prstGeom prst="line">
            <a:avLst/>
          </a:prstGeom>
          <a:ln w="12700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" name="Future scan card"/>
          <p:cNvSpPr/>
          <p:nvPr/>
        </p:nvSpPr>
        <p:spPr>
          <a:xfrm>
            <a:off x="10863072" y="3511296"/>
            <a:ext cx="466344" cy="950976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6985">
            <a:solidFill>
              <a:srgbClr val="C9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5" name="Future target scan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90504" y="3538728"/>
            <a:ext cx="420624" cy="438912"/>
          </a:xfrm>
          <a:prstGeom prst="rect">
            <a:avLst/>
          </a:prstGeom>
          <a:effectLst/>
        </p:spPr>
      </p:pic>
      <p:cxnSp>
        <p:nvCxnSpPr>
          <p:cNvPr id="516" name="Future card line"/>
          <p:cNvCxnSpPr/>
          <p:nvPr/>
        </p:nvCxnSpPr>
        <p:spPr>
          <a:xfrm>
            <a:off x="10908792" y="4133087"/>
            <a:ext cx="365760" cy="0"/>
          </a:xfrm>
          <a:prstGeom prst="line">
            <a:avLst/>
          </a:prstGeom>
          <a:ln w="6350">
            <a:solidFill>
              <a:srgbClr val="D8E1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7" name="Future card ellipsis"/>
          <p:cNvSpPr txBox="1"/>
          <p:nvPr/>
        </p:nvSpPr>
        <p:spPr>
          <a:xfrm>
            <a:off x="10945368" y="4187952"/>
            <a:ext cx="283464" cy="19202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1721"/>
                </a:solidFill>
                <a:latin typeface="Arial"/>
              </a:rPr>
              <a:t>…</a:t>
            </a:r>
          </a:p>
        </p:txBody>
      </p:sp>
      <p:cxnSp>
        <p:nvCxnSpPr>
          <p:cNvPr id="518" name="Future scan to EMA encoder"/>
          <p:cNvCxnSpPr/>
          <p:nvPr/>
        </p:nvCxnSpPr>
        <p:spPr>
          <a:xfrm>
            <a:off x="11356848" y="3986784"/>
            <a:ext cx="228600" cy="0"/>
          </a:xfrm>
          <a:prstGeom prst="line">
            <a:avLst/>
          </a:prstGeom>
          <a:ln w="13335">
            <a:solidFill>
              <a:srgbClr val="3D7C4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9" name="EMA target encoder"/>
          <p:cNvSpPr/>
          <p:nvPr/>
        </p:nvSpPr>
        <p:spPr>
          <a:xfrm>
            <a:off x="11594592" y="3557016"/>
            <a:ext cx="1042415" cy="896112"/>
          </a:xfrm>
          <a:prstGeom prst="roundRect">
            <a:avLst>
              <a:gd name="adj" fmla="val 8000"/>
            </a:avLst>
          </a:prstGeom>
          <a:solidFill>
            <a:srgbClr val="F5FAF2"/>
          </a:solidFill>
          <a:ln w="9525">
            <a:solidFill>
              <a:srgbClr val="86B6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EMA encoder label"/>
          <p:cNvSpPr txBox="1"/>
          <p:nvPr/>
        </p:nvSpPr>
        <p:spPr>
          <a:xfrm>
            <a:off x="11704320" y="3602736"/>
            <a:ext cx="822960" cy="32004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4D20"/>
                </a:solidFill>
                <a:latin typeface="Arial"/>
              </a:rPr>
              <a:t>EMA target
encoder</a:t>
            </a:r>
          </a:p>
        </p:txBody>
      </p:sp>
      <p:cxnSp>
        <p:nvCxnSpPr>
          <p:cNvPr id="521" name="EMA encoder network edge L0M0"/>
          <p:cNvCxnSpPr/>
          <p:nvPr/>
        </p:nvCxnSpPr>
        <p:spPr>
          <a:xfrm flipV="1">
            <a:off x="11777472" y="4013301"/>
            <a:ext cx="342351" cy="45171"/>
          </a:xfrm>
          <a:prstGeom prst="line">
            <a:avLst/>
          </a:prstGeom>
          <a:ln w="571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EMA encoder network edge L0M1"/>
          <p:cNvCxnSpPr/>
          <p:nvPr/>
        </p:nvCxnSpPr>
        <p:spPr>
          <a:xfrm>
            <a:off x="11777472" y="4058472"/>
            <a:ext cx="342351" cy="59071"/>
          </a:xfrm>
          <a:prstGeom prst="line">
            <a:avLst/>
          </a:prstGeom>
          <a:ln w="571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EMA encoder network edge L0M2"/>
          <p:cNvCxnSpPr/>
          <p:nvPr/>
        </p:nvCxnSpPr>
        <p:spPr>
          <a:xfrm>
            <a:off x="11777472" y="4058472"/>
            <a:ext cx="342351" cy="163312"/>
          </a:xfrm>
          <a:prstGeom prst="line">
            <a:avLst/>
          </a:prstGeom>
          <a:ln w="571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4" name="EMA encoder network edge L0M3"/>
          <p:cNvCxnSpPr/>
          <p:nvPr/>
        </p:nvCxnSpPr>
        <p:spPr>
          <a:xfrm>
            <a:off x="11777472" y="4058472"/>
            <a:ext cx="342351" cy="267554"/>
          </a:xfrm>
          <a:prstGeom prst="line">
            <a:avLst/>
          </a:prstGeom>
          <a:ln w="571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EMA encoder network edge L1M0"/>
          <p:cNvCxnSpPr/>
          <p:nvPr/>
        </p:nvCxnSpPr>
        <p:spPr>
          <a:xfrm flipV="1">
            <a:off x="11777472" y="4013301"/>
            <a:ext cx="342351" cy="156362"/>
          </a:xfrm>
          <a:prstGeom prst="line">
            <a:avLst/>
          </a:prstGeom>
          <a:ln w="571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EMA encoder network edge L1M1"/>
          <p:cNvCxnSpPr/>
          <p:nvPr/>
        </p:nvCxnSpPr>
        <p:spPr>
          <a:xfrm flipV="1">
            <a:off x="11777472" y="4117543"/>
            <a:ext cx="342351" cy="52120"/>
          </a:xfrm>
          <a:prstGeom prst="line">
            <a:avLst/>
          </a:prstGeom>
          <a:ln w="571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EMA encoder network edge L1M2"/>
          <p:cNvCxnSpPr/>
          <p:nvPr/>
        </p:nvCxnSpPr>
        <p:spPr>
          <a:xfrm>
            <a:off x="11777472" y="4169663"/>
            <a:ext cx="342351" cy="52121"/>
          </a:xfrm>
          <a:prstGeom prst="line">
            <a:avLst/>
          </a:prstGeom>
          <a:ln w="571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EMA encoder network edge L1M3"/>
          <p:cNvCxnSpPr/>
          <p:nvPr/>
        </p:nvCxnSpPr>
        <p:spPr>
          <a:xfrm>
            <a:off x="11777472" y="4169663"/>
            <a:ext cx="342351" cy="156363"/>
          </a:xfrm>
          <a:prstGeom prst="line">
            <a:avLst/>
          </a:prstGeom>
          <a:ln w="571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EMA encoder network edge L2M0"/>
          <p:cNvCxnSpPr/>
          <p:nvPr/>
        </p:nvCxnSpPr>
        <p:spPr>
          <a:xfrm flipV="1">
            <a:off x="11777472" y="4013301"/>
            <a:ext cx="342351" cy="267554"/>
          </a:xfrm>
          <a:prstGeom prst="line">
            <a:avLst/>
          </a:prstGeom>
          <a:ln w="571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EMA encoder network edge L2M1"/>
          <p:cNvCxnSpPr/>
          <p:nvPr/>
        </p:nvCxnSpPr>
        <p:spPr>
          <a:xfrm flipV="1">
            <a:off x="11777472" y="4117543"/>
            <a:ext cx="342351" cy="163312"/>
          </a:xfrm>
          <a:prstGeom prst="line">
            <a:avLst/>
          </a:prstGeom>
          <a:ln w="571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EMA encoder network edge L2M2"/>
          <p:cNvCxnSpPr/>
          <p:nvPr/>
        </p:nvCxnSpPr>
        <p:spPr>
          <a:xfrm flipV="1">
            <a:off x="11777472" y="4221784"/>
            <a:ext cx="342351" cy="59071"/>
          </a:xfrm>
          <a:prstGeom prst="line">
            <a:avLst/>
          </a:prstGeom>
          <a:ln w="571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" name="EMA encoder network edge L2M3"/>
          <p:cNvCxnSpPr/>
          <p:nvPr/>
        </p:nvCxnSpPr>
        <p:spPr>
          <a:xfrm>
            <a:off x="11777472" y="4280855"/>
            <a:ext cx="342351" cy="45171"/>
          </a:xfrm>
          <a:prstGeom prst="line">
            <a:avLst/>
          </a:prstGeom>
          <a:ln w="571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3" name="EMA encoder network edge M0R0"/>
          <p:cNvCxnSpPr/>
          <p:nvPr/>
        </p:nvCxnSpPr>
        <p:spPr>
          <a:xfrm>
            <a:off x="12119823" y="4013301"/>
            <a:ext cx="316017" cy="59070"/>
          </a:xfrm>
          <a:prstGeom prst="line">
            <a:avLst/>
          </a:prstGeom>
          <a:ln w="571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EMA encoder network edge M0R1"/>
          <p:cNvCxnSpPr/>
          <p:nvPr/>
        </p:nvCxnSpPr>
        <p:spPr>
          <a:xfrm>
            <a:off x="12119823" y="4013301"/>
            <a:ext cx="316017" cy="163312"/>
          </a:xfrm>
          <a:prstGeom prst="line">
            <a:avLst/>
          </a:prstGeom>
          <a:ln w="571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EMA encoder network edge M0R2"/>
          <p:cNvCxnSpPr/>
          <p:nvPr/>
        </p:nvCxnSpPr>
        <p:spPr>
          <a:xfrm>
            <a:off x="12119823" y="4013301"/>
            <a:ext cx="316017" cy="267554"/>
          </a:xfrm>
          <a:prstGeom prst="line">
            <a:avLst/>
          </a:prstGeom>
          <a:ln w="571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EMA encoder network edge M1R0"/>
          <p:cNvCxnSpPr/>
          <p:nvPr/>
        </p:nvCxnSpPr>
        <p:spPr>
          <a:xfrm flipV="1">
            <a:off x="12119823" y="4072371"/>
            <a:ext cx="316017" cy="45172"/>
          </a:xfrm>
          <a:prstGeom prst="line">
            <a:avLst/>
          </a:prstGeom>
          <a:ln w="571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7" name="EMA encoder network edge M1R1"/>
          <p:cNvCxnSpPr/>
          <p:nvPr/>
        </p:nvCxnSpPr>
        <p:spPr>
          <a:xfrm>
            <a:off x="12119823" y="4117543"/>
            <a:ext cx="316017" cy="59070"/>
          </a:xfrm>
          <a:prstGeom prst="line">
            <a:avLst/>
          </a:prstGeom>
          <a:ln w="571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EMA encoder network edge M1R2"/>
          <p:cNvCxnSpPr/>
          <p:nvPr/>
        </p:nvCxnSpPr>
        <p:spPr>
          <a:xfrm>
            <a:off x="12119823" y="4117543"/>
            <a:ext cx="316017" cy="163312"/>
          </a:xfrm>
          <a:prstGeom prst="line">
            <a:avLst/>
          </a:prstGeom>
          <a:ln w="571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" name="EMA encoder network edge M2R0"/>
          <p:cNvCxnSpPr/>
          <p:nvPr/>
        </p:nvCxnSpPr>
        <p:spPr>
          <a:xfrm flipV="1">
            <a:off x="12119823" y="4072371"/>
            <a:ext cx="316017" cy="149413"/>
          </a:xfrm>
          <a:prstGeom prst="line">
            <a:avLst/>
          </a:prstGeom>
          <a:ln w="571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EMA encoder network edge M2R1"/>
          <p:cNvCxnSpPr/>
          <p:nvPr/>
        </p:nvCxnSpPr>
        <p:spPr>
          <a:xfrm flipV="1">
            <a:off x="12119823" y="4176613"/>
            <a:ext cx="316017" cy="45171"/>
          </a:xfrm>
          <a:prstGeom prst="line">
            <a:avLst/>
          </a:prstGeom>
          <a:ln w="571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EMA encoder network edge M2R2"/>
          <p:cNvCxnSpPr/>
          <p:nvPr/>
        </p:nvCxnSpPr>
        <p:spPr>
          <a:xfrm>
            <a:off x="12119823" y="4221784"/>
            <a:ext cx="316017" cy="59071"/>
          </a:xfrm>
          <a:prstGeom prst="line">
            <a:avLst/>
          </a:prstGeom>
          <a:ln w="571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EMA encoder network edge M3R0"/>
          <p:cNvCxnSpPr/>
          <p:nvPr/>
        </p:nvCxnSpPr>
        <p:spPr>
          <a:xfrm flipV="1">
            <a:off x="12119823" y="4072371"/>
            <a:ext cx="316017" cy="253655"/>
          </a:xfrm>
          <a:prstGeom prst="line">
            <a:avLst/>
          </a:prstGeom>
          <a:ln w="571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EMA encoder network edge M3R1"/>
          <p:cNvCxnSpPr/>
          <p:nvPr/>
        </p:nvCxnSpPr>
        <p:spPr>
          <a:xfrm flipV="1">
            <a:off x="12119823" y="4176613"/>
            <a:ext cx="316017" cy="149413"/>
          </a:xfrm>
          <a:prstGeom prst="line">
            <a:avLst/>
          </a:prstGeom>
          <a:ln w="571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EMA encoder network edge M3R2"/>
          <p:cNvCxnSpPr/>
          <p:nvPr/>
        </p:nvCxnSpPr>
        <p:spPr>
          <a:xfrm flipV="1">
            <a:off x="12119823" y="4280855"/>
            <a:ext cx="316017" cy="45171"/>
          </a:xfrm>
          <a:prstGeom prst="line">
            <a:avLst/>
          </a:prstGeom>
          <a:ln w="571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5" name="EMA encoder network node 1"/>
          <p:cNvSpPr/>
          <p:nvPr/>
        </p:nvSpPr>
        <p:spPr>
          <a:xfrm>
            <a:off x="11722608" y="4003608"/>
            <a:ext cx="109728" cy="109728"/>
          </a:xfrm>
          <a:prstGeom prst="ellipse">
            <a:avLst/>
          </a:prstGeom>
          <a:solidFill>
            <a:srgbClr val="86B689"/>
          </a:solidFill>
          <a:ln w="8255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EMA encoder network node 2"/>
          <p:cNvSpPr/>
          <p:nvPr/>
        </p:nvSpPr>
        <p:spPr>
          <a:xfrm>
            <a:off x="11722608" y="4114800"/>
            <a:ext cx="109728" cy="109728"/>
          </a:xfrm>
          <a:prstGeom prst="ellipse">
            <a:avLst/>
          </a:prstGeom>
          <a:solidFill>
            <a:srgbClr val="86B689"/>
          </a:solidFill>
          <a:ln w="8255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EMA encoder network node 3"/>
          <p:cNvSpPr/>
          <p:nvPr/>
        </p:nvSpPr>
        <p:spPr>
          <a:xfrm>
            <a:off x="11722608" y="4225991"/>
            <a:ext cx="109728" cy="109728"/>
          </a:xfrm>
          <a:prstGeom prst="ellipse">
            <a:avLst/>
          </a:prstGeom>
          <a:solidFill>
            <a:srgbClr val="86B689"/>
          </a:solidFill>
          <a:ln w="8255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EMA encoder network node 4"/>
          <p:cNvSpPr/>
          <p:nvPr/>
        </p:nvSpPr>
        <p:spPr>
          <a:xfrm>
            <a:off x="12064959" y="3958437"/>
            <a:ext cx="109728" cy="109728"/>
          </a:xfrm>
          <a:prstGeom prst="ellipse">
            <a:avLst/>
          </a:prstGeom>
          <a:solidFill>
            <a:srgbClr val="86B689"/>
          </a:solidFill>
          <a:ln w="8255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EMA encoder network node 5"/>
          <p:cNvSpPr/>
          <p:nvPr/>
        </p:nvSpPr>
        <p:spPr>
          <a:xfrm>
            <a:off x="12064959" y="4062679"/>
            <a:ext cx="109728" cy="109728"/>
          </a:xfrm>
          <a:prstGeom prst="ellipse">
            <a:avLst/>
          </a:prstGeom>
          <a:solidFill>
            <a:srgbClr val="86B689"/>
          </a:solidFill>
          <a:ln w="8255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EMA encoder network node 6"/>
          <p:cNvSpPr/>
          <p:nvPr/>
        </p:nvSpPr>
        <p:spPr>
          <a:xfrm>
            <a:off x="12064959" y="4166920"/>
            <a:ext cx="109728" cy="109728"/>
          </a:xfrm>
          <a:prstGeom prst="ellipse">
            <a:avLst/>
          </a:prstGeom>
          <a:solidFill>
            <a:srgbClr val="86B689"/>
          </a:solidFill>
          <a:ln w="8255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EMA encoder network node 7"/>
          <p:cNvSpPr/>
          <p:nvPr/>
        </p:nvSpPr>
        <p:spPr>
          <a:xfrm>
            <a:off x="12064959" y="4271162"/>
            <a:ext cx="109728" cy="109728"/>
          </a:xfrm>
          <a:prstGeom prst="ellipse">
            <a:avLst/>
          </a:prstGeom>
          <a:solidFill>
            <a:srgbClr val="86B689"/>
          </a:solidFill>
          <a:ln w="8255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EMA encoder network node 8"/>
          <p:cNvSpPr/>
          <p:nvPr/>
        </p:nvSpPr>
        <p:spPr>
          <a:xfrm>
            <a:off x="12380976" y="4017507"/>
            <a:ext cx="109728" cy="109728"/>
          </a:xfrm>
          <a:prstGeom prst="ellipse">
            <a:avLst/>
          </a:prstGeom>
          <a:solidFill>
            <a:srgbClr val="86B689"/>
          </a:solidFill>
          <a:ln w="8255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EMA encoder network node 9"/>
          <p:cNvSpPr/>
          <p:nvPr/>
        </p:nvSpPr>
        <p:spPr>
          <a:xfrm>
            <a:off x="12380976" y="4121749"/>
            <a:ext cx="109728" cy="109728"/>
          </a:xfrm>
          <a:prstGeom prst="ellipse">
            <a:avLst/>
          </a:prstGeom>
          <a:solidFill>
            <a:srgbClr val="86B689"/>
          </a:solidFill>
          <a:ln w="8255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EMA encoder network node 10"/>
          <p:cNvSpPr/>
          <p:nvPr/>
        </p:nvSpPr>
        <p:spPr>
          <a:xfrm>
            <a:off x="12380976" y="4225991"/>
            <a:ext cx="109728" cy="109728"/>
          </a:xfrm>
          <a:prstGeom prst="ellipse">
            <a:avLst/>
          </a:prstGeom>
          <a:solidFill>
            <a:srgbClr val="86B689"/>
          </a:solidFill>
          <a:ln w="8255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5" name="EMA encoder to pooling"/>
          <p:cNvCxnSpPr/>
          <p:nvPr/>
        </p:nvCxnSpPr>
        <p:spPr>
          <a:xfrm>
            <a:off x="12646152" y="3986784"/>
            <a:ext cx="219456" cy="0"/>
          </a:xfrm>
          <a:prstGeom prst="line">
            <a:avLst/>
          </a:prstGeom>
          <a:ln w="13335">
            <a:solidFill>
              <a:srgbClr val="3D7C4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Multiscale pooling"/>
          <p:cNvSpPr/>
          <p:nvPr/>
        </p:nvSpPr>
        <p:spPr>
          <a:xfrm>
            <a:off x="12874752" y="3557016"/>
            <a:ext cx="859536" cy="896112"/>
          </a:xfrm>
          <a:prstGeom prst="roundRect">
            <a:avLst>
              <a:gd name="adj" fmla="val 8000"/>
            </a:avLst>
          </a:prstGeom>
          <a:solidFill>
            <a:srgbClr val="F5FAF2"/>
          </a:solidFill>
          <a:ln w="9525">
            <a:solidFill>
              <a:srgbClr val="86B6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Pooling label"/>
          <p:cNvSpPr txBox="1"/>
          <p:nvPr/>
        </p:nvSpPr>
        <p:spPr>
          <a:xfrm>
            <a:off x="12947904" y="3611880"/>
            <a:ext cx="713232" cy="32004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174D20"/>
                </a:solidFill>
                <a:latin typeface="Arial"/>
              </a:rPr>
              <a:t>Pooling
(multiscale)</a:t>
            </a:r>
          </a:p>
        </p:txBody>
      </p:sp>
      <p:sp>
        <p:nvSpPr>
          <p:cNvPr id="558" name="Pooling grid"/>
          <p:cNvSpPr/>
          <p:nvPr/>
        </p:nvSpPr>
        <p:spPr>
          <a:xfrm>
            <a:off x="13048488" y="4078224"/>
            <a:ext cx="502920" cy="374904"/>
          </a:xfrm>
          <a:prstGeom prst="rect">
            <a:avLst/>
          </a:prstGeom>
          <a:solidFill>
            <a:srgbClr val="C9DFC5"/>
          </a:solidFill>
          <a:ln w="10160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9" name="Pooling grid vertical 1"/>
          <p:cNvCxnSpPr/>
          <p:nvPr/>
        </p:nvCxnSpPr>
        <p:spPr>
          <a:xfrm>
            <a:off x="13174218" y="4078224"/>
            <a:ext cx="0" cy="374904"/>
          </a:xfrm>
          <a:prstGeom prst="line">
            <a:avLst/>
          </a:prstGeom>
          <a:ln w="444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Pooling grid vertical 2"/>
          <p:cNvCxnSpPr/>
          <p:nvPr/>
        </p:nvCxnSpPr>
        <p:spPr>
          <a:xfrm>
            <a:off x="13299948" y="4078224"/>
            <a:ext cx="0" cy="374904"/>
          </a:xfrm>
          <a:prstGeom prst="line">
            <a:avLst/>
          </a:prstGeom>
          <a:ln w="444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Pooling grid vertical 3"/>
          <p:cNvCxnSpPr/>
          <p:nvPr/>
        </p:nvCxnSpPr>
        <p:spPr>
          <a:xfrm>
            <a:off x="13425678" y="4078224"/>
            <a:ext cx="0" cy="374904"/>
          </a:xfrm>
          <a:prstGeom prst="line">
            <a:avLst/>
          </a:prstGeom>
          <a:ln w="444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Pooling grid horizontal 1"/>
          <p:cNvCxnSpPr/>
          <p:nvPr/>
        </p:nvCxnSpPr>
        <p:spPr>
          <a:xfrm>
            <a:off x="13048488" y="4203192"/>
            <a:ext cx="502920" cy="0"/>
          </a:xfrm>
          <a:prstGeom prst="line">
            <a:avLst/>
          </a:prstGeom>
          <a:ln w="444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Pooling grid horizontal 2"/>
          <p:cNvCxnSpPr/>
          <p:nvPr/>
        </p:nvCxnSpPr>
        <p:spPr>
          <a:xfrm>
            <a:off x="13048488" y="4328160"/>
            <a:ext cx="502920" cy="0"/>
          </a:xfrm>
          <a:prstGeom prst="line">
            <a:avLst/>
          </a:prstGeom>
          <a:ln w="444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4" name="Pooling highlight 1"/>
          <p:cNvSpPr/>
          <p:nvPr/>
        </p:nvSpPr>
        <p:spPr>
          <a:xfrm>
            <a:off x="13057632" y="4078224"/>
            <a:ext cx="246888" cy="123444"/>
          </a:xfrm>
          <a:prstGeom prst="rect">
            <a:avLst/>
          </a:prstGeom>
          <a:solidFill>
            <a:srgbClr val="A5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Pooling highlight 2"/>
          <p:cNvSpPr/>
          <p:nvPr/>
        </p:nvSpPr>
        <p:spPr>
          <a:xfrm>
            <a:off x="13181076" y="4201668"/>
            <a:ext cx="123444" cy="246888"/>
          </a:xfrm>
          <a:prstGeom prst="rect">
            <a:avLst/>
          </a:prstGeom>
          <a:solidFill>
            <a:srgbClr val="91B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Stop-gradient target hierarchy"/>
          <p:cNvSpPr/>
          <p:nvPr/>
        </p:nvSpPr>
        <p:spPr>
          <a:xfrm>
            <a:off x="10771632" y="4590288"/>
            <a:ext cx="3072384" cy="1143000"/>
          </a:xfrm>
          <a:prstGeom prst="roundRect">
            <a:avLst>
              <a:gd name="adj" fmla="val 8000"/>
            </a:avLst>
          </a:prstGeom>
          <a:solidFill>
            <a:srgbClr val="F9FBF5"/>
          </a:solidFill>
          <a:ln w="10795">
            <a:solidFill>
              <a:srgbClr val="86B6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Target hierarchy heading"/>
          <p:cNvSpPr txBox="1"/>
          <p:nvPr/>
        </p:nvSpPr>
        <p:spPr>
          <a:xfrm>
            <a:off x="11375136" y="4626864"/>
            <a:ext cx="1874519" cy="21945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74D20"/>
                </a:solidFill>
                <a:latin typeface="Arial"/>
              </a:rPr>
              <a:t>Stop-gradient target hierarchy</a:t>
            </a:r>
          </a:p>
        </p:txBody>
      </p:sp>
      <p:sp>
        <p:nvSpPr>
          <p:cNvPr id="568" name="Target global latent label"/>
          <p:cNvSpPr txBox="1"/>
          <p:nvPr/>
        </p:nvSpPr>
        <p:spPr>
          <a:xfrm>
            <a:off x="10927080" y="4882896"/>
            <a:ext cx="502920" cy="28346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01721"/>
                </a:solidFill>
                <a:latin typeface="Arial"/>
              </a:rPr>
              <a:t>Global
latent</a:t>
            </a:r>
          </a:p>
        </p:txBody>
      </p:sp>
      <p:sp>
        <p:nvSpPr>
          <p:cNvPr id="569" name="Target global cube front"/>
          <p:cNvSpPr/>
          <p:nvPr/>
        </p:nvSpPr>
        <p:spPr>
          <a:xfrm>
            <a:off x="10954512" y="5142951"/>
            <a:ext cx="283464" cy="283464"/>
          </a:xfrm>
          <a:prstGeom prst="rect">
            <a:avLst/>
          </a:prstGeom>
          <a:solidFill>
            <a:srgbClr val="9BC994"/>
          </a:solidFill>
          <a:ln w="10160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0" name="Target global cube front vertical 1"/>
          <p:cNvCxnSpPr/>
          <p:nvPr/>
        </p:nvCxnSpPr>
        <p:spPr>
          <a:xfrm>
            <a:off x="11048999" y="5142951"/>
            <a:ext cx="0" cy="283464"/>
          </a:xfrm>
          <a:prstGeom prst="line">
            <a:avLst/>
          </a:prstGeom>
          <a:ln w="444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Target global cube front vertical 2"/>
          <p:cNvCxnSpPr/>
          <p:nvPr/>
        </p:nvCxnSpPr>
        <p:spPr>
          <a:xfrm>
            <a:off x="11143488" y="5142951"/>
            <a:ext cx="0" cy="283464"/>
          </a:xfrm>
          <a:prstGeom prst="line">
            <a:avLst/>
          </a:prstGeom>
          <a:ln w="444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2" name="Target global cube front horizontal 1"/>
          <p:cNvCxnSpPr/>
          <p:nvPr/>
        </p:nvCxnSpPr>
        <p:spPr>
          <a:xfrm>
            <a:off x="10954512" y="5237439"/>
            <a:ext cx="283464" cy="0"/>
          </a:xfrm>
          <a:prstGeom prst="line">
            <a:avLst/>
          </a:prstGeom>
          <a:ln w="444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Target global cube front horizontal 2"/>
          <p:cNvCxnSpPr/>
          <p:nvPr/>
        </p:nvCxnSpPr>
        <p:spPr>
          <a:xfrm>
            <a:off x="10954512" y="5331927"/>
            <a:ext cx="283464" cy="0"/>
          </a:xfrm>
          <a:prstGeom prst="line">
            <a:avLst/>
          </a:prstGeom>
          <a:ln w="4445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4" name="Target global cube top"/>
          <p:cNvSpPr/>
          <p:nvPr/>
        </p:nvSpPr>
        <p:spPr>
          <a:xfrm>
            <a:off x="10954512" y="5074920"/>
            <a:ext cx="347472" cy="64008"/>
          </a:xfrm>
          <a:custGeom>
            <a:avLst/>
            <a:gdLst/>
            <a:ahLst/>
            <a:cxnLst/>
            <a:rect l="l" t="t" r="r" b="b"/>
            <a:pathLst>
              <a:path w="38" h="7">
                <a:moveTo>
                  <a:pt x="0" y="7"/>
                </a:moveTo>
                <a:lnTo>
                  <a:pt x="7" y="0"/>
                </a:lnTo>
                <a:lnTo>
                  <a:pt x="38" y="0"/>
                </a:lnTo>
                <a:lnTo>
                  <a:pt x="31" y="7"/>
                </a:lnTo>
                <a:close/>
              </a:path>
            </a:pathLst>
          </a:custGeom>
          <a:solidFill>
            <a:srgbClr val="9BC994"/>
          </a:solidFill>
          <a:ln w="8255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Target global cube side"/>
          <p:cNvSpPr/>
          <p:nvPr/>
        </p:nvSpPr>
        <p:spPr>
          <a:xfrm>
            <a:off x="11237976" y="5074920"/>
            <a:ext cx="64008" cy="347472"/>
          </a:xfrm>
          <a:custGeom>
            <a:avLst/>
            <a:gdLst/>
            <a:ahLst/>
            <a:cxnLst/>
            <a:rect l="l" t="t" r="r" b="b"/>
            <a:pathLst>
              <a:path w="7" h="38">
                <a:moveTo>
                  <a:pt x="0" y="7"/>
                </a:moveTo>
                <a:lnTo>
                  <a:pt x="7" y="0"/>
                </a:lnTo>
                <a:lnTo>
                  <a:pt x="7" y="31"/>
                </a:lnTo>
                <a:lnTo>
                  <a:pt x="0" y="38"/>
                </a:lnTo>
                <a:close/>
              </a:path>
            </a:pathLst>
          </a:custGeom>
          <a:solidFill>
            <a:srgbClr val="5B9A5B"/>
          </a:solidFill>
          <a:ln w="8255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6" name="Target global cube top grid 1"/>
          <p:cNvCxnSpPr/>
          <p:nvPr/>
        </p:nvCxnSpPr>
        <p:spPr>
          <a:xfrm flipH="1">
            <a:off x="11048999" y="5074920"/>
            <a:ext cx="68032" cy="68031"/>
          </a:xfrm>
          <a:prstGeom prst="line">
            <a:avLst/>
          </a:prstGeom>
          <a:ln w="3810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" name="Target global cube side grid 1"/>
          <p:cNvCxnSpPr/>
          <p:nvPr/>
        </p:nvCxnSpPr>
        <p:spPr>
          <a:xfrm flipV="1">
            <a:off x="11237976" y="5169408"/>
            <a:ext cx="68031" cy="68031"/>
          </a:xfrm>
          <a:prstGeom prst="line">
            <a:avLst/>
          </a:prstGeom>
          <a:ln w="3810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Target global cube top grid 2"/>
          <p:cNvCxnSpPr/>
          <p:nvPr/>
        </p:nvCxnSpPr>
        <p:spPr>
          <a:xfrm flipH="1">
            <a:off x="11143488" y="5074920"/>
            <a:ext cx="68031" cy="68031"/>
          </a:xfrm>
          <a:prstGeom prst="line">
            <a:avLst/>
          </a:prstGeom>
          <a:ln w="3810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9" name="Target global cube side grid 2"/>
          <p:cNvCxnSpPr/>
          <p:nvPr/>
        </p:nvCxnSpPr>
        <p:spPr>
          <a:xfrm flipV="1">
            <a:off x="11237976" y="5263895"/>
            <a:ext cx="68031" cy="68032"/>
          </a:xfrm>
          <a:prstGeom prst="line">
            <a:avLst/>
          </a:prstGeom>
          <a:ln w="3810">
            <a:solidFill>
              <a:srgbClr val="3D7C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0" name="Target plus"/>
          <p:cNvSpPr txBox="1"/>
          <p:nvPr/>
        </p:nvSpPr>
        <p:spPr>
          <a:xfrm>
            <a:off x="11430000" y="5212080"/>
            <a:ext cx="219456" cy="256032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4D20"/>
                </a:solidFill>
                <a:latin typeface="Arial"/>
              </a:rPr>
              <a:t>+</a:t>
            </a:r>
          </a:p>
        </p:txBody>
      </p:sp>
      <p:sp>
        <p:nvSpPr>
          <p:cNvPr id="581" name="Target regional latents label"/>
          <p:cNvSpPr txBox="1"/>
          <p:nvPr/>
        </p:nvSpPr>
        <p:spPr>
          <a:xfrm>
            <a:off x="11658600" y="4892040"/>
            <a:ext cx="1645920" cy="21945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01721"/>
                </a:solidFill>
                <a:latin typeface="Arial"/>
              </a:rPr>
              <a:t>Regional latents (multiscale)</a:t>
            </a:r>
          </a:p>
        </p:txBody>
      </p:sp>
      <p:sp>
        <p:nvSpPr>
          <p:cNvPr id="582" name="Target regional grid coarse cell 1-1"/>
          <p:cNvSpPr/>
          <p:nvPr/>
        </p:nvSpPr>
        <p:spPr>
          <a:xfrm>
            <a:off x="11731752" y="5102352"/>
            <a:ext cx="102870" cy="104241"/>
          </a:xfrm>
          <a:prstGeom prst="rect">
            <a:avLst/>
          </a:prstGeom>
          <a:solidFill>
            <a:srgbClr val="DCEAD8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Target regional grid coarse cell 1-2"/>
          <p:cNvSpPr/>
          <p:nvPr/>
        </p:nvSpPr>
        <p:spPr>
          <a:xfrm>
            <a:off x="11834622" y="5102352"/>
            <a:ext cx="102870" cy="104241"/>
          </a:xfrm>
          <a:prstGeom prst="rect">
            <a:avLst/>
          </a:prstGeom>
          <a:solidFill>
            <a:srgbClr val="DCEAD8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Target regional grid coarse cell 1-3"/>
          <p:cNvSpPr/>
          <p:nvPr/>
        </p:nvSpPr>
        <p:spPr>
          <a:xfrm>
            <a:off x="11937492" y="5102352"/>
            <a:ext cx="102870" cy="104241"/>
          </a:xfrm>
          <a:prstGeom prst="rect">
            <a:avLst/>
          </a:prstGeom>
          <a:solidFill>
            <a:srgbClr val="DCEAD8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Target regional grid coarse cell 1-4"/>
          <p:cNvSpPr/>
          <p:nvPr/>
        </p:nvSpPr>
        <p:spPr>
          <a:xfrm>
            <a:off x="12040362" y="5102352"/>
            <a:ext cx="102870" cy="104241"/>
          </a:xfrm>
          <a:prstGeom prst="rect">
            <a:avLst/>
          </a:prstGeom>
          <a:solidFill>
            <a:srgbClr val="DCEAD8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arget regional grid coarse cell 2-1"/>
          <p:cNvSpPr/>
          <p:nvPr/>
        </p:nvSpPr>
        <p:spPr>
          <a:xfrm>
            <a:off x="11731752" y="5206593"/>
            <a:ext cx="102870" cy="104241"/>
          </a:xfrm>
          <a:prstGeom prst="rect">
            <a:avLst/>
          </a:prstGeom>
          <a:solidFill>
            <a:srgbClr val="82B27F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Target regional grid coarse cell 2-2"/>
          <p:cNvSpPr/>
          <p:nvPr/>
        </p:nvSpPr>
        <p:spPr>
          <a:xfrm>
            <a:off x="11834622" y="5206593"/>
            <a:ext cx="102870" cy="104241"/>
          </a:xfrm>
          <a:prstGeom prst="rect">
            <a:avLst/>
          </a:prstGeom>
          <a:solidFill>
            <a:srgbClr val="DCEAD8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Target regional grid coarse cell 2-3"/>
          <p:cNvSpPr/>
          <p:nvPr/>
        </p:nvSpPr>
        <p:spPr>
          <a:xfrm>
            <a:off x="11937492" y="5206593"/>
            <a:ext cx="102870" cy="104241"/>
          </a:xfrm>
          <a:prstGeom prst="rect">
            <a:avLst/>
          </a:prstGeom>
          <a:solidFill>
            <a:srgbClr val="B6D3B0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Target regional grid coarse cell 2-4"/>
          <p:cNvSpPr/>
          <p:nvPr/>
        </p:nvSpPr>
        <p:spPr>
          <a:xfrm>
            <a:off x="12040362" y="5206593"/>
            <a:ext cx="102870" cy="104241"/>
          </a:xfrm>
          <a:prstGeom prst="rect">
            <a:avLst/>
          </a:prstGeom>
          <a:solidFill>
            <a:srgbClr val="82B27F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Target regional grid coarse cell 3-1"/>
          <p:cNvSpPr/>
          <p:nvPr/>
        </p:nvSpPr>
        <p:spPr>
          <a:xfrm>
            <a:off x="11731752" y="5310835"/>
            <a:ext cx="102870" cy="104241"/>
          </a:xfrm>
          <a:prstGeom prst="rect">
            <a:avLst/>
          </a:prstGeom>
          <a:solidFill>
            <a:srgbClr val="B6D3B0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Target regional grid coarse cell 3-2"/>
          <p:cNvSpPr/>
          <p:nvPr/>
        </p:nvSpPr>
        <p:spPr>
          <a:xfrm>
            <a:off x="11834622" y="5310835"/>
            <a:ext cx="102870" cy="104241"/>
          </a:xfrm>
          <a:prstGeom prst="rect">
            <a:avLst/>
          </a:prstGeom>
          <a:solidFill>
            <a:srgbClr val="DCEAD8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Target regional grid coarse cell 3-3"/>
          <p:cNvSpPr/>
          <p:nvPr/>
        </p:nvSpPr>
        <p:spPr>
          <a:xfrm>
            <a:off x="11937492" y="5310835"/>
            <a:ext cx="102870" cy="104241"/>
          </a:xfrm>
          <a:prstGeom prst="rect">
            <a:avLst/>
          </a:prstGeom>
          <a:solidFill>
            <a:srgbClr val="82B27F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Target regional grid coarse cell 3-4"/>
          <p:cNvSpPr/>
          <p:nvPr/>
        </p:nvSpPr>
        <p:spPr>
          <a:xfrm>
            <a:off x="12040362" y="5310835"/>
            <a:ext cx="102870" cy="104241"/>
          </a:xfrm>
          <a:prstGeom prst="rect">
            <a:avLst/>
          </a:prstGeom>
          <a:solidFill>
            <a:srgbClr val="B6D3B0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Target regional grid coarse cell 4-1"/>
          <p:cNvSpPr/>
          <p:nvPr/>
        </p:nvSpPr>
        <p:spPr>
          <a:xfrm>
            <a:off x="11731752" y="5415076"/>
            <a:ext cx="102870" cy="104241"/>
          </a:xfrm>
          <a:prstGeom prst="rect">
            <a:avLst/>
          </a:prstGeom>
          <a:solidFill>
            <a:srgbClr val="DCEAD8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arget regional grid coarse cell 4-2"/>
          <p:cNvSpPr/>
          <p:nvPr/>
        </p:nvSpPr>
        <p:spPr>
          <a:xfrm>
            <a:off x="11834622" y="5415076"/>
            <a:ext cx="102870" cy="104241"/>
          </a:xfrm>
          <a:prstGeom prst="rect">
            <a:avLst/>
          </a:prstGeom>
          <a:solidFill>
            <a:srgbClr val="DCEAD8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Target regional grid coarse cell 4-3"/>
          <p:cNvSpPr/>
          <p:nvPr/>
        </p:nvSpPr>
        <p:spPr>
          <a:xfrm>
            <a:off x="11937492" y="5415076"/>
            <a:ext cx="102870" cy="104241"/>
          </a:xfrm>
          <a:prstGeom prst="rect">
            <a:avLst/>
          </a:prstGeom>
          <a:solidFill>
            <a:srgbClr val="DCEAD8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Target regional grid coarse cell 4-4"/>
          <p:cNvSpPr/>
          <p:nvPr/>
        </p:nvSpPr>
        <p:spPr>
          <a:xfrm>
            <a:off x="12040362" y="5415076"/>
            <a:ext cx="102870" cy="104241"/>
          </a:xfrm>
          <a:prstGeom prst="rect">
            <a:avLst/>
          </a:prstGeom>
          <a:solidFill>
            <a:srgbClr val="DCEAD8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arget regional grid coarse cell 5-1"/>
          <p:cNvSpPr/>
          <p:nvPr/>
        </p:nvSpPr>
        <p:spPr>
          <a:xfrm>
            <a:off x="11731752" y="5519318"/>
            <a:ext cx="102870" cy="104241"/>
          </a:xfrm>
          <a:prstGeom prst="rect">
            <a:avLst/>
          </a:prstGeom>
          <a:solidFill>
            <a:srgbClr val="82B27F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Target regional grid coarse cell 5-2"/>
          <p:cNvSpPr/>
          <p:nvPr/>
        </p:nvSpPr>
        <p:spPr>
          <a:xfrm>
            <a:off x="11834622" y="5519318"/>
            <a:ext cx="102870" cy="104241"/>
          </a:xfrm>
          <a:prstGeom prst="rect">
            <a:avLst/>
          </a:prstGeom>
          <a:solidFill>
            <a:srgbClr val="DCEAD8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Target regional grid coarse cell 5-3"/>
          <p:cNvSpPr/>
          <p:nvPr/>
        </p:nvSpPr>
        <p:spPr>
          <a:xfrm>
            <a:off x="11937492" y="5519318"/>
            <a:ext cx="102870" cy="104241"/>
          </a:xfrm>
          <a:prstGeom prst="rect">
            <a:avLst/>
          </a:prstGeom>
          <a:solidFill>
            <a:srgbClr val="B6D3B0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Target regional grid coarse cell 5-4"/>
          <p:cNvSpPr/>
          <p:nvPr/>
        </p:nvSpPr>
        <p:spPr>
          <a:xfrm>
            <a:off x="12040362" y="5519318"/>
            <a:ext cx="102870" cy="104241"/>
          </a:xfrm>
          <a:prstGeom prst="rect">
            <a:avLst/>
          </a:prstGeom>
          <a:solidFill>
            <a:srgbClr val="82B27F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Target regional grid coarse border"/>
          <p:cNvSpPr/>
          <p:nvPr/>
        </p:nvSpPr>
        <p:spPr>
          <a:xfrm>
            <a:off x="11731752" y="5102352"/>
            <a:ext cx="411480" cy="521207"/>
          </a:xfrm>
          <a:prstGeom prst="rect">
            <a:avLst/>
          </a:prstGeom>
          <a:noFill/>
          <a:ln w="10160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Target regional grid medium cell 1-1"/>
          <p:cNvSpPr/>
          <p:nvPr/>
        </p:nvSpPr>
        <p:spPr>
          <a:xfrm>
            <a:off x="12435840" y="5102352"/>
            <a:ext cx="82296" cy="104241"/>
          </a:xfrm>
          <a:prstGeom prst="rect">
            <a:avLst/>
          </a:prstGeom>
          <a:solidFill>
            <a:srgbClr val="E0ECD9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Target regional grid medium cell 1-2"/>
          <p:cNvSpPr/>
          <p:nvPr/>
        </p:nvSpPr>
        <p:spPr>
          <a:xfrm>
            <a:off x="12518136" y="5102352"/>
            <a:ext cx="82296" cy="104241"/>
          </a:xfrm>
          <a:prstGeom prst="rect">
            <a:avLst/>
          </a:prstGeom>
          <a:solidFill>
            <a:srgbClr val="E0ECD9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Target regional grid medium cell 1-3"/>
          <p:cNvSpPr/>
          <p:nvPr/>
        </p:nvSpPr>
        <p:spPr>
          <a:xfrm>
            <a:off x="12600432" y="5102352"/>
            <a:ext cx="82296" cy="104241"/>
          </a:xfrm>
          <a:prstGeom prst="rect">
            <a:avLst/>
          </a:prstGeom>
          <a:solidFill>
            <a:srgbClr val="E0ECD9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arget regional grid medium cell 1-4"/>
          <p:cNvSpPr/>
          <p:nvPr/>
        </p:nvSpPr>
        <p:spPr>
          <a:xfrm>
            <a:off x="12682728" y="5102352"/>
            <a:ext cx="82296" cy="104241"/>
          </a:xfrm>
          <a:prstGeom prst="rect">
            <a:avLst/>
          </a:prstGeom>
          <a:solidFill>
            <a:srgbClr val="E0ECD9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Target regional grid medium cell 1-5"/>
          <p:cNvSpPr/>
          <p:nvPr/>
        </p:nvSpPr>
        <p:spPr>
          <a:xfrm>
            <a:off x="12765024" y="5102352"/>
            <a:ext cx="82296" cy="104241"/>
          </a:xfrm>
          <a:prstGeom prst="rect">
            <a:avLst/>
          </a:prstGeom>
          <a:solidFill>
            <a:srgbClr val="E0ECD9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Target regional grid medium cell 2-1"/>
          <p:cNvSpPr/>
          <p:nvPr/>
        </p:nvSpPr>
        <p:spPr>
          <a:xfrm>
            <a:off x="12435840" y="5206593"/>
            <a:ext cx="82296" cy="104241"/>
          </a:xfrm>
          <a:prstGeom prst="rect">
            <a:avLst/>
          </a:prstGeom>
          <a:solidFill>
            <a:srgbClr val="79AE75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Target regional grid medium cell 2-2"/>
          <p:cNvSpPr/>
          <p:nvPr/>
        </p:nvSpPr>
        <p:spPr>
          <a:xfrm>
            <a:off x="12518136" y="5206593"/>
            <a:ext cx="82296" cy="104241"/>
          </a:xfrm>
          <a:prstGeom prst="rect">
            <a:avLst/>
          </a:prstGeom>
          <a:solidFill>
            <a:srgbClr val="E0ECD9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Target regional grid medium cell 2-3"/>
          <p:cNvSpPr/>
          <p:nvPr/>
        </p:nvSpPr>
        <p:spPr>
          <a:xfrm>
            <a:off x="12600432" y="5206593"/>
            <a:ext cx="82296" cy="104241"/>
          </a:xfrm>
          <a:prstGeom prst="rect">
            <a:avLst/>
          </a:prstGeom>
          <a:solidFill>
            <a:srgbClr val="BAD5B5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Target regional grid medium cell 2-4"/>
          <p:cNvSpPr/>
          <p:nvPr/>
        </p:nvSpPr>
        <p:spPr>
          <a:xfrm>
            <a:off x="12682728" y="5206593"/>
            <a:ext cx="82296" cy="104241"/>
          </a:xfrm>
          <a:prstGeom prst="rect">
            <a:avLst/>
          </a:prstGeom>
          <a:solidFill>
            <a:srgbClr val="79AE75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Target regional grid medium cell 2-5"/>
          <p:cNvSpPr/>
          <p:nvPr/>
        </p:nvSpPr>
        <p:spPr>
          <a:xfrm>
            <a:off x="12765024" y="5206593"/>
            <a:ext cx="82296" cy="104241"/>
          </a:xfrm>
          <a:prstGeom prst="rect">
            <a:avLst/>
          </a:prstGeom>
          <a:solidFill>
            <a:srgbClr val="E0ECD9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Target regional grid medium cell 3-1"/>
          <p:cNvSpPr/>
          <p:nvPr/>
        </p:nvSpPr>
        <p:spPr>
          <a:xfrm>
            <a:off x="12435840" y="5310835"/>
            <a:ext cx="82296" cy="104241"/>
          </a:xfrm>
          <a:prstGeom prst="rect">
            <a:avLst/>
          </a:prstGeom>
          <a:solidFill>
            <a:srgbClr val="BAD5B5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arget regional grid medium cell 3-2"/>
          <p:cNvSpPr/>
          <p:nvPr/>
        </p:nvSpPr>
        <p:spPr>
          <a:xfrm>
            <a:off x="12518136" y="5310835"/>
            <a:ext cx="82296" cy="104241"/>
          </a:xfrm>
          <a:prstGeom prst="rect">
            <a:avLst/>
          </a:prstGeom>
          <a:solidFill>
            <a:srgbClr val="E0ECD9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Target regional grid medium cell 3-3"/>
          <p:cNvSpPr/>
          <p:nvPr/>
        </p:nvSpPr>
        <p:spPr>
          <a:xfrm>
            <a:off x="12600432" y="5310835"/>
            <a:ext cx="82296" cy="104241"/>
          </a:xfrm>
          <a:prstGeom prst="rect">
            <a:avLst/>
          </a:prstGeom>
          <a:solidFill>
            <a:srgbClr val="79AE75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arget regional grid medium cell 3-4"/>
          <p:cNvSpPr/>
          <p:nvPr/>
        </p:nvSpPr>
        <p:spPr>
          <a:xfrm>
            <a:off x="12682728" y="5310835"/>
            <a:ext cx="82296" cy="104241"/>
          </a:xfrm>
          <a:prstGeom prst="rect">
            <a:avLst/>
          </a:prstGeom>
          <a:solidFill>
            <a:srgbClr val="BAD5B5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Target regional grid medium cell 3-5"/>
          <p:cNvSpPr/>
          <p:nvPr/>
        </p:nvSpPr>
        <p:spPr>
          <a:xfrm>
            <a:off x="12765024" y="5310835"/>
            <a:ext cx="82296" cy="104241"/>
          </a:xfrm>
          <a:prstGeom prst="rect">
            <a:avLst/>
          </a:prstGeom>
          <a:solidFill>
            <a:srgbClr val="E0ECD9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Target regional grid medium cell 4-1"/>
          <p:cNvSpPr/>
          <p:nvPr/>
        </p:nvSpPr>
        <p:spPr>
          <a:xfrm>
            <a:off x="12435840" y="5415076"/>
            <a:ext cx="82296" cy="104241"/>
          </a:xfrm>
          <a:prstGeom prst="rect">
            <a:avLst/>
          </a:prstGeom>
          <a:solidFill>
            <a:srgbClr val="E0ECD9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arget regional grid medium cell 4-2"/>
          <p:cNvSpPr/>
          <p:nvPr/>
        </p:nvSpPr>
        <p:spPr>
          <a:xfrm>
            <a:off x="12518136" y="5415076"/>
            <a:ext cx="82296" cy="104241"/>
          </a:xfrm>
          <a:prstGeom prst="rect">
            <a:avLst/>
          </a:prstGeom>
          <a:solidFill>
            <a:srgbClr val="E0ECD9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arget regional grid medium cell 4-3"/>
          <p:cNvSpPr/>
          <p:nvPr/>
        </p:nvSpPr>
        <p:spPr>
          <a:xfrm>
            <a:off x="12600432" y="5415076"/>
            <a:ext cx="82296" cy="104241"/>
          </a:xfrm>
          <a:prstGeom prst="rect">
            <a:avLst/>
          </a:prstGeom>
          <a:solidFill>
            <a:srgbClr val="E0ECD9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Target regional grid medium cell 4-4"/>
          <p:cNvSpPr/>
          <p:nvPr/>
        </p:nvSpPr>
        <p:spPr>
          <a:xfrm>
            <a:off x="12682728" y="5415076"/>
            <a:ext cx="82296" cy="104241"/>
          </a:xfrm>
          <a:prstGeom prst="rect">
            <a:avLst/>
          </a:prstGeom>
          <a:solidFill>
            <a:srgbClr val="E0ECD9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arget regional grid medium cell 4-5"/>
          <p:cNvSpPr/>
          <p:nvPr/>
        </p:nvSpPr>
        <p:spPr>
          <a:xfrm>
            <a:off x="12765024" y="5415076"/>
            <a:ext cx="82296" cy="104241"/>
          </a:xfrm>
          <a:prstGeom prst="rect">
            <a:avLst/>
          </a:prstGeom>
          <a:solidFill>
            <a:srgbClr val="E0ECD9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Target regional grid medium cell 5-1"/>
          <p:cNvSpPr/>
          <p:nvPr/>
        </p:nvSpPr>
        <p:spPr>
          <a:xfrm>
            <a:off x="12435840" y="5519318"/>
            <a:ext cx="82296" cy="104241"/>
          </a:xfrm>
          <a:prstGeom prst="rect">
            <a:avLst/>
          </a:prstGeom>
          <a:solidFill>
            <a:srgbClr val="79AE75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arget regional grid medium cell 5-2"/>
          <p:cNvSpPr/>
          <p:nvPr/>
        </p:nvSpPr>
        <p:spPr>
          <a:xfrm>
            <a:off x="12518136" y="5519318"/>
            <a:ext cx="82296" cy="104241"/>
          </a:xfrm>
          <a:prstGeom prst="rect">
            <a:avLst/>
          </a:prstGeom>
          <a:solidFill>
            <a:srgbClr val="E0ECD9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arget regional grid medium cell 5-3"/>
          <p:cNvSpPr/>
          <p:nvPr/>
        </p:nvSpPr>
        <p:spPr>
          <a:xfrm>
            <a:off x="12600432" y="5519318"/>
            <a:ext cx="82296" cy="104241"/>
          </a:xfrm>
          <a:prstGeom prst="rect">
            <a:avLst/>
          </a:prstGeom>
          <a:solidFill>
            <a:srgbClr val="BAD5B5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Target regional grid medium cell 5-4"/>
          <p:cNvSpPr/>
          <p:nvPr/>
        </p:nvSpPr>
        <p:spPr>
          <a:xfrm>
            <a:off x="12682728" y="5519318"/>
            <a:ext cx="82296" cy="104241"/>
          </a:xfrm>
          <a:prstGeom prst="rect">
            <a:avLst/>
          </a:prstGeom>
          <a:solidFill>
            <a:srgbClr val="79AE75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Target regional grid medium cell 5-5"/>
          <p:cNvSpPr/>
          <p:nvPr/>
        </p:nvSpPr>
        <p:spPr>
          <a:xfrm>
            <a:off x="12765024" y="5519318"/>
            <a:ext cx="82296" cy="104241"/>
          </a:xfrm>
          <a:prstGeom prst="rect">
            <a:avLst/>
          </a:prstGeom>
          <a:solidFill>
            <a:srgbClr val="E0ECD9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arget regional grid medium border"/>
          <p:cNvSpPr/>
          <p:nvPr/>
        </p:nvSpPr>
        <p:spPr>
          <a:xfrm>
            <a:off x="12435840" y="5102352"/>
            <a:ext cx="411480" cy="521207"/>
          </a:xfrm>
          <a:prstGeom prst="rect">
            <a:avLst/>
          </a:prstGeom>
          <a:noFill/>
          <a:ln w="10160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Target regional grid fine cell 1-1"/>
          <p:cNvSpPr/>
          <p:nvPr/>
        </p:nvSpPr>
        <p:spPr>
          <a:xfrm>
            <a:off x="13112496" y="5175504"/>
            <a:ext cx="64008" cy="76809"/>
          </a:xfrm>
          <a:prstGeom prst="rect">
            <a:avLst/>
          </a:prstGeom>
          <a:solidFill>
            <a:srgbClr val="E6EFE1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Target regional grid fine cell 1-2"/>
          <p:cNvSpPr/>
          <p:nvPr/>
        </p:nvSpPr>
        <p:spPr>
          <a:xfrm>
            <a:off x="13176504" y="5175504"/>
            <a:ext cx="64008" cy="76809"/>
          </a:xfrm>
          <a:prstGeom prst="rect">
            <a:avLst/>
          </a:prstGeom>
          <a:solidFill>
            <a:srgbClr val="E6EFE1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arget regional grid fine cell 1-3"/>
          <p:cNvSpPr/>
          <p:nvPr/>
        </p:nvSpPr>
        <p:spPr>
          <a:xfrm>
            <a:off x="13240512" y="5175504"/>
            <a:ext cx="64008" cy="76809"/>
          </a:xfrm>
          <a:prstGeom prst="rect">
            <a:avLst/>
          </a:prstGeom>
          <a:solidFill>
            <a:srgbClr val="E6EFE1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Target regional grid fine cell 1-4"/>
          <p:cNvSpPr/>
          <p:nvPr/>
        </p:nvSpPr>
        <p:spPr>
          <a:xfrm>
            <a:off x="13304520" y="5175504"/>
            <a:ext cx="64008" cy="76809"/>
          </a:xfrm>
          <a:prstGeom prst="rect">
            <a:avLst/>
          </a:prstGeom>
          <a:solidFill>
            <a:srgbClr val="E6EFE1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Target regional grid fine cell 1-5"/>
          <p:cNvSpPr/>
          <p:nvPr/>
        </p:nvSpPr>
        <p:spPr>
          <a:xfrm>
            <a:off x="13368528" y="5175504"/>
            <a:ext cx="64008" cy="76809"/>
          </a:xfrm>
          <a:prstGeom prst="rect">
            <a:avLst/>
          </a:prstGeom>
          <a:solidFill>
            <a:srgbClr val="E6EFE1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arget regional grid fine cell 2-1"/>
          <p:cNvSpPr/>
          <p:nvPr/>
        </p:nvSpPr>
        <p:spPr>
          <a:xfrm>
            <a:off x="13112496" y="5252313"/>
            <a:ext cx="64008" cy="76809"/>
          </a:xfrm>
          <a:prstGeom prst="rect">
            <a:avLst/>
          </a:prstGeom>
          <a:solidFill>
            <a:srgbClr val="7EB37A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Target regional grid fine cell 2-2"/>
          <p:cNvSpPr/>
          <p:nvPr/>
        </p:nvSpPr>
        <p:spPr>
          <a:xfrm>
            <a:off x="13176504" y="5252313"/>
            <a:ext cx="64008" cy="76809"/>
          </a:xfrm>
          <a:prstGeom prst="rect">
            <a:avLst/>
          </a:prstGeom>
          <a:solidFill>
            <a:srgbClr val="E6EFE1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Target regional grid fine cell 2-3"/>
          <p:cNvSpPr/>
          <p:nvPr/>
        </p:nvSpPr>
        <p:spPr>
          <a:xfrm>
            <a:off x="13240512" y="5252313"/>
            <a:ext cx="64008" cy="76809"/>
          </a:xfrm>
          <a:prstGeom prst="rect">
            <a:avLst/>
          </a:prstGeom>
          <a:solidFill>
            <a:srgbClr val="BCD7B7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Target regional grid fine cell 2-4"/>
          <p:cNvSpPr/>
          <p:nvPr/>
        </p:nvSpPr>
        <p:spPr>
          <a:xfrm>
            <a:off x="13304520" y="5252313"/>
            <a:ext cx="64008" cy="76809"/>
          </a:xfrm>
          <a:prstGeom prst="rect">
            <a:avLst/>
          </a:prstGeom>
          <a:solidFill>
            <a:srgbClr val="7EB37A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Target regional grid fine cell 2-5"/>
          <p:cNvSpPr/>
          <p:nvPr/>
        </p:nvSpPr>
        <p:spPr>
          <a:xfrm>
            <a:off x="13368528" y="5252313"/>
            <a:ext cx="64008" cy="76809"/>
          </a:xfrm>
          <a:prstGeom prst="rect">
            <a:avLst/>
          </a:prstGeom>
          <a:solidFill>
            <a:srgbClr val="E6EFE1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Target regional grid fine cell 3-1"/>
          <p:cNvSpPr/>
          <p:nvPr/>
        </p:nvSpPr>
        <p:spPr>
          <a:xfrm>
            <a:off x="13112496" y="5329123"/>
            <a:ext cx="64008" cy="76809"/>
          </a:xfrm>
          <a:prstGeom prst="rect">
            <a:avLst/>
          </a:prstGeom>
          <a:solidFill>
            <a:srgbClr val="BCD7B7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Target regional grid fine cell 3-2"/>
          <p:cNvSpPr/>
          <p:nvPr/>
        </p:nvSpPr>
        <p:spPr>
          <a:xfrm>
            <a:off x="13176504" y="5329123"/>
            <a:ext cx="64008" cy="76809"/>
          </a:xfrm>
          <a:prstGeom prst="rect">
            <a:avLst/>
          </a:prstGeom>
          <a:solidFill>
            <a:srgbClr val="E6EFE1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Target regional grid fine cell 3-3"/>
          <p:cNvSpPr/>
          <p:nvPr/>
        </p:nvSpPr>
        <p:spPr>
          <a:xfrm>
            <a:off x="13240512" y="5329123"/>
            <a:ext cx="64008" cy="76809"/>
          </a:xfrm>
          <a:prstGeom prst="rect">
            <a:avLst/>
          </a:prstGeom>
          <a:solidFill>
            <a:srgbClr val="7EB37A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Target regional grid fine cell 3-4"/>
          <p:cNvSpPr/>
          <p:nvPr/>
        </p:nvSpPr>
        <p:spPr>
          <a:xfrm>
            <a:off x="13304520" y="5329123"/>
            <a:ext cx="64008" cy="76809"/>
          </a:xfrm>
          <a:prstGeom prst="rect">
            <a:avLst/>
          </a:prstGeom>
          <a:solidFill>
            <a:srgbClr val="BCD7B7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Target regional grid fine cell 3-5"/>
          <p:cNvSpPr/>
          <p:nvPr/>
        </p:nvSpPr>
        <p:spPr>
          <a:xfrm>
            <a:off x="13368528" y="5329123"/>
            <a:ext cx="64008" cy="76809"/>
          </a:xfrm>
          <a:prstGeom prst="rect">
            <a:avLst/>
          </a:prstGeom>
          <a:solidFill>
            <a:srgbClr val="E6EFE1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Target regional grid fine cell 4-1"/>
          <p:cNvSpPr/>
          <p:nvPr/>
        </p:nvSpPr>
        <p:spPr>
          <a:xfrm>
            <a:off x="13112496" y="5405932"/>
            <a:ext cx="64008" cy="76809"/>
          </a:xfrm>
          <a:prstGeom prst="rect">
            <a:avLst/>
          </a:prstGeom>
          <a:solidFill>
            <a:srgbClr val="E6EFE1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Target regional grid fine cell 4-2"/>
          <p:cNvSpPr/>
          <p:nvPr/>
        </p:nvSpPr>
        <p:spPr>
          <a:xfrm>
            <a:off x="13176504" y="5405932"/>
            <a:ext cx="64008" cy="76809"/>
          </a:xfrm>
          <a:prstGeom prst="rect">
            <a:avLst/>
          </a:prstGeom>
          <a:solidFill>
            <a:srgbClr val="E6EFE1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Target regional grid fine cell 4-3"/>
          <p:cNvSpPr/>
          <p:nvPr/>
        </p:nvSpPr>
        <p:spPr>
          <a:xfrm>
            <a:off x="13240512" y="5405932"/>
            <a:ext cx="64008" cy="76809"/>
          </a:xfrm>
          <a:prstGeom prst="rect">
            <a:avLst/>
          </a:prstGeom>
          <a:solidFill>
            <a:srgbClr val="E6EFE1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Target regional grid fine cell 4-4"/>
          <p:cNvSpPr/>
          <p:nvPr/>
        </p:nvSpPr>
        <p:spPr>
          <a:xfrm>
            <a:off x="13304520" y="5405932"/>
            <a:ext cx="64008" cy="76809"/>
          </a:xfrm>
          <a:prstGeom prst="rect">
            <a:avLst/>
          </a:prstGeom>
          <a:solidFill>
            <a:srgbClr val="E6EFE1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arget regional grid fine cell 4-5"/>
          <p:cNvSpPr/>
          <p:nvPr/>
        </p:nvSpPr>
        <p:spPr>
          <a:xfrm>
            <a:off x="13368528" y="5405932"/>
            <a:ext cx="64008" cy="76809"/>
          </a:xfrm>
          <a:prstGeom prst="rect">
            <a:avLst/>
          </a:prstGeom>
          <a:solidFill>
            <a:srgbClr val="E6EFE1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Target regional grid fine cell 5-1"/>
          <p:cNvSpPr/>
          <p:nvPr/>
        </p:nvSpPr>
        <p:spPr>
          <a:xfrm>
            <a:off x="13112496" y="5482742"/>
            <a:ext cx="64008" cy="76809"/>
          </a:xfrm>
          <a:prstGeom prst="rect">
            <a:avLst/>
          </a:prstGeom>
          <a:solidFill>
            <a:srgbClr val="7EB37A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Target regional grid fine cell 5-2"/>
          <p:cNvSpPr/>
          <p:nvPr/>
        </p:nvSpPr>
        <p:spPr>
          <a:xfrm>
            <a:off x="13176504" y="5482742"/>
            <a:ext cx="64008" cy="76809"/>
          </a:xfrm>
          <a:prstGeom prst="rect">
            <a:avLst/>
          </a:prstGeom>
          <a:solidFill>
            <a:srgbClr val="E6EFE1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Target regional grid fine cell 5-3"/>
          <p:cNvSpPr/>
          <p:nvPr/>
        </p:nvSpPr>
        <p:spPr>
          <a:xfrm>
            <a:off x="13240512" y="5482742"/>
            <a:ext cx="64008" cy="76809"/>
          </a:xfrm>
          <a:prstGeom prst="rect">
            <a:avLst/>
          </a:prstGeom>
          <a:solidFill>
            <a:srgbClr val="BCD7B7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Target regional grid fine cell 5-4"/>
          <p:cNvSpPr/>
          <p:nvPr/>
        </p:nvSpPr>
        <p:spPr>
          <a:xfrm>
            <a:off x="13304520" y="5482742"/>
            <a:ext cx="64008" cy="76809"/>
          </a:xfrm>
          <a:prstGeom prst="rect">
            <a:avLst/>
          </a:prstGeom>
          <a:solidFill>
            <a:srgbClr val="7EB37A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Target regional grid fine cell 5-5"/>
          <p:cNvSpPr/>
          <p:nvPr/>
        </p:nvSpPr>
        <p:spPr>
          <a:xfrm>
            <a:off x="13368528" y="5482742"/>
            <a:ext cx="64008" cy="76809"/>
          </a:xfrm>
          <a:prstGeom prst="rect">
            <a:avLst/>
          </a:prstGeom>
          <a:solidFill>
            <a:srgbClr val="E6EFE1"/>
          </a:solidFill>
          <a:ln w="3556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Target regional grid fine border"/>
          <p:cNvSpPr/>
          <p:nvPr/>
        </p:nvSpPr>
        <p:spPr>
          <a:xfrm>
            <a:off x="13112496" y="5175504"/>
            <a:ext cx="320040" cy="384048"/>
          </a:xfrm>
          <a:prstGeom prst="rect">
            <a:avLst/>
          </a:prstGeom>
          <a:noFill/>
          <a:ln w="10160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Target hierarchy ellipsis"/>
          <p:cNvSpPr txBox="1"/>
          <p:nvPr/>
        </p:nvSpPr>
        <p:spPr>
          <a:xfrm>
            <a:off x="13533120" y="5212080"/>
            <a:ext cx="228600" cy="22860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1721"/>
                </a:solidFill>
                <a:latin typeface="Arial"/>
              </a:rPr>
              <a:t>…</a:t>
            </a:r>
          </a:p>
        </p:txBody>
      </p:sp>
      <p:sp>
        <p:nvSpPr>
          <p:cNvPr id="656" name="Predictor input Dₜ¹:ᴸ"/>
          <p:cNvSpPr txBox="1"/>
          <p:nvPr/>
        </p:nvSpPr>
        <p:spPr>
          <a:xfrm>
            <a:off x="6775704" y="6455664"/>
            <a:ext cx="402336" cy="26517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104477"/>
                </a:solidFill>
                <a:latin typeface="Times New Roman"/>
              </a:rPr>
              <a:t>Dₜ¹:ᴸ</a:t>
            </a:r>
          </a:p>
        </p:txBody>
      </p:sp>
      <p:sp>
        <p:nvSpPr>
          <p:cNvPr id="657" name="Predictor input Sₜ"/>
          <p:cNvSpPr txBox="1"/>
          <p:nvPr/>
        </p:nvSpPr>
        <p:spPr>
          <a:xfrm>
            <a:off x="6821424" y="6922008"/>
            <a:ext cx="402336" cy="26517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A3478"/>
                </a:solidFill>
                <a:latin typeface="Times New Roman"/>
              </a:rPr>
              <a:t>Sₜ</a:t>
            </a:r>
          </a:p>
        </p:txBody>
      </p:sp>
      <p:sp>
        <p:nvSpPr>
          <p:cNvPr id="658" name="Predictor input Aₜ,ₕ"/>
          <p:cNvSpPr txBox="1"/>
          <p:nvPr/>
        </p:nvSpPr>
        <p:spPr>
          <a:xfrm>
            <a:off x="6720840" y="7351775"/>
            <a:ext cx="402336" cy="26517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D34B22"/>
                </a:solidFill>
                <a:latin typeface="Times New Roman"/>
              </a:rPr>
              <a:t>Aₜ,ₕ</a:t>
            </a:r>
          </a:p>
        </p:txBody>
      </p:sp>
      <p:sp>
        <p:nvSpPr>
          <p:cNvPr id="659" name="Predictor input h"/>
          <p:cNvSpPr txBox="1"/>
          <p:nvPr/>
        </p:nvSpPr>
        <p:spPr>
          <a:xfrm>
            <a:off x="6830568" y="7763256"/>
            <a:ext cx="402336" cy="26517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D34B22"/>
                </a:solidFill>
                <a:latin typeface="Times New Roman"/>
              </a:rPr>
              <a:t>h</a:t>
            </a:r>
          </a:p>
        </p:txBody>
      </p:sp>
      <p:sp>
        <p:nvSpPr>
          <p:cNvPr id="660" name="Predictor dense input cell 1-1"/>
          <p:cNvSpPr/>
          <p:nvPr/>
        </p:nvSpPr>
        <p:spPr>
          <a:xfrm>
            <a:off x="7141464" y="6537960"/>
            <a:ext cx="69723" cy="82296"/>
          </a:xfrm>
          <a:prstGeom prst="rect">
            <a:avLst/>
          </a:prstGeom>
          <a:solidFill>
            <a:srgbClr val="D4E2ED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Predictor dense input cell 1-2"/>
          <p:cNvSpPr/>
          <p:nvPr/>
        </p:nvSpPr>
        <p:spPr>
          <a:xfrm>
            <a:off x="7211187" y="6537960"/>
            <a:ext cx="69723" cy="82296"/>
          </a:xfrm>
          <a:prstGeom prst="rect">
            <a:avLst/>
          </a:prstGeom>
          <a:solidFill>
            <a:srgbClr val="D4E2ED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Predictor dense input cell 1-3"/>
          <p:cNvSpPr/>
          <p:nvPr/>
        </p:nvSpPr>
        <p:spPr>
          <a:xfrm>
            <a:off x="7280910" y="6537960"/>
            <a:ext cx="69723" cy="82296"/>
          </a:xfrm>
          <a:prstGeom prst="rect">
            <a:avLst/>
          </a:prstGeom>
          <a:solidFill>
            <a:srgbClr val="D4E2ED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Predictor dense input cell 1-4"/>
          <p:cNvSpPr/>
          <p:nvPr/>
        </p:nvSpPr>
        <p:spPr>
          <a:xfrm>
            <a:off x="7350633" y="6537960"/>
            <a:ext cx="69723" cy="82296"/>
          </a:xfrm>
          <a:prstGeom prst="rect">
            <a:avLst/>
          </a:prstGeom>
          <a:solidFill>
            <a:srgbClr val="D4E2ED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Predictor dense input cell 1-5"/>
          <p:cNvSpPr/>
          <p:nvPr/>
        </p:nvSpPr>
        <p:spPr>
          <a:xfrm>
            <a:off x="7420356" y="6537960"/>
            <a:ext cx="69723" cy="82296"/>
          </a:xfrm>
          <a:prstGeom prst="rect">
            <a:avLst/>
          </a:prstGeom>
          <a:solidFill>
            <a:srgbClr val="D4E2ED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Predictor dense input cell 1-6"/>
          <p:cNvSpPr/>
          <p:nvPr/>
        </p:nvSpPr>
        <p:spPr>
          <a:xfrm>
            <a:off x="7490079" y="6537960"/>
            <a:ext cx="69723" cy="82296"/>
          </a:xfrm>
          <a:prstGeom prst="rect">
            <a:avLst/>
          </a:prstGeom>
          <a:solidFill>
            <a:srgbClr val="D4E2ED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Predictor dense input cell 1-7"/>
          <p:cNvSpPr/>
          <p:nvPr/>
        </p:nvSpPr>
        <p:spPr>
          <a:xfrm>
            <a:off x="7559802" y="6537960"/>
            <a:ext cx="69723" cy="82296"/>
          </a:xfrm>
          <a:prstGeom prst="rect">
            <a:avLst/>
          </a:prstGeom>
          <a:solidFill>
            <a:srgbClr val="D4E2ED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Predictor dense input cell 1-8"/>
          <p:cNvSpPr/>
          <p:nvPr/>
        </p:nvSpPr>
        <p:spPr>
          <a:xfrm>
            <a:off x="7629525" y="6537960"/>
            <a:ext cx="69723" cy="82296"/>
          </a:xfrm>
          <a:prstGeom prst="rect">
            <a:avLst/>
          </a:prstGeom>
          <a:solidFill>
            <a:srgbClr val="D4E2ED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Predictor dense input cell 2-1"/>
          <p:cNvSpPr/>
          <p:nvPr/>
        </p:nvSpPr>
        <p:spPr>
          <a:xfrm>
            <a:off x="7141464" y="6620256"/>
            <a:ext cx="69723" cy="82296"/>
          </a:xfrm>
          <a:prstGeom prst="rect">
            <a:avLst/>
          </a:prstGeom>
          <a:solidFill>
            <a:srgbClr val="7C9FB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Predictor dense input cell 2-2"/>
          <p:cNvSpPr/>
          <p:nvPr/>
        </p:nvSpPr>
        <p:spPr>
          <a:xfrm>
            <a:off x="7211187" y="6620256"/>
            <a:ext cx="69723" cy="82296"/>
          </a:xfrm>
          <a:prstGeom prst="rect">
            <a:avLst/>
          </a:prstGeom>
          <a:solidFill>
            <a:srgbClr val="D4E2ED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Predictor dense input cell 2-3"/>
          <p:cNvSpPr/>
          <p:nvPr/>
        </p:nvSpPr>
        <p:spPr>
          <a:xfrm>
            <a:off x="7280910" y="6620256"/>
            <a:ext cx="69723" cy="82296"/>
          </a:xfrm>
          <a:prstGeom prst="rect">
            <a:avLst/>
          </a:prstGeom>
          <a:solidFill>
            <a:srgbClr val="A8C1D7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Predictor dense input cell 2-4"/>
          <p:cNvSpPr/>
          <p:nvPr/>
        </p:nvSpPr>
        <p:spPr>
          <a:xfrm>
            <a:off x="7350633" y="6620256"/>
            <a:ext cx="69723" cy="82296"/>
          </a:xfrm>
          <a:prstGeom prst="rect">
            <a:avLst/>
          </a:prstGeom>
          <a:solidFill>
            <a:srgbClr val="7C9FB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Predictor dense input cell 2-5"/>
          <p:cNvSpPr/>
          <p:nvPr/>
        </p:nvSpPr>
        <p:spPr>
          <a:xfrm>
            <a:off x="7420356" y="6620256"/>
            <a:ext cx="69723" cy="82296"/>
          </a:xfrm>
          <a:prstGeom prst="rect">
            <a:avLst/>
          </a:prstGeom>
          <a:solidFill>
            <a:srgbClr val="D4E2ED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Predictor dense input cell 2-6"/>
          <p:cNvSpPr/>
          <p:nvPr/>
        </p:nvSpPr>
        <p:spPr>
          <a:xfrm>
            <a:off x="7490079" y="6620256"/>
            <a:ext cx="69723" cy="82296"/>
          </a:xfrm>
          <a:prstGeom prst="rect">
            <a:avLst/>
          </a:prstGeom>
          <a:solidFill>
            <a:srgbClr val="A8C1D7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Predictor dense input cell 2-7"/>
          <p:cNvSpPr/>
          <p:nvPr/>
        </p:nvSpPr>
        <p:spPr>
          <a:xfrm>
            <a:off x="7559802" y="6620256"/>
            <a:ext cx="69723" cy="82296"/>
          </a:xfrm>
          <a:prstGeom prst="rect">
            <a:avLst/>
          </a:prstGeom>
          <a:solidFill>
            <a:srgbClr val="7C9FB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Predictor dense input cell 2-8"/>
          <p:cNvSpPr/>
          <p:nvPr/>
        </p:nvSpPr>
        <p:spPr>
          <a:xfrm>
            <a:off x="7629525" y="6620256"/>
            <a:ext cx="69723" cy="82296"/>
          </a:xfrm>
          <a:prstGeom prst="rect">
            <a:avLst/>
          </a:prstGeom>
          <a:solidFill>
            <a:srgbClr val="D4E2ED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Predictor dense input cell 3-1"/>
          <p:cNvSpPr/>
          <p:nvPr/>
        </p:nvSpPr>
        <p:spPr>
          <a:xfrm>
            <a:off x="7141464" y="6702552"/>
            <a:ext cx="69723" cy="82296"/>
          </a:xfrm>
          <a:prstGeom prst="rect">
            <a:avLst/>
          </a:prstGeom>
          <a:solidFill>
            <a:srgbClr val="A8C1D7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Predictor dense input cell 3-2"/>
          <p:cNvSpPr/>
          <p:nvPr/>
        </p:nvSpPr>
        <p:spPr>
          <a:xfrm>
            <a:off x="7211187" y="6702552"/>
            <a:ext cx="69723" cy="82296"/>
          </a:xfrm>
          <a:prstGeom prst="rect">
            <a:avLst/>
          </a:prstGeom>
          <a:solidFill>
            <a:srgbClr val="D4E2ED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Predictor dense input cell 3-3"/>
          <p:cNvSpPr/>
          <p:nvPr/>
        </p:nvSpPr>
        <p:spPr>
          <a:xfrm>
            <a:off x="7280910" y="6702552"/>
            <a:ext cx="69723" cy="82296"/>
          </a:xfrm>
          <a:prstGeom prst="rect">
            <a:avLst/>
          </a:prstGeom>
          <a:solidFill>
            <a:srgbClr val="7C9FB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Predictor dense input cell 3-4"/>
          <p:cNvSpPr/>
          <p:nvPr/>
        </p:nvSpPr>
        <p:spPr>
          <a:xfrm>
            <a:off x="7350633" y="6702552"/>
            <a:ext cx="69723" cy="82296"/>
          </a:xfrm>
          <a:prstGeom prst="rect">
            <a:avLst/>
          </a:prstGeom>
          <a:solidFill>
            <a:srgbClr val="A8C1D7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Predictor dense input cell 3-5"/>
          <p:cNvSpPr/>
          <p:nvPr/>
        </p:nvSpPr>
        <p:spPr>
          <a:xfrm>
            <a:off x="7420356" y="6702552"/>
            <a:ext cx="69723" cy="82296"/>
          </a:xfrm>
          <a:prstGeom prst="rect">
            <a:avLst/>
          </a:prstGeom>
          <a:solidFill>
            <a:srgbClr val="D4E2ED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Predictor dense input cell 3-6"/>
          <p:cNvSpPr/>
          <p:nvPr/>
        </p:nvSpPr>
        <p:spPr>
          <a:xfrm>
            <a:off x="7490079" y="6702552"/>
            <a:ext cx="69723" cy="82296"/>
          </a:xfrm>
          <a:prstGeom prst="rect">
            <a:avLst/>
          </a:prstGeom>
          <a:solidFill>
            <a:srgbClr val="7C9FBE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Predictor dense input cell 3-7"/>
          <p:cNvSpPr/>
          <p:nvPr/>
        </p:nvSpPr>
        <p:spPr>
          <a:xfrm>
            <a:off x="7559802" y="6702552"/>
            <a:ext cx="69723" cy="82296"/>
          </a:xfrm>
          <a:prstGeom prst="rect">
            <a:avLst/>
          </a:prstGeom>
          <a:solidFill>
            <a:srgbClr val="A8C1D7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Predictor dense input cell 3-8"/>
          <p:cNvSpPr/>
          <p:nvPr/>
        </p:nvSpPr>
        <p:spPr>
          <a:xfrm>
            <a:off x="7629525" y="6702552"/>
            <a:ext cx="69723" cy="82296"/>
          </a:xfrm>
          <a:prstGeom prst="rect">
            <a:avLst/>
          </a:prstGeom>
          <a:solidFill>
            <a:srgbClr val="D4E2ED"/>
          </a:solidFill>
          <a:ln w="3556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Predictor dense input border"/>
          <p:cNvSpPr/>
          <p:nvPr/>
        </p:nvSpPr>
        <p:spPr>
          <a:xfrm>
            <a:off x="7141464" y="6537960"/>
            <a:ext cx="557784" cy="246888"/>
          </a:xfrm>
          <a:prstGeom prst="rect">
            <a:avLst/>
          </a:prstGeom>
          <a:noFill/>
          <a:ln w="10160">
            <a:solidFill>
              <a:srgbClr val="104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Dense input map arrow"/>
          <p:cNvSpPr txBox="1"/>
          <p:nvPr/>
        </p:nvSpPr>
        <p:spPr>
          <a:xfrm>
            <a:off x="7735824" y="6537960"/>
            <a:ext cx="265176" cy="256032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3478"/>
                </a:solidFill>
                <a:latin typeface="Arial"/>
              </a:rPr>
              <a:t>↦</a:t>
            </a:r>
          </a:p>
        </p:txBody>
      </p:sp>
      <p:sp>
        <p:nvSpPr>
          <p:cNvPr id="686" name="Predictor slot input 1"/>
          <p:cNvSpPr/>
          <p:nvPr/>
        </p:nvSpPr>
        <p:spPr>
          <a:xfrm>
            <a:off x="7132320" y="6931152"/>
            <a:ext cx="128016" cy="155448"/>
          </a:xfrm>
          <a:prstGeom prst="roundRect">
            <a:avLst>
              <a:gd name="adj" fmla="val 14285"/>
            </a:avLst>
          </a:prstGeom>
          <a:solidFill>
            <a:srgbClr val="9A84BA"/>
          </a:solidFill>
          <a:ln w="8255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Predictor action input 1"/>
          <p:cNvSpPr/>
          <p:nvPr/>
        </p:nvSpPr>
        <p:spPr>
          <a:xfrm>
            <a:off x="7132320" y="7342631"/>
            <a:ext cx="128016" cy="155448"/>
          </a:xfrm>
          <a:prstGeom prst="roundRect">
            <a:avLst>
              <a:gd name="adj" fmla="val 14285"/>
            </a:avLst>
          </a:prstGeom>
          <a:solidFill>
            <a:srgbClr val="EDA17E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Predictor slot input 2"/>
          <p:cNvSpPr/>
          <p:nvPr/>
        </p:nvSpPr>
        <p:spPr>
          <a:xfrm>
            <a:off x="7296912" y="6931152"/>
            <a:ext cx="128016" cy="155448"/>
          </a:xfrm>
          <a:prstGeom prst="roundRect">
            <a:avLst>
              <a:gd name="adj" fmla="val 14285"/>
            </a:avLst>
          </a:prstGeom>
          <a:solidFill>
            <a:srgbClr val="9A84BA"/>
          </a:solidFill>
          <a:ln w="8255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Predictor action input 2"/>
          <p:cNvSpPr/>
          <p:nvPr/>
        </p:nvSpPr>
        <p:spPr>
          <a:xfrm>
            <a:off x="7296912" y="7342631"/>
            <a:ext cx="128016" cy="155448"/>
          </a:xfrm>
          <a:prstGeom prst="roundRect">
            <a:avLst>
              <a:gd name="adj" fmla="val 14285"/>
            </a:avLst>
          </a:prstGeom>
          <a:solidFill>
            <a:srgbClr val="EDA17E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Predictor slot input 3"/>
          <p:cNvSpPr/>
          <p:nvPr/>
        </p:nvSpPr>
        <p:spPr>
          <a:xfrm>
            <a:off x="7461504" y="6931152"/>
            <a:ext cx="128016" cy="155448"/>
          </a:xfrm>
          <a:prstGeom prst="roundRect">
            <a:avLst>
              <a:gd name="adj" fmla="val 14285"/>
            </a:avLst>
          </a:prstGeom>
          <a:solidFill>
            <a:srgbClr val="9A84BA"/>
          </a:solidFill>
          <a:ln w="8255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Predictor action input 3"/>
          <p:cNvSpPr/>
          <p:nvPr/>
        </p:nvSpPr>
        <p:spPr>
          <a:xfrm>
            <a:off x="7461504" y="7342631"/>
            <a:ext cx="128016" cy="155448"/>
          </a:xfrm>
          <a:prstGeom prst="roundRect">
            <a:avLst>
              <a:gd name="adj" fmla="val 14285"/>
            </a:avLst>
          </a:prstGeom>
          <a:solidFill>
            <a:srgbClr val="EDA17E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Predictor slot input 4"/>
          <p:cNvSpPr/>
          <p:nvPr/>
        </p:nvSpPr>
        <p:spPr>
          <a:xfrm>
            <a:off x="7626096" y="6931152"/>
            <a:ext cx="128016" cy="155448"/>
          </a:xfrm>
          <a:prstGeom prst="roundRect">
            <a:avLst>
              <a:gd name="adj" fmla="val 14285"/>
            </a:avLst>
          </a:prstGeom>
          <a:solidFill>
            <a:srgbClr val="9A84BA"/>
          </a:solidFill>
          <a:ln w="8255">
            <a:solidFill>
              <a:srgbClr val="5A3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Predictor action input 4"/>
          <p:cNvSpPr/>
          <p:nvPr/>
        </p:nvSpPr>
        <p:spPr>
          <a:xfrm>
            <a:off x="7626096" y="7342631"/>
            <a:ext cx="128016" cy="155448"/>
          </a:xfrm>
          <a:prstGeom prst="roundRect">
            <a:avLst>
              <a:gd name="adj" fmla="val 14285"/>
            </a:avLst>
          </a:prstGeom>
          <a:solidFill>
            <a:srgbClr val="EDA17E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Predictor horizon input"/>
          <p:cNvSpPr/>
          <p:nvPr/>
        </p:nvSpPr>
        <p:spPr>
          <a:xfrm>
            <a:off x="7132320" y="7744968"/>
            <a:ext cx="128016" cy="155448"/>
          </a:xfrm>
          <a:prstGeom prst="roundRect">
            <a:avLst>
              <a:gd name="adj" fmla="val 14285"/>
            </a:avLst>
          </a:prstGeom>
          <a:solidFill>
            <a:srgbClr val="FFF0DB"/>
          </a:solidFill>
          <a:ln w="8255">
            <a:solidFill>
              <a:srgbClr val="E8A7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5" name="Predictor input route 729"/>
          <p:cNvCxnSpPr/>
          <p:nvPr/>
        </p:nvCxnSpPr>
        <p:spPr>
          <a:xfrm>
            <a:off x="7772400" y="6665976"/>
            <a:ext cx="310896" cy="0"/>
          </a:xfrm>
          <a:prstGeom prst="line">
            <a:avLst/>
          </a:prstGeom>
          <a:ln w="12700">
            <a:solidFill>
              <a:srgbClr val="10447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6" name="Predictor input route 767"/>
          <p:cNvCxnSpPr/>
          <p:nvPr/>
        </p:nvCxnSpPr>
        <p:spPr>
          <a:xfrm>
            <a:off x="7790688" y="7013448"/>
            <a:ext cx="292608" cy="0"/>
          </a:xfrm>
          <a:prstGeom prst="line">
            <a:avLst/>
          </a:prstGeom>
          <a:ln w="12700">
            <a:solidFill>
              <a:srgbClr val="5A347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7" name="Predictor input route 812"/>
          <p:cNvCxnSpPr/>
          <p:nvPr/>
        </p:nvCxnSpPr>
        <p:spPr>
          <a:xfrm>
            <a:off x="7790688" y="7424927"/>
            <a:ext cx="292608" cy="0"/>
          </a:xfrm>
          <a:prstGeom prst="line">
            <a:avLst/>
          </a:prstGeom>
          <a:ln w="12700">
            <a:solidFill>
              <a:srgbClr val="D34B2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8" name="Predictor input route 856"/>
          <p:cNvCxnSpPr/>
          <p:nvPr/>
        </p:nvCxnSpPr>
        <p:spPr>
          <a:xfrm>
            <a:off x="7790688" y="7827264"/>
            <a:ext cx="292608" cy="0"/>
          </a:xfrm>
          <a:prstGeom prst="line">
            <a:avLst/>
          </a:prstGeom>
          <a:ln w="12700">
            <a:solidFill>
              <a:srgbClr val="D34B2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9" name="Latent predictor"/>
          <p:cNvSpPr/>
          <p:nvPr/>
        </p:nvSpPr>
        <p:spPr>
          <a:xfrm>
            <a:off x="8083296" y="6537960"/>
            <a:ext cx="1591056" cy="1609344"/>
          </a:xfrm>
          <a:prstGeom prst="roundRect">
            <a:avLst>
              <a:gd name="adj" fmla="val 8000"/>
            </a:avLst>
          </a:prstGeom>
          <a:solidFill>
            <a:srgbClr val="FFF7F2"/>
          </a:solidFill>
          <a:ln w="12065">
            <a:solidFill>
              <a:srgbClr val="E89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Latent predictor heading"/>
          <p:cNvSpPr txBox="1"/>
          <p:nvPr/>
        </p:nvSpPr>
        <p:spPr>
          <a:xfrm>
            <a:off x="8311896" y="6684264"/>
            <a:ext cx="1143000" cy="28346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6270F"/>
                </a:solidFill>
                <a:latin typeface="Arial"/>
              </a:rPr>
              <a:t>Latent predictor</a:t>
            </a:r>
          </a:p>
        </p:txBody>
      </p:sp>
      <p:sp>
        <p:nvSpPr>
          <p:cNvPr id="701" name="Predictor trainable flame"/>
          <p:cNvSpPr/>
          <p:nvPr/>
        </p:nvSpPr>
        <p:spPr>
          <a:xfrm>
            <a:off x="9436608" y="6638544"/>
            <a:ext cx="109728" cy="18288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7" y="0"/>
                </a:moveTo>
                <a:lnTo>
                  <a:pt x="12" y="8"/>
                </a:lnTo>
                <a:lnTo>
                  <a:pt x="11" y="16"/>
                </a:lnTo>
                <a:lnTo>
                  <a:pt x="6" y="20"/>
                </a:lnTo>
                <a:lnTo>
                  <a:pt x="1" y="16"/>
                </a:lnTo>
                <a:lnTo>
                  <a:pt x="0" y="9"/>
                </a:lnTo>
                <a:lnTo>
                  <a:pt x="4" y="4"/>
                </a:lnTo>
                <a:lnTo>
                  <a:pt x="4" y="11"/>
                </a:lnTo>
                <a:close/>
              </a:path>
            </a:pathLst>
          </a:custGeom>
          <a:solidFill>
            <a:srgbClr val="D34B22"/>
          </a:solidFill>
          <a:ln w="6985">
            <a:solidFill>
              <a:srgbClr val="A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Predictor trainable flame inner"/>
          <p:cNvSpPr/>
          <p:nvPr/>
        </p:nvSpPr>
        <p:spPr>
          <a:xfrm>
            <a:off x="9469526" y="6712610"/>
            <a:ext cx="45720" cy="82296"/>
          </a:xfrm>
          <a:custGeom>
            <a:avLst/>
            <a:gdLst/>
            <a:ahLst/>
            <a:cxnLst/>
            <a:rect l="l" t="t" r="r" b="b"/>
            <a:pathLst>
              <a:path w="5" h="9">
                <a:moveTo>
                  <a:pt x="3" y="0"/>
                </a:moveTo>
                <a:lnTo>
                  <a:pt x="5" y="5"/>
                </a:lnTo>
                <a:lnTo>
                  <a:pt x="3" y="9"/>
                </a:lnTo>
                <a:lnTo>
                  <a:pt x="0" y="5"/>
                </a:lnTo>
                <a:close/>
              </a:path>
            </a:pathLst>
          </a:custGeom>
          <a:solidFill>
            <a:srgbClr val="FFFDFC"/>
          </a:solidFill>
          <a:ln w="3810">
            <a:solidFill>
              <a:srgbClr val="FFFD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3" name="Latent predictor network edge L0M0"/>
          <p:cNvCxnSpPr/>
          <p:nvPr/>
        </p:nvCxnSpPr>
        <p:spPr>
          <a:xfrm flipV="1">
            <a:off x="8339327" y="7146493"/>
            <a:ext cx="532547" cy="108173"/>
          </a:xfrm>
          <a:prstGeom prst="line">
            <a:avLst/>
          </a:prstGeom>
          <a:ln w="571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4" name="Latent predictor network edge L0M1"/>
          <p:cNvCxnSpPr/>
          <p:nvPr/>
        </p:nvCxnSpPr>
        <p:spPr>
          <a:xfrm>
            <a:off x="8339327" y="7254666"/>
            <a:ext cx="532547" cy="141458"/>
          </a:xfrm>
          <a:prstGeom prst="line">
            <a:avLst/>
          </a:prstGeom>
          <a:ln w="571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5" name="Latent predictor network edge L0M2"/>
          <p:cNvCxnSpPr/>
          <p:nvPr/>
        </p:nvCxnSpPr>
        <p:spPr>
          <a:xfrm>
            <a:off x="8339327" y="7254666"/>
            <a:ext cx="532547" cy="391089"/>
          </a:xfrm>
          <a:prstGeom prst="line">
            <a:avLst/>
          </a:prstGeom>
          <a:ln w="571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6" name="Latent predictor network edge L0M3"/>
          <p:cNvCxnSpPr/>
          <p:nvPr/>
        </p:nvCxnSpPr>
        <p:spPr>
          <a:xfrm>
            <a:off x="8339327" y="7254666"/>
            <a:ext cx="532547" cy="640720"/>
          </a:xfrm>
          <a:prstGeom prst="line">
            <a:avLst/>
          </a:prstGeom>
          <a:ln w="571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7" name="Latent predictor network edge L1M0"/>
          <p:cNvCxnSpPr/>
          <p:nvPr/>
        </p:nvCxnSpPr>
        <p:spPr>
          <a:xfrm flipV="1">
            <a:off x="8339327" y="7146493"/>
            <a:ext cx="532547" cy="374447"/>
          </a:xfrm>
          <a:prstGeom prst="line">
            <a:avLst/>
          </a:prstGeom>
          <a:ln w="571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8" name="Latent predictor network edge L1M1"/>
          <p:cNvCxnSpPr/>
          <p:nvPr/>
        </p:nvCxnSpPr>
        <p:spPr>
          <a:xfrm flipV="1">
            <a:off x="8339327" y="7396124"/>
            <a:ext cx="532547" cy="124816"/>
          </a:xfrm>
          <a:prstGeom prst="line">
            <a:avLst/>
          </a:prstGeom>
          <a:ln w="571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9" name="Latent predictor network edge L1M2"/>
          <p:cNvCxnSpPr/>
          <p:nvPr/>
        </p:nvCxnSpPr>
        <p:spPr>
          <a:xfrm>
            <a:off x="8339327" y="7520940"/>
            <a:ext cx="532547" cy="124815"/>
          </a:xfrm>
          <a:prstGeom prst="line">
            <a:avLst/>
          </a:prstGeom>
          <a:ln w="571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0" name="Latent predictor network edge L1M3"/>
          <p:cNvCxnSpPr/>
          <p:nvPr/>
        </p:nvCxnSpPr>
        <p:spPr>
          <a:xfrm>
            <a:off x="8339327" y="7520940"/>
            <a:ext cx="532547" cy="374446"/>
          </a:xfrm>
          <a:prstGeom prst="line">
            <a:avLst/>
          </a:prstGeom>
          <a:ln w="571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1" name="Latent predictor network edge L2M0"/>
          <p:cNvCxnSpPr/>
          <p:nvPr/>
        </p:nvCxnSpPr>
        <p:spPr>
          <a:xfrm flipV="1">
            <a:off x="8339327" y="7146493"/>
            <a:ext cx="532547" cy="640720"/>
          </a:xfrm>
          <a:prstGeom prst="line">
            <a:avLst/>
          </a:prstGeom>
          <a:ln w="571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2" name="Latent predictor network edge L2M1"/>
          <p:cNvCxnSpPr/>
          <p:nvPr/>
        </p:nvCxnSpPr>
        <p:spPr>
          <a:xfrm flipV="1">
            <a:off x="8339327" y="7396124"/>
            <a:ext cx="532547" cy="391089"/>
          </a:xfrm>
          <a:prstGeom prst="line">
            <a:avLst/>
          </a:prstGeom>
          <a:ln w="571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3" name="Latent predictor network edge L2M2"/>
          <p:cNvCxnSpPr/>
          <p:nvPr/>
        </p:nvCxnSpPr>
        <p:spPr>
          <a:xfrm flipV="1">
            <a:off x="8339327" y="7645755"/>
            <a:ext cx="532547" cy="141458"/>
          </a:xfrm>
          <a:prstGeom prst="line">
            <a:avLst/>
          </a:prstGeom>
          <a:ln w="571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4" name="Latent predictor network edge L2M3"/>
          <p:cNvCxnSpPr/>
          <p:nvPr/>
        </p:nvCxnSpPr>
        <p:spPr>
          <a:xfrm>
            <a:off x="8339327" y="7787213"/>
            <a:ext cx="532547" cy="108173"/>
          </a:xfrm>
          <a:prstGeom prst="line">
            <a:avLst/>
          </a:prstGeom>
          <a:ln w="571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5" name="Latent predictor network edge M0R0"/>
          <p:cNvCxnSpPr/>
          <p:nvPr/>
        </p:nvCxnSpPr>
        <p:spPr>
          <a:xfrm>
            <a:off x="8871874" y="7146493"/>
            <a:ext cx="491582" cy="141457"/>
          </a:xfrm>
          <a:prstGeom prst="line">
            <a:avLst/>
          </a:prstGeom>
          <a:ln w="571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6" name="Latent predictor network edge M0R1"/>
          <p:cNvCxnSpPr/>
          <p:nvPr/>
        </p:nvCxnSpPr>
        <p:spPr>
          <a:xfrm>
            <a:off x="8871874" y="7146493"/>
            <a:ext cx="491582" cy="391089"/>
          </a:xfrm>
          <a:prstGeom prst="line">
            <a:avLst/>
          </a:prstGeom>
          <a:ln w="571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" name="Latent predictor network edge M0R2"/>
          <p:cNvCxnSpPr/>
          <p:nvPr/>
        </p:nvCxnSpPr>
        <p:spPr>
          <a:xfrm>
            <a:off x="8871874" y="7146493"/>
            <a:ext cx="491582" cy="640720"/>
          </a:xfrm>
          <a:prstGeom prst="line">
            <a:avLst/>
          </a:prstGeom>
          <a:ln w="571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" name="Latent predictor network edge M1R0"/>
          <p:cNvCxnSpPr/>
          <p:nvPr/>
        </p:nvCxnSpPr>
        <p:spPr>
          <a:xfrm flipV="1">
            <a:off x="8871874" y="7287950"/>
            <a:ext cx="491582" cy="108174"/>
          </a:xfrm>
          <a:prstGeom prst="line">
            <a:avLst/>
          </a:prstGeom>
          <a:ln w="571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" name="Latent predictor network edge M1R1"/>
          <p:cNvCxnSpPr/>
          <p:nvPr/>
        </p:nvCxnSpPr>
        <p:spPr>
          <a:xfrm>
            <a:off x="8871874" y="7396124"/>
            <a:ext cx="491582" cy="141458"/>
          </a:xfrm>
          <a:prstGeom prst="line">
            <a:avLst/>
          </a:prstGeom>
          <a:ln w="571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" name="Latent predictor network edge M1R2"/>
          <p:cNvCxnSpPr/>
          <p:nvPr/>
        </p:nvCxnSpPr>
        <p:spPr>
          <a:xfrm>
            <a:off x="8871874" y="7396124"/>
            <a:ext cx="491582" cy="391089"/>
          </a:xfrm>
          <a:prstGeom prst="line">
            <a:avLst/>
          </a:prstGeom>
          <a:ln w="571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1" name="Latent predictor network edge M2R0"/>
          <p:cNvCxnSpPr/>
          <p:nvPr/>
        </p:nvCxnSpPr>
        <p:spPr>
          <a:xfrm flipV="1">
            <a:off x="8871874" y="7287950"/>
            <a:ext cx="491582" cy="357805"/>
          </a:xfrm>
          <a:prstGeom prst="line">
            <a:avLst/>
          </a:prstGeom>
          <a:ln w="571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2" name="Latent predictor network edge M2R1"/>
          <p:cNvCxnSpPr/>
          <p:nvPr/>
        </p:nvCxnSpPr>
        <p:spPr>
          <a:xfrm flipV="1">
            <a:off x="8871874" y="7537582"/>
            <a:ext cx="491582" cy="108173"/>
          </a:xfrm>
          <a:prstGeom prst="line">
            <a:avLst/>
          </a:prstGeom>
          <a:ln w="571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3" name="Latent predictor network edge M2R2"/>
          <p:cNvCxnSpPr/>
          <p:nvPr/>
        </p:nvCxnSpPr>
        <p:spPr>
          <a:xfrm>
            <a:off x="8871874" y="7645755"/>
            <a:ext cx="491582" cy="141458"/>
          </a:xfrm>
          <a:prstGeom prst="line">
            <a:avLst/>
          </a:prstGeom>
          <a:ln w="571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4" name="Latent predictor network edge M3R0"/>
          <p:cNvCxnSpPr/>
          <p:nvPr/>
        </p:nvCxnSpPr>
        <p:spPr>
          <a:xfrm flipV="1">
            <a:off x="8871874" y="7287950"/>
            <a:ext cx="491582" cy="607436"/>
          </a:xfrm>
          <a:prstGeom prst="line">
            <a:avLst/>
          </a:prstGeom>
          <a:ln w="571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Latent predictor network edge M3R1"/>
          <p:cNvCxnSpPr/>
          <p:nvPr/>
        </p:nvCxnSpPr>
        <p:spPr>
          <a:xfrm flipV="1">
            <a:off x="8871874" y="7537582"/>
            <a:ext cx="491582" cy="357804"/>
          </a:xfrm>
          <a:prstGeom prst="line">
            <a:avLst/>
          </a:prstGeom>
          <a:ln w="571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6" name="Latent predictor network edge M3R2"/>
          <p:cNvCxnSpPr/>
          <p:nvPr/>
        </p:nvCxnSpPr>
        <p:spPr>
          <a:xfrm flipV="1">
            <a:off x="8871874" y="7787213"/>
            <a:ext cx="491582" cy="108173"/>
          </a:xfrm>
          <a:prstGeom prst="line">
            <a:avLst/>
          </a:prstGeom>
          <a:ln w="571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7" name="Latent predictor network node 1"/>
          <p:cNvSpPr/>
          <p:nvPr/>
        </p:nvSpPr>
        <p:spPr>
          <a:xfrm>
            <a:off x="8284464" y="7199802"/>
            <a:ext cx="109728" cy="109728"/>
          </a:xfrm>
          <a:prstGeom prst="ellipse">
            <a:avLst/>
          </a:prstGeom>
          <a:solidFill>
            <a:srgbClr val="E89872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Latent predictor network node 2"/>
          <p:cNvSpPr/>
          <p:nvPr/>
        </p:nvSpPr>
        <p:spPr>
          <a:xfrm>
            <a:off x="8284464" y="7466075"/>
            <a:ext cx="109728" cy="109728"/>
          </a:xfrm>
          <a:prstGeom prst="ellipse">
            <a:avLst/>
          </a:prstGeom>
          <a:solidFill>
            <a:srgbClr val="E89872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Latent predictor network node 3"/>
          <p:cNvSpPr/>
          <p:nvPr/>
        </p:nvSpPr>
        <p:spPr>
          <a:xfrm>
            <a:off x="8284464" y="7732349"/>
            <a:ext cx="109728" cy="109728"/>
          </a:xfrm>
          <a:prstGeom prst="ellipse">
            <a:avLst/>
          </a:prstGeom>
          <a:solidFill>
            <a:srgbClr val="E89872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Latent predictor network node 4"/>
          <p:cNvSpPr/>
          <p:nvPr/>
        </p:nvSpPr>
        <p:spPr>
          <a:xfrm>
            <a:off x="8817010" y="7091629"/>
            <a:ext cx="109728" cy="109728"/>
          </a:xfrm>
          <a:prstGeom prst="ellipse">
            <a:avLst/>
          </a:prstGeom>
          <a:solidFill>
            <a:srgbClr val="E89872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Latent predictor network node 5"/>
          <p:cNvSpPr/>
          <p:nvPr/>
        </p:nvSpPr>
        <p:spPr>
          <a:xfrm>
            <a:off x="8817010" y="7341260"/>
            <a:ext cx="109728" cy="109728"/>
          </a:xfrm>
          <a:prstGeom prst="ellipse">
            <a:avLst/>
          </a:prstGeom>
          <a:solidFill>
            <a:srgbClr val="E89872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Latent predictor network node 6"/>
          <p:cNvSpPr/>
          <p:nvPr/>
        </p:nvSpPr>
        <p:spPr>
          <a:xfrm>
            <a:off x="8817010" y="7590891"/>
            <a:ext cx="109728" cy="109728"/>
          </a:xfrm>
          <a:prstGeom prst="ellipse">
            <a:avLst/>
          </a:prstGeom>
          <a:solidFill>
            <a:srgbClr val="E89872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Latent predictor network node 7"/>
          <p:cNvSpPr/>
          <p:nvPr/>
        </p:nvSpPr>
        <p:spPr>
          <a:xfrm>
            <a:off x="8817010" y="7840522"/>
            <a:ext cx="109728" cy="109728"/>
          </a:xfrm>
          <a:prstGeom prst="ellipse">
            <a:avLst/>
          </a:prstGeom>
          <a:solidFill>
            <a:srgbClr val="E89872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Latent predictor network node 8"/>
          <p:cNvSpPr/>
          <p:nvPr/>
        </p:nvSpPr>
        <p:spPr>
          <a:xfrm>
            <a:off x="9308592" y="7233086"/>
            <a:ext cx="109728" cy="109728"/>
          </a:xfrm>
          <a:prstGeom prst="ellipse">
            <a:avLst/>
          </a:prstGeom>
          <a:solidFill>
            <a:srgbClr val="E89872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Latent predictor network node 9"/>
          <p:cNvSpPr/>
          <p:nvPr/>
        </p:nvSpPr>
        <p:spPr>
          <a:xfrm>
            <a:off x="9308592" y="7482718"/>
            <a:ext cx="109728" cy="109728"/>
          </a:xfrm>
          <a:prstGeom prst="ellipse">
            <a:avLst/>
          </a:prstGeom>
          <a:solidFill>
            <a:srgbClr val="E89872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Latent predictor network node 10"/>
          <p:cNvSpPr/>
          <p:nvPr/>
        </p:nvSpPr>
        <p:spPr>
          <a:xfrm>
            <a:off x="9308592" y="7732349"/>
            <a:ext cx="109728" cy="109728"/>
          </a:xfrm>
          <a:prstGeom prst="ellipse">
            <a:avLst/>
          </a:prstGeom>
          <a:solidFill>
            <a:srgbClr val="E89872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Latent loss"/>
          <p:cNvSpPr/>
          <p:nvPr/>
        </p:nvSpPr>
        <p:spPr>
          <a:xfrm>
            <a:off x="11951208" y="5934456"/>
            <a:ext cx="841248" cy="795528"/>
          </a:xfrm>
          <a:prstGeom prst="ellipse">
            <a:avLst/>
          </a:prstGeom>
          <a:solidFill>
            <a:srgbClr val="FFF7F1"/>
          </a:solidFill>
          <a:ln w="11430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Loss symbol"/>
          <p:cNvSpPr txBox="1"/>
          <p:nvPr/>
        </p:nvSpPr>
        <p:spPr>
          <a:xfrm>
            <a:off x="12207240" y="6025896"/>
            <a:ext cx="347472" cy="27432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101721"/>
                </a:solidFill>
                <a:latin typeface="Times New Roman"/>
              </a:rPr>
              <a:t>ℒ</a:t>
            </a:r>
          </a:p>
        </p:txBody>
      </p:sp>
      <p:sp>
        <p:nvSpPr>
          <p:cNvPr id="739" name="Latent loss label"/>
          <p:cNvSpPr txBox="1"/>
          <p:nvPr/>
        </p:nvSpPr>
        <p:spPr>
          <a:xfrm>
            <a:off x="12088368" y="6309360"/>
            <a:ext cx="566928" cy="23774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01721"/>
                </a:solidFill>
                <a:latin typeface="Arial"/>
              </a:rPr>
              <a:t>(latent loss)</a:t>
            </a:r>
          </a:p>
        </p:txBody>
      </p:sp>
      <p:sp>
        <p:nvSpPr>
          <p:cNvPr id="740" name="Prediction panel"/>
          <p:cNvSpPr/>
          <p:nvPr/>
        </p:nvSpPr>
        <p:spPr>
          <a:xfrm>
            <a:off x="11082528" y="6976872"/>
            <a:ext cx="2770632" cy="1243584"/>
          </a:xfrm>
          <a:prstGeom prst="roundRect">
            <a:avLst>
              <a:gd name="adj" fmla="val 8000"/>
            </a:avLst>
          </a:prstGeom>
          <a:solidFill>
            <a:srgbClr val="FFF9F3"/>
          </a:solidFill>
          <a:ln w="11430">
            <a:solidFill>
              <a:srgbClr val="E89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Prediction heading"/>
          <p:cNvSpPr txBox="1"/>
          <p:nvPr/>
        </p:nvSpPr>
        <p:spPr>
          <a:xfrm>
            <a:off x="11731752" y="7040880"/>
            <a:ext cx="1618488" cy="28346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34B22"/>
                </a:solidFill>
                <a:latin typeface="Arial"/>
              </a:rPr>
              <a:t>Prediction Ŷₜ,ₕ</a:t>
            </a:r>
          </a:p>
        </p:txBody>
      </p:sp>
      <p:sp>
        <p:nvSpPr>
          <p:cNvPr id="742" name="Prediction read-only lock shackle"/>
          <p:cNvSpPr/>
          <p:nvPr/>
        </p:nvSpPr>
        <p:spPr>
          <a:xfrm>
            <a:off x="13517940" y="7086600"/>
            <a:ext cx="85587" cy="92720"/>
          </a:xfrm>
          <a:prstGeom prst="ellipse">
            <a:avLst/>
          </a:prstGeom>
          <a:noFill/>
          <a:ln w="12700">
            <a:solidFill>
              <a:srgbClr val="B49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Prediction read-only lock body"/>
          <p:cNvSpPr/>
          <p:nvPr/>
        </p:nvSpPr>
        <p:spPr>
          <a:xfrm>
            <a:off x="13496544" y="7136526"/>
            <a:ext cx="128381" cy="121249"/>
          </a:xfrm>
          <a:prstGeom prst="roundRect">
            <a:avLst>
              <a:gd name="adj" fmla="val 8000"/>
            </a:avLst>
          </a:prstGeom>
          <a:solidFill>
            <a:srgbClr val="B49570"/>
          </a:solidFill>
          <a:ln w="7620">
            <a:solidFill>
              <a:srgbClr val="B49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Prediction read-only lock keyhole"/>
          <p:cNvSpPr/>
          <p:nvPr/>
        </p:nvSpPr>
        <p:spPr>
          <a:xfrm>
            <a:off x="13547896" y="7165055"/>
            <a:ext cx="25676" cy="28529"/>
          </a:xfrm>
          <a:prstGeom prst="ellipse">
            <a:avLst/>
          </a:prstGeom>
          <a:solidFill>
            <a:srgbClr val="FFFDFC"/>
          </a:solidFill>
          <a:ln w="2540">
            <a:solidFill>
              <a:srgbClr val="FFFD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5" name="Prediction read-only lock key stem"/>
          <p:cNvCxnSpPr/>
          <p:nvPr/>
        </p:nvCxnSpPr>
        <p:spPr>
          <a:xfrm>
            <a:off x="13560734" y="7186452"/>
            <a:ext cx="0" cy="28529"/>
          </a:xfrm>
          <a:prstGeom prst="line">
            <a:avLst/>
          </a:prstGeom>
          <a:ln w="10160">
            <a:solidFill>
              <a:srgbClr val="FFFDF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6" name="Prediction global label"/>
          <p:cNvSpPr txBox="1"/>
          <p:nvPr/>
        </p:nvSpPr>
        <p:spPr>
          <a:xfrm>
            <a:off x="11192256" y="7397496"/>
            <a:ext cx="493776" cy="31089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101721"/>
                </a:solidFill>
                <a:latin typeface="Arial"/>
              </a:rPr>
              <a:t>Global
latent</a:t>
            </a:r>
          </a:p>
        </p:txBody>
      </p:sp>
      <p:sp>
        <p:nvSpPr>
          <p:cNvPr id="747" name="Prediction global cube front"/>
          <p:cNvSpPr/>
          <p:nvPr/>
        </p:nvSpPr>
        <p:spPr>
          <a:xfrm>
            <a:off x="11228832" y="7766913"/>
            <a:ext cx="320040" cy="320040"/>
          </a:xfrm>
          <a:prstGeom prst="rect">
            <a:avLst/>
          </a:prstGeom>
          <a:solidFill>
            <a:srgbClr val="F1AF8E"/>
          </a:solidFill>
          <a:ln w="10160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8" name="Prediction global cube front vertical 1"/>
          <p:cNvCxnSpPr/>
          <p:nvPr/>
        </p:nvCxnSpPr>
        <p:spPr>
          <a:xfrm>
            <a:off x="11335512" y="7766913"/>
            <a:ext cx="0" cy="320040"/>
          </a:xfrm>
          <a:prstGeom prst="line">
            <a:avLst/>
          </a:prstGeom>
          <a:ln w="444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9" name="Prediction global cube front vertical 2"/>
          <p:cNvCxnSpPr/>
          <p:nvPr/>
        </p:nvCxnSpPr>
        <p:spPr>
          <a:xfrm>
            <a:off x="11442191" y="7766913"/>
            <a:ext cx="0" cy="320040"/>
          </a:xfrm>
          <a:prstGeom prst="line">
            <a:avLst/>
          </a:prstGeom>
          <a:ln w="444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0" name="Prediction global cube front horizontal 1"/>
          <p:cNvCxnSpPr/>
          <p:nvPr/>
        </p:nvCxnSpPr>
        <p:spPr>
          <a:xfrm>
            <a:off x="11228832" y="7873593"/>
            <a:ext cx="320040" cy="0"/>
          </a:xfrm>
          <a:prstGeom prst="line">
            <a:avLst/>
          </a:prstGeom>
          <a:ln w="444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Prediction global cube front horizontal 2"/>
          <p:cNvCxnSpPr/>
          <p:nvPr/>
        </p:nvCxnSpPr>
        <p:spPr>
          <a:xfrm>
            <a:off x="11228832" y="7980273"/>
            <a:ext cx="320040" cy="0"/>
          </a:xfrm>
          <a:prstGeom prst="line">
            <a:avLst/>
          </a:prstGeom>
          <a:ln w="4445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2" name="Prediction global cube top"/>
          <p:cNvSpPr/>
          <p:nvPr/>
        </p:nvSpPr>
        <p:spPr>
          <a:xfrm>
            <a:off x="11228832" y="7690104"/>
            <a:ext cx="393192" cy="73152"/>
          </a:xfrm>
          <a:custGeom>
            <a:avLst/>
            <a:gdLst/>
            <a:ahLst/>
            <a:cxnLst/>
            <a:rect l="l" t="t" r="r" b="b"/>
            <a:pathLst>
              <a:path w="43" h="8">
                <a:moveTo>
                  <a:pt x="0" y="8"/>
                </a:moveTo>
                <a:lnTo>
                  <a:pt x="8" y="0"/>
                </a:lnTo>
                <a:lnTo>
                  <a:pt x="43" y="0"/>
                </a:lnTo>
                <a:lnTo>
                  <a:pt x="35" y="8"/>
                </a:lnTo>
                <a:close/>
              </a:path>
            </a:pathLst>
          </a:custGeom>
          <a:solidFill>
            <a:srgbClr val="F1AF8E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Prediction global cube side"/>
          <p:cNvSpPr/>
          <p:nvPr/>
        </p:nvSpPr>
        <p:spPr>
          <a:xfrm>
            <a:off x="11548872" y="7690104"/>
            <a:ext cx="73152" cy="393192"/>
          </a:xfrm>
          <a:custGeom>
            <a:avLst/>
            <a:gdLst/>
            <a:ahLst/>
            <a:cxnLst/>
            <a:rect l="l" t="t" r="r" b="b"/>
            <a:pathLst>
              <a:path w="8" h="43">
                <a:moveTo>
                  <a:pt x="0" y="8"/>
                </a:moveTo>
                <a:lnTo>
                  <a:pt x="8" y="0"/>
                </a:lnTo>
                <a:lnTo>
                  <a:pt x="8" y="35"/>
                </a:lnTo>
                <a:lnTo>
                  <a:pt x="0" y="43"/>
                </a:lnTo>
                <a:close/>
              </a:path>
            </a:pathLst>
          </a:custGeom>
          <a:solidFill>
            <a:srgbClr val="DA6D3D"/>
          </a:solidFill>
          <a:ln w="8255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4" name="Prediction global cube top grid 1"/>
          <p:cNvCxnSpPr/>
          <p:nvPr/>
        </p:nvCxnSpPr>
        <p:spPr>
          <a:xfrm flipH="1">
            <a:off x="11335512" y="7690104"/>
            <a:ext cx="76809" cy="76809"/>
          </a:xfrm>
          <a:prstGeom prst="line">
            <a:avLst/>
          </a:prstGeom>
          <a:ln w="3810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5" name="Prediction global cube side grid 1"/>
          <p:cNvCxnSpPr/>
          <p:nvPr/>
        </p:nvCxnSpPr>
        <p:spPr>
          <a:xfrm flipV="1">
            <a:off x="11548872" y="7796783"/>
            <a:ext cx="76809" cy="76810"/>
          </a:xfrm>
          <a:prstGeom prst="line">
            <a:avLst/>
          </a:prstGeom>
          <a:ln w="3810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6" name="Prediction global cube top grid 2"/>
          <p:cNvCxnSpPr/>
          <p:nvPr/>
        </p:nvCxnSpPr>
        <p:spPr>
          <a:xfrm flipH="1">
            <a:off x="11442191" y="7690104"/>
            <a:ext cx="76810" cy="76809"/>
          </a:xfrm>
          <a:prstGeom prst="line">
            <a:avLst/>
          </a:prstGeom>
          <a:ln w="3810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" name="Prediction global cube side grid 2"/>
          <p:cNvCxnSpPr/>
          <p:nvPr/>
        </p:nvCxnSpPr>
        <p:spPr>
          <a:xfrm flipV="1">
            <a:off x="11548872" y="7903464"/>
            <a:ext cx="76809" cy="76809"/>
          </a:xfrm>
          <a:prstGeom prst="line">
            <a:avLst/>
          </a:prstGeom>
          <a:ln w="3810">
            <a:solidFill>
              <a:srgbClr val="D34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8" name="Prediction plus"/>
          <p:cNvSpPr txBox="1"/>
          <p:nvPr/>
        </p:nvSpPr>
        <p:spPr>
          <a:xfrm>
            <a:off x="11704320" y="7763256"/>
            <a:ext cx="256032" cy="26517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F2A16"/>
                </a:solidFill>
                <a:latin typeface="Arial"/>
              </a:rPr>
              <a:t>+</a:t>
            </a:r>
          </a:p>
        </p:txBody>
      </p:sp>
      <p:sp>
        <p:nvSpPr>
          <p:cNvPr id="759" name="Prediction regional label"/>
          <p:cNvSpPr txBox="1"/>
          <p:nvPr/>
        </p:nvSpPr>
        <p:spPr>
          <a:xfrm>
            <a:off x="11923776" y="7388352"/>
            <a:ext cx="1536192" cy="22860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01721"/>
                </a:solidFill>
                <a:latin typeface="Arial"/>
              </a:rPr>
              <a:t>Regional latents (multiscale)</a:t>
            </a:r>
          </a:p>
        </p:txBody>
      </p:sp>
      <p:sp>
        <p:nvSpPr>
          <p:cNvPr id="760" name="Prediction regional coarse cell 1-1"/>
          <p:cNvSpPr/>
          <p:nvPr/>
        </p:nvSpPr>
        <p:spPr>
          <a:xfrm>
            <a:off x="11978640" y="7607808"/>
            <a:ext cx="96926" cy="98755"/>
          </a:xfrm>
          <a:prstGeom prst="rect">
            <a:avLst/>
          </a:prstGeom>
          <a:solidFill>
            <a:srgbClr val="FFE0CE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Prediction regional coarse cell 1-2"/>
          <p:cNvSpPr/>
          <p:nvPr/>
        </p:nvSpPr>
        <p:spPr>
          <a:xfrm>
            <a:off x="12075566" y="7607808"/>
            <a:ext cx="96926" cy="98755"/>
          </a:xfrm>
          <a:prstGeom prst="rect">
            <a:avLst/>
          </a:prstGeom>
          <a:solidFill>
            <a:srgbClr val="FFE0CE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Prediction regional coarse cell 1-3"/>
          <p:cNvSpPr/>
          <p:nvPr/>
        </p:nvSpPr>
        <p:spPr>
          <a:xfrm>
            <a:off x="12172492" y="7607808"/>
            <a:ext cx="96926" cy="98755"/>
          </a:xfrm>
          <a:prstGeom prst="rect">
            <a:avLst/>
          </a:prstGeom>
          <a:solidFill>
            <a:srgbClr val="FFE0CE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Prediction regional coarse cell 1-4"/>
          <p:cNvSpPr/>
          <p:nvPr/>
        </p:nvSpPr>
        <p:spPr>
          <a:xfrm>
            <a:off x="12269419" y="7607808"/>
            <a:ext cx="96926" cy="98755"/>
          </a:xfrm>
          <a:prstGeom prst="rect">
            <a:avLst/>
          </a:prstGeom>
          <a:solidFill>
            <a:srgbClr val="FFE0CE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Prediction regional coarse cell 1-5"/>
          <p:cNvSpPr/>
          <p:nvPr/>
        </p:nvSpPr>
        <p:spPr>
          <a:xfrm>
            <a:off x="12366345" y="7607808"/>
            <a:ext cx="96926" cy="98755"/>
          </a:xfrm>
          <a:prstGeom prst="rect">
            <a:avLst/>
          </a:prstGeom>
          <a:solidFill>
            <a:srgbClr val="FFE0CE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Prediction regional coarse cell 2-1"/>
          <p:cNvSpPr/>
          <p:nvPr/>
        </p:nvSpPr>
        <p:spPr>
          <a:xfrm>
            <a:off x="11978640" y="7706563"/>
            <a:ext cx="96926" cy="98755"/>
          </a:xfrm>
          <a:prstGeom prst="rect">
            <a:avLst/>
          </a:prstGeom>
          <a:solidFill>
            <a:srgbClr val="E78153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Prediction regional coarse cell 2-2"/>
          <p:cNvSpPr/>
          <p:nvPr/>
        </p:nvSpPr>
        <p:spPr>
          <a:xfrm>
            <a:off x="12075566" y="7706563"/>
            <a:ext cx="96926" cy="98755"/>
          </a:xfrm>
          <a:prstGeom prst="rect">
            <a:avLst/>
          </a:prstGeom>
          <a:solidFill>
            <a:srgbClr val="FFE0CE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Prediction regional coarse cell 2-3"/>
          <p:cNvSpPr/>
          <p:nvPr/>
        </p:nvSpPr>
        <p:spPr>
          <a:xfrm>
            <a:off x="12172492" y="7706563"/>
            <a:ext cx="96926" cy="98755"/>
          </a:xfrm>
          <a:prstGeom prst="rect">
            <a:avLst/>
          </a:prstGeom>
          <a:solidFill>
            <a:srgbClr val="F4B18F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Prediction regional coarse cell 2-4"/>
          <p:cNvSpPr/>
          <p:nvPr/>
        </p:nvSpPr>
        <p:spPr>
          <a:xfrm>
            <a:off x="12269419" y="7706563"/>
            <a:ext cx="96926" cy="98755"/>
          </a:xfrm>
          <a:prstGeom prst="rect">
            <a:avLst/>
          </a:prstGeom>
          <a:solidFill>
            <a:srgbClr val="E78153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Prediction regional coarse cell 2-5"/>
          <p:cNvSpPr/>
          <p:nvPr/>
        </p:nvSpPr>
        <p:spPr>
          <a:xfrm>
            <a:off x="12366345" y="7706563"/>
            <a:ext cx="96926" cy="98755"/>
          </a:xfrm>
          <a:prstGeom prst="rect">
            <a:avLst/>
          </a:prstGeom>
          <a:solidFill>
            <a:srgbClr val="FFE0CE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Prediction regional coarse cell 3-1"/>
          <p:cNvSpPr/>
          <p:nvPr/>
        </p:nvSpPr>
        <p:spPr>
          <a:xfrm>
            <a:off x="11978640" y="7805318"/>
            <a:ext cx="96926" cy="98755"/>
          </a:xfrm>
          <a:prstGeom prst="rect">
            <a:avLst/>
          </a:prstGeom>
          <a:solidFill>
            <a:srgbClr val="F4B18F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Prediction regional coarse cell 3-2"/>
          <p:cNvSpPr/>
          <p:nvPr/>
        </p:nvSpPr>
        <p:spPr>
          <a:xfrm>
            <a:off x="12075566" y="7805318"/>
            <a:ext cx="96926" cy="98755"/>
          </a:xfrm>
          <a:prstGeom prst="rect">
            <a:avLst/>
          </a:prstGeom>
          <a:solidFill>
            <a:srgbClr val="FFE0CE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Prediction regional coarse cell 3-3"/>
          <p:cNvSpPr/>
          <p:nvPr/>
        </p:nvSpPr>
        <p:spPr>
          <a:xfrm>
            <a:off x="12172492" y="7805318"/>
            <a:ext cx="96926" cy="98755"/>
          </a:xfrm>
          <a:prstGeom prst="rect">
            <a:avLst/>
          </a:prstGeom>
          <a:solidFill>
            <a:srgbClr val="E78153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Prediction regional coarse cell 3-4"/>
          <p:cNvSpPr/>
          <p:nvPr/>
        </p:nvSpPr>
        <p:spPr>
          <a:xfrm>
            <a:off x="12269419" y="7805318"/>
            <a:ext cx="96926" cy="98755"/>
          </a:xfrm>
          <a:prstGeom prst="rect">
            <a:avLst/>
          </a:prstGeom>
          <a:solidFill>
            <a:srgbClr val="F4B18F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Prediction regional coarse cell 3-5"/>
          <p:cNvSpPr/>
          <p:nvPr/>
        </p:nvSpPr>
        <p:spPr>
          <a:xfrm>
            <a:off x="12366345" y="7805318"/>
            <a:ext cx="96926" cy="98755"/>
          </a:xfrm>
          <a:prstGeom prst="rect">
            <a:avLst/>
          </a:prstGeom>
          <a:solidFill>
            <a:srgbClr val="FFE0CE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Prediction regional coarse cell 4-1"/>
          <p:cNvSpPr/>
          <p:nvPr/>
        </p:nvSpPr>
        <p:spPr>
          <a:xfrm>
            <a:off x="11978640" y="7904073"/>
            <a:ext cx="96926" cy="98755"/>
          </a:xfrm>
          <a:prstGeom prst="rect">
            <a:avLst/>
          </a:prstGeom>
          <a:solidFill>
            <a:srgbClr val="FFE0CE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Prediction regional coarse cell 4-2"/>
          <p:cNvSpPr/>
          <p:nvPr/>
        </p:nvSpPr>
        <p:spPr>
          <a:xfrm>
            <a:off x="12075566" y="7904073"/>
            <a:ext cx="96926" cy="98755"/>
          </a:xfrm>
          <a:prstGeom prst="rect">
            <a:avLst/>
          </a:prstGeom>
          <a:solidFill>
            <a:srgbClr val="FFE0CE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Prediction regional coarse cell 4-3"/>
          <p:cNvSpPr/>
          <p:nvPr/>
        </p:nvSpPr>
        <p:spPr>
          <a:xfrm>
            <a:off x="12172492" y="7904073"/>
            <a:ext cx="96926" cy="98755"/>
          </a:xfrm>
          <a:prstGeom prst="rect">
            <a:avLst/>
          </a:prstGeom>
          <a:solidFill>
            <a:srgbClr val="FFE0CE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Prediction regional coarse cell 4-4"/>
          <p:cNvSpPr/>
          <p:nvPr/>
        </p:nvSpPr>
        <p:spPr>
          <a:xfrm>
            <a:off x="12269419" y="7904073"/>
            <a:ext cx="96926" cy="98755"/>
          </a:xfrm>
          <a:prstGeom prst="rect">
            <a:avLst/>
          </a:prstGeom>
          <a:solidFill>
            <a:srgbClr val="FFE0CE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Prediction regional coarse cell 4-5"/>
          <p:cNvSpPr/>
          <p:nvPr/>
        </p:nvSpPr>
        <p:spPr>
          <a:xfrm>
            <a:off x="12366345" y="7904073"/>
            <a:ext cx="96926" cy="98755"/>
          </a:xfrm>
          <a:prstGeom prst="rect">
            <a:avLst/>
          </a:prstGeom>
          <a:solidFill>
            <a:srgbClr val="FFE0CE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Prediction regional coarse cell 5-1"/>
          <p:cNvSpPr/>
          <p:nvPr/>
        </p:nvSpPr>
        <p:spPr>
          <a:xfrm>
            <a:off x="11978640" y="8002828"/>
            <a:ext cx="96926" cy="98755"/>
          </a:xfrm>
          <a:prstGeom prst="rect">
            <a:avLst/>
          </a:prstGeom>
          <a:solidFill>
            <a:srgbClr val="E78153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Prediction regional coarse cell 5-2"/>
          <p:cNvSpPr/>
          <p:nvPr/>
        </p:nvSpPr>
        <p:spPr>
          <a:xfrm>
            <a:off x="12075566" y="8002828"/>
            <a:ext cx="96926" cy="98755"/>
          </a:xfrm>
          <a:prstGeom prst="rect">
            <a:avLst/>
          </a:prstGeom>
          <a:solidFill>
            <a:srgbClr val="FFE0CE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Prediction regional coarse cell 5-3"/>
          <p:cNvSpPr/>
          <p:nvPr/>
        </p:nvSpPr>
        <p:spPr>
          <a:xfrm>
            <a:off x="12172492" y="8002828"/>
            <a:ext cx="96926" cy="98755"/>
          </a:xfrm>
          <a:prstGeom prst="rect">
            <a:avLst/>
          </a:prstGeom>
          <a:solidFill>
            <a:srgbClr val="F4B18F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Prediction regional coarse cell 5-4"/>
          <p:cNvSpPr/>
          <p:nvPr/>
        </p:nvSpPr>
        <p:spPr>
          <a:xfrm>
            <a:off x="12269419" y="8002828"/>
            <a:ext cx="96926" cy="98755"/>
          </a:xfrm>
          <a:prstGeom prst="rect">
            <a:avLst/>
          </a:prstGeom>
          <a:solidFill>
            <a:srgbClr val="E78153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Prediction regional coarse cell 5-5"/>
          <p:cNvSpPr/>
          <p:nvPr/>
        </p:nvSpPr>
        <p:spPr>
          <a:xfrm>
            <a:off x="12366345" y="8002828"/>
            <a:ext cx="96926" cy="98755"/>
          </a:xfrm>
          <a:prstGeom prst="rect">
            <a:avLst/>
          </a:prstGeom>
          <a:solidFill>
            <a:srgbClr val="FFE0CE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Prediction regional coarse border"/>
          <p:cNvSpPr/>
          <p:nvPr/>
        </p:nvSpPr>
        <p:spPr>
          <a:xfrm>
            <a:off x="11978640" y="7607808"/>
            <a:ext cx="484632" cy="493776"/>
          </a:xfrm>
          <a:prstGeom prst="rect">
            <a:avLst/>
          </a:prstGeom>
          <a:noFill/>
          <a:ln w="10160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Prediction regional medium cell 1-1"/>
          <p:cNvSpPr/>
          <p:nvPr/>
        </p:nvSpPr>
        <p:spPr>
          <a:xfrm>
            <a:off x="12664440" y="7653527"/>
            <a:ext cx="96012" cy="89611"/>
          </a:xfrm>
          <a:prstGeom prst="rect">
            <a:avLst/>
          </a:prstGeom>
          <a:solidFill>
            <a:srgbClr val="FFE5D3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Prediction regional medium cell 1-2"/>
          <p:cNvSpPr/>
          <p:nvPr/>
        </p:nvSpPr>
        <p:spPr>
          <a:xfrm>
            <a:off x="12760452" y="7653527"/>
            <a:ext cx="96012" cy="89611"/>
          </a:xfrm>
          <a:prstGeom prst="rect">
            <a:avLst/>
          </a:prstGeom>
          <a:solidFill>
            <a:srgbClr val="FFE5D3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Prediction regional medium cell 1-3"/>
          <p:cNvSpPr/>
          <p:nvPr/>
        </p:nvSpPr>
        <p:spPr>
          <a:xfrm>
            <a:off x="12856464" y="7653527"/>
            <a:ext cx="96012" cy="89611"/>
          </a:xfrm>
          <a:prstGeom prst="rect">
            <a:avLst/>
          </a:prstGeom>
          <a:solidFill>
            <a:srgbClr val="FFE5D3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Prediction regional medium cell 1-4"/>
          <p:cNvSpPr/>
          <p:nvPr/>
        </p:nvSpPr>
        <p:spPr>
          <a:xfrm>
            <a:off x="12952476" y="7653527"/>
            <a:ext cx="96012" cy="89611"/>
          </a:xfrm>
          <a:prstGeom prst="rect">
            <a:avLst/>
          </a:prstGeom>
          <a:solidFill>
            <a:srgbClr val="FFE5D3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Prediction regional medium cell 2-1"/>
          <p:cNvSpPr/>
          <p:nvPr/>
        </p:nvSpPr>
        <p:spPr>
          <a:xfrm>
            <a:off x="12664440" y="7743139"/>
            <a:ext cx="96012" cy="89611"/>
          </a:xfrm>
          <a:prstGeom prst="rect">
            <a:avLst/>
          </a:prstGeom>
          <a:solidFill>
            <a:srgbClr val="E77A48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Prediction regional medium cell 2-2"/>
          <p:cNvSpPr/>
          <p:nvPr/>
        </p:nvSpPr>
        <p:spPr>
          <a:xfrm>
            <a:off x="12760452" y="7743139"/>
            <a:ext cx="96012" cy="89611"/>
          </a:xfrm>
          <a:prstGeom prst="rect">
            <a:avLst/>
          </a:prstGeom>
          <a:solidFill>
            <a:srgbClr val="FFE5D3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Prediction regional medium cell 2-3"/>
          <p:cNvSpPr/>
          <p:nvPr/>
        </p:nvSpPr>
        <p:spPr>
          <a:xfrm>
            <a:off x="12856464" y="7743139"/>
            <a:ext cx="96012" cy="89611"/>
          </a:xfrm>
          <a:prstGeom prst="rect">
            <a:avLst/>
          </a:prstGeom>
          <a:solidFill>
            <a:srgbClr val="F4B18F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Prediction regional medium cell 2-4"/>
          <p:cNvSpPr/>
          <p:nvPr/>
        </p:nvSpPr>
        <p:spPr>
          <a:xfrm>
            <a:off x="12952476" y="7743139"/>
            <a:ext cx="96012" cy="89611"/>
          </a:xfrm>
          <a:prstGeom prst="rect">
            <a:avLst/>
          </a:prstGeom>
          <a:solidFill>
            <a:srgbClr val="E77A48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Prediction regional medium cell 3-1"/>
          <p:cNvSpPr/>
          <p:nvPr/>
        </p:nvSpPr>
        <p:spPr>
          <a:xfrm>
            <a:off x="12664440" y="7832750"/>
            <a:ext cx="96012" cy="89611"/>
          </a:xfrm>
          <a:prstGeom prst="rect">
            <a:avLst/>
          </a:prstGeom>
          <a:solidFill>
            <a:srgbClr val="F4B18F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Prediction regional medium cell 3-2"/>
          <p:cNvSpPr/>
          <p:nvPr/>
        </p:nvSpPr>
        <p:spPr>
          <a:xfrm>
            <a:off x="12760452" y="7832750"/>
            <a:ext cx="96012" cy="89611"/>
          </a:xfrm>
          <a:prstGeom prst="rect">
            <a:avLst/>
          </a:prstGeom>
          <a:solidFill>
            <a:srgbClr val="FFE5D3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Prediction regional medium cell 3-3"/>
          <p:cNvSpPr/>
          <p:nvPr/>
        </p:nvSpPr>
        <p:spPr>
          <a:xfrm>
            <a:off x="12856464" y="7832750"/>
            <a:ext cx="96012" cy="89611"/>
          </a:xfrm>
          <a:prstGeom prst="rect">
            <a:avLst/>
          </a:prstGeom>
          <a:solidFill>
            <a:srgbClr val="E77A48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Prediction regional medium cell 3-4"/>
          <p:cNvSpPr/>
          <p:nvPr/>
        </p:nvSpPr>
        <p:spPr>
          <a:xfrm>
            <a:off x="12952476" y="7832750"/>
            <a:ext cx="96012" cy="89611"/>
          </a:xfrm>
          <a:prstGeom prst="rect">
            <a:avLst/>
          </a:prstGeom>
          <a:solidFill>
            <a:srgbClr val="F4B18F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Prediction regional medium cell 4-1"/>
          <p:cNvSpPr/>
          <p:nvPr/>
        </p:nvSpPr>
        <p:spPr>
          <a:xfrm>
            <a:off x="12664440" y="7922361"/>
            <a:ext cx="96012" cy="89611"/>
          </a:xfrm>
          <a:prstGeom prst="rect">
            <a:avLst/>
          </a:prstGeom>
          <a:solidFill>
            <a:srgbClr val="FFE5D3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Prediction regional medium cell 4-2"/>
          <p:cNvSpPr/>
          <p:nvPr/>
        </p:nvSpPr>
        <p:spPr>
          <a:xfrm>
            <a:off x="12760452" y="7922361"/>
            <a:ext cx="96012" cy="89611"/>
          </a:xfrm>
          <a:prstGeom prst="rect">
            <a:avLst/>
          </a:prstGeom>
          <a:solidFill>
            <a:srgbClr val="FFE5D3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Prediction regional medium cell 4-3"/>
          <p:cNvSpPr/>
          <p:nvPr/>
        </p:nvSpPr>
        <p:spPr>
          <a:xfrm>
            <a:off x="12856464" y="7922361"/>
            <a:ext cx="96012" cy="89611"/>
          </a:xfrm>
          <a:prstGeom prst="rect">
            <a:avLst/>
          </a:prstGeom>
          <a:solidFill>
            <a:srgbClr val="FFE5D3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Prediction regional medium cell 4-4"/>
          <p:cNvSpPr/>
          <p:nvPr/>
        </p:nvSpPr>
        <p:spPr>
          <a:xfrm>
            <a:off x="12952476" y="7922361"/>
            <a:ext cx="96012" cy="89611"/>
          </a:xfrm>
          <a:prstGeom prst="rect">
            <a:avLst/>
          </a:prstGeom>
          <a:solidFill>
            <a:srgbClr val="FFE5D3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Prediction regional medium cell 5-1"/>
          <p:cNvSpPr/>
          <p:nvPr/>
        </p:nvSpPr>
        <p:spPr>
          <a:xfrm>
            <a:off x="12664440" y="8011972"/>
            <a:ext cx="96012" cy="89611"/>
          </a:xfrm>
          <a:prstGeom prst="rect">
            <a:avLst/>
          </a:prstGeom>
          <a:solidFill>
            <a:srgbClr val="E77A48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Prediction regional medium cell 5-2"/>
          <p:cNvSpPr/>
          <p:nvPr/>
        </p:nvSpPr>
        <p:spPr>
          <a:xfrm>
            <a:off x="12760452" y="8011972"/>
            <a:ext cx="96012" cy="89611"/>
          </a:xfrm>
          <a:prstGeom prst="rect">
            <a:avLst/>
          </a:prstGeom>
          <a:solidFill>
            <a:srgbClr val="FFE5D3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Prediction regional medium cell 5-3"/>
          <p:cNvSpPr/>
          <p:nvPr/>
        </p:nvSpPr>
        <p:spPr>
          <a:xfrm>
            <a:off x="12856464" y="8011972"/>
            <a:ext cx="96012" cy="89611"/>
          </a:xfrm>
          <a:prstGeom prst="rect">
            <a:avLst/>
          </a:prstGeom>
          <a:solidFill>
            <a:srgbClr val="F4B18F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Prediction regional medium cell 5-4"/>
          <p:cNvSpPr/>
          <p:nvPr/>
        </p:nvSpPr>
        <p:spPr>
          <a:xfrm>
            <a:off x="12952476" y="8011972"/>
            <a:ext cx="96012" cy="89611"/>
          </a:xfrm>
          <a:prstGeom prst="rect">
            <a:avLst/>
          </a:prstGeom>
          <a:solidFill>
            <a:srgbClr val="E77A48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Prediction regional medium border"/>
          <p:cNvSpPr/>
          <p:nvPr/>
        </p:nvSpPr>
        <p:spPr>
          <a:xfrm>
            <a:off x="12664440" y="7653527"/>
            <a:ext cx="384048" cy="448056"/>
          </a:xfrm>
          <a:prstGeom prst="rect">
            <a:avLst/>
          </a:prstGeom>
          <a:noFill/>
          <a:ln w="10160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Prediction regional fine cell 1-1"/>
          <p:cNvSpPr/>
          <p:nvPr/>
        </p:nvSpPr>
        <p:spPr>
          <a:xfrm>
            <a:off x="13313664" y="7754112"/>
            <a:ext cx="56692" cy="58521"/>
          </a:xfrm>
          <a:prstGeom prst="rect">
            <a:avLst/>
          </a:prstGeom>
          <a:solidFill>
            <a:srgbClr val="FFE8D8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Prediction regional fine cell 1-2"/>
          <p:cNvSpPr/>
          <p:nvPr/>
        </p:nvSpPr>
        <p:spPr>
          <a:xfrm>
            <a:off x="13370356" y="7754112"/>
            <a:ext cx="56692" cy="58521"/>
          </a:xfrm>
          <a:prstGeom prst="rect">
            <a:avLst/>
          </a:prstGeom>
          <a:solidFill>
            <a:srgbClr val="FFE8D8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Prediction regional fine cell 1-3"/>
          <p:cNvSpPr/>
          <p:nvPr/>
        </p:nvSpPr>
        <p:spPr>
          <a:xfrm>
            <a:off x="13427049" y="7754112"/>
            <a:ext cx="56692" cy="58521"/>
          </a:xfrm>
          <a:prstGeom prst="rect">
            <a:avLst/>
          </a:prstGeom>
          <a:solidFill>
            <a:srgbClr val="FFE8D8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Prediction regional fine cell 1-4"/>
          <p:cNvSpPr/>
          <p:nvPr/>
        </p:nvSpPr>
        <p:spPr>
          <a:xfrm>
            <a:off x="13483742" y="7754112"/>
            <a:ext cx="56692" cy="58521"/>
          </a:xfrm>
          <a:prstGeom prst="rect">
            <a:avLst/>
          </a:prstGeom>
          <a:solidFill>
            <a:srgbClr val="FFE8D8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Prediction regional fine cell 1-5"/>
          <p:cNvSpPr/>
          <p:nvPr/>
        </p:nvSpPr>
        <p:spPr>
          <a:xfrm>
            <a:off x="13540435" y="7754112"/>
            <a:ext cx="56692" cy="58521"/>
          </a:xfrm>
          <a:prstGeom prst="rect">
            <a:avLst/>
          </a:prstGeom>
          <a:solidFill>
            <a:srgbClr val="FFE8D8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Prediction regional fine cell 2-1"/>
          <p:cNvSpPr/>
          <p:nvPr/>
        </p:nvSpPr>
        <p:spPr>
          <a:xfrm>
            <a:off x="13313664" y="7812633"/>
            <a:ext cx="56692" cy="58521"/>
          </a:xfrm>
          <a:prstGeom prst="rect">
            <a:avLst/>
          </a:prstGeom>
          <a:solidFill>
            <a:srgbClr val="DC6D3D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Prediction regional fine cell 2-2"/>
          <p:cNvSpPr/>
          <p:nvPr/>
        </p:nvSpPr>
        <p:spPr>
          <a:xfrm>
            <a:off x="13370356" y="7812633"/>
            <a:ext cx="56692" cy="58521"/>
          </a:xfrm>
          <a:prstGeom prst="rect">
            <a:avLst/>
          </a:prstGeom>
          <a:solidFill>
            <a:srgbClr val="FFE8D8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Prediction regional fine cell 2-3"/>
          <p:cNvSpPr/>
          <p:nvPr/>
        </p:nvSpPr>
        <p:spPr>
          <a:xfrm>
            <a:off x="13427049" y="7812633"/>
            <a:ext cx="56692" cy="58521"/>
          </a:xfrm>
          <a:prstGeom prst="rect">
            <a:avLst/>
          </a:prstGeom>
          <a:solidFill>
            <a:srgbClr val="F1AD89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Prediction regional fine cell 2-4"/>
          <p:cNvSpPr/>
          <p:nvPr/>
        </p:nvSpPr>
        <p:spPr>
          <a:xfrm>
            <a:off x="13483742" y="7812633"/>
            <a:ext cx="56692" cy="58521"/>
          </a:xfrm>
          <a:prstGeom prst="rect">
            <a:avLst/>
          </a:prstGeom>
          <a:solidFill>
            <a:srgbClr val="DC6D3D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Prediction regional fine cell 2-5"/>
          <p:cNvSpPr/>
          <p:nvPr/>
        </p:nvSpPr>
        <p:spPr>
          <a:xfrm>
            <a:off x="13540435" y="7812633"/>
            <a:ext cx="56692" cy="58521"/>
          </a:xfrm>
          <a:prstGeom prst="rect">
            <a:avLst/>
          </a:prstGeom>
          <a:solidFill>
            <a:srgbClr val="FFE8D8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Prediction regional fine cell 3-1"/>
          <p:cNvSpPr/>
          <p:nvPr/>
        </p:nvSpPr>
        <p:spPr>
          <a:xfrm>
            <a:off x="13313664" y="7871155"/>
            <a:ext cx="56692" cy="58521"/>
          </a:xfrm>
          <a:prstGeom prst="rect">
            <a:avLst/>
          </a:prstGeom>
          <a:solidFill>
            <a:srgbClr val="F1AD89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Prediction regional fine cell 3-2"/>
          <p:cNvSpPr/>
          <p:nvPr/>
        </p:nvSpPr>
        <p:spPr>
          <a:xfrm>
            <a:off x="13370356" y="7871155"/>
            <a:ext cx="56692" cy="58521"/>
          </a:xfrm>
          <a:prstGeom prst="rect">
            <a:avLst/>
          </a:prstGeom>
          <a:solidFill>
            <a:srgbClr val="FFE8D8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Prediction regional fine cell 3-3"/>
          <p:cNvSpPr/>
          <p:nvPr/>
        </p:nvSpPr>
        <p:spPr>
          <a:xfrm>
            <a:off x="13427049" y="7871155"/>
            <a:ext cx="56692" cy="58521"/>
          </a:xfrm>
          <a:prstGeom prst="rect">
            <a:avLst/>
          </a:prstGeom>
          <a:solidFill>
            <a:srgbClr val="DC6D3D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Prediction regional fine cell 3-4"/>
          <p:cNvSpPr/>
          <p:nvPr/>
        </p:nvSpPr>
        <p:spPr>
          <a:xfrm>
            <a:off x="13483742" y="7871155"/>
            <a:ext cx="56692" cy="58521"/>
          </a:xfrm>
          <a:prstGeom prst="rect">
            <a:avLst/>
          </a:prstGeom>
          <a:solidFill>
            <a:srgbClr val="F1AD89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Prediction regional fine cell 3-5"/>
          <p:cNvSpPr/>
          <p:nvPr/>
        </p:nvSpPr>
        <p:spPr>
          <a:xfrm>
            <a:off x="13540435" y="7871155"/>
            <a:ext cx="56692" cy="58521"/>
          </a:xfrm>
          <a:prstGeom prst="rect">
            <a:avLst/>
          </a:prstGeom>
          <a:solidFill>
            <a:srgbClr val="FFE8D8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Prediction regional fine cell 4-1"/>
          <p:cNvSpPr/>
          <p:nvPr/>
        </p:nvSpPr>
        <p:spPr>
          <a:xfrm>
            <a:off x="13313664" y="7929676"/>
            <a:ext cx="56692" cy="58521"/>
          </a:xfrm>
          <a:prstGeom prst="rect">
            <a:avLst/>
          </a:prstGeom>
          <a:solidFill>
            <a:srgbClr val="FFE8D8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Prediction regional fine cell 4-2"/>
          <p:cNvSpPr/>
          <p:nvPr/>
        </p:nvSpPr>
        <p:spPr>
          <a:xfrm>
            <a:off x="13370356" y="7929676"/>
            <a:ext cx="56692" cy="58521"/>
          </a:xfrm>
          <a:prstGeom prst="rect">
            <a:avLst/>
          </a:prstGeom>
          <a:solidFill>
            <a:srgbClr val="FFE8D8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Prediction regional fine cell 4-3"/>
          <p:cNvSpPr/>
          <p:nvPr/>
        </p:nvSpPr>
        <p:spPr>
          <a:xfrm>
            <a:off x="13427049" y="7929676"/>
            <a:ext cx="56692" cy="58521"/>
          </a:xfrm>
          <a:prstGeom prst="rect">
            <a:avLst/>
          </a:prstGeom>
          <a:solidFill>
            <a:srgbClr val="FFE8D8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Prediction regional fine cell 4-4"/>
          <p:cNvSpPr/>
          <p:nvPr/>
        </p:nvSpPr>
        <p:spPr>
          <a:xfrm>
            <a:off x="13483742" y="7929676"/>
            <a:ext cx="56692" cy="58521"/>
          </a:xfrm>
          <a:prstGeom prst="rect">
            <a:avLst/>
          </a:prstGeom>
          <a:solidFill>
            <a:srgbClr val="FFE8D8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Prediction regional fine cell 4-5"/>
          <p:cNvSpPr/>
          <p:nvPr/>
        </p:nvSpPr>
        <p:spPr>
          <a:xfrm>
            <a:off x="13540435" y="7929676"/>
            <a:ext cx="56692" cy="58521"/>
          </a:xfrm>
          <a:prstGeom prst="rect">
            <a:avLst/>
          </a:prstGeom>
          <a:solidFill>
            <a:srgbClr val="FFE8D8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Prediction regional fine cell 5-1"/>
          <p:cNvSpPr/>
          <p:nvPr/>
        </p:nvSpPr>
        <p:spPr>
          <a:xfrm>
            <a:off x="13313664" y="7988198"/>
            <a:ext cx="56692" cy="58521"/>
          </a:xfrm>
          <a:prstGeom prst="rect">
            <a:avLst/>
          </a:prstGeom>
          <a:solidFill>
            <a:srgbClr val="DC6D3D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Prediction regional fine cell 5-2"/>
          <p:cNvSpPr/>
          <p:nvPr/>
        </p:nvSpPr>
        <p:spPr>
          <a:xfrm>
            <a:off x="13370356" y="7988198"/>
            <a:ext cx="56692" cy="58521"/>
          </a:xfrm>
          <a:prstGeom prst="rect">
            <a:avLst/>
          </a:prstGeom>
          <a:solidFill>
            <a:srgbClr val="FFE8D8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Prediction regional fine cell 5-3"/>
          <p:cNvSpPr/>
          <p:nvPr/>
        </p:nvSpPr>
        <p:spPr>
          <a:xfrm>
            <a:off x="13427049" y="7988198"/>
            <a:ext cx="56692" cy="58521"/>
          </a:xfrm>
          <a:prstGeom prst="rect">
            <a:avLst/>
          </a:prstGeom>
          <a:solidFill>
            <a:srgbClr val="F1AD89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Prediction regional fine cell 5-4"/>
          <p:cNvSpPr/>
          <p:nvPr/>
        </p:nvSpPr>
        <p:spPr>
          <a:xfrm>
            <a:off x="13483742" y="7988198"/>
            <a:ext cx="56692" cy="58521"/>
          </a:xfrm>
          <a:prstGeom prst="rect">
            <a:avLst/>
          </a:prstGeom>
          <a:solidFill>
            <a:srgbClr val="DC6D3D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Prediction regional fine cell 5-5"/>
          <p:cNvSpPr/>
          <p:nvPr/>
        </p:nvSpPr>
        <p:spPr>
          <a:xfrm>
            <a:off x="13540435" y="7988198"/>
            <a:ext cx="56692" cy="58521"/>
          </a:xfrm>
          <a:prstGeom prst="rect">
            <a:avLst/>
          </a:prstGeom>
          <a:solidFill>
            <a:srgbClr val="FFE8D8"/>
          </a:solidFill>
          <a:ln w="3556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Prediction regional fine border"/>
          <p:cNvSpPr/>
          <p:nvPr/>
        </p:nvSpPr>
        <p:spPr>
          <a:xfrm>
            <a:off x="13313664" y="7754112"/>
            <a:ext cx="283464" cy="292608"/>
          </a:xfrm>
          <a:prstGeom prst="rect">
            <a:avLst/>
          </a:prstGeom>
          <a:noFill/>
          <a:ln w="10160">
            <a:solidFill>
              <a:srgbClr val="D34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Prediction ellipsis"/>
          <p:cNvSpPr txBox="1"/>
          <p:nvPr/>
        </p:nvSpPr>
        <p:spPr>
          <a:xfrm>
            <a:off x="13651992" y="7717536"/>
            <a:ext cx="173736" cy="26517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1721"/>
                </a:solidFill>
                <a:latin typeface="Arial"/>
              </a:rPr>
              <a:t>…</a:t>
            </a:r>
          </a:p>
        </p:txBody>
      </p:sp>
      <p:sp>
        <p:nvSpPr>
          <p:cNvPr id="834" name="Future loss shapes label"/>
          <p:cNvSpPr txBox="1"/>
          <p:nvPr/>
        </p:nvSpPr>
        <p:spPr>
          <a:xfrm>
            <a:off x="5468112" y="8202168"/>
            <a:ext cx="4050791" cy="21945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C52912"/>
                </a:solidFill>
                <a:latin typeface="Arial"/>
              </a:rPr>
              <a:t>Future loss shapes Rₜ (representation at the present)</a:t>
            </a:r>
          </a:p>
        </p:txBody>
      </p:sp>
      <p:sp>
        <p:nvSpPr>
          <p:cNvPr id="835" name="Flow legend"/>
          <p:cNvSpPr/>
          <p:nvPr/>
        </p:nvSpPr>
        <p:spPr>
          <a:xfrm>
            <a:off x="1298448" y="8787384"/>
            <a:ext cx="11558016" cy="448056"/>
          </a:xfrm>
          <a:prstGeom prst="roundRect">
            <a:avLst>
              <a:gd name="adj" fmla="val 8000"/>
            </a:avLst>
          </a:prstGeom>
          <a:solidFill>
            <a:srgbClr val="FFFEFC"/>
          </a:solidFill>
          <a:ln w="9525">
            <a:solidFill>
              <a:srgbClr val="B8B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6" name="Legend online flow"/>
          <p:cNvCxnSpPr/>
          <p:nvPr/>
        </p:nvCxnSpPr>
        <p:spPr>
          <a:xfrm>
            <a:off x="1517904" y="9006840"/>
            <a:ext cx="356615" cy="0"/>
          </a:xfrm>
          <a:prstGeom prst="line">
            <a:avLst/>
          </a:prstGeom>
          <a:ln w="15240">
            <a:solidFill>
              <a:srgbClr val="10447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7" name="Legend online flow label"/>
          <p:cNvSpPr txBox="1"/>
          <p:nvPr/>
        </p:nvSpPr>
        <p:spPr>
          <a:xfrm>
            <a:off x="1975104" y="8887968"/>
            <a:ext cx="1435608" cy="24688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01721"/>
                </a:solidFill>
                <a:latin typeface="Arial"/>
              </a:rPr>
              <a:t>Data flow (online)</a:t>
            </a:r>
          </a:p>
        </p:txBody>
      </p:sp>
      <p:cxnSp>
        <p:nvCxnSpPr>
          <p:cNvPr id="838" name="Legend use read"/>
          <p:cNvCxnSpPr/>
          <p:nvPr/>
        </p:nvCxnSpPr>
        <p:spPr>
          <a:xfrm>
            <a:off x="3566160" y="9006840"/>
            <a:ext cx="429768" cy="0"/>
          </a:xfrm>
          <a:prstGeom prst="line">
            <a:avLst/>
          </a:prstGeom>
          <a:ln w="12700">
            <a:solidFill>
              <a:srgbClr val="104477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9" name="Legend use read label"/>
          <p:cNvSpPr txBox="1"/>
          <p:nvPr/>
        </p:nvSpPr>
        <p:spPr>
          <a:xfrm>
            <a:off x="4096512" y="8887968"/>
            <a:ext cx="1143000" cy="24688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01721"/>
                </a:solidFill>
                <a:latin typeface="Arial"/>
              </a:rPr>
              <a:t>Use / read</a:t>
            </a:r>
          </a:p>
        </p:txBody>
      </p:sp>
      <p:cxnSp>
        <p:nvCxnSpPr>
          <p:cNvPr id="840" name="Legend learning signal"/>
          <p:cNvCxnSpPr/>
          <p:nvPr/>
        </p:nvCxnSpPr>
        <p:spPr>
          <a:xfrm>
            <a:off x="5349240" y="9006840"/>
            <a:ext cx="548640" cy="0"/>
          </a:xfrm>
          <a:prstGeom prst="line">
            <a:avLst/>
          </a:prstGeom>
          <a:ln w="12700">
            <a:solidFill>
              <a:srgbClr val="D34B22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1" name="Legend learning signal label"/>
          <p:cNvSpPr txBox="1"/>
          <p:nvPr/>
        </p:nvSpPr>
        <p:spPr>
          <a:xfrm>
            <a:off x="6007608" y="8887968"/>
            <a:ext cx="1207008" cy="24688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01721"/>
                </a:solidFill>
                <a:latin typeface="Arial"/>
              </a:rPr>
              <a:t>Learning signal</a:t>
            </a:r>
          </a:p>
        </p:txBody>
      </p:sp>
      <p:sp>
        <p:nvSpPr>
          <p:cNvPr id="842" name="Legend read-only lock shackle"/>
          <p:cNvSpPr/>
          <p:nvPr/>
        </p:nvSpPr>
        <p:spPr>
          <a:xfrm>
            <a:off x="7654991" y="8887968"/>
            <a:ext cx="79004" cy="85587"/>
          </a:xfrm>
          <a:prstGeom prst="ellipse">
            <a:avLst/>
          </a:prstGeom>
          <a:noFill/>
          <a:ln w="12700">
            <a:solidFill>
              <a:srgbClr val="6E74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Legend read-only lock body"/>
          <p:cNvSpPr/>
          <p:nvPr/>
        </p:nvSpPr>
        <p:spPr>
          <a:xfrm>
            <a:off x="7635240" y="8934053"/>
            <a:ext cx="118506" cy="111922"/>
          </a:xfrm>
          <a:prstGeom prst="roundRect">
            <a:avLst>
              <a:gd name="adj" fmla="val 8000"/>
            </a:avLst>
          </a:prstGeom>
          <a:solidFill>
            <a:srgbClr val="6E7476"/>
          </a:solidFill>
          <a:ln w="7620">
            <a:solidFill>
              <a:srgbClr val="6E74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Legend read-only lock keyhole"/>
          <p:cNvSpPr/>
          <p:nvPr/>
        </p:nvSpPr>
        <p:spPr>
          <a:xfrm>
            <a:off x="7682642" y="8960388"/>
            <a:ext cx="23701" cy="26334"/>
          </a:xfrm>
          <a:prstGeom prst="ellipse">
            <a:avLst/>
          </a:prstGeom>
          <a:solidFill>
            <a:srgbClr val="FFFDFC"/>
          </a:solidFill>
          <a:ln w="2540">
            <a:solidFill>
              <a:srgbClr val="FFFD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5" name="Legend read-only lock key stem"/>
          <p:cNvCxnSpPr/>
          <p:nvPr/>
        </p:nvCxnSpPr>
        <p:spPr>
          <a:xfrm>
            <a:off x="7694493" y="8980139"/>
            <a:ext cx="0" cy="26335"/>
          </a:xfrm>
          <a:prstGeom prst="line">
            <a:avLst/>
          </a:prstGeom>
          <a:ln w="10160">
            <a:solidFill>
              <a:srgbClr val="FFFDF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6" name="Legend read-only label"/>
          <p:cNvSpPr txBox="1"/>
          <p:nvPr/>
        </p:nvSpPr>
        <p:spPr>
          <a:xfrm>
            <a:off x="7927848" y="8887968"/>
            <a:ext cx="932688" cy="24688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01721"/>
                </a:solidFill>
                <a:latin typeface="Arial"/>
              </a:rPr>
              <a:t>Read-only</a:t>
            </a:r>
          </a:p>
        </p:txBody>
      </p:sp>
      <p:sp>
        <p:nvSpPr>
          <p:cNvPr id="847" name="Legend trainable flame"/>
          <p:cNvSpPr/>
          <p:nvPr/>
        </p:nvSpPr>
        <p:spPr>
          <a:xfrm>
            <a:off x="9070848" y="8878824"/>
            <a:ext cx="91440" cy="146304"/>
          </a:xfrm>
          <a:custGeom>
            <a:avLst/>
            <a:gdLst/>
            <a:ahLst/>
            <a:cxnLst/>
            <a:rect l="l" t="t" r="r" b="b"/>
            <a:pathLst>
              <a:path w="10" h="16">
                <a:moveTo>
                  <a:pt x="6" y="0"/>
                </a:moveTo>
                <a:lnTo>
                  <a:pt x="10" y="7"/>
                </a:lnTo>
                <a:lnTo>
                  <a:pt x="9" y="14"/>
                </a:lnTo>
                <a:lnTo>
                  <a:pt x="5" y="16"/>
                </a:lnTo>
                <a:lnTo>
                  <a:pt x="1" y="14"/>
                </a:lnTo>
                <a:lnTo>
                  <a:pt x="0" y="8"/>
                </a:lnTo>
                <a:lnTo>
                  <a:pt x="4" y="3"/>
                </a:lnTo>
                <a:lnTo>
                  <a:pt x="4" y="9"/>
                </a:lnTo>
                <a:close/>
              </a:path>
            </a:pathLst>
          </a:custGeom>
          <a:solidFill>
            <a:srgbClr val="D34B22"/>
          </a:solidFill>
          <a:ln w="6985">
            <a:solidFill>
              <a:srgbClr val="A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Legend trainable flame inner"/>
          <p:cNvSpPr/>
          <p:nvPr/>
        </p:nvSpPr>
        <p:spPr>
          <a:xfrm>
            <a:off x="9098280" y="8940546"/>
            <a:ext cx="36576" cy="73152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2" y="0"/>
                </a:moveTo>
                <a:lnTo>
                  <a:pt x="4" y="4"/>
                </a:lnTo>
                <a:lnTo>
                  <a:pt x="2" y="8"/>
                </a:lnTo>
                <a:lnTo>
                  <a:pt x="0" y="4"/>
                </a:lnTo>
                <a:close/>
              </a:path>
            </a:pathLst>
          </a:custGeom>
          <a:solidFill>
            <a:srgbClr val="FFFDFC"/>
          </a:solidFill>
          <a:ln w="3810">
            <a:solidFill>
              <a:srgbClr val="FFFD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Legend trainable label"/>
          <p:cNvSpPr txBox="1"/>
          <p:nvPr/>
        </p:nvSpPr>
        <p:spPr>
          <a:xfrm>
            <a:off x="9354312" y="8887968"/>
            <a:ext cx="1773936" cy="24688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01721"/>
                </a:solidFill>
                <a:latin typeface="Arial"/>
              </a:rPr>
              <a:t>Trainable (LoRA / predictor)</a:t>
            </a:r>
          </a:p>
        </p:txBody>
      </p:sp>
      <p:sp>
        <p:nvSpPr>
          <p:cNvPr id="850" name="Legend EMA lock shackle"/>
          <p:cNvSpPr/>
          <p:nvPr/>
        </p:nvSpPr>
        <p:spPr>
          <a:xfrm>
            <a:off x="11340023" y="8887968"/>
            <a:ext cx="79004" cy="85587"/>
          </a:xfrm>
          <a:prstGeom prst="ellipse">
            <a:avLst/>
          </a:prstGeom>
          <a:noFill/>
          <a:ln w="12700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Legend EMA lock body"/>
          <p:cNvSpPr/>
          <p:nvPr/>
        </p:nvSpPr>
        <p:spPr>
          <a:xfrm>
            <a:off x="11320272" y="8934053"/>
            <a:ext cx="118506" cy="111922"/>
          </a:xfrm>
          <a:prstGeom prst="roundRect">
            <a:avLst>
              <a:gd name="adj" fmla="val 8000"/>
            </a:avLst>
          </a:prstGeom>
          <a:solidFill>
            <a:srgbClr val="3D7C42"/>
          </a:solidFill>
          <a:ln w="7620">
            <a:solidFill>
              <a:srgbClr val="3D7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Legend EMA lock keyhole"/>
          <p:cNvSpPr/>
          <p:nvPr/>
        </p:nvSpPr>
        <p:spPr>
          <a:xfrm>
            <a:off x="11367674" y="8960388"/>
            <a:ext cx="23701" cy="26334"/>
          </a:xfrm>
          <a:prstGeom prst="ellipse">
            <a:avLst/>
          </a:prstGeom>
          <a:solidFill>
            <a:srgbClr val="FFFDFC"/>
          </a:solidFill>
          <a:ln w="2540">
            <a:solidFill>
              <a:srgbClr val="FFFD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3" name="Legend EMA lock key stem"/>
          <p:cNvCxnSpPr/>
          <p:nvPr/>
        </p:nvCxnSpPr>
        <p:spPr>
          <a:xfrm>
            <a:off x="11379525" y="8980139"/>
            <a:ext cx="0" cy="26335"/>
          </a:xfrm>
          <a:prstGeom prst="line">
            <a:avLst/>
          </a:prstGeom>
          <a:ln w="10160">
            <a:solidFill>
              <a:srgbClr val="FFFDF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4" name="Legend EMA label"/>
          <p:cNvSpPr txBox="1"/>
          <p:nvPr/>
        </p:nvSpPr>
        <p:spPr>
          <a:xfrm>
            <a:off x="11612880" y="8887968"/>
            <a:ext cx="1143000" cy="24688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01721"/>
                </a:solidFill>
                <a:latin typeface="Arial"/>
              </a:rPr>
              <a:t>EMA stop-gradient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MedWorld-JEPA editable architecture figure</dc:title>
  <dc:subject>Editable recreation of Codex Image Aug 29, 2026, 06_33_48 AM.png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