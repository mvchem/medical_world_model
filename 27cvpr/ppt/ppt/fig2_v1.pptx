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704820" cy="58140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: vision-language"/>
          <p:cNvSpPr/>
          <p:nvPr/>
        </p:nvSpPr>
        <p:spPr>
          <a:xfrm>
            <a:off x="743831" y="1579684"/>
            <a:ext cx="5015113" cy="1288286"/>
          </a:xfrm>
          <a:prstGeom prst="roundRect">
            <a:avLst>
              <a:gd name="adj" fmla="val 14000"/>
            </a:avLst>
          </a:prstGeom>
          <a:solidFill>
            <a:srgbClr val="FCEFFB"/>
          </a:solidFill>
          <a:ln w="23005">
            <a:solidFill>
              <a:srgbClr val="8F3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nel: vision encoder"/>
          <p:cNvSpPr/>
          <p:nvPr/>
        </p:nvSpPr>
        <p:spPr>
          <a:xfrm>
            <a:off x="743831" y="3082684"/>
            <a:ext cx="5015113" cy="1295954"/>
          </a:xfrm>
          <a:prstGeom prst="roundRect">
            <a:avLst>
              <a:gd name="adj" fmla="val 14000"/>
            </a:avLst>
          </a:prstGeom>
          <a:solidFill>
            <a:srgbClr val="E6F3FF"/>
          </a:solidFill>
          <a:ln w="23005">
            <a:solidFill>
              <a:srgbClr val="087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odule: lightweight adapter"/>
          <p:cNvSpPr/>
          <p:nvPr/>
        </p:nvSpPr>
        <p:spPr>
          <a:xfrm>
            <a:off x="6541118" y="2292842"/>
            <a:ext cx="2070459" cy="1288286"/>
          </a:xfrm>
          <a:prstGeom prst="roundRect">
            <a:avLst>
              <a:gd name="adj" fmla="val 14000"/>
            </a:avLst>
          </a:prstGeom>
          <a:solidFill>
            <a:srgbClr val="FFFADB"/>
          </a:solidFill>
          <a:ln w="23005">
            <a:solidFill>
              <a:srgbClr val="9988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odule: task decoder"/>
          <p:cNvSpPr/>
          <p:nvPr/>
        </p:nvSpPr>
        <p:spPr>
          <a:xfrm>
            <a:off x="11740273" y="2315847"/>
            <a:ext cx="1802066" cy="1249944"/>
          </a:xfrm>
          <a:prstGeom prst="roundRect">
            <a:avLst>
              <a:gd name="adj" fmla="val 14000"/>
            </a:avLst>
          </a:prstGeom>
          <a:solidFill>
            <a:srgbClr val="DDEFD5"/>
          </a:solidFill>
          <a:ln w="23005">
            <a:solidFill>
              <a:srgbClr val="287F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ken: vision-language 01"/>
          <p:cNvSpPr/>
          <p:nvPr/>
        </p:nvSpPr>
        <p:spPr>
          <a:xfrm>
            <a:off x="958546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oken: vision-language 02"/>
          <p:cNvSpPr/>
          <p:nvPr/>
        </p:nvSpPr>
        <p:spPr>
          <a:xfrm>
            <a:off x="1347332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EFA9D2"/>
          </a:solidFill>
          <a:ln w="23005">
            <a:solidFill>
              <a:srgbClr val="CD4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oken: vision-language 03"/>
          <p:cNvSpPr/>
          <p:nvPr/>
        </p:nvSpPr>
        <p:spPr>
          <a:xfrm>
            <a:off x="1736118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oken: vision-language 04"/>
          <p:cNvSpPr/>
          <p:nvPr/>
        </p:nvSpPr>
        <p:spPr>
          <a:xfrm>
            <a:off x="2124905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oken: vision-language 05"/>
          <p:cNvSpPr/>
          <p:nvPr/>
        </p:nvSpPr>
        <p:spPr>
          <a:xfrm>
            <a:off x="2513691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EFA9D2"/>
          </a:solidFill>
          <a:ln w="23005">
            <a:solidFill>
              <a:srgbClr val="CD4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oken: vision-language 06"/>
          <p:cNvSpPr/>
          <p:nvPr/>
        </p:nvSpPr>
        <p:spPr>
          <a:xfrm>
            <a:off x="2902477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oken: vision-language 07"/>
          <p:cNvSpPr/>
          <p:nvPr/>
        </p:nvSpPr>
        <p:spPr>
          <a:xfrm>
            <a:off x="3291264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oken: vision-language 08"/>
          <p:cNvSpPr/>
          <p:nvPr/>
        </p:nvSpPr>
        <p:spPr>
          <a:xfrm>
            <a:off x="3680050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EFA9D2"/>
          </a:solidFill>
          <a:ln w="23005">
            <a:solidFill>
              <a:srgbClr val="CD4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oken: vision-language 09"/>
          <p:cNvSpPr/>
          <p:nvPr/>
        </p:nvSpPr>
        <p:spPr>
          <a:xfrm>
            <a:off x="4068836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oken: vision-language 10"/>
          <p:cNvSpPr/>
          <p:nvPr/>
        </p:nvSpPr>
        <p:spPr>
          <a:xfrm>
            <a:off x="4457622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oken: vision-language 11"/>
          <p:cNvSpPr/>
          <p:nvPr/>
        </p:nvSpPr>
        <p:spPr>
          <a:xfrm>
            <a:off x="4846409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EFA9D2"/>
          </a:solidFill>
          <a:ln w="23005">
            <a:solidFill>
              <a:srgbClr val="CD4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oken: vision-language 12"/>
          <p:cNvSpPr/>
          <p:nvPr/>
        </p:nvSpPr>
        <p:spPr>
          <a:xfrm>
            <a:off x="5235195" y="2193153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oken: vision encoder 01"/>
          <p:cNvSpPr/>
          <p:nvPr/>
        </p:nvSpPr>
        <p:spPr>
          <a:xfrm>
            <a:off x="958546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oken: vision encoder 02"/>
          <p:cNvSpPr/>
          <p:nvPr/>
        </p:nvSpPr>
        <p:spPr>
          <a:xfrm>
            <a:off x="1347332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9FD5F5"/>
          </a:solidFill>
          <a:ln w="23005">
            <a:solidFill>
              <a:srgbClr val="05A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oken: vision encoder 03"/>
          <p:cNvSpPr/>
          <p:nvPr/>
        </p:nvSpPr>
        <p:spPr>
          <a:xfrm>
            <a:off x="1736118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oken: vision encoder 04"/>
          <p:cNvSpPr/>
          <p:nvPr/>
        </p:nvSpPr>
        <p:spPr>
          <a:xfrm>
            <a:off x="2124905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ken: vision encoder 05"/>
          <p:cNvSpPr/>
          <p:nvPr/>
        </p:nvSpPr>
        <p:spPr>
          <a:xfrm>
            <a:off x="2513691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9FD5F5"/>
          </a:solidFill>
          <a:ln w="23005">
            <a:solidFill>
              <a:srgbClr val="05A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ken: vision encoder 06"/>
          <p:cNvSpPr/>
          <p:nvPr/>
        </p:nvSpPr>
        <p:spPr>
          <a:xfrm>
            <a:off x="2902477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oken: vision encoder 07"/>
          <p:cNvSpPr/>
          <p:nvPr/>
        </p:nvSpPr>
        <p:spPr>
          <a:xfrm>
            <a:off x="3291264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ken: vision encoder 08"/>
          <p:cNvSpPr/>
          <p:nvPr/>
        </p:nvSpPr>
        <p:spPr>
          <a:xfrm>
            <a:off x="3680050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9FD5F5"/>
          </a:solidFill>
          <a:ln w="23005">
            <a:solidFill>
              <a:srgbClr val="05A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oken: vision encoder 09"/>
          <p:cNvSpPr/>
          <p:nvPr/>
        </p:nvSpPr>
        <p:spPr>
          <a:xfrm>
            <a:off x="4068836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oken: vision encoder 10"/>
          <p:cNvSpPr/>
          <p:nvPr/>
        </p:nvSpPr>
        <p:spPr>
          <a:xfrm>
            <a:off x="4457622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oken: vision encoder 11"/>
          <p:cNvSpPr/>
          <p:nvPr/>
        </p:nvSpPr>
        <p:spPr>
          <a:xfrm>
            <a:off x="4846409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9FD5F5"/>
          </a:solidFill>
          <a:ln w="23005">
            <a:solidFill>
              <a:srgbClr val="05A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oken: vision encoder 12"/>
          <p:cNvSpPr/>
          <p:nvPr/>
        </p:nvSpPr>
        <p:spPr>
          <a:xfrm>
            <a:off x="5235195" y="3703822"/>
            <a:ext cx="322071" cy="490775"/>
          </a:xfrm>
          <a:prstGeom prst="roundRect">
            <a:avLst>
              <a:gd name="adj" fmla="val 11000"/>
            </a:avLst>
          </a:prstGeom>
          <a:solidFill>
            <a:srgbClr val="D1D1D1"/>
          </a:solidFill>
          <a:ln w="23005">
            <a:solidFill>
              <a:srgbClr val="A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lot: vision-language 1"/>
          <p:cNvSpPr/>
          <p:nvPr/>
        </p:nvSpPr>
        <p:spPr>
          <a:xfrm>
            <a:off x="9186706" y="2369526"/>
            <a:ext cx="322071" cy="483107"/>
          </a:xfrm>
          <a:prstGeom prst="roundRect">
            <a:avLst>
              <a:gd name="adj" fmla="val 11000"/>
            </a:avLst>
          </a:prstGeom>
          <a:solidFill>
            <a:srgbClr val="EFA9D2"/>
          </a:solidFill>
          <a:ln w="23005">
            <a:solidFill>
              <a:srgbClr val="CD4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ot: vision-language 2"/>
          <p:cNvSpPr/>
          <p:nvPr/>
        </p:nvSpPr>
        <p:spPr>
          <a:xfrm>
            <a:off x="9587761" y="2369526"/>
            <a:ext cx="322071" cy="483107"/>
          </a:xfrm>
          <a:prstGeom prst="roundRect">
            <a:avLst>
              <a:gd name="adj" fmla="val 11000"/>
            </a:avLst>
          </a:prstGeom>
          <a:solidFill>
            <a:srgbClr val="EFA9D2"/>
          </a:solidFill>
          <a:ln w="23005">
            <a:solidFill>
              <a:srgbClr val="CD4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lot: vision-language 3"/>
          <p:cNvSpPr/>
          <p:nvPr/>
        </p:nvSpPr>
        <p:spPr>
          <a:xfrm>
            <a:off x="9988817" y="2369526"/>
            <a:ext cx="322071" cy="483107"/>
          </a:xfrm>
          <a:prstGeom prst="roundRect">
            <a:avLst>
              <a:gd name="adj" fmla="val 11000"/>
            </a:avLst>
          </a:prstGeom>
          <a:solidFill>
            <a:srgbClr val="EFA9D2"/>
          </a:solidFill>
          <a:ln w="23005">
            <a:solidFill>
              <a:srgbClr val="CD4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ot: vision-language 4"/>
          <p:cNvSpPr/>
          <p:nvPr/>
        </p:nvSpPr>
        <p:spPr>
          <a:xfrm>
            <a:off x="10389873" y="2369526"/>
            <a:ext cx="322071" cy="483107"/>
          </a:xfrm>
          <a:prstGeom prst="roundRect">
            <a:avLst>
              <a:gd name="adj" fmla="val 11000"/>
            </a:avLst>
          </a:prstGeom>
          <a:solidFill>
            <a:srgbClr val="EFA9D2"/>
          </a:solidFill>
          <a:ln w="23005">
            <a:solidFill>
              <a:srgbClr val="CD45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lot: vision encoder 1"/>
          <p:cNvSpPr/>
          <p:nvPr/>
        </p:nvSpPr>
        <p:spPr>
          <a:xfrm>
            <a:off x="9186706" y="3006000"/>
            <a:ext cx="322071" cy="483107"/>
          </a:xfrm>
          <a:prstGeom prst="roundRect">
            <a:avLst>
              <a:gd name="adj" fmla="val 11000"/>
            </a:avLst>
          </a:prstGeom>
          <a:solidFill>
            <a:srgbClr val="9FD5F5"/>
          </a:solidFill>
          <a:ln w="23005">
            <a:solidFill>
              <a:srgbClr val="05A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ot: vision encoder 2"/>
          <p:cNvSpPr/>
          <p:nvPr/>
        </p:nvSpPr>
        <p:spPr>
          <a:xfrm>
            <a:off x="9587761" y="3006000"/>
            <a:ext cx="322071" cy="483107"/>
          </a:xfrm>
          <a:prstGeom prst="roundRect">
            <a:avLst>
              <a:gd name="adj" fmla="val 11000"/>
            </a:avLst>
          </a:prstGeom>
          <a:solidFill>
            <a:srgbClr val="9FD5F5"/>
          </a:solidFill>
          <a:ln w="23005">
            <a:solidFill>
              <a:srgbClr val="05A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lot: vision encoder 3"/>
          <p:cNvSpPr/>
          <p:nvPr/>
        </p:nvSpPr>
        <p:spPr>
          <a:xfrm>
            <a:off x="9988817" y="3006000"/>
            <a:ext cx="322071" cy="483107"/>
          </a:xfrm>
          <a:prstGeom prst="roundRect">
            <a:avLst>
              <a:gd name="adj" fmla="val 11000"/>
            </a:avLst>
          </a:prstGeom>
          <a:solidFill>
            <a:srgbClr val="9FD5F5"/>
          </a:solidFill>
          <a:ln w="23005">
            <a:solidFill>
              <a:srgbClr val="05A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ot: vision encoder 4"/>
          <p:cNvSpPr/>
          <p:nvPr/>
        </p:nvSpPr>
        <p:spPr>
          <a:xfrm>
            <a:off x="10389873" y="3006000"/>
            <a:ext cx="322071" cy="483107"/>
          </a:xfrm>
          <a:prstGeom prst="roundRect">
            <a:avLst>
              <a:gd name="adj" fmla="val 11000"/>
            </a:avLst>
          </a:prstGeom>
          <a:solidFill>
            <a:srgbClr val="9FD5F5"/>
          </a:solidFill>
          <a:ln w="23005">
            <a:solidFill>
              <a:srgbClr val="05A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rrow: vision-language to adapter"/>
          <p:cNvSpPr/>
          <p:nvPr/>
        </p:nvSpPr>
        <p:spPr>
          <a:xfrm>
            <a:off x="5758668" y="2193048"/>
            <a:ext cx="743796" cy="437076"/>
          </a:xfrm>
          <a:custGeom>
            <a:avLst/>
            <a:gdLst/>
            <a:ahLst/>
            <a:cxnLst/>
            <a:rect l="l" t="t" r="r" b="b"/>
            <a:pathLst>
              <a:path w="97" h="57">
                <a:moveTo>
                  <a:pt x="0" y="0"/>
                </a:moveTo>
                <a:lnTo>
                  <a:pt x="48" y="0"/>
                </a:lnTo>
                <a:lnTo>
                  <a:pt x="48" y="57"/>
                </a:lnTo>
                <a:lnTo>
                  <a:pt x="97" y="57"/>
                </a:lnTo>
              </a:path>
            </a:pathLst>
          </a:custGeom>
          <a:noFill/>
          <a:ln w="26072">
            <a:solidFill>
              <a:srgbClr val="10101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rrow: vision encoder to adapter"/>
          <p:cNvSpPr/>
          <p:nvPr/>
        </p:nvSpPr>
        <p:spPr>
          <a:xfrm>
            <a:off x="5758668" y="3235896"/>
            <a:ext cx="743796" cy="467748"/>
          </a:xfrm>
          <a:custGeom>
            <a:avLst/>
            <a:gdLst/>
            <a:ahLst/>
            <a:cxnLst/>
            <a:rect l="l" t="t" r="r" b="b"/>
            <a:pathLst>
              <a:path w="97" h="61">
                <a:moveTo>
                  <a:pt x="0" y="61"/>
                </a:moveTo>
                <a:lnTo>
                  <a:pt x="48" y="61"/>
                </a:lnTo>
                <a:lnTo>
                  <a:pt x="48" y="0"/>
                </a:lnTo>
                <a:lnTo>
                  <a:pt x="97" y="0"/>
                </a:lnTo>
              </a:path>
            </a:pathLst>
          </a:custGeom>
          <a:noFill/>
          <a:ln w="26072">
            <a:solidFill>
              <a:srgbClr val="101010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Arrow: adapter to language slots"/>
          <p:cNvCxnSpPr/>
          <p:nvPr/>
        </p:nvCxnSpPr>
        <p:spPr>
          <a:xfrm>
            <a:off x="8611578" y="2630250"/>
            <a:ext cx="467771" cy="0"/>
          </a:xfrm>
          <a:prstGeom prst="line">
            <a:avLst/>
          </a:prstGeom>
          <a:ln w="26072">
            <a:solidFill>
              <a:srgbClr val="10101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Arrow: adapter to visual slots"/>
          <p:cNvCxnSpPr/>
          <p:nvPr/>
        </p:nvCxnSpPr>
        <p:spPr>
          <a:xfrm>
            <a:off x="8611578" y="3236051"/>
            <a:ext cx="467771" cy="0"/>
          </a:xfrm>
          <a:prstGeom prst="line">
            <a:avLst/>
          </a:prstGeom>
          <a:ln w="26072">
            <a:solidFill>
              <a:srgbClr val="10101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Bracket: merge eight slots"/>
          <p:cNvSpPr/>
          <p:nvPr/>
        </p:nvSpPr>
        <p:spPr>
          <a:xfrm>
            <a:off x="10834884" y="2607120"/>
            <a:ext cx="360396" cy="651780"/>
          </a:xfrm>
          <a:custGeom>
            <a:avLst/>
            <a:gdLst/>
            <a:ahLst/>
            <a:cxnLst/>
            <a:rect l="l" t="t" r="r" b="b"/>
            <a:pathLst>
              <a:path w="47" h="85">
                <a:moveTo>
                  <a:pt x="0" y="0"/>
                </a:moveTo>
                <a:lnTo>
                  <a:pt x="47" y="0"/>
                </a:lnTo>
                <a:lnTo>
                  <a:pt x="47" y="85"/>
                </a:lnTo>
                <a:lnTo>
                  <a:pt x="0" y="85"/>
                </a:lnTo>
              </a:path>
            </a:pathLst>
          </a:custGeom>
          <a:noFill/>
          <a:ln w="26072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Arrow: slots to task decoder"/>
          <p:cNvCxnSpPr/>
          <p:nvPr/>
        </p:nvCxnSpPr>
        <p:spPr>
          <a:xfrm>
            <a:off x="11195818" y="2929317"/>
            <a:ext cx="460103" cy="0"/>
          </a:xfrm>
          <a:prstGeom prst="line">
            <a:avLst/>
          </a:prstGeom>
          <a:ln w="26072">
            <a:solidFill>
              <a:srgbClr val="10101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Arrow: task decoder to loss"/>
          <p:cNvCxnSpPr/>
          <p:nvPr/>
        </p:nvCxnSpPr>
        <p:spPr>
          <a:xfrm>
            <a:off x="13542339" y="2929317"/>
            <a:ext cx="475439" cy="0"/>
          </a:xfrm>
          <a:prstGeom prst="line">
            <a:avLst/>
          </a:prstGeom>
          <a:ln w="26072">
            <a:solidFill>
              <a:srgbClr val="10101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Label: VLM"/>
          <p:cNvSpPr txBox="1"/>
          <p:nvPr/>
        </p:nvSpPr>
        <p:spPr>
          <a:xfrm>
            <a:off x="2446209" y="881862"/>
            <a:ext cx="1364969" cy="6134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64" b="1" i="0">
                <a:solidFill>
                  <a:srgbClr val="101010"/>
                </a:solidFill>
                <a:latin typeface="Comic Sans MS"/>
              </a:rPr>
              <a:t>VLM</a:t>
            </a:r>
          </a:p>
        </p:txBody>
      </p:sp>
      <p:sp>
        <p:nvSpPr>
          <p:cNvPr id="46" name="Label: vision-language"/>
          <p:cNvSpPr txBox="1"/>
          <p:nvPr/>
        </p:nvSpPr>
        <p:spPr>
          <a:xfrm>
            <a:off x="920204" y="1618025"/>
            <a:ext cx="4447654" cy="52144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77" b="0" i="0">
                <a:solidFill>
                  <a:srgbClr val="101010"/>
                </a:solidFill>
                <a:latin typeface="Comic Sans MS"/>
              </a:rPr>
              <a:t>Vision-language</a:t>
            </a:r>
          </a:p>
        </p:txBody>
      </p:sp>
      <p:sp>
        <p:nvSpPr>
          <p:cNvPr id="47" name="Label: vision encoder"/>
          <p:cNvSpPr txBox="1"/>
          <p:nvPr/>
        </p:nvSpPr>
        <p:spPr>
          <a:xfrm>
            <a:off x="920204" y="3128694"/>
            <a:ext cx="4447654" cy="52144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77" b="0" i="0">
                <a:solidFill>
                  <a:srgbClr val="101010"/>
                </a:solidFill>
                <a:latin typeface="Comic Sans MS"/>
              </a:rPr>
              <a:t>Vision encoder</a:t>
            </a:r>
          </a:p>
        </p:txBody>
      </p:sp>
      <p:sp>
        <p:nvSpPr>
          <p:cNvPr id="48" name="Label: lightweight adapter"/>
          <p:cNvSpPr txBox="1"/>
          <p:nvPr/>
        </p:nvSpPr>
        <p:spPr>
          <a:xfrm>
            <a:off x="6625470" y="2484551"/>
            <a:ext cx="1901755" cy="85885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5" b="0" i="0">
                <a:solidFill>
                  <a:srgbClr val="101010"/>
                </a:solidFill>
                <a:latin typeface="Comic Sans MS"/>
              </a:rPr>
              <a:t>Lightweight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5" b="0" i="0">
                <a:solidFill>
                  <a:srgbClr val="101010"/>
                </a:solidFill>
                <a:latin typeface="Comic Sans MS"/>
              </a:rPr>
              <a:t>adapter</a:t>
            </a:r>
          </a:p>
        </p:txBody>
      </p:sp>
      <p:sp>
        <p:nvSpPr>
          <p:cNvPr id="49" name="Label: eight slots"/>
          <p:cNvSpPr txBox="1"/>
          <p:nvPr/>
        </p:nvSpPr>
        <p:spPr>
          <a:xfrm>
            <a:off x="9041007" y="1779061"/>
            <a:ext cx="1817403" cy="48310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17" b="0" i="0">
                <a:solidFill>
                  <a:srgbClr val="101010"/>
                </a:solidFill>
                <a:latin typeface="Comic Sans MS"/>
              </a:rPr>
              <a:t>8 slots</a:t>
            </a:r>
          </a:p>
        </p:txBody>
      </p:sp>
      <p:sp>
        <p:nvSpPr>
          <p:cNvPr id="50" name="Label: task decoder"/>
          <p:cNvSpPr txBox="1"/>
          <p:nvPr/>
        </p:nvSpPr>
        <p:spPr>
          <a:xfrm>
            <a:off x="11885972" y="2499888"/>
            <a:ext cx="1510668" cy="8511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56" b="0" i="0">
                <a:solidFill>
                  <a:srgbClr val="101010"/>
                </a:solidFill>
                <a:latin typeface="Comic Sans MS"/>
              </a:rPr>
              <a:t>Task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56" b="0" i="0">
                <a:solidFill>
                  <a:srgbClr val="101010"/>
                </a:solidFill>
                <a:latin typeface="Comic Sans MS"/>
              </a:rPr>
              <a:t>decoder</a:t>
            </a:r>
          </a:p>
        </p:txBody>
      </p:sp>
      <p:sp>
        <p:nvSpPr>
          <p:cNvPr id="51" name="Label: joint optimization"/>
          <p:cNvSpPr txBox="1"/>
          <p:nvPr/>
        </p:nvSpPr>
        <p:spPr>
          <a:xfrm>
            <a:off x="6495108" y="4409312"/>
            <a:ext cx="3397087" cy="52911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5" b="0" i="0">
                <a:solidFill>
                  <a:srgbClr val="101010"/>
                </a:solidFill>
                <a:latin typeface="Comic Sans MS"/>
              </a:rPr>
              <a:t>Joint optimization</a:t>
            </a:r>
          </a:p>
        </p:txBody>
      </p:sp>
      <p:sp>
        <p:nvSpPr>
          <p:cNvPr id="52" name="Equation: slot dimensions"/>
          <p:cNvSpPr txBox="1"/>
          <p:nvPr/>
        </p:nvSpPr>
        <p:spPr>
          <a:xfrm>
            <a:off x="9447430" y="3565791"/>
            <a:ext cx="996887" cy="4907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58" b="0" i="1">
                <a:solidFill>
                  <a:srgbClr val="101010"/>
                </a:solidFill>
                <a:latin typeface="Times New Roman"/>
              </a:rPr>
              <a:t>8 × d</a:t>
            </a:r>
          </a:p>
        </p:txBody>
      </p:sp>
      <p:sp>
        <p:nvSpPr>
          <p:cNvPr id="53" name="Equation: task loss"/>
          <p:cNvSpPr txBox="1"/>
          <p:nvPr/>
        </p:nvSpPr>
        <p:spPr>
          <a:xfrm>
            <a:off x="14163477" y="2522893"/>
            <a:ext cx="1341964" cy="6824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66" b="0" i="1">
                <a:solidFill>
                  <a:srgbClr val="101010"/>
                </a:solidFill>
                <a:latin typeface="Times New Roman"/>
              </a:rPr>
              <a:t>L</a:t>
            </a:r>
            <a:r>
              <a:rPr sz="3924" i="1" baseline="-23000">
                <a:solidFill>
                  <a:srgbClr val="101010"/>
                </a:solidFill>
                <a:latin typeface="Times New Roman"/>
              </a:rPr>
              <a:t>task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fig2_v1 — Task-supervised slot representation</dc:title>
  <dc:subject>Editable reconstruction of the supplied reference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