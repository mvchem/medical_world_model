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8452592" cy="7123176"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Reconstructed from source/fig3_v3.png with MRI replaced by a real PA CXR. The report is abridged from the source CXR report. The six colored feature planes are deterministic Python illustrations based on the CXR texture and analytic spatial functions. They are not learned attention, true teacher embeddings, or measured model results. See scripts/fig3_v3/README.md and assets/provenance.json. Text, shapes, tokens, connectors, braces, and grid are native editable PowerPoint objects; CXR/crops and feature textures are bitmap pictures.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nel A background"/>
          <p:cNvSpPr/>
          <p:nvPr/>
        </p:nvSpPr>
        <p:spPr>
          <a:xfrm>
            <a:off x="1005840" y="1005840"/>
            <a:ext cx="9793224" cy="5111496"/>
          </a:xfrm>
          <a:prstGeom prst="roundRect">
            <a:avLst>
              <a:gd name="adj" fmla="val 2325"/>
            </a:avLst>
          </a:prstGeom>
          <a:solidFill>
            <a:srgbClr val="F6FBFE"/>
          </a:solidFill>
          <a:ln w="12801">
            <a:solidFill>
              <a:srgbClr val="75BFFC"/>
            </a:solidFill>
            <a:prstDash val="dash"/>
          </a:ln>
          <a:effectLst/>
        </p:spPr>
        <p:txBody>
          <a:bodyPr rtlCol="0" anchor="ctr"/>
          <a:lstStyle/>
          <a:p>
            <a:pPr algn="ctr"/>
          </a:p>
        </p:txBody>
      </p:sp>
      <p:sp>
        <p:nvSpPr>
          <p:cNvPr id="3" name="Panel B background"/>
          <p:cNvSpPr/>
          <p:nvPr/>
        </p:nvSpPr>
        <p:spPr>
          <a:xfrm>
            <a:off x="10863072" y="1005840"/>
            <a:ext cx="6611112" cy="5111496"/>
          </a:xfrm>
          <a:prstGeom prst="roundRect">
            <a:avLst>
              <a:gd name="adj" fmla="val 2325"/>
            </a:avLst>
          </a:prstGeom>
          <a:solidFill>
            <a:srgbClr val="F4FAF6"/>
          </a:solidFill>
          <a:ln w="12801">
            <a:solidFill>
              <a:srgbClr val="77CEA0"/>
            </a:solidFill>
            <a:prstDash val="dash"/>
          </a:ln>
          <a:effectLst/>
        </p:spPr>
        <p:txBody>
          <a:bodyPr rtlCol="0" anchor="ctr"/>
          <a:lstStyle/>
          <a:p>
            <a:pPr algn="ctr"/>
          </a:p>
        </p:txBody>
      </p:sp>
      <p:sp>
        <p:nvSpPr>
          <p:cNvPr id="4" name="Panel A title"/>
          <p:cNvSpPr txBox="1"/>
          <p:nvPr/>
        </p:nvSpPr>
        <p:spPr>
          <a:xfrm>
            <a:off x="1143000" y="1097280"/>
            <a:ext cx="9326880" cy="338328"/>
          </a:xfrm>
          <a:prstGeom prst="rect">
            <a:avLst/>
          </a:prstGeom>
          <a:noFill/>
        </p:spPr>
        <p:txBody>
          <a:bodyPr wrap="none" lIns="0" rIns="0" tIns="0" bIns="0" anchor="ctr">
            <a:noAutofit/>
          </a:bodyPr>
          <a:lstStyle/>
          <a:p>
            <a:pPr algn="l">
              <a:lnSpc>
                <a:spcPts val="2177"/>
              </a:lnSpc>
              <a:spcBef>
                <a:spcPts val="0"/>
              </a:spcBef>
              <a:spcAft>
                <a:spcPts val="0"/>
              </a:spcAft>
            </a:pPr>
            <a:r>
              <a:rPr sz="2016" b="1" i="0">
                <a:solidFill>
                  <a:srgbClr val="090909"/>
                </a:solidFill>
                <a:latin typeface="Arial"/>
              </a:rPr>
              <a:t>(a)  Multi-depth slot construction</a:t>
            </a:r>
          </a:p>
        </p:txBody>
      </p:sp>
      <p:sp>
        <p:nvSpPr>
          <p:cNvPr id="5" name="Panel B title"/>
          <p:cNvSpPr txBox="1"/>
          <p:nvPr/>
        </p:nvSpPr>
        <p:spPr>
          <a:xfrm>
            <a:off x="11000232" y="1097280"/>
            <a:ext cx="6382512" cy="338328"/>
          </a:xfrm>
          <a:prstGeom prst="rect">
            <a:avLst/>
          </a:prstGeom>
          <a:noFill/>
        </p:spPr>
        <p:txBody>
          <a:bodyPr wrap="none" lIns="0" rIns="0" tIns="0" bIns="0" anchor="ctr">
            <a:noAutofit/>
          </a:bodyPr>
          <a:lstStyle/>
          <a:p>
            <a:pPr algn="l">
              <a:lnSpc>
                <a:spcPts val="2177"/>
              </a:lnSpc>
              <a:spcBef>
                <a:spcPts val="0"/>
              </a:spcBef>
              <a:spcAft>
                <a:spcPts val="0"/>
              </a:spcAft>
            </a:pPr>
            <a:r>
              <a:rPr sz="2016" b="1" i="0">
                <a:solidFill>
                  <a:srgbClr val="090909"/>
                </a:solidFill>
                <a:latin typeface="Arial"/>
              </a:rPr>
              <a:t>(b)  Visual slot spatial consistency </a:t>
            </a:r>
            <a:r>
              <a:rPr sz="2016" b="1" i="0">
                <a:solidFill>
                  <a:srgbClr val="787878"/>
                </a:solidFill>
                <a:latin typeface="Arial"/>
              </a:rPr>
              <a:t>(training only)</a:t>
            </a:r>
          </a:p>
        </p:txBody>
      </p:sp>
      <p:sp>
        <p:nvSpPr>
          <p:cNvPr id="6" name="Image and report card"/>
          <p:cNvSpPr/>
          <p:nvPr/>
        </p:nvSpPr>
        <p:spPr>
          <a:xfrm>
            <a:off x="1188720" y="1874520"/>
            <a:ext cx="1243584" cy="2999232"/>
          </a:xfrm>
          <a:prstGeom prst="roundRect">
            <a:avLst>
              <a:gd name="adj" fmla="val 6617"/>
            </a:avLst>
          </a:prstGeom>
          <a:solidFill>
            <a:srgbClr val="FEFEFF"/>
          </a:solidFill>
          <a:ln w="13716">
            <a:solidFill>
              <a:srgbClr val="686F7E"/>
            </a:solidFill>
          </a:ln>
          <a:effectLst/>
        </p:spPr>
        <p:txBody>
          <a:bodyPr rtlCol="0" anchor="ctr"/>
          <a:lstStyle/>
          <a:p>
            <a:pPr algn="ctr"/>
          </a:p>
        </p:txBody>
      </p:sp>
      <p:sp>
        <p:nvSpPr>
          <p:cNvPr id="7" name="Input heading"/>
          <p:cNvSpPr txBox="1"/>
          <p:nvPr/>
        </p:nvSpPr>
        <p:spPr>
          <a:xfrm>
            <a:off x="1307592" y="1965960"/>
            <a:ext cx="1014984" cy="393192"/>
          </a:xfrm>
          <a:prstGeom prst="rect">
            <a:avLst/>
          </a:prstGeom>
          <a:noFill/>
        </p:spPr>
        <p:txBody>
          <a:bodyPr wrap="none" lIns="0" rIns="0" tIns="0" bIns="0" anchor="ctr">
            <a:noAutofit/>
          </a:bodyPr>
          <a:lstStyle/>
          <a:p>
            <a:pPr algn="ctr">
              <a:lnSpc>
                <a:spcPts val="1555"/>
              </a:lnSpc>
              <a:spcBef>
                <a:spcPts val="0"/>
              </a:spcBef>
              <a:spcAft>
                <a:spcPts val="0"/>
              </a:spcAft>
            </a:pPr>
            <a:r>
              <a:rPr sz="1439" b="0" i="0">
                <a:solidFill>
                  <a:srgbClr val="090909"/>
                </a:solidFill>
                <a:latin typeface="Arial"/>
              </a:rPr>
              <a:t>Image</a:t>
            </a:r>
          </a:p>
          <a:p>
            <a:pPr algn="ctr">
              <a:lnSpc>
                <a:spcPts val="1555"/>
              </a:lnSpc>
              <a:spcBef>
                <a:spcPts val="0"/>
              </a:spcBef>
              <a:spcAft>
                <a:spcPts val="0"/>
              </a:spcAft>
            </a:pPr>
            <a:r>
              <a:rPr sz="1439" b="0" i="0">
                <a:solidFill>
                  <a:srgbClr val="090909"/>
                </a:solidFill>
                <a:latin typeface="Arial"/>
              </a:rPr>
              <a:t>+ Report</a:t>
            </a:r>
          </a:p>
        </p:txBody>
      </p:sp>
      <p:pic>
        <p:nvPicPr>
          <p:cNvPr id="8" name="Input CXR" descr="image.png"/>
          <p:cNvPicPr>
            <a:picLocks noChangeAspect="1"/>
          </p:cNvPicPr>
          <p:nvPr/>
        </p:nvPicPr>
        <p:blipFill>
          <a:blip r:embed="rId2"/>
          <a:stretch>
            <a:fillRect/>
          </a:stretch>
        </p:blipFill>
        <p:spPr>
          <a:xfrm>
            <a:off x="1325880" y="2432304"/>
            <a:ext cx="969264" cy="1033272"/>
          </a:xfrm>
          <a:prstGeom prst="rect">
            <a:avLst/>
          </a:prstGeom>
        </p:spPr>
      </p:pic>
      <p:cxnSp>
        <p:nvCxnSpPr>
          <p:cNvPr id="9" name="Report to image arrow"/>
          <p:cNvCxnSpPr/>
          <p:nvPr/>
        </p:nvCxnSpPr>
        <p:spPr>
          <a:xfrm flipV="1">
            <a:off x="1819656" y="3511296"/>
            <a:ext cx="0" cy="155448"/>
          </a:xfrm>
          <a:prstGeom prst="line">
            <a:avLst/>
          </a:prstGeom>
          <a:ln w="15544">
            <a:solidFill>
              <a:srgbClr val="090909"/>
            </a:solidFill>
            <a:tailEnd type="triangle" w="med" len="med"/>
          </a:ln>
          <a:effectLst/>
        </p:spPr>
      </p:cxnSp>
      <p:sp>
        <p:nvSpPr>
          <p:cNvPr id="10" name="Report paper outline"/>
          <p:cNvSpPr/>
          <p:nvPr/>
        </p:nvSpPr>
        <p:spPr>
          <a:xfrm>
            <a:off x="1307592" y="3694176"/>
            <a:ext cx="1005840" cy="1033272"/>
          </a:xfrm>
          <a:custGeom>
            <a:avLst/>
            <a:gdLst/>
            <a:ahLst/>
            <a:cxnLst/>
            <a:rect l="0" t="0" r="r" b="b"/>
            <a:pathLst>
              <a:path w="110000" h="113000">
                <a:moveTo>
                  <a:pt x="110000" y="23000"/>
                </a:moveTo>
                <a:lnTo>
                  <a:pt x="110000" y="113000"/>
                </a:lnTo>
                <a:lnTo>
                  <a:pt x="0" y="113000"/>
                </a:lnTo>
                <a:lnTo>
                  <a:pt x="0" y="0"/>
                </a:lnTo>
                <a:lnTo>
                  <a:pt x="104000" y="0"/>
                </a:lnTo>
              </a:path>
            </a:pathLst>
          </a:custGeom>
          <a:noFill/>
          <a:ln w="15544">
            <a:solidFill>
              <a:srgbClr val="BEC8D2"/>
            </a:solidFill>
          </a:ln>
          <a:effectLst/>
        </p:spPr>
        <p:txBody>
          <a:bodyPr rtlCol="0" anchor="ctr"/>
          <a:lstStyle/>
          <a:p>
            <a:pPr algn="ctr"/>
          </a:p>
        </p:txBody>
      </p:sp>
      <p:cxnSp>
        <p:nvCxnSpPr>
          <p:cNvPr id="11" name="Report decoration line 1"/>
          <p:cNvCxnSpPr/>
          <p:nvPr/>
        </p:nvCxnSpPr>
        <p:spPr>
          <a:xfrm>
            <a:off x="1371600" y="3776472"/>
            <a:ext cx="813816" cy="0"/>
          </a:xfrm>
          <a:prstGeom prst="line">
            <a:avLst/>
          </a:prstGeom>
          <a:ln w="20116">
            <a:solidFill>
              <a:srgbClr val="BAC6D1"/>
            </a:solidFill>
          </a:ln>
          <a:effectLst/>
        </p:spPr>
      </p:cxnSp>
      <p:cxnSp>
        <p:nvCxnSpPr>
          <p:cNvPr id="12" name="Report decoration line 2"/>
          <p:cNvCxnSpPr/>
          <p:nvPr/>
        </p:nvCxnSpPr>
        <p:spPr>
          <a:xfrm>
            <a:off x="1371600" y="3831336"/>
            <a:ext cx="813816" cy="0"/>
          </a:xfrm>
          <a:prstGeom prst="line">
            <a:avLst/>
          </a:prstGeom>
          <a:ln w="20116">
            <a:solidFill>
              <a:srgbClr val="BAC6D1"/>
            </a:solidFill>
          </a:ln>
          <a:effectLst/>
        </p:spPr>
      </p:cxnSp>
      <p:cxnSp>
        <p:nvCxnSpPr>
          <p:cNvPr id="13" name="Report decoration line 3"/>
          <p:cNvCxnSpPr/>
          <p:nvPr/>
        </p:nvCxnSpPr>
        <p:spPr>
          <a:xfrm>
            <a:off x="1371600" y="3886200"/>
            <a:ext cx="813816" cy="0"/>
          </a:xfrm>
          <a:prstGeom prst="line">
            <a:avLst/>
          </a:prstGeom>
          <a:ln w="20116">
            <a:solidFill>
              <a:srgbClr val="BAC6D1"/>
            </a:solidFill>
          </a:ln>
          <a:effectLst/>
        </p:spPr>
      </p:cxnSp>
      <p:sp>
        <p:nvSpPr>
          <p:cNvPr id="14" name="CXR report excerpt"/>
          <p:cNvSpPr txBox="1"/>
          <p:nvPr/>
        </p:nvSpPr>
        <p:spPr>
          <a:xfrm>
            <a:off x="1362456" y="3977640"/>
            <a:ext cx="941832" cy="658368"/>
          </a:xfrm>
          <a:prstGeom prst="rect">
            <a:avLst/>
          </a:prstGeom>
          <a:noFill/>
        </p:spPr>
        <p:txBody>
          <a:bodyPr wrap="none" lIns="0" rIns="0" tIns="0" bIns="0" anchor="ctr">
            <a:noAutofit/>
          </a:bodyPr>
          <a:lstStyle/>
          <a:p>
            <a:pPr algn="l">
              <a:lnSpc>
                <a:spcPts val="1286"/>
              </a:lnSpc>
              <a:spcBef>
                <a:spcPts val="0"/>
              </a:spcBef>
              <a:spcAft>
                <a:spcPts val="0"/>
              </a:spcAft>
            </a:pPr>
            <a:r>
              <a:rPr sz="1202" b="0" i="0">
                <a:solidFill>
                  <a:srgbClr val="090909"/>
                </a:solidFill>
                <a:latin typeface="Arial"/>
              </a:rPr>
              <a:t>Findings:</a:t>
            </a:r>
          </a:p>
          <a:p>
            <a:pPr algn="l">
              <a:lnSpc>
                <a:spcPts val="1286"/>
              </a:lnSpc>
              <a:spcBef>
                <a:spcPts val="0"/>
              </a:spcBef>
              <a:spcAft>
                <a:spcPts val="0"/>
              </a:spcAft>
            </a:pPr>
            <a:r>
              <a:rPr sz="1202" b="0" i="0">
                <a:solidFill>
                  <a:srgbClr val="090909"/>
                </a:solidFill>
                <a:latin typeface="Arial"/>
              </a:rPr>
              <a:t>No focal</a:t>
            </a:r>
          </a:p>
          <a:p>
            <a:pPr algn="l">
              <a:lnSpc>
                <a:spcPts val="1286"/>
              </a:lnSpc>
              <a:spcBef>
                <a:spcPts val="0"/>
              </a:spcBef>
              <a:spcAft>
                <a:spcPts val="0"/>
              </a:spcAft>
            </a:pPr>
            <a:r>
              <a:rPr sz="1202" b="0" i="0">
                <a:solidFill>
                  <a:srgbClr val="090909"/>
                </a:solidFill>
                <a:latin typeface="Arial"/>
              </a:rPr>
              <a:t>consolidation.</a:t>
            </a:r>
          </a:p>
          <a:p>
            <a:pPr algn="l">
              <a:lnSpc>
                <a:spcPts val="1286"/>
              </a:lnSpc>
              <a:spcBef>
                <a:spcPts val="0"/>
              </a:spcBef>
              <a:spcAft>
                <a:spcPts val="0"/>
              </a:spcAft>
            </a:pPr>
            <a:r>
              <a:rPr sz="1202" b="0" i="0">
                <a:solidFill>
                  <a:srgbClr val="090909"/>
                </a:solidFill>
                <a:latin typeface="Arial"/>
              </a:rPr>
              <a:t>No acute ...</a:t>
            </a:r>
          </a:p>
        </p:txBody>
      </p:sp>
      <p:cxnSp>
        <p:nvCxnSpPr>
          <p:cNvPr id="15" name="Input branch stem"/>
          <p:cNvCxnSpPr/>
          <p:nvPr/>
        </p:nvCxnSpPr>
        <p:spPr>
          <a:xfrm>
            <a:off x="2441448" y="3017520"/>
            <a:ext cx="146304" cy="0"/>
          </a:xfrm>
          <a:prstGeom prst="line">
            <a:avLst/>
          </a:prstGeom>
          <a:ln w="16459">
            <a:solidFill>
              <a:srgbClr val="090909"/>
            </a:solidFill>
          </a:ln>
          <a:effectLst/>
        </p:spPr>
      </p:cxnSp>
      <p:sp>
        <p:nvSpPr>
          <p:cNvPr id="16" name="Input to VLM arrow"/>
          <p:cNvSpPr/>
          <p:nvPr/>
        </p:nvSpPr>
        <p:spPr>
          <a:xfrm>
            <a:off x="2587752" y="2532888"/>
            <a:ext cx="283464" cy="484632"/>
          </a:xfrm>
          <a:custGeom>
            <a:avLst/>
            <a:gdLst/>
            <a:ahLst/>
            <a:cxnLst/>
            <a:rect l="0" t="0" r="r" b="b"/>
            <a:pathLst>
              <a:path w="31000" h="53000">
                <a:moveTo>
                  <a:pt x="0" y="53000"/>
                </a:moveTo>
                <a:lnTo>
                  <a:pt x="0" y="0"/>
                </a:lnTo>
                <a:lnTo>
                  <a:pt x="31000" y="0"/>
                </a:lnTo>
              </a:path>
            </a:pathLst>
          </a:custGeom>
          <a:noFill/>
          <a:ln w="16459">
            <a:solidFill>
              <a:srgbClr val="090909"/>
            </a:solidFill>
            <a:tailEnd type="triangle" w="med" len="med"/>
          </a:ln>
          <a:effectLst/>
        </p:spPr>
        <p:txBody>
          <a:bodyPr rtlCol="0" anchor="ctr"/>
          <a:lstStyle/>
          <a:p>
            <a:pPr algn="ctr"/>
          </a:p>
        </p:txBody>
      </p:sp>
      <p:sp>
        <p:nvSpPr>
          <p:cNvPr id="17" name="Input to vision encoder arrow"/>
          <p:cNvSpPr/>
          <p:nvPr/>
        </p:nvSpPr>
        <p:spPr>
          <a:xfrm>
            <a:off x="2587752" y="3017520"/>
            <a:ext cx="283464" cy="1673352"/>
          </a:xfrm>
          <a:custGeom>
            <a:avLst/>
            <a:gdLst/>
            <a:ahLst/>
            <a:cxnLst/>
            <a:rect l="0" t="0" r="r" b="b"/>
            <a:pathLst>
              <a:path w="31000" h="183000">
                <a:moveTo>
                  <a:pt x="0" y="0"/>
                </a:moveTo>
                <a:lnTo>
                  <a:pt x="0" y="183000"/>
                </a:lnTo>
                <a:lnTo>
                  <a:pt x="31000" y="183000"/>
                </a:lnTo>
              </a:path>
            </a:pathLst>
          </a:custGeom>
          <a:noFill/>
          <a:ln w="16459">
            <a:solidFill>
              <a:srgbClr val="090909"/>
            </a:solidFill>
            <a:tailEnd type="triangle" w="med" len="med"/>
          </a:ln>
          <a:effectLst/>
        </p:spPr>
        <p:txBody>
          <a:bodyPr rtlCol="0" anchor="ctr"/>
          <a:lstStyle/>
          <a:p>
            <a:pPr algn="ctr"/>
          </a:p>
        </p:txBody>
      </p:sp>
      <p:sp>
        <p:nvSpPr>
          <p:cNvPr id="18" name="VLM trapezoid"/>
          <p:cNvSpPr/>
          <p:nvPr/>
        </p:nvSpPr>
        <p:spPr>
          <a:xfrm>
            <a:off x="2907792" y="1901952"/>
            <a:ext cx="1426464" cy="1225296"/>
          </a:xfrm>
          <a:custGeom>
            <a:avLst/>
            <a:gdLst/>
            <a:ahLst/>
            <a:cxnLst/>
            <a:rect l="0" t="0" r="r" b="b"/>
            <a:pathLst>
              <a:path w="156000" h="134000">
                <a:moveTo>
                  <a:pt x="0" y="0"/>
                </a:moveTo>
                <a:lnTo>
                  <a:pt x="156000" y="35000"/>
                </a:lnTo>
                <a:lnTo>
                  <a:pt x="156000" y="101000"/>
                </a:lnTo>
                <a:lnTo>
                  <a:pt x="0" y="134000"/>
                </a:lnTo>
                <a:close/>
              </a:path>
            </a:pathLst>
          </a:custGeom>
          <a:gradFill rotWithShape="1">
            <a:gsLst>
              <a:gs pos="0">
                <a:srgbClr val="F7DDEC"/>
              </a:gs>
              <a:gs pos="100000">
                <a:srgbClr val="E8B4D3"/>
              </a:gs>
            </a:gsLst>
            <a:lin ang="5400000" scaled="1"/>
          </a:gradFill>
          <a:ln w="18288">
            <a:solidFill>
              <a:srgbClr val="B21777"/>
            </a:solidFill>
          </a:ln>
          <a:effectLst/>
        </p:spPr>
        <p:txBody>
          <a:bodyPr rtlCol="0" anchor="ctr"/>
          <a:lstStyle/>
          <a:p>
            <a:pPr algn="ctr"/>
          </a:p>
        </p:txBody>
      </p:sp>
      <p:sp>
        <p:nvSpPr>
          <p:cNvPr id="19" name="VLM name"/>
          <p:cNvSpPr txBox="1"/>
          <p:nvPr/>
        </p:nvSpPr>
        <p:spPr>
          <a:xfrm>
            <a:off x="3054096" y="2286000"/>
            <a:ext cx="1115568" cy="265176"/>
          </a:xfrm>
          <a:prstGeom prst="rect">
            <a:avLst/>
          </a:prstGeom>
          <a:noFill/>
        </p:spPr>
        <p:txBody>
          <a:bodyPr wrap="none" lIns="0" rIns="0" tIns="0" bIns="0" anchor="ctr">
            <a:noAutofit/>
          </a:bodyPr>
          <a:lstStyle/>
          <a:p>
            <a:pPr algn="ctr">
              <a:lnSpc>
                <a:spcPts val="1866"/>
              </a:lnSpc>
              <a:spcBef>
                <a:spcPts val="0"/>
              </a:spcBef>
              <a:spcAft>
                <a:spcPts val="0"/>
              </a:spcAft>
            </a:pPr>
            <a:r>
              <a:rPr sz="1728" b="1" i="0">
                <a:solidFill>
                  <a:srgbClr val="090909"/>
                </a:solidFill>
                <a:latin typeface="Arial"/>
              </a:rPr>
              <a:t>VLM</a:t>
            </a:r>
          </a:p>
        </p:txBody>
      </p:sp>
      <p:sp>
        <p:nvSpPr>
          <p:cNvPr id="20" name="VLM fusion label"/>
          <p:cNvSpPr txBox="1"/>
          <p:nvPr/>
        </p:nvSpPr>
        <p:spPr>
          <a:xfrm>
            <a:off x="2999232" y="2551176"/>
            <a:ext cx="1252728" cy="246888"/>
          </a:xfrm>
          <a:prstGeom prst="rect">
            <a:avLst/>
          </a:prstGeom>
          <a:noFill/>
        </p:spPr>
        <p:txBody>
          <a:bodyPr wrap="none" lIns="0" rIns="0" tIns="0" bIns="0" anchor="ctr">
            <a:noAutofit/>
          </a:bodyPr>
          <a:lstStyle/>
          <a:p>
            <a:pPr algn="ctr">
              <a:lnSpc>
                <a:spcPts val="1555"/>
              </a:lnSpc>
              <a:spcBef>
                <a:spcPts val="0"/>
              </a:spcBef>
              <a:spcAft>
                <a:spcPts val="0"/>
              </a:spcAft>
            </a:pPr>
            <a:r>
              <a:rPr sz="1439" b="0" i="0">
                <a:solidFill>
                  <a:srgbClr val="090909"/>
                </a:solidFill>
                <a:latin typeface="Arial"/>
              </a:rPr>
              <a:t>(after fusion)</a:t>
            </a:r>
          </a:p>
        </p:txBody>
      </p:sp>
      <p:sp>
        <p:nvSpPr>
          <p:cNvPr id="21" name="Vision encoder trapezoid"/>
          <p:cNvSpPr/>
          <p:nvPr/>
        </p:nvSpPr>
        <p:spPr>
          <a:xfrm>
            <a:off x="2907792" y="4123944"/>
            <a:ext cx="1426464" cy="1197864"/>
          </a:xfrm>
          <a:custGeom>
            <a:avLst/>
            <a:gdLst/>
            <a:ahLst/>
            <a:cxnLst/>
            <a:rect l="0" t="0" r="r" b="b"/>
            <a:pathLst>
              <a:path w="156000" h="131000">
                <a:moveTo>
                  <a:pt x="0" y="0"/>
                </a:moveTo>
                <a:lnTo>
                  <a:pt x="156000" y="35000"/>
                </a:lnTo>
                <a:lnTo>
                  <a:pt x="156000" y="100000"/>
                </a:lnTo>
                <a:lnTo>
                  <a:pt x="0" y="131000"/>
                </a:lnTo>
                <a:close/>
              </a:path>
            </a:pathLst>
          </a:custGeom>
          <a:gradFill rotWithShape="1">
            <a:gsLst>
              <a:gs pos="0">
                <a:srgbClr val="D0EBFC"/>
              </a:gs>
              <a:gs pos="100000">
                <a:srgbClr val="9DD2F3"/>
              </a:gs>
            </a:gsLst>
            <a:lin ang="5400000" scaled="1"/>
          </a:gradFill>
          <a:ln w="18288">
            <a:solidFill>
              <a:srgbClr val="0759BD"/>
            </a:solidFill>
          </a:ln>
          <a:effectLst/>
        </p:spPr>
        <p:txBody>
          <a:bodyPr rtlCol="0" anchor="ctr"/>
          <a:lstStyle/>
          <a:p>
            <a:pPr algn="ctr"/>
          </a:p>
        </p:txBody>
      </p:sp>
      <p:sp>
        <p:nvSpPr>
          <p:cNvPr id="22" name="Vision encoder name"/>
          <p:cNvSpPr txBox="1"/>
          <p:nvPr/>
        </p:nvSpPr>
        <p:spPr>
          <a:xfrm>
            <a:off x="2953512" y="4517136"/>
            <a:ext cx="1353312" cy="256032"/>
          </a:xfrm>
          <a:prstGeom prst="rect">
            <a:avLst/>
          </a:prstGeom>
          <a:noFill/>
        </p:spPr>
        <p:txBody>
          <a:bodyPr wrap="none" lIns="0" rIns="0" tIns="0" bIns="0" anchor="ctr">
            <a:noAutofit/>
          </a:bodyPr>
          <a:lstStyle/>
          <a:p>
            <a:pPr algn="ctr">
              <a:lnSpc>
                <a:spcPts val="1632"/>
              </a:lnSpc>
              <a:spcBef>
                <a:spcPts val="0"/>
              </a:spcBef>
              <a:spcAft>
                <a:spcPts val="0"/>
              </a:spcAft>
            </a:pPr>
            <a:r>
              <a:rPr sz="1512" b="1" i="0">
                <a:solidFill>
                  <a:srgbClr val="090909"/>
                </a:solidFill>
                <a:latin typeface="Arial"/>
              </a:rPr>
              <a:t>Vision Encoder</a:t>
            </a:r>
          </a:p>
        </p:txBody>
      </p:sp>
      <p:sp>
        <p:nvSpPr>
          <p:cNvPr id="23" name="Vision encoder fusion label"/>
          <p:cNvSpPr txBox="1"/>
          <p:nvPr/>
        </p:nvSpPr>
        <p:spPr>
          <a:xfrm>
            <a:off x="2962656" y="4754880"/>
            <a:ext cx="1335024" cy="246888"/>
          </a:xfrm>
          <a:prstGeom prst="rect">
            <a:avLst/>
          </a:prstGeom>
          <a:noFill/>
        </p:spPr>
        <p:txBody>
          <a:bodyPr wrap="none" lIns="0" rIns="0" tIns="0" bIns="0" anchor="ctr">
            <a:noAutofit/>
          </a:bodyPr>
          <a:lstStyle/>
          <a:p>
            <a:pPr algn="ctr">
              <a:lnSpc>
                <a:spcPts val="1555"/>
              </a:lnSpc>
              <a:spcBef>
                <a:spcPts val="0"/>
              </a:spcBef>
              <a:spcAft>
                <a:spcPts val="0"/>
              </a:spcAft>
            </a:pPr>
            <a:r>
              <a:rPr sz="1439" b="0" i="0">
                <a:solidFill>
                  <a:srgbClr val="090909"/>
                </a:solidFill>
                <a:latin typeface="Arial"/>
              </a:rPr>
              <a:t>(before fusion)</a:t>
            </a:r>
          </a:p>
        </p:txBody>
      </p:sp>
      <p:cxnSp>
        <p:nvCxnSpPr>
          <p:cNvPr id="24" name="VLM to depth strip"/>
          <p:cNvCxnSpPr/>
          <p:nvPr/>
        </p:nvCxnSpPr>
        <p:spPr>
          <a:xfrm>
            <a:off x="4379976" y="2249424"/>
            <a:ext cx="182880" cy="0"/>
          </a:xfrm>
          <a:prstGeom prst="line">
            <a:avLst/>
          </a:prstGeom>
          <a:ln w="15544">
            <a:solidFill>
              <a:srgbClr val="090909"/>
            </a:solidFill>
            <a:tailEnd type="triangle" w="med" len="med"/>
          </a:ln>
          <a:effectLst/>
        </p:spPr>
      </p:cxnSp>
      <p:cxnSp>
        <p:nvCxnSpPr>
          <p:cNvPr id="25" name="Vision encoder to depth strip"/>
          <p:cNvCxnSpPr/>
          <p:nvPr/>
        </p:nvCxnSpPr>
        <p:spPr>
          <a:xfrm>
            <a:off x="4379976" y="4517136"/>
            <a:ext cx="182880" cy="0"/>
          </a:xfrm>
          <a:prstGeom prst="line">
            <a:avLst/>
          </a:prstGeom>
          <a:ln w="15544">
            <a:solidFill>
              <a:srgbClr val="090909"/>
            </a:solidFill>
            <a:tailEnd type="triangle" w="med" len="med"/>
          </a:ln>
          <a:effectLst/>
        </p:spPr>
      </p:cxnSp>
      <p:sp>
        <p:nvSpPr>
          <p:cNvPr id="26" name="Fused depth strip"/>
          <p:cNvSpPr/>
          <p:nvPr/>
        </p:nvSpPr>
        <p:spPr>
          <a:xfrm>
            <a:off x="4590288" y="2011680"/>
            <a:ext cx="3950208" cy="402336"/>
          </a:xfrm>
          <a:prstGeom prst="roundRect">
            <a:avLst>
              <a:gd name="adj" fmla="val 18181"/>
            </a:avLst>
          </a:prstGeom>
          <a:solidFill>
            <a:srgbClr val="FCF0F8"/>
          </a:solidFill>
          <a:ln w="9144">
            <a:solidFill>
              <a:srgbClr val="EFDCEE"/>
            </a:solidFill>
          </a:ln>
          <a:effectLst/>
        </p:spPr>
        <p:txBody>
          <a:bodyPr rtlCol="0" anchor="ctr"/>
          <a:lstStyle/>
          <a:p>
            <a:pPr algn="ctr"/>
          </a:p>
        </p:txBody>
      </p:sp>
      <p:sp>
        <p:nvSpPr>
          <p:cNvPr id="27" name="Visual depth strip"/>
          <p:cNvSpPr/>
          <p:nvPr/>
        </p:nvSpPr>
        <p:spPr>
          <a:xfrm>
            <a:off x="4590288" y="4315968"/>
            <a:ext cx="3950208" cy="374904"/>
          </a:xfrm>
          <a:prstGeom prst="roundRect">
            <a:avLst>
              <a:gd name="adj" fmla="val 19512"/>
            </a:avLst>
          </a:prstGeom>
          <a:solidFill>
            <a:srgbClr val="EFF8FF"/>
          </a:solidFill>
          <a:ln w="9144">
            <a:solidFill>
              <a:srgbClr val="D4EAFE"/>
            </a:solidFill>
          </a:ln>
          <a:effectLst/>
        </p:spPr>
        <p:txBody>
          <a:bodyPr rtlCol="0" anchor="ctr"/>
          <a:lstStyle/>
          <a:p>
            <a:pPr algn="ctr"/>
          </a:p>
        </p:txBody>
      </p:sp>
      <p:sp>
        <p:nvSpPr>
          <p:cNvPr id="28" name="Fused layer strip token 1"/>
          <p:cNvSpPr/>
          <p:nvPr/>
        </p:nvSpPr>
        <p:spPr>
          <a:xfrm>
            <a:off x="4700016" y="2029968"/>
            <a:ext cx="128016" cy="365760"/>
          </a:xfrm>
          <a:prstGeom prst="roundRect">
            <a:avLst>
              <a:gd name="adj" fmla="val 24285"/>
            </a:avLst>
          </a:prstGeom>
          <a:gradFill rotWithShape="1">
            <a:gsLst>
              <a:gs pos="0">
                <a:srgbClr val="F8E6F2"/>
              </a:gs>
              <a:gs pos="22000">
                <a:srgbClr val="E8BCD7"/>
              </a:gs>
              <a:gs pos="100000">
                <a:srgbClr val="F0CDE3"/>
              </a:gs>
            </a:gsLst>
            <a:lin ang="0" scaled="1"/>
          </a:gradFill>
          <a:ln w="15087">
            <a:solidFill>
              <a:srgbClr val="CD8BB5"/>
            </a:solidFill>
          </a:ln>
          <a:effectLst/>
        </p:spPr>
        <p:txBody>
          <a:bodyPr rtlCol="0" anchor="ctr"/>
          <a:lstStyle/>
          <a:p>
            <a:pPr algn="ctr"/>
          </a:p>
        </p:txBody>
      </p:sp>
      <p:sp>
        <p:nvSpPr>
          <p:cNvPr id="29" name="Visual layer strip token 1"/>
          <p:cNvSpPr/>
          <p:nvPr/>
        </p:nvSpPr>
        <p:spPr>
          <a:xfrm>
            <a:off x="4700016" y="4334256"/>
            <a:ext cx="128016" cy="338328"/>
          </a:xfrm>
          <a:prstGeom prst="roundRect">
            <a:avLst>
              <a:gd name="adj" fmla="val 24285"/>
            </a:avLst>
          </a:prstGeom>
          <a:gradFill rotWithShape="1">
            <a:gsLst>
              <a:gs pos="0">
                <a:srgbClr val="D3EDFD"/>
              </a:gs>
              <a:gs pos="22000">
                <a:srgbClr val="8ACCF3"/>
              </a:gs>
              <a:gs pos="100000">
                <a:srgbClr val="B2DBF7"/>
              </a:gs>
            </a:gsLst>
            <a:lin ang="0" scaled="1"/>
          </a:gradFill>
          <a:ln w="15087">
            <a:solidFill>
              <a:srgbClr val="5899D5"/>
            </a:solidFill>
          </a:ln>
          <a:effectLst/>
        </p:spPr>
        <p:txBody>
          <a:bodyPr rtlCol="0" anchor="ctr"/>
          <a:lstStyle/>
          <a:p>
            <a:pPr algn="ctr"/>
          </a:p>
        </p:txBody>
      </p:sp>
      <p:sp>
        <p:nvSpPr>
          <p:cNvPr id="30" name="Fused layer strip token 2"/>
          <p:cNvSpPr/>
          <p:nvPr/>
        </p:nvSpPr>
        <p:spPr>
          <a:xfrm>
            <a:off x="4910328" y="2029968"/>
            <a:ext cx="128016" cy="365760"/>
          </a:xfrm>
          <a:prstGeom prst="roundRect">
            <a:avLst>
              <a:gd name="adj" fmla="val 24285"/>
            </a:avLst>
          </a:prstGeom>
          <a:gradFill rotWithShape="1">
            <a:gsLst>
              <a:gs pos="0">
                <a:srgbClr val="F8E6F2"/>
              </a:gs>
              <a:gs pos="22000">
                <a:srgbClr val="E8BCD7"/>
              </a:gs>
              <a:gs pos="100000">
                <a:srgbClr val="F0CDE3"/>
              </a:gs>
            </a:gsLst>
            <a:lin ang="0" scaled="1"/>
          </a:gradFill>
          <a:ln w="15087">
            <a:solidFill>
              <a:srgbClr val="CD8BB5"/>
            </a:solidFill>
          </a:ln>
          <a:effectLst/>
        </p:spPr>
        <p:txBody>
          <a:bodyPr rtlCol="0" anchor="ctr"/>
          <a:lstStyle/>
          <a:p>
            <a:pPr algn="ctr"/>
          </a:p>
        </p:txBody>
      </p:sp>
      <p:sp>
        <p:nvSpPr>
          <p:cNvPr id="31" name="Visual layer strip token 2"/>
          <p:cNvSpPr/>
          <p:nvPr/>
        </p:nvSpPr>
        <p:spPr>
          <a:xfrm>
            <a:off x="4910328" y="4334256"/>
            <a:ext cx="128016" cy="338328"/>
          </a:xfrm>
          <a:prstGeom prst="roundRect">
            <a:avLst>
              <a:gd name="adj" fmla="val 24285"/>
            </a:avLst>
          </a:prstGeom>
          <a:gradFill rotWithShape="1">
            <a:gsLst>
              <a:gs pos="0">
                <a:srgbClr val="D3EDFD"/>
              </a:gs>
              <a:gs pos="22000">
                <a:srgbClr val="8ACCF3"/>
              </a:gs>
              <a:gs pos="100000">
                <a:srgbClr val="B2DBF7"/>
              </a:gs>
            </a:gsLst>
            <a:lin ang="0" scaled="1"/>
          </a:gradFill>
          <a:ln w="15087">
            <a:solidFill>
              <a:srgbClr val="5899D5"/>
            </a:solidFill>
          </a:ln>
          <a:effectLst/>
        </p:spPr>
        <p:txBody>
          <a:bodyPr rtlCol="0" anchor="ctr"/>
          <a:lstStyle/>
          <a:p>
            <a:pPr algn="ctr"/>
          </a:p>
        </p:txBody>
      </p:sp>
      <p:sp>
        <p:nvSpPr>
          <p:cNvPr id="32" name="Fused layer strip token 3"/>
          <p:cNvSpPr/>
          <p:nvPr/>
        </p:nvSpPr>
        <p:spPr>
          <a:xfrm>
            <a:off x="5120640" y="2029968"/>
            <a:ext cx="128016" cy="365760"/>
          </a:xfrm>
          <a:prstGeom prst="roundRect">
            <a:avLst>
              <a:gd name="adj" fmla="val 24285"/>
            </a:avLst>
          </a:prstGeom>
          <a:gradFill rotWithShape="1">
            <a:gsLst>
              <a:gs pos="0">
                <a:srgbClr val="F8E6F2"/>
              </a:gs>
              <a:gs pos="22000">
                <a:srgbClr val="E8BCD7"/>
              </a:gs>
              <a:gs pos="100000">
                <a:srgbClr val="F0CDE3"/>
              </a:gs>
            </a:gsLst>
            <a:lin ang="0" scaled="1"/>
          </a:gradFill>
          <a:ln w="15087">
            <a:solidFill>
              <a:srgbClr val="CD8BB5"/>
            </a:solidFill>
          </a:ln>
          <a:effectLst/>
        </p:spPr>
        <p:txBody>
          <a:bodyPr rtlCol="0" anchor="ctr"/>
          <a:lstStyle/>
          <a:p>
            <a:pPr algn="ctr"/>
          </a:p>
        </p:txBody>
      </p:sp>
      <p:sp>
        <p:nvSpPr>
          <p:cNvPr id="33" name="Visual layer strip token 3"/>
          <p:cNvSpPr/>
          <p:nvPr/>
        </p:nvSpPr>
        <p:spPr>
          <a:xfrm>
            <a:off x="5120640" y="4334256"/>
            <a:ext cx="128016" cy="338328"/>
          </a:xfrm>
          <a:prstGeom prst="roundRect">
            <a:avLst>
              <a:gd name="adj" fmla="val 24285"/>
            </a:avLst>
          </a:prstGeom>
          <a:gradFill rotWithShape="1">
            <a:gsLst>
              <a:gs pos="0">
                <a:srgbClr val="D3EDFD"/>
              </a:gs>
              <a:gs pos="22000">
                <a:srgbClr val="8ACCF3"/>
              </a:gs>
              <a:gs pos="100000">
                <a:srgbClr val="B2DBF7"/>
              </a:gs>
            </a:gsLst>
            <a:lin ang="0" scaled="1"/>
          </a:gradFill>
          <a:ln w="15087">
            <a:solidFill>
              <a:srgbClr val="5899D5"/>
            </a:solidFill>
          </a:ln>
          <a:effectLst/>
        </p:spPr>
        <p:txBody>
          <a:bodyPr rtlCol="0" anchor="ctr"/>
          <a:lstStyle/>
          <a:p>
            <a:pPr algn="ctr"/>
          </a:p>
        </p:txBody>
      </p:sp>
      <p:sp>
        <p:nvSpPr>
          <p:cNvPr id="34" name="Fused layer strip token 4"/>
          <p:cNvSpPr/>
          <p:nvPr/>
        </p:nvSpPr>
        <p:spPr>
          <a:xfrm>
            <a:off x="5797296" y="2029968"/>
            <a:ext cx="128016" cy="365760"/>
          </a:xfrm>
          <a:prstGeom prst="roundRect">
            <a:avLst>
              <a:gd name="adj" fmla="val 24285"/>
            </a:avLst>
          </a:prstGeom>
          <a:gradFill rotWithShape="1">
            <a:gsLst>
              <a:gs pos="0">
                <a:srgbClr val="F8E6F2"/>
              </a:gs>
              <a:gs pos="22000">
                <a:srgbClr val="E8BCD7"/>
              </a:gs>
              <a:gs pos="100000">
                <a:srgbClr val="F0CDE3"/>
              </a:gs>
            </a:gsLst>
            <a:lin ang="0" scaled="1"/>
          </a:gradFill>
          <a:ln w="15087">
            <a:solidFill>
              <a:srgbClr val="CD8BB5"/>
            </a:solidFill>
          </a:ln>
          <a:effectLst/>
        </p:spPr>
        <p:txBody>
          <a:bodyPr rtlCol="0" anchor="ctr"/>
          <a:lstStyle/>
          <a:p>
            <a:pPr algn="ctr"/>
          </a:p>
        </p:txBody>
      </p:sp>
      <p:sp>
        <p:nvSpPr>
          <p:cNvPr id="35" name="Visual layer strip token 4"/>
          <p:cNvSpPr/>
          <p:nvPr/>
        </p:nvSpPr>
        <p:spPr>
          <a:xfrm>
            <a:off x="5797296" y="4334256"/>
            <a:ext cx="128016" cy="338328"/>
          </a:xfrm>
          <a:prstGeom prst="roundRect">
            <a:avLst>
              <a:gd name="adj" fmla="val 24285"/>
            </a:avLst>
          </a:prstGeom>
          <a:gradFill rotWithShape="1">
            <a:gsLst>
              <a:gs pos="0">
                <a:srgbClr val="D3EDFD"/>
              </a:gs>
              <a:gs pos="22000">
                <a:srgbClr val="8ACCF3"/>
              </a:gs>
              <a:gs pos="100000">
                <a:srgbClr val="B2DBF7"/>
              </a:gs>
            </a:gsLst>
            <a:lin ang="0" scaled="1"/>
          </a:gradFill>
          <a:ln w="15087">
            <a:solidFill>
              <a:srgbClr val="5899D5"/>
            </a:solidFill>
          </a:ln>
          <a:effectLst/>
        </p:spPr>
        <p:txBody>
          <a:bodyPr rtlCol="0" anchor="ctr"/>
          <a:lstStyle/>
          <a:p>
            <a:pPr algn="ctr"/>
          </a:p>
        </p:txBody>
      </p:sp>
      <p:sp>
        <p:nvSpPr>
          <p:cNvPr id="36" name="Fused layer strip token 5"/>
          <p:cNvSpPr/>
          <p:nvPr/>
        </p:nvSpPr>
        <p:spPr>
          <a:xfrm>
            <a:off x="5980176" y="2029968"/>
            <a:ext cx="128016" cy="365760"/>
          </a:xfrm>
          <a:prstGeom prst="roundRect">
            <a:avLst>
              <a:gd name="adj" fmla="val 24285"/>
            </a:avLst>
          </a:prstGeom>
          <a:gradFill rotWithShape="1">
            <a:gsLst>
              <a:gs pos="0">
                <a:srgbClr val="F8E6F2"/>
              </a:gs>
              <a:gs pos="22000">
                <a:srgbClr val="E8BCD7"/>
              </a:gs>
              <a:gs pos="100000">
                <a:srgbClr val="F0CDE3"/>
              </a:gs>
            </a:gsLst>
            <a:lin ang="0" scaled="1"/>
          </a:gradFill>
          <a:ln w="15087">
            <a:solidFill>
              <a:srgbClr val="CD8BB5"/>
            </a:solidFill>
          </a:ln>
          <a:effectLst/>
        </p:spPr>
        <p:txBody>
          <a:bodyPr rtlCol="0" anchor="ctr"/>
          <a:lstStyle/>
          <a:p>
            <a:pPr algn="ctr"/>
          </a:p>
        </p:txBody>
      </p:sp>
      <p:sp>
        <p:nvSpPr>
          <p:cNvPr id="37" name="Visual layer strip token 5"/>
          <p:cNvSpPr/>
          <p:nvPr/>
        </p:nvSpPr>
        <p:spPr>
          <a:xfrm>
            <a:off x="5980176" y="4334256"/>
            <a:ext cx="128016" cy="338328"/>
          </a:xfrm>
          <a:prstGeom prst="roundRect">
            <a:avLst>
              <a:gd name="adj" fmla="val 24285"/>
            </a:avLst>
          </a:prstGeom>
          <a:gradFill rotWithShape="1">
            <a:gsLst>
              <a:gs pos="0">
                <a:srgbClr val="D3EDFD"/>
              </a:gs>
              <a:gs pos="22000">
                <a:srgbClr val="8ACCF3"/>
              </a:gs>
              <a:gs pos="100000">
                <a:srgbClr val="B2DBF7"/>
              </a:gs>
            </a:gsLst>
            <a:lin ang="0" scaled="1"/>
          </a:gradFill>
          <a:ln w="15087">
            <a:solidFill>
              <a:srgbClr val="5899D5"/>
            </a:solidFill>
          </a:ln>
          <a:effectLst/>
        </p:spPr>
        <p:txBody>
          <a:bodyPr rtlCol="0" anchor="ctr"/>
          <a:lstStyle/>
          <a:p>
            <a:pPr algn="ctr"/>
          </a:p>
        </p:txBody>
      </p:sp>
      <p:sp>
        <p:nvSpPr>
          <p:cNvPr id="38" name="Fused layer strip token 6"/>
          <p:cNvSpPr/>
          <p:nvPr/>
        </p:nvSpPr>
        <p:spPr>
          <a:xfrm>
            <a:off x="6163056" y="2029968"/>
            <a:ext cx="128016" cy="365760"/>
          </a:xfrm>
          <a:prstGeom prst="roundRect">
            <a:avLst>
              <a:gd name="adj" fmla="val 24285"/>
            </a:avLst>
          </a:prstGeom>
          <a:gradFill rotWithShape="1">
            <a:gsLst>
              <a:gs pos="0">
                <a:srgbClr val="F8E6F2"/>
              </a:gs>
              <a:gs pos="22000">
                <a:srgbClr val="E8BCD7"/>
              </a:gs>
              <a:gs pos="100000">
                <a:srgbClr val="F0CDE3"/>
              </a:gs>
            </a:gsLst>
            <a:lin ang="0" scaled="1"/>
          </a:gradFill>
          <a:ln w="15087">
            <a:solidFill>
              <a:srgbClr val="CD8BB5"/>
            </a:solidFill>
          </a:ln>
          <a:effectLst/>
        </p:spPr>
        <p:txBody>
          <a:bodyPr rtlCol="0" anchor="ctr"/>
          <a:lstStyle/>
          <a:p>
            <a:pPr algn="ctr"/>
          </a:p>
        </p:txBody>
      </p:sp>
      <p:sp>
        <p:nvSpPr>
          <p:cNvPr id="39" name="Visual layer strip token 6"/>
          <p:cNvSpPr/>
          <p:nvPr/>
        </p:nvSpPr>
        <p:spPr>
          <a:xfrm>
            <a:off x="6163056" y="4334256"/>
            <a:ext cx="128016" cy="338328"/>
          </a:xfrm>
          <a:prstGeom prst="roundRect">
            <a:avLst>
              <a:gd name="adj" fmla="val 24285"/>
            </a:avLst>
          </a:prstGeom>
          <a:gradFill rotWithShape="1">
            <a:gsLst>
              <a:gs pos="0">
                <a:srgbClr val="D3EDFD"/>
              </a:gs>
              <a:gs pos="22000">
                <a:srgbClr val="8ACCF3"/>
              </a:gs>
              <a:gs pos="100000">
                <a:srgbClr val="B2DBF7"/>
              </a:gs>
            </a:gsLst>
            <a:lin ang="0" scaled="1"/>
          </a:gradFill>
          <a:ln w="15087">
            <a:solidFill>
              <a:srgbClr val="5899D5"/>
            </a:solidFill>
          </a:ln>
          <a:effectLst/>
        </p:spPr>
        <p:txBody>
          <a:bodyPr rtlCol="0" anchor="ctr"/>
          <a:lstStyle/>
          <a:p>
            <a:pPr algn="ctr"/>
          </a:p>
        </p:txBody>
      </p:sp>
      <p:sp>
        <p:nvSpPr>
          <p:cNvPr id="40" name="Fused layer strip token 7"/>
          <p:cNvSpPr/>
          <p:nvPr/>
        </p:nvSpPr>
        <p:spPr>
          <a:xfrm>
            <a:off x="6858000" y="2029968"/>
            <a:ext cx="128016" cy="365760"/>
          </a:xfrm>
          <a:prstGeom prst="roundRect">
            <a:avLst>
              <a:gd name="adj" fmla="val 24285"/>
            </a:avLst>
          </a:prstGeom>
          <a:gradFill rotWithShape="1">
            <a:gsLst>
              <a:gs pos="0">
                <a:srgbClr val="F8E6F2"/>
              </a:gs>
              <a:gs pos="22000">
                <a:srgbClr val="E8BCD7"/>
              </a:gs>
              <a:gs pos="100000">
                <a:srgbClr val="F0CDE3"/>
              </a:gs>
            </a:gsLst>
            <a:lin ang="0" scaled="1"/>
          </a:gradFill>
          <a:ln w="15087">
            <a:solidFill>
              <a:srgbClr val="CD8BB5"/>
            </a:solidFill>
          </a:ln>
          <a:effectLst/>
        </p:spPr>
        <p:txBody>
          <a:bodyPr rtlCol="0" anchor="ctr"/>
          <a:lstStyle/>
          <a:p>
            <a:pPr algn="ctr"/>
          </a:p>
        </p:txBody>
      </p:sp>
      <p:sp>
        <p:nvSpPr>
          <p:cNvPr id="41" name="Visual layer strip token 7"/>
          <p:cNvSpPr/>
          <p:nvPr/>
        </p:nvSpPr>
        <p:spPr>
          <a:xfrm>
            <a:off x="6858000" y="4334256"/>
            <a:ext cx="128016" cy="338328"/>
          </a:xfrm>
          <a:prstGeom prst="roundRect">
            <a:avLst>
              <a:gd name="adj" fmla="val 24285"/>
            </a:avLst>
          </a:prstGeom>
          <a:gradFill rotWithShape="1">
            <a:gsLst>
              <a:gs pos="0">
                <a:srgbClr val="D3EDFD"/>
              </a:gs>
              <a:gs pos="22000">
                <a:srgbClr val="8ACCF3"/>
              </a:gs>
              <a:gs pos="100000">
                <a:srgbClr val="B2DBF7"/>
              </a:gs>
            </a:gsLst>
            <a:lin ang="0" scaled="1"/>
          </a:gradFill>
          <a:ln w="15087">
            <a:solidFill>
              <a:srgbClr val="5899D5"/>
            </a:solidFill>
          </a:ln>
          <a:effectLst/>
        </p:spPr>
        <p:txBody>
          <a:bodyPr rtlCol="0" anchor="ctr"/>
          <a:lstStyle/>
          <a:p>
            <a:pPr algn="ctr"/>
          </a:p>
        </p:txBody>
      </p:sp>
      <p:sp>
        <p:nvSpPr>
          <p:cNvPr id="42" name="Fused layer strip token 8"/>
          <p:cNvSpPr/>
          <p:nvPr/>
        </p:nvSpPr>
        <p:spPr>
          <a:xfrm>
            <a:off x="7196328" y="2029968"/>
            <a:ext cx="128016" cy="365760"/>
          </a:xfrm>
          <a:prstGeom prst="roundRect">
            <a:avLst>
              <a:gd name="adj" fmla="val 24285"/>
            </a:avLst>
          </a:prstGeom>
          <a:gradFill rotWithShape="1">
            <a:gsLst>
              <a:gs pos="0">
                <a:srgbClr val="F8E6F2"/>
              </a:gs>
              <a:gs pos="22000">
                <a:srgbClr val="E8BCD7"/>
              </a:gs>
              <a:gs pos="100000">
                <a:srgbClr val="F0CDE3"/>
              </a:gs>
            </a:gsLst>
            <a:lin ang="0" scaled="1"/>
          </a:gradFill>
          <a:ln w="15087">
            <a:solidFill>
              <a:srgbClr val="CD8BB5"/>
            </a:solidFill>
          </a:ln>
          <a:effectLst/>
        </p:spPr>
        <p:txBody>
          <a:bodyPr rtlCol="0" anchor="ctr"/>
          <a:lstStyle/>
          <a:p>
            <a:pPr algn="ctr"/>
          </a:p>
        </p:txBody>
      </p:sp>
      <p:sp>
        <p:nvSpPr>
          <p:cNvPr id="43" name="Visual layer strip token 8"/>
          <p:cNvSpPr/>
          <p:nvPr/>
        </p:nvSpPr>
        <p:spPr>
          <a:xfrm>
            <a:off x="7196328" y="4334256"/>
            <a:ext cx="128016" cy="338328"/>
          </a:xfrm>
          <a:prstGeom prst="roundRect">
            <a:avLst>
              <a:gd name="adj" fmla="val 24285"/>
            </a:avLst>
          </a:prstGeom>
          <a:gradFill rotWithShape="1">
            <a:gsLst>
              <a:gs pos="0">
                <a:srgbClr val="D3EDFD"/>
              </a:gs>
              <a:gs pos="22000">
                <a:srgbClr val="8ACCF3"/>
              </a:gs>
              <a:gs pos="100000">
                <a:srgbClr val="B2DBF7"/>
              </a:gs>
            </a:gsLst>
            <a:lin ang="0" scaled="1"/>
          </a:gradFill>
          <a:ln w="15087">
            <a:solidFill>
              <a:srgbClr val="5899D5"/>
            </a:solidFill>
          </a:ln>
          <a:effectLst/>
        </p:spPr>
        <p:txBody>
          <a:bodyPr rtlCol="0" anchor="ctr"/>
          <a:lstStyle/>
          <a:p>
            <a:pPr algn="ctr"/>
          </a:p>
        </p:txBody>
      </p:sp>
      <p:sp>
        <p:nvSpPr>
          <p:cNvPr id="44" name="Fused layer strip token 9"/>
          <p:cNvSpPr/>
          <p:nvPr/>
        </p:nvSpPr>
        <p:spPr>
          <a:xfrm>
            <a:off x="7909560" y="2029968"/>
            <a:ext cx="128016" cy="365760"/>
          </a:xfrm>
          <a:prstGeom prst="roundRect">
            <a:avLst>
              <a:gd name="adj" fmla="val 24285"/>
            </a:avLst>
          </a:prstGeom>
          <a:gradFill rotWithShape="1">
            <a:gsLst>
              <a:gs pos="0">
                <a:srgbClr val="F8E6F2"/>
              </a:gs>
              <a:gs pos="22000">
                <a:srgbClr val="E8BCD7"/>
              </a:gs>
              <a:gs pos="100000">
                <a:srgbClr val="F0CDE3"/>
              </a:gs>
            </a:gsLst>
            <a:lin ang="0" scaled="1"/>
          </a:gradFill>
          <a:ln w="15087">
            <a:solidFill>
              <a:srgbClr val="CD8BB5"/>
            </a:solidFill>
          </a:ln>
          <a:effectLst/>
        </p:spPr>
        <p:txBody>
          <a:bodyPr rtlCol="0" anchor="ctr"/>
          <a:lstStyle/>
          <a:p>
            <a:pPr algn="ctr"/>
          </a:p>
        </p:txBody>
      </p:sp>
      <p:sp>
        <p:nvSpPr>
          <p:cNvPr id="45" name="Visual layer strip token 9"/>
          <p:cNvSpPr/>
          <p:nvPr/>
        </p:nvSpPr>
        <p:spPr>
          <a:xfrm>
            <a:off x="7909560" y="4334256"/>
            <a:ext cx="128016" cy="338328"/>
          </a:xfrm>
          <a:prstGeom prst="roundRect">
            <a:avLst>
              <a:gd name="adj" fmla="val 24285"/>
            </a:avLst>
          </a:prstGeom>
          <a:gradFill rotWithShape="1">
            <a:gsLst>
              <a:gs pos="0">
                <a:srgbClr val="D3EDFD"/>
              </a:gs>
              <a:gs pos="22000">
                <a:srgbClr val="8ACCF3"/>
              </a:gs>
              <a:gs pos="100000">
                <a:srgbClr val="B2DBF7"/>
              </a:gs>
            </a:gsLst>
            <a:lin ang="0" scaled="1"/>
          </a:gradFill>
          <a:ln w="15087">
            <a:solidFill>
              <a:srgbClr val="5899D5"/>
            </a:solidFill>
          </a:ln>
          <a:effectLst/>
        </p:spPr>
        <p:txBody>
          <a:bodyPr rtlCol="0" anchor="ctr"/>
          <a:lstStyle/>
          <a:p>
            <a:pPr algn="ctr"/>
          </a:p>
        </p:txBody>
      </p:sp>
      <p:sp>
        <p:nvSpPr>
          <p:cNvPr id="46" name="Fused layer strip token 10"/>
          <p:cNvSpPr/>
          <p:nvPr/>
        </p:nvSpPr>
        <p:spPr>
          <a:xfrm>
            <a:off x="8247888" y="2029968"/>
            <a:ext cx="128016" cy="365760"/>
          </a:xfrm>
          <a:prstGeom prst="roundRect">
            <a:avLst>
              <a:gd name="adj" fmla="val 24285"/>
            </a:avLst>
          </a:prstGeom>
          <a:gradFill rotWithShape="1">
            <a:gsLst>
              <a:gs pos="0">
                <a:srgbClr val="F8E6F2"/>
              </a:gs>
              <a:gs pos="22000">
                <a:srgbClr val="E8BCD7"/>
              </a:gs>
              <a:gs pos="100000">
                <a:srgbClr val="F0CDE3"/>
              </a:gs>
            </a:gsLst>
            <a:lin ang="0" scaled="1"/>
          </a:gradFill>
          <a:ln w="15087">
            <a:solidFill>
              <a:srgbClr val="CD8BB5"/>
            </a:solidFill>
          </a:ln>
          <a:effectLst/>
        </p:spPr>
        <p:txBody>
          <a:bodyPr rtlCol="0" anchor="ctr"/>
          <a:lstStyle/>
          <a:p>
            <a:pPr algn="ctr"/>
          </a:p>
        </p:txBody>
      </p:sp>
      <p:sp>
        <p:nvSpPr>
          <p:cNvPr id="47" name="Visual layer strip token 10"/>
          <p:cNvSpPr/>
          <p:nvPr/>
        </p:nvSpPr>
        <p:spPr>
          <a:xfrm>
            <a:off x="8247888" y="4334256"/>
            <a:ext cx="128016" cy="338328"/>
          </a:xfrm>
          <a:prstGeom prst="roundRect">
            <a:avLst>
              <a:gd name="adj" fmla="val 24285"/>
            </a:avLst>
          </a:prstGeom>
          <a:gradFill rotWithShape="1">
            <a:gsLst>
              <a:gs pos="0">
                <a:srgbClr val="D3EDFD"/>
              </a:gs>
              <a:gs pos="22000">
                <a:srgbClr val="8ACCF3"/>
              </a:gs>
              <a:gs pos="100000">
                <a:srgbClr val="B2DBF7"/>
              </a:gs>
            </a:gsLst>
            <a:lin ang="0" scaled="1"/>
          </a:gradFill>
          <a:ln w="15087">
            <a:solidFill>
              <a:srgbClr val="5899D5"/>
            </a:solidFill>
          </a:ln>
          <a:effectLst/>
        </p:spPr>
        <p:txBody>
          <a:bodyPr rtlCol="0" anchor="ctr"/>
          <a:lstStyle/>
          <a:p>
            <a:pPr algn="ctr"/>
          </a:p>
        </p:txBody>
      </p:sp>
      <p:sp>
        <p:nvSpPr>
          <p:cNvPr id="48" name="Fused omitted layers 1"/>
          <p:cNvSpPr txBox="1"/>
          <p:nvPr/>
        </p:nvSpPr>
        <p:spPr>
          <a:xfrm>
            <a:off x="5394960" y="2048256"/>
            <a:ext cx="246888" cy="292608"/>
          </a:xfrm>
          <a:prstGeom prst="rect">
            <a:avLst/>
          </a:prstGeom>
          <a:noFill/>
        </p:spPr>
        <p:txBody>
          <a:bodyPr wrap="none" lIns="0" rIns="0" tIns="0" bIns="0" anchor="ctr">
            <a:noAutofit/>
          </a:bodyPr>
          <a:lstStyle/>
          <a:p>
            <a:pPr algn="ctr">
              <a:lnSpc>
                <a:spcPts val="2021"/>
              </a:lnSpc>
              <a:spcBef>
                <a:spcPts val="0"/>
              </a:spcBef>
              <a:spcAft>
                <a:spcPts val="0"/>
              </a:spcAft>
            </a:pPr>
            <a:r>
              <a:rPr sz="1872" b="0" i="0">
                <a:solidFill>
                  <a:srgbClr val="090909"/>
                </a:solidFill>
                <a:latin typeface="Times New Roman"/>
              </a:rPr>
              <a:t>…</a:t>
            </a:r>
          </a:p>
        </p:txBody>
      </p:sp>
      <p:sp>
        <p:nvSpPr>
          <p:cNvPr id="49" name="Visual omitted layers 1"/>
          <p:cNvSpPr txBox="1"/>
          <p:nvPr/>
        </p:nvSpPr>
        <p:spPr>
          <a:xfrm>
            <a:off x="5394960" y="4343400"/>
            <a:ext cx="246888" cy="292608"/>
          </a:xfrm>
          <a:prstGeom prst="rect">
            <a:avLst/>
          </a:prstGeom>
          <a:noFill/>
        </p:spPr>
        <p:txBody>
          <a:bodyPr wrap="none" lIns="0" rIns="0" tIns="0" bIns="0" anchor="ctr">
            <a:noAutofit/>
          </a:bodyPr>
          <a:lstStyle/>
          <a:p>
            <a:pPr algn="ctr">
              <a:lnSpc>
                <a:spcPts val="2021"/>
              </a:lnSpc>
              <a:spcBef>
                <a:spcPts val="0"/>
              </a:spcBef>
              <a:spcAft>
                <a:spcPts val="0"/>
              </a:spcAft>
            </a:pPr>
            <a:r>
              <a:rPr sz="1872" b="0" i="0">
                <a:solidFill>
                  <a:srgbClr val="090909"/>
                </a:solidFill>
                <a:latin typeface="Times New Roman"/>
              </a:rPr>
              <a:t>…</a:t>
            </a:r>
          </a:p>
        </p:txBody>
      </p:sp>
      <p:sp>
        <p:nvSpPr>
          <p:cNvPr id="50" name="Fused omitted layers 2"/>
          <p:cNvSpPr txBox="1"/>
          <p:nvPr/>
        </p:nvSpPr>
        <p:spPr>
          <a:xfrm>
            <a:off x="6446520" y="2048256"/>
            <a:ext cx="246888" cy="292608"/>
          </a:xfrm>
          <a:prstGeom prst="rect">
            <a:avLst/>
          </a:prstGeom>
          <a:noFill/>
        </p:spPr>
        <p:txBody>
          <a:bodyPr wrap="none" lIns="0" rIns="0" tIns="0" bIns="0" anchor="ctr">
            <a:noAutofit/>
          </a:bodyPr>
          <a:lstStyle/>
          <a:p>
            <a:pPr algn="ctr">
              <a:lnSpc>
                <a:spcPts val="2021"/>
              </a:lnSpc>
              <a:spcBef>
                <a:spcPts val="0"/>
              </a:spcBef>
              <a:spcAft>
                <a:spcPts val="0"/>
              </a:spcAft>
            </a:pPr>
            <a:r>
              <a:rPr sz="1872" b="0" i="0">
                <a:solidFill>
                  <a:srgbClr val="090909"/>
                </a:solidFill>
                <a:latin typeface="Times New Roman"/>
              </a:rPr>
              <a:t>…</a:t>
            </a:r>
          </a:p>
        </p:txBody>
      </p:sp>
      <p:sp>
        <p:nvSpPr>
          <p:cNvPr id="51" name="Visual omitted layers 2"/>
          <p:cNvSpPr txBox="1"/>
          <p:nvPr/>
        </p:nvSpPr>
        <p:spPr>
          <a:xfrm>
            <a:off x="6446520" y="4343400"/>
            <a:ext cx="246888" cy="292608"/>
          </a:xfrm>
          <a:prstGeom prst="rect">
            <a:avLst/>
          </a:prstGeom>
          <a:noFill/>
        </p:spPr>
        <p:txBody>
          <a:bodyPr wrap="none" lIns="0" rIns="0" tIns="0" bIns="0" anchor="ctr">
            <a:noAutofit/>
          </a:bodyPr>
          <a:lstStyle/>
          <a:p>
            <a:pPr algn="ctr">
              <a:lnSpc>
                <a:spcPts val="2021"/>
              </a:lnSpc>
              <a:spcBef>
                <a:spcPts val="0"/>
              </a:spcBef>
              <a:spcAft>
                <a:spcPts val="0"/>
              </a:spcAft>
            </a:pPr>
            <a:r>
              <a:rPr sz="1872" b="0" i="0">
                <a:solidFill>
                  <a:srgbClr val="090909"/>
                </a:solidFill>
                <a:latin typeface="Times New Roman"/>
              </a:rPr>
              <a:t>…</a:t>
            </a:r>
          </a:p>
        </p:txBody>
      </p:sp>
      <p:sp>
        <p:nvSpPr>
          <p:cNvPr id="52" name="Fused omitted layers 3"/>
          <p:cNvSpPr txBox="1"/>
          <p:nvPr/>
        </p:nvSpPr>
        <p:spPr>
          <a:xfrm>
            <a:off x="7498080" y="2048256"/>
            <a:ext cx="246888" cy="292608"/>
          </a:xfrm>
          <a:prstGeom prst="rect">
            <a:avLst/>
          </a:prstGeom>
          <a:noFill/>
        </p:spPr>
        <p:txBody>
          <a:bodyPr wrap="none" lIns="0" rIns="0" tIns="0" bIns="0" anchor="ctr">
            <a:noAutofit/>
          </a:bodyPr>
          <a:lstStyle/>
          <a:p>
            <a:pPr algn="ctr">
              <a:lnSpc>
                <a:spcPts val="2021"/>
              </a:lnSpc>
              <a:spcBef>
                <a:spcPts val="0"/>
              </a:spcBef>
              <a:spcAft>
                <a:spcPts val="0"/>
              </a:spcAft>
            </a:pPr>
            <a:r>
              <a:rPr sz="1872" b="0" i="0">
                <a:solidFill>
                  <a:srgbClr val="090909"/>
                </a:solidFill>
                <a:latin typeface="Times New Roman"/>
              </a:rPr>
              <a:t>…</a:t>
            </a:r>
          </a:p>
        </p:txBody>
      </p:sp>
      <p:sp>
        <p:nvSpPr>
          <p:cNvPr id="53" name="Visual omitted layers 3"/>
          <p:cNvSpPr txBox="1"/>
          <p:nvPr/>
        </p:nvSpPr>
        <p:spPr>
          <a:xfrm>
            <a:off x="7498080" y="4343400"/>
            <a:ext cx="246888" cy="292608"/>
          </a:xfrm>
          <a:prstGeom prst="rect">
            <a:avLst/>
          </a:prstGeom>
          <a:noFill/>
        </p:spPr>
        <p:txBody>
          <a:bodyPr wrap="none" lIns="0" rIns="0" tIns="0" bIns="0" anchor="ctr">
            <a:noAutofit/>
          </a:bodyPr>
          <a:lstStyle/>
          <a:p>
            <a:pPr algn="ctr">
              <a:lnSpc>
                <a:spcPts val="2021"/>
              </a:lnSpc>
              <a:spcBef>
                <a:spcPts val="0"/>
              </a:spcBef>
              <a:spcAft>
                <a:spcPts val="0"/>
              </a:spcAft>
            </a:pPr>
            <a:r>
              <a:rPr sz="1872" b="0" i="0">
                <a:solidFill>
                  <a:srgbClr val="090909"/>
                </a:solidFill>
                <a:latin typeface="Times New Roman"/>
              </a:rPr>
              <a:t>…</a:t>
            </a:r>
          </a:p>
        </p:txBody>
      </p:sp>
      <p:sp>
        <p:nvSpPr>
          <p:cNvPr id="54" name="Fused layer depth l1"/>
          <p:cNvSpPr txBox="1"/>
          <p:nvPr/>
        </p:nvSpPr>
        <p:spPr>
          <a:xfrm>
            <a:off x="4818888" y="1408176"/>
            <a:ext cx="347472" cy="329184"/>
          </a:xfrm>
          <a:prstGeom prst="rect">
            <a:avLst/>
          </a:prstGeom>
          <a:noFill/>
        </p:spPr>
        <p:txBody>
          <a:bodyPr wrap="none" lIns="0" rIns="0" tIns="0" bIns="0" anchor="ctr">
            <a:noAutofit/>
          </a:bodyPr>
          <a:lstStyle/>
          <a:p>
            <a:pPr algn="ctr">
              <a:lnSpc>
                <a:spcPts val="2255"/>
              </a:lnSpc>
              <a:spcBef>
                <a:spcPts val="0"/>
              </a:spcBef>
              <a:spcAft>
                <a:spcPts val="0"/>
              </a:spcAft>
            </a:pPr>
            <a:r>
              <a:rPr sz="2088" b="0" i="1">
                <a:solidFill>
                  <a:srgbClr val="090909"/>
                </a:solidFill>
                <a:latin typeface="Times New Roman"/>
              </a:rPr>
              <a:t>ℓ</a:t>
            </a:r>
            <a:r>
              <a:rPr sz="2004" b="0" i="0" baseline="-24000">
                <a:solidFill>
                  <a:srgbClr val="090909"/>
                </a:solidFill>
                <a:latin typeface="Times New Roman"/>
              </a:rPr>
              <a:t>1</a:t>
            </a:r>
          </a:p>
        </p:txBody>
      </p:sp>
      <p:cxnSp>
        <p:nvCxnSpPr>
          <p:cNvPr id="55" name="Fused depth pointer 1"/>
          <p:cNvCxnSpPr/>
          <p:nvPr/>
        </p:nvCxnSpPr>
        <p:spPr>
          <a:xfrm>
            <a:off x="4983480" y="1746504"/>
            <a:ext cx="0" cy="228600"/>
          </a:xfrm>
          <a:prstGeom prst="line">
            <a:avLst/>
          </a:prstGeom>
          <a:ln w="16459">
            <a:solidFill>
              <a:srgbClr val="090909"/>
            </a:solidFill>
            <a:prstDash val="dash"/>
            <a:tailEnd type="triangle" w="med" len="med"/>
          </a:ln>
          <a:effectLst/>
        </p:spPr>
      </p:cxnSp>
      <p:cxnSp>
        <p:nvCxnSpPr>
          <p:cNvPr id="56" name="Fused layer to readout 1"/>
          <p:cNvCxnSpPr/>
          <p:nvPr/>
        </p:nvCxnSpPr>
        <p:spPr>
          <a:xfrm>
            <a:off x="4983480" y="2450592"/>
            <a:ext cx="0" cy="192024"/>
          </a:xfrm>
          <a:prstGeom prst="line">
            <a:avLst/>
          </a:prstGeom>
          <a:ln w="15544">
            <a:solidFill>
              <a:srgbClr val="090909"/>
            </a:solidFill>
            <a:prstDash val="dash"/>
            <a:tailEnd type="triangle" w="med" len="med"/>
          </a:ln>
          <a:effectLst/>
        </p:spPr>
      </p:cxnSp>
      <p:sp>
        <p:nvSpPr>
          <p:cNvPr id="57" name="Readout 1 background"/>
          <p:cNvSpPr/>
          <p:nvPr/>
        </p:nvSpPr>
        <p:spPr>
          <a:xfrm>
            <a:off x="4581144" y="2660904"/>
            <a:ext cx="804672" cy="365760"/>
          </a:xfrm>
          <a:prstGeom prst="roundRect">
            <a:avLst>
              <a:gd name="adj" fmla="val 22500"/>
            </a:avLst>
          </a:prstGeom>
          <a:gradFill rotWithShape="1">
            <a:gsLst>
              <a:gs pos="0">
                <a:srgbClr val="FFF7DE"/>
              </a:gs>
              <a:gs pos="55000">
                <a:srgbClr val="FFEFC0"/>
              </a:gs>
              <a:gs pos="100000">
                <a:srgbClr val="FFF7DF"/>
              </a:gs>
            </a:gsLst>
            <a:lin ang="5400000" scaled="1"/>
          </a:gradFill>
          <a:ln w="11887">
            <a:solidFill>
              <a:srgbClr val="E6B523"/>
            </a:solidFill>
          </a:ln>
          <a:effectLst/>
        </p:spPr>
        <p:txBody>
          <a:bodyPr rtlCol="0" anchor="ctr"/>
          <a:lstStyle/>
          <a:p>
            <a:pPr algn="ctr"/>
          </a:p>
        </p:txBody>
      </p:sp>
      <p:sp>
        <p:nvSpPr>
          <p:cNvPr id="58" name="Readout 1 label"/>
          <p:cNvSpPr txBox="1"/>
          <p:nvPr/>
        </p:nvSpPr>
        <p:spPr>
          <a:xfrm>
            <a:off x="4608576" y="2679192"/>
            <a:ext cx="749808" cy="329184"/>
          </a:xfrm>
          <a:prstGeom prst="rect">
            <a:avLst/>
          </a:prstGeom>
          <a:noFill/>
        </p:spPr>
        <p:txBody>
          <a:bodyPr wrap="none" lIns="0" rIns="0" tIns="0" bIns="0" anchor="ctr">
            <a:noAutofit/>
          </a:bodyPr>
          <a:lstStyle/>
          <a:p>
            <a:pPr algn="ctr">
              <a:lnSpc>
                <a:spcPts val="1477"/>
              </a:lnSpc>
              <a:spcBef>
                <a:spcPts val="0"/>
              </a:spcBef>
              <a:spcAft>
                <a:spcPts val="0"/>
              </a:spcAft>
            </a:pPr>
            <a:r>
              <a:rPr sz="1368" b="1" i="0">
                <a:solidFill>
                  <a:srgbClr val="090909"/>
                </a:solidFill>
                <a:latin typeface="Arial"/>
              </a:rPr>
              <a:t>Readout</a:t>
            </a:r>
          </a:p>
        </p:txBody>
      </p:sp>
      <p:cxnSp>
        <p:nvCxnSpPr>
          <p:cNvPr id="59" name="Readout to fused slot 1"/>
          <p:cNvCxnSpPr/>
          <p:nvPr/>
        </p:nvCxnSpPr>
        <p:spPr>
          <a:xfrm>
            <a:off x="4983480" y="3044952"/>
            <a:ext cx="0" cy="146304"/>
          </a:xfrm>
          <a:prstGeom prst="line">
            <a:avLst/>
          </a:prstGeom>
          <a:ln w="15544">
            <a:solidFill>
              <a:srgbClr val="090909"/>
            </a:solidFill>
            <a:tailEnd type="triangle" w="med" len="med"/>
          </a:ln>
          <a:effectLst/>
        </p:spPr>
      </p:cxnSp>
      <p:sp>
        <p:nvSpPr>
          <p:cNvPr id="60" name="Fused slot 1"/>
          <p:cNvSpPr/>
          <p:nvPr/>
        </p:nvSpPr>
        <p:spPr>
          <a:xfrm>
            <a:off x="4882896" y="3218688"/>
            <a:ext cx="210312" cy="347472"/>
          </a:xfrm>
          <a:prstGeom prst="roundRect">
            <a:avLst>
              <a:gd name="adj" fmla="val 14782"/>
            </a:avLst>
          </a:prstGeom>
          <a:gradFill rotWithShape="1">
            <a:gsLst>
              <a:gs pos="0">
                <a:srgbClr val="F8E6F2"/>
              </a:gs>
              <a:gs pos="22000">
                <a:srgbClr val="E8BCD7"/>
              </a:gs>
              <a:gs pos="100000">
                <a:srgbClr val="F0CDE3"/>
              </a:gs>
            </a:gsLst>
            <a:lin ang="0" scaled="1"/>
          </a:gradFill>
          <a:ln w="15087">
            <a:solidFill>
              <a:srgbClr val="B21777"/>
            </a:solidFill>
          </a:ln>
          <a:effectLst/>
        </p:spPr>
        <p:txBody>
          <a:bodyPr rtlCol="0" anchor="ctr"/>
          <a:lstStyle/>
          <a:p>
            <a:pPr algn="ctr"/>
          </a:p>
        </p:txBody>
      </p:sp>
      <p:sp>
        <p:nvSpPr>
          <p:cNvPr id="61" name="Visual layer depth k1"/>
          <p:cNvSpPr txBox="1"/>
          <p:nvPr/>
        </p:nvSpPr>
        <p:spPr>
          <a:xfrm>
            <a:off x="4818888" y="3776472"/>
            <a:ext cx="347472" cy="301752"/>
          </a:xfrm>
          <a:prstGeom prst="rect">
            <a:avLst/>
          </a:prstGeom>
          <a:noFill/>
        </p:spPr>
        <p:txBody>
          <a:bodyPr wrap="none" lIns="0" rIns="0" tIns="0" bIns="0" anchor="ctr">
            <a:noAutofit/>
          </a:bodyPr>
          <a:lstStyle/>
          <a:p>
            <a:pPr algn="ctr">
              <a:lnSpc>
                <a:spcPts val="2177"/>
              </a:lnSpc>
              <a:spcBef>
                <a:spcPts val="0"/>
              </a:spcBef>
              <a:spcAft>
                <a:spcPts val="0"/>
              </a:spcAft>
            </a:pPr>
            <a:r>
              <a:rPr sz="2016" b="0" i="1">
                <a:solidFill>
                  <a:srgbClr val="090909"/>
                </a:solidFill>
                <a:latin typeface="Times New Roman"/>
              </a:rPr>
              <a:t>k</a:t>
            </a:r>
            <a:r>
              <a:rPr sz="1935" b="0" i="0" baseline="-24000">
                <a:solidFill>
                  <a:srgbClr val="090909"/>
                </a:solidFill>
                <a:latin typeface="Times New Roman"/>
              </a:rPr>
              <a:t>1</a:t>
            </a:r>
          </a:p>
        </p:txBody>
      </p:sp>
      <p:cxnSp>
        <p:nvCxnSpPr>
          <p:cNvPr id="62" name="Visual depth pointer 1"/>
          <p:cNvCxnSpPr/>
          <p:nvPr/>
        </p:nvCxnSpPr>
        <p:spPr>
          <a:xfrm>
            <a:off x="4983480" y="4105656"/>
            <a:ext cx="0" cy="182880"/>
          </a:xfrm>
          <a:prstGeom prst="line">
            <a:avLst/>
          </a:prstGeom>
          <a:ln w="15544">
            <a:solidFill>
              <a:srgbClr val="090909"/>
            </a:solidFill>
            <a:prstDash val="dash"/>
            <a:tailEnd type="triangle" w="med" len="med"/>
          </a:ln>
          <a:effectLst/>
        </p:spPr>
      </p:cxnSp>
      <p:cxnSp>
        <p:nvCxnSpPr>
          <p:cNvPr id="63" name="Visual layer to pooling 1"/>
          <p:cNvCxnSpPr/>
          <p:nvPr/>
        </p:nvCxnSpPr>
        <p:spPr>
          <a:xfrm>
            <a:off x="4983480" y="4709160"/>
            <a:ext cx="0" cy="128016"/>
          </a:xfrm>
          <a:prstGeom prst="line">
            <a:avLst/>
          </a:prstGeom>
          <a:ln w="15544">
            <a:solidFill>
              <a:srgbClr val="090909"/>
            </a:solidFill>
            <a:prstDash val="dash"/>
            <a:tailEnd type="triangle" w="med" len="med"/>
          </a:ln>
          <a:effectLst/>
        </p:spPr>
      </p:cxnSp>
      <p:sp>
        <p:nvSpPr>
          <p:cNvPr id="64" name="Query pooling 1 background"/>
          <p:cNvSpPr/>
          <p:nvPr/>
        </p:nvSpPr>
        <p:spPr>
          <a:xfrm>
            <a:off x="4581144" y="4864608"/>
            <a:ext cx="804672" cy="457200"/>
          </a:xfrm>
          <a:prstGeom prst="roundRect">
            <a:avLst>
              <a:gd name="adj" fmla="val 18000"/>
            </a:avLst>
          </a:prstGeom>
          <a:gradFill rotWithShape="1">
            <a:gsLst>
              <a:gs pos="0">
                <a:srgbClr val="FFF7DE"/>
              </a:gs>
              <a:gs pos="55000">
                <a:srgbClr val="FFEFC0"/>
              </a:gs>
              <a:gs pos="100000">
                <a:srgbClr val="FFF7DF"/>
              </a:gs>
            </a:gsLst>
            <a:lin ang="5400000" scaled="1"/>
          </a:gradFill>
          <a:ln w="11887">
            <a:solidFill>
              <a:srgbClr val="E6B523"/>
            </a:solidFill>
          </a:ln>
          <a:effectLst/>
        </p:spPr>
        <p:txBody>
          <a:bodyPr rtlCol="0" anchor="ctr"/>
          <a:lstStyle/>
          <a:p>
            <a:pPr algn="ctr"/>
          </a:p>
        </p:txBody>
      </p:sp>
      <p:sp>
        <p:nvSpPr>
          <p:cNvPr id="65" name="Query pooling 1 label"/>
          <p:cNvSpPr txBox="1"/>
          <p:nvPr/>
        </p:nvSpPr>
        <p:spPr>
          <a:xfrm>
            <a:off x="4608576" y="4882896"/>
            <a:ext cx="749808" cy="420624"/>
          </a:xfrm>
          <a:prstGeom prst="rect">
            <a:avLst/>
          </a:prstGeom>
          <a:noFill/>
        </p:spPr>
        <p:txBody>
          <a:bodyPr wrap="none" lIns="0" rIns="0" tIns="0" bIns="0" anchor="ctr">
            <a:noAutofit/>
          </a:bodyPr>
          <a:lstStyle/>
          <a:p>
            <a:pPr algn="ctr">
              <a:lnSpc>
                <a:spcPts val="1438"/>
              </a:lnSpc>
              <a:spcBef>
                <a:spcPts val="0"/>
              </a:spcBef>
              <a:spcAft>
                <a:spcPts val="0"/>
              </a:spcAft>
            </a:pPr>
            <a:r>
              <a:rPr sz="1332" b="1" i="0">
                <a:solidFill>
                  <a:srgbClr val="090909"/>
                </a:solidFill>
                <a:latin typeface="Arial"/>
              </a:rPr>
              <a:t>Query</a:t>
            </a:r>
          </a:p>
          <a:p>
            <a:pPr algn="ctr">
              <a:lnSpc>
                <a:spcPts val="1438"/>
              </a:lnSpc>
              <a:spcBef>
                <a:spcPts val="0"/>
              </a:spcBef>
              <a:spcAft>
                <a:spcPts val="0"/>
              </a:spcAft>
            </a:pPr>
            <a:r>
              <a:rPr sz="1332" b="1" i="0">
                <a:solidFill>
                  <a:srgbClr val="090909"/>
                </a:solidFill>
                <a:latin typeface="Arial"/>
              </a:rPr>
              <a:t>pooling</a:t>
            </a:r>
          </a:p>
        </p:txBody>
      </p:sp>
      <p:cxnSp>
        <p:nvCxnSpPr>
          <p:cNvPr id="66" name="Pooling to visual slot 1"/>
          <p:cNvCxnSpPr/>
          <p:nvPr/>
        </p:nvCxnSpPr>
        <p:spPr>
          <a:xfrm>
            <a:off x="4983480" y="5349240"/>
            <a:ext cx="0" cy="173736"/>
          </a:xfrm>
          <a:prstGeom prst="line">
            <a:avLst/>
          </a:prstGeom>
          <a:ln w="15544">
            <a:solidFill>
              <a:srgbClr val="090909"/>
            </a:solidFill>
            <a:prstDash val="dash"/>
            <a:tailEnd type="triangle" w="med" len="med"/>
          </a:ln>
          <a:effectLst/>
        </p:spPr>
      </p:cxnSp>
      <p:sp>
        <p:nvSpPr>
          <p:cNvPr id="67" name="Visual slot 1"/>
          <p:cNvSpPr/>
          <p:nvPr/>
        </p:nvSpPr>
        <p:spPr>
          <a:xfrm>
            <a:off x="4882896" y="5550408"/>
            <a:ext cx="210312" cy="347472"/>
          </a:xfrm>
          <a:prstGeom prst="roundRect">
            <a:avLst>
              <a:gd name="adj" fmla="val 14782"/>
            </a:avLst>
          </a:prstGeom>
          <a:gradFill rotWithShape="1">
            <a:gsLst>
              <a:gs pos="0">
                <a:srgbClr val="D3EDFD"/>
              </a:gs>
              <a:gs pos="22000">
                <a:srgbClr val="8ACCF3"/>
              </a:gs>
              <a:gs pos="100000">
                <a:srgbClr val="B2DBF7"/>
              </a:gs>
            </a:gsLst>
            <a:lin ang="0" scaled="1"/>
          </a:gradFill>
          <a:ln w="15087">
            <a:solidFill>
              <a:srgbClr val="0759BD"/>
            </a:solidFill>
          </a:ln>
          <a:effectLst/>
        </p:spPr>
        <p:txBody>
          <a:bodyPr rtlCol="0" anchor="ctr"/>
          <a:lstStyle/>
          <a:p>
            <a:pPr algn="ctr"/>
          </a:p>
        </p:txBody>
      </p:sp>
      <p:sp>
        <p:nvSpPr>
          <p:cNvPr id="68" name="Fused layer depth l2"/>
          <p:cNvSpPr txBox="1"/>
          <p:nvPr/>
        </p:nvSpPr>
        <p:spPr>
          <a:xfrm>
            <a:off x="5879592" y="1408176"/>
            <a:ext cx="347472" cy="329184"/>
          </a:xfrm>
          <a:prstGeom prst="rect">
            <a:avLst/>
          </a:prstGeom>
          <a:noFill/>
        </p:spPr>
        <p:txBody>
          <a:bodyPr wrap="none" lIns="0" rIns="0" tIns="0" bIns="0" anchor="ctr">
            <a:noAutofit/>
          </a:bodyPr>
          <a:lstStyle/>
          <a:p>
            <a:pPr algn="ctr">
              <a:lnSpc>
                <a:spcPts val="2255"/>
              </a:lnSpc>
              <a:spcBef>
                <a:spcPts val="0"/>
              </a:spcBef>
              <a:spcAft>
                <a:spcPts val="0"/>
              </a:spcAft>
            </a:pPr>
            <a:r>
              <a:rPr sz="2088" b="0" i="1">
                <a:solidFill>
                  <a:srgbClr val="090909"/>
                </a:solidFill>
                <a:latin typeface="Times New Roman"/>
              </a:rPr>
              <a:t>ℓ</a:t>
            </a:r>
            <a:r>
              <a:rPr sz="2004" b="0" i="0" baseline="-24000">
                <a:solidFill>
                  <a:srgbClr val="090909"/>
                </a:solidFill>
                <a:latin typeface="Times New Roman"/>
              </a:rPr>
              <a:t>2</a:t>
            </a:r>
          </a:p>
        </p:txBody>
      </p:sp>
      <p:cxnSp>
        <p:nvCxnSpPr>
          <p:cNvPr id="69" name="Fused depth pointer 2"/>
          <p:cNvCxnSpPr/>
          <p:nvPr/>
        </p:nvCxnSpPr>
        <p:spPr>
          <a:xfrm>
            <a:off x="6044184" y="1746504"/>
            <a:ext cx="0" cy="228600"/>
          </a:xfrm>
          <a:prstGeom prst="line">
            <a:avLst/>
          </a:prstGeom>
          <a:ln w="16459">
            <a:solidFill>
              <a:srgbClr val="090909"/>
            </a:solidFill>
            <a:prstDash val="dash"/>
            <a:tailEnd type="triangle" w="med" len="med"/>
          </a:ln>
          <a:effectLst/>
        </p:spPr>
      </p:cxnSp>
      <p:cxnSp>
        <p:nvCxnSpPr>
          <p:cNvPr id="70" name="Fused layer to readout 2"/>
          <p:cNvCxnSpPr/>
          <p:nvPr/>
        </p:nvCxnSpPr>
        <p:spPr>
          <a:xfrm>
            <a:off x="6044184" y="2450592"/>
            <a:ext cx="0" cy="192024"/>
          </a:xfrm>
          <a:prstGeom prst="line">
            <a:avLst/>
          </a:prstGeom>
          <a:ln w="15544">
            <a:solidFill>
              <a:srgbClr val="090909"/>
            </a:solidFill>
            <a:prstDash val="dash"/>
            <a:tailEnd type="triangle" w="med" len="med"/>
          </a:ln>
          <a:effectLst/>
        </p:spPr>
      </p:cxnSp>
      <p:sp>
        <p:nvSpPr>
          <p:cNvPr id="71" name="Readout 2 background"/>
          <p:cNvSpPr/>
          <p:nvPr/>
        </p:nvSpPr>
        <p:spPr>
          <a:xfrm>
            <a:off x="5641848" y="2660904"/>
            <a:ext cx="804672" cy="365760"/>
          </a:xfrm>
          <a:prstGeom prst="roundRect">
            <a:avLst>
              <a:gd name="adj" fmla="val 22500"/>
            </a:avLst>
          </a:prstGeom>
          <a:gradFill rotWithShape="1">
            <a:gsLst>
              <a:gs pos="0">
                <a:srgbClr val="FFF7DE"/>
              </a:gs>
              <a:gs pos="55000">
                <a:srgbClr val="FFEFC0"/>
              </a:gs>
              <a:gs pos="100000">
                <a:srgbClr val="FFF7DF"/>
              </a:gs>
            </a:gsLst>
            <a:lin ang="5400000" scaled="1"/>
          </a:gradFill>
          <a:ln w="11887">
            <a:solidFill>
              <a:srgbClr val="E6B523"/>
            </a:solidFill>
          </a:ln>
          <a:effectLst/>
        </p:spPr>
        <p:txBody>
          <a:bodyPr rtlCol="0" anchor="ctr"/>
          <a:lstStyle/>
          <a:p>
            <a:pPr algn="ctr"/>
          </a:p>
        </p:txBody>
      </p:sp>
      <p:sp>
        <p:nvSpPr>
          <p:cNvPr id="72" name="Readout 2 label"/>
          <p:cNvSpPr txBox="1"/>
          <p:nvPr/>
        </p:nvSpPr>
        <p:spPr>
          <a:xfrm>
            <a:off x="5669280" y="2679192"/>
            <a:ext cx="749808" cy="329184"/>
          </a:xfrm>
          <a:prstGeom prst="rect">
            <a:avLst/>
          </a:prstGeom>
          <a:noFill/>
        </p:spPr>
        <p:txBody>
          <a:bodyPr wrap="none" lIns="0" rIns="0" tIns="0" bIns="0" anchor="ctr">
            <a:noAutofit/>
          </a:bodyPr>
          <a:lstStyle/>
          <a:p>
            <a:pPr algn="ctr">
              <a:lnSpc>
                <a:spcPts val="1477"/>
              </a:lnSpc>
              <a:spcBef>
                <a:spcPts val="0"/>
              </a:spcBef>
              <a:spcAft>
                <a:spcPts val="0"/>
              </a:spcAft>
            </a:pPr>
            <a:r>
              <a:rPr sz="1368" b="1" i="0">
                <a:solidFill>
                  <a:srgbClr val="090909"/>
                </a:solidFill>
                <a:latin typeface="Arial"/>
              </a:rPr>
              <a:t>Readout</a:t>
            </a:r>
          </a:p>
        </p:txBody>
      </p:sp>
      <p:cxnSp>
        <p:nvCxnSpPr>
          <p:cNvPr id="73" name="Readout to fused slot 2"/>
          <p:cNvCxnSpPr/>
          <p:nvPr/>
        </p:nvCxnSpPr>
        <p:spPr>
          <a:xfrm>
            <a:off x="6044184" y="3044952"/>
            <a:ext cx="0" cy="146304"/>
          </a:xfrm>
          <a:prstGeom prst="line">
            <a:avLst/>
          </a:prstGeom>
          <a:ln w="15544">
            <a:solidFill>
              <a:srgbClr val="090909"/>
            </a:solidFill>
            <a:tailEnd type="triangle" w="med" len="med"/>
          </a:ln>
          <a:effectLst/>
        </p:spPr>
      </p:cxnSp>
      <p:sp>
        <p:nvSpPr>
          <p:cNvPr id="74" name="Fused slot 2"/>
          <p:cNvSpPr/>
          <p:nvPr/>
        </p:nvSpPr>
        <p:spPr>
          <a:xfrm>
            <a:off x="5943600" y="3218688"/>
            <a:ext cx="210312" cy="347472"/>
          </a:xfrm>
          <a:prstGeom prst="roundRect">
            <a:avLst>
              <a:gd name="adj" fmla="val 14782"/>
            </a:avLst>
          </a:prstGeom>
          <a:gradFill rotWithShape="1">
            <a:gsLst>
              <a:gs pos="0">
                <a:srgbClr val="F8E6F2"/>
              </a:gs>
              <a:gs pos="22000">
                <a:srgbClr val="E8BCD7"/>
              </a:gs>
              <a:gs pos="100000">
                <a:srgbClr val="F0CDE3"/>
              </a:gs>
            </a:gsLst>
            <a:lin ang="0" scaled="1"/>
          </a:gradFill>
          <a:ln w="15087">
            <a:solidFill>
              <a:srgbClr val="B21777"/>
            </a:solidFill>
          </a:ln>
          <a:effectLst/>
        </p:spPr>
        <p:txBody>
          <a:bodyPr rtlCol="0" anchor="ctr"/>
          <a:lstStyle/>
          <a:p>
            <a:pPr algn="ctr"/>
          </a:p>
        </p:txBody>
      </p:sp>
      <p:sp>
        <p:nvSpPr>
          <p:cNvPr id="75" name="Visual layer depth k2"/>
          <p:cNvSpPr txBox="1"/>
          <p:nvPr/>
        </p:nvSpPr>
        <p:spPr>
          <a:xfrm>
            <a:off x="5879592" y="3776472"/>
            <a:ext cx="347472" cy="301752"/>
          </a:xfrm>
          <a:prstGeom prst="rect">
            <a:avLst/>
          </a:prstGeom>
          <a:noFill/>
        </p:spPr>
        <p:txBody>
          <a:bodyPr wrap="none" lIns="0" rIns="0" tIns="0" bIns="0" anchor="ctr">
            <a:noAutofit/>
          </a:bodyPr>
          <a:lstStyle/>
          <a:p>
            <a:pPr algn="ctr">
              <a:lnSpc>
                <a:spcPts val="2177"/>
              </a:lnSpc>
              <a:spcBef>
                <a:spcPts val="0"/>
              </a:spcBef>
              <a:spcAft>
                <a:spcPts val="0"/>
              </a:spcAft>
            </a:pPr>
            <a:r>
              <a:rPr sz="2016" b="0" i="1">
                <a:solidFill>
                  <a:srgbClr val="090909"/>
                </a:solidFill>
                <a:latin typeface="Times New Roman"/>
              </a:rPr>
              <a:t>k</a:t>
            </a:r>
            <a:r>
              <a:rPr sz="1935" b="0" i="0" baseline="-24000">
                <a:solidFill>
                  <a:srgbClr val="090909"/>
                </a:solidFill>
                <a:latin typeface="Times New Roman"/>
              </a:rPr>
              <a:t>2</a:t>
            </a:r>
          </a:p>
        </p:txBody>
      </p:sp>
      <p:cxnSp>
        <p:nvCxnSpPr>
          <p:cNvPr id="76" name="Visual depth pointer 2"/>
          <p:cNvCxnSpPr/>
          <p:nvPr/>
        </p:nvCxnSpPr>
        <p:spPr>
          <a:xfrm>
            <a:off x="6044184" y="4105656"/>
            <a:ext cx="0" cy="182880"/>
          </a:xfrm>
          <a:prstGeom prst="line">
            <a:avLst/>
          </a:prstGeom>
          <a:ln w="15544">
            <a:solidFill>
              <a:srgbClr val="090909"/>
            </a:solidFill>
            <a:prstDash val="dash"/>
            <a:tailEnd type="triangle" w="med" len="med"/>
          </a:ln>
          <a:effectLst/>
        </p:spPr>
      </p:cxnSp>
      <p:cxnSp>
        <p:nvCxnSpPr>
          <p:cNvPr id="77" name="Visual layer to pooling 2"/>
          <p:cNvCxnSpPr/>
          <p:nvPr/>
        </p:nvCxnSpPr>
        <p:spPr>
          <a:xfrm>
            <a:off x="6044184" y="4709160"/>
            <a:ext cx="0" cy="128016"/>
          </a:xfrm>
          <a:prstGeom prst="line">
            <a:avLst/>
          </a:prstGeom>
          <a:ln w="15544">
            <a:solidFill>
              <a:srgbClr val="090909"/>
            </a:solidFill>
            <a:prstDash val="dash"/>
            <a:tailEnd type="triangle" w="med" len="med"/>
          </a:ln>
          <a:effectLst/>
        </p:spPr>
      </p:cxnSp>
      <p:sp>
        <p:nvSpPr>
          <p:cNvPr id="78" name="Query pooling 2 background"/>
          <p:cNvSpPr/>
          <p:nvPr/>
        </p:nvSpPr>
        <p:spPr>
          <a:xfrm>
            <a:off x="5641848" y="4864608"/>
            <a:ext cx="804672" cy="457200"/>
          </a:xfrm>
          <a:prstGeom prst="roundRect">
            <a:avLst>
              <a:gd name="adj" fmla="val 18000"/>
            </a:avLst>
          </a:prstGeom>
          <a:gradFill rotWithShape="1">
            <a:gsLst>
              <a:gs pos="0">
                <a:srgbClr val="FFF7DE"/>
              </a:gs>
              <a:gs pos="55000">
                <a:srgbClr val="FFEFC0"/>
              </a:gs>
              <a:gs pos="100000">
                <a:srgbClr val="FFF7DF"/>
              </a:gs>
            </a:gsLst>
            <a:lin ang="5400000" scaled="1"/>
          </a:gradFill>
          <a:ln w="11887">
            <a:solidFill>
              <a:srgbClr val="E6B523"/>
            </a:solidFill>
          </a:ln>
          <a:effectLst/>
        </p:spPr>
        <p:txBody>
          <a:bodyPr rtlCol="0" anchor="ctr"/>
          <a:lstStyle/>
          <a:p>
            <a:pPr algn="ctr"/>
          </a:p>
        </p:txBody>
      </p:sp>
      <p:sp>
        <p:nvSpPr>
          <p:cNvPr id="79" name="Query pooling 2 label"/>
          <p:cNvSpPr txBox="1"/>
          <p:nvPr/>
        </p:nvSpPr>
        <p:spPr>
          <a:xfrm>
            <a:off x="5669280" y="4882896"/>
            <a:ext cx="749808" cy="420624"/>
          </a:xfrm>
          <a:prstGeom prst="rect">
            <a:avLst/>
          </a:prstGeom>
          <a:noFill/>
        </p:spPr>
        <p:txBody>
          <a:bodyPr wrap="none" lIns="0" rIns="0" tIns="0" bIns="0" anchor="ctr">
            <a:noAutofit/>
          </a:bodyPr>
          <a:lstStyle/>
          <a:p>
            <a:pPr algn="ctr">
              <a:lnSpc>
                <a:spcPts val="1438"/>
              </a:lnSpc>
              <a:spcBef>
                <a:spcPts val="0"/>
              </a:spcBef>
              <a:spcAft>
                <a:spcPts val="0"/>
              </a:spcAft>
            </a:pPr>
            <a:r>
              <a:rPr sz="1332" b="1" i="0">
                <a:solidFill>
                  <a:srgbClr val="090909"/>
                </a:solidFill>
                <a:latin typeface="Arial"/>
              </a:rPr>
              <a:t>Query</a:t>
            </a:r>
          </a:p>
          <a:p>
            <a:pPr algn="ctr">
              <a:lnSpc>
                <a:spcPts val="1438"/>
              </a:lnSpc>
              <a:spcBef>
                <a:spcPts val="0"/>
              </a:spcBef>
              <a:spcAft>
                <a:spcPts val="0"/>
              </a:spcAft>
            </a:pPr>
            <a:r>
              <a:rPr sz="1332" b="1" i="0">
                <a:solidFill>
                  <a:srgbClr val="090909"/>
                </a:solidFill>
                <a:latin typeface="Arial"/>
              </a:rPr>
              <a:t>pooling</a:t>
            </a:r>
          </a:p>
        </p:txBody>
      </p:sp>
      <p:cxnSp>
        <p:nvCxnSpPr>
          <p:cNvPr id="80" name="Pooling to visual slot 2"/>
          <p:cNvCxnSpPr/>
          <p:nvPr/>
        </p:nvCxnSpPr>
        <p:spPr>
          <a:xfrm>
            <a:off x="6044184" y="5349240"/>
            <a:ext cx="0" cy="173736"/>
          </a:xfrm>
          <a:prstGeom prst="line">
            <a:avLst/>
          </a:prstGeom>
          <a:ln w="15544">
            <a:solidFill>
              <a:srgbClr val="090909"/>
            </a:solidFill>
            <a:prstDash val="dash"/>
            <a:tailEnd type="triangle" w="med" len="med"/>
          </a:ln>
          <a:effectLst/>
        </p:spPr>
      </p:cxnSp>
      <p:sp>
        <p:nvSpPr>
          <p:cNvPr id="81" name="Visual slot 2"/>
          <p:cNvSpPr/>
          <p:nvPr/>
        </p:nvSpPr>
        <p:spPr>
          <a:xfrm>
            <a:off x="5943600" y="5550408"/>
            <a:ext cx="210312" cy="347472"/>
          </a:xfrm>
          <a:prstGeom prst="roundRect">
            <a:avLst>
              <a:gd name="adj" fmla="val 14782"/>
            </a:avLst>
          </a:prstGeom>
          <a:gradFill rotWithShape="1">
            <a:gsLst>
              <a:gs pos="0">
                <a:srgbClr val="D3EDFD"/>
              </a:gs>
              <a:gs pos="22000">
                <a:srgbClr val="8ACCF3"/>
              </a:gs>
              <a:gs pos="100000">
                <a:srgbClr val="B2DBF7"/>
              </a:gs>
            </a:gsLst>
            <a:lin ang="0" scaled="1"/>
          </a:gradFill>
          <a:ln w="15087">
            <a:solidFill>
              <a:srgbClr val="0759BD"/>
            </a:solidFill>
          </a:ln>
          <a:effectLst/>
        </p:spPr>
        <p:txBody>
          <a:bodyPr rtlCol="0" anchor="ctr"/>
          <a:lstStyle/>
          <a:p>
            <a:pPr algn="ctr"/>
          </a:p>
        </p:txBody>
      </p:sp>
      <p:sp>
        <p:nvSpPr>
          <p:cNvPr id="82" name="Fused layer depth l3"/>
          <p:cNvSpPr txBox="1"/>
          <p:nvPr/>
        </p:nvSpPr>
        <p:spPr>
          <a:xfrm>
            <a:off x="6922008" y="1408176"/>
            <a:ext cx="347472" cy="329184"/>
          </a:xfrm>
          <a:prstGeom prst="rect">
            <a:avLst/>
          </a:prstGeom>
          <a:noFill/>
        </p:spPr>
        <p:txBody>
          <a:bodyPr wrap="none" lIns="0" rIns="0" tIns="0" bIns="0" anchor="ctr">
            <a:noAutofit/>
          </a:bodyPr>
          <a:lstStyle/>
          <a:p>
            <a:pPr algn="ctr">
              <a:lnSpc>
                <a:spcPts val="2255"/>
              </a:lnSpc>
              <a:spcBef>
                <a:spcPts val="0"/>
              </a:spcBef>
              <a:spcAft>
                <a:spcPts val="0"/>
              </a:spcAft>
            </a:pPr>
            <a:r>
              <a:rPr sz="2088" b="0" i="1">
                <a:solidFill>
                  <a:srgbClr val="090909"/>
                </a:solidFill>
                <a:latin typeface="Times New Roman"/>
              </a:rPr>
              <a:t>ℓ</a:t>
            </a:r>
            <a:r>
              <a:rPr sz="2004" b="0" i="0" baseline="-24000">
                <a:solidFill>
                  <a:srgbClr val="090909"/>
                </a:solidFill>
                <a:latin typeface="Times New Roman"/>
              </a:rPr>
              <a:t>3</a:t>
            </a:r>
          </a:p>
        </p:txBody>
      </p:sp>
      <p:cxnSp>
        <p:nvCxnSpPr>
          <p:cNvPr id="83" name="Fused depth pointer 3"/>
          <p:cNvCxnSpPr/>
          <p:nvPr/>
        </p:nvCxnSpPr>
        <p:spPr>
          <a:xfrm>
            <a:off x="7086600" y="1746504"/>
            <a:ext cx="0" cy="228600"/>
          </a:xfrm>
          <a:prstGeom prst="line">
            <a:avLst/>
          </a:prstGeom>
          <a:ln w="16459">
            <a:solidFill>
              <a:srgbClr val="090909"/>
            </a:solidFill>
            <a:prstDash val="dash"/>
            <a:tailEnd type="triangle" w="med" len="med"/>
          </a:ln>
          <a:effectLst/>
        </p:spPr>
      </p:cxnSp>
      <p:cxnSp>
        <p:nvCxnSpPr>
          <p:cNvPr id="84" name="Fused layer to readout 3"/>
          <p:cNvCxnSpPr/>
          <p:nvPr/>
        </p:nvCxnSpPr>
        <p:spPr>
          <a:xfrm>
            <a:off x="7086600" y="2450592"/>
            <a:ext cx="0" cy="192024"/>
          </a:xfrm>
          <a:prstGeom prst="line">
            <a:avLst/>
          </a:prstGeom>
          <a:ln w="15544">
            <a:solidFill>
              <a:srgbClr val="090909"/>
            </a:solidFill>
            <a:prstDash val="dash"/>
            <a:tailEnd type="triangle" w="med" len="med"/>
          </a:ln>
          <a:effectLst/>
        </p:spPr>
      </p:cxnSp>
      <p:sp>
        <p:nvSpPr>
          <p:cNvPr id="85" name="Readout 3 background"/>
          <p:cNvSpPr/>
          <p:nvPr/>
        </p:nvSpPr>
        <p:spPr>
          <a:xfrm>
            <a:off x="6684264" y="2660904"/>
            <a:ext cx="804672" cy="365760"/>
          </a:xfrm>
          <a:prstGeom prst="roundRect">
            <a:avLst>
              <a:gd name="adj" fmla="val 22500"/>
            </a:avLst>
          </a:prstGeom>
          <a:gradFill rotWithShape="1">
            <a:gsLst>
              <a:gs pos="0">
                <a:srgbClr val="FFF7DE"/>
              </a:gs>
              <a:gs pos="55000">
                <a:srgbClr val="FFEFC0"/>
              </a:gs>
              <a:gs pos="100000">
                <a:srgbClr val="FFF7DF"/>
              </a:gs>
            </a:gsLst>
            <a:lin ang="5400000" scaled="1"/>
          </a:gradFill>
          <a:ln w="11887">
            <a:solidFill>
              <a:srgbClr val="E6B523"/>
            </a:solidFill>
          </a:ln>
          <a:effectLst/>
        </p:spPr>
        <p:txBody>
          <a:bodyPr rtlCol="0" anchor="ctr"/>
          <a:lstStyle/>
          <a:p>
            <a:pPr algn="ctr"/>
          </a:p>
        </p:txBody>
      </p:sp>
      <p:sp>
        <p:nvSpPr>
          <p:cNvPr id="86" name="Readout 3 label"/>
          <p:cNvSpPr txBox="1"/>
          <p:nvPr/>
        </p:nvSpPr>
        <p:spPr>
          <a:xfrm>
            <a:off x="6711696" y="2679192"/>
            <a:ext cx="749808" cy="329184"/>
          </a:xfrm>
          <a:prstGeom prst="rect">
            <a:avLst/>
          </a:prstGeom>
          <a:noFill/>
        </p:spPr>
        <p:txBody>
          <a:bodyPr wrap="none" lIns="0" rIns="0" tIns="0" bIns="0" anchor="ctr">
            <a:noAutofit/>
          </a:bodyPr>
          <a:lstStyle/>
          <a:p>
            <a:pPr algn="ctr">
              <a:lnSpc>
                <a:spcPts val="1477"/>
              </a:lnSpc>
              <a:spcBef>
                <a:spcPts val="0"/>
              </a:spcBef>
              <a:spcAft>
                <a:spcPts val="0"/>
              </a:spcAft>
            </a:pPr>
            <a:r>
              <a:rPr sz="1368" b="1" i="0">
                <a:solidFill>
                  <a:srgbClr val="090909"/>
                </a:solidFill>
                <a:latin typeface="Arial"/>
              </a:rPr>
              <a:t>Readout</a:t>
            </a:r>
          </a:p>
        </p:txBody>
      </p:sp>
      <p:cxnSp>
        <p:nvCxnSpPr>
          <p:cNvPr id="87" name="Readout to fused slot 3"/>
          <p:cNvCxnSpPr/>
          <p:nvPr/>
        </p:nvCxnSpPr>
        <p:spPr>
          <a:xfrm>
            <a:off x="7086600" y="3044952"/>
            <a:ext cx="0" cy="146304"/>
          </a:xfrm>
          <a:prstGeom prst="line">
            <a:avLst/>
          </a:prstGeom>
          <a:ln w="15544">
            <a:solidFill>
              <a:srgbClr val="090909"/>
            </a:solidFill>
            <a:tailEnd type="triangle" w="med" len="med"/>
          </a:ln>
          <a:effectLst/>
        </p:spPr>
      </p:cxnSp>
      <p:sp>
        <p:nvSpPr>
          <p:cNvPr id="88" name="Fused slot 3"/>
          <p:cNvSpPr/>
          <p:nvPr/>
        </p:nvSpPr>
        <p:spPr>
          <a:xfrm>
            <a:off x="6986016" y="3218688"/>
            <a:ext cx="210312" cy="347472"/>
          </a:xfrm>
          <a:prstGeom prst="roundRect">
            <a:avLst>
              <a:gd name="adj" fmla="val 14782"/>
            </a:avLst>
          </a:prstGeom>
          <a:gradFill rotWithShape="1">
            <a:gsLst>
              <a:gs pos="0">
                <a:srgbClr val="F8E6F2"/>
              </a:gs>
              <a:gs pos="22000">
                <a:srgbClr val="E8BCD7"/>
              </a:gs>
              <a:gs pos="100000">
                <a:srgbClr val="F0CDE3"/>
              </a:gs>
            </a:gsLst>
            <a:lin ang="0" scaled="1"/>
          </a:gradFill>
          <a:ln w="15087">
            <a:solidFill>
              <a:srgbClr val="B21777"/>
            </a:solidFill>
          </a:ln>
          <a:effectLst/>
        </p:spPr>
        <p:txBody>
          <a:bodyPr rtlCol="0" anchor="ctr"/>
          <a:lstStyle/>
          <a:p>
            <a:pPr algn="ctr"/>
          </a:p>
        </p:txBody>
      </p:sp>
      <p:sp>
        <p:nvSpPr>
          <p:cNvPr id="89" name="Visual layer depth k3"/>
          <p:cNvSpPr txBox="1"/>
          <p:nvPr/>
        </p:nvSpPr>
        <p:spPr>
          <a:xfrm>
            <a:off x="6922008" y="3776472"/>
            <a:ext cx="347472" cy="301752"/>
          </a:xfrm>
          <a:prstGeom prst="rect">
            <a:avLst/>
          </a:prstGeom>
          <a:noFill/>
        </p:spPr>
        <p:txBody>
          <a:bodyPr wrap="none" lIns="0" rIns="0" tIns="0" bIns="0" anchor="ctr">
            <a:noAutofit/>
          </a:bodyPr>
          <a:lstStyle/>
          <a:p>
            <a:pPr algn="ctr">
              <a:lnSpc>
                <a:spcPts val="2177"/>
              </a:lnSpc>
              <a:spcBef>
                <a:spcPts val="0"/>
              </a:spcBef>
              <a:spcAft>
                <a:spcPts val="0"/>
              </a:spcAft>
            </a:pPr>
            <a:r>
              <a:rPr sz="2016" b="0" i="1">
                <a:solidFill>
                  <a:srgbClr val="090909"/>
                </a:solidFill>
                <a:latin typeface="Times New Roman"/>
              </a:rPr>
              <a:t>k</a:t>
            </a:r>
            <a:r>
              <a:rPr sz="1935" b="0" i="0" baseline="-24000">
                <a:solidFill>
                  <a:srgbClr val="090909"/>
                </a:solidFill>
                <a:latin typeface="Times New Roman"/>
              </a:rPr>
              <a:t>3</a:t>
            </a:r>
          </a:p>
        </p:txBody>
      </p:sp>
      <p:cxnSp>
        <p:nvCxnSpPr>
          <p:cNvPr id="90" name="Visual depth pointer 3"/>
          <p:cNvCxnSpPr/>
          <p:nvPr/>
        </p:nvCxnSpPr>
        <p:spPr>
          <a:xfrm>
            <a:off x="7086600" y="4105656"/>
            <a:ext cx="0" cy="182880"/>
          </a:xfrm>
          <a:prstGeom prst="line">
            <a:avLst/>
          </a:prstGeom>
          <a:ln w="15544">
            <a:solidFill>
              <a:srgbClr val="090909"/>
            </a:solidFill>
            <a:prstDash val="dash"/>
            <a:tailEnd type="triangle" w="med" len="med"/>
          </a:ln>
          <a:effectLst/>
        </p:spPr>
      </p:cxnSp>
      <p:cxnSp>
        <p:nvCxnSpPr>
          <p:cNvPr id="91" name="Visual layer to pooling 3"/>
          <p:cNvCxnSpPr/>
          <p:nvPr/>
        </p:nvCxnSpPr>
        <p:spPr>
          <a:xfrm>
            <a:off x="7086600" y="4709160"/>
            <a:ext cx="0" cy="128016"/>
          </a:xfrm>
          <a:prstGeom prst="line">
            <a:avLst/>
          </a:prstGeom>
          <a:ln w="15544">
            <a:solidFill>
              <a:srgbClr val="090909"/>
            </a:solidFill>
            <a:prstDash val="dash"/>
            <a:tailEnd type="triangle" w="med" len="med"/>
          </a:ln>
          <a:effectLst/>
        </p:spPr>
      </p:cxnSp>
      <p:sp>
        <p:nvSpPr>
          <p:cNvPr id="92" name="Query pooling 3 background"/>
          <p:cNvSpPr/>
          <p:nvPr/>
        </p:nvSpPr>
        <p:spPr>
          <a:xfrm>
            <a:off x="6684264" y="4864608"/>
            <a:ext cx="804672" cy="457200"/>
          </a:xfrm>
          <a:prstGeom prst="roundRect">
            <a:avLst>
              <a:gd name="adj" fmla="val 18000"/>
            </a:avLst>
          </a:prstGeom>
          <a:gradFill rotWithShape="1">
            <a:gsLst>
              <a:gs pos="0">
                <a:srgbClr val="FFF7DE"/>
              </a:gs>
              <a:gs pos="55000">
                <a:srgbClr val="FFEFC0"/>
              </a:gs>
              <a:gs pos="100000">
                <a:srgbClr val="FFF7DF"/>
              </a:gs>
            </a:gsLst>
            <a:lin ang="5400000" scaled="1"/>
          </a:gradFill>
          <a:ln w="11887">
            <a:solidFill>
              <a:srgbClr val="E6B523"/>
            </a:solidFill>
          </a:ln>
          <a:effectLst/>
        </p:spPr>
        <p:txBody>
          <a:bodyPr rtlCol="0" anchor="ctr"/>
          <a:lstStyle/>
          <a:p>
            <a:pPr algn="ctr"/>
          </a:p>
        </p:txBody>
      </p:sp>
      <p:sp>
        <p:nvSpPr>
          <p:cNvPr id="93" name="Query pooling 3 label"/>
          <p:cNvSpPr txBox="1"/>
          <p:nvPr/>
        </p:nvSpPr>
        <p:spPr>
          <a:xfrm>
            <a:off x="6711696" y="4882896"/>
            <a:ext cx="749808" cy="420624"/>
          </a:xfrm>
          <a:prstGeom prst="rect">
            <a:avLst/>
          </a:prstGeom>
          <a:noFill/>
        </p:spPr>
        <p:txBody>
          <a:bodyPr wrap="none" lIns="0" rIns="0" tIns="0" bIns="0" anchor="ctr">
            <a:noAutofit/>
          </a:bodyPr>
          <a:lstStyle/>
          <a:p>
            <a:pPr algn="ctr">
              <a:lnSpc>
                <a:spcPts val="1438"/>
              </a:lnSpc>
              <a:spcBef>
                <a:spcPts val="0"/>
              </a:spcBef>
              <a:spcAft>
                <a:spcPts val="0"/>
              </a:spcAft>
            </a:pPr>
            <a:r>
              <a:rPr sz="1332" b="1" i="0">
                <a:solidFill>
                  <a:srgbClr val="090909"/>
                </a:solidFill>
                <a:latin typeface="Arial"/>
              </a:rPr>
              <a:t>Query</a:t>
            </a:r>
          </a:p>
          <a:p>
            <a:pPr algn="ctr">
              <a:lnSpc>
                <a:spcPts val="1438"/>
              </a:lnSpc>
              <a:spcBef>
                <a:spcPts val="0"/>
              </a:spcBef>
              <a:spcAft>
                <a:spcPts val="0"/>
              </a:spcAft>
            </a:pPr>
            <a:r>
              <a:rPr sz="1332" b="1" i="0">
                <a:solidFill>
                  <a:srgbClr val="090909"/>
                </a:solidFill>
                <a:latin typeface="Arial"/>
              </a:rPr>
              <a:t>pooling</a:t>
            </a:r>
          </a:p>
        </p:txBody>
      </p:sp>
      <p:cxnSp>
        <p:nvCxnSpPr>
          <p:cNvPr id="94" name="Pooling to visual slot 3"/>
          <p:cNvCxnSpPr/>
          <p:nvPr/>
        </p:nvCxnSpPr>
        <p:spPr>
          <a:xfrm>
            <a:off x="7086600" y="5349240"/>
            <a:ext cx="0" cy="173736"/>
          </a:xfrm>
          <a:prstGeom prst="line">
            <a:avLst/>
          </a:prstGeom>
          <a:ln w="15544">
            <a:solidFill>
              <a:srgbClr val="090909"/>
            </a:solidFill>
            <a:prstDash val="dash"/>
            <a:tailEnd type="triangle" w="med" len="med"/>
          </a:ln>
          <a:effectLst/>
        </p:spPr>
      </p:cxnSp>
      <p:sp>
        <p:nvSpPr>
          <p:cNvPr id="95" name="Visual slot 3"/>
          <p:cNvSpPr/>
          <p:nvPr/>
        </p:nvSpPr>
        <p:spPr>
          <a:xfrm>
            <a:off x="6986016" y="5550408"/>
            <a:ext cx="210312" cy="347472"/>
          </a:xfrm>
          <a:prstGeom prst="roundRect">
            <a:avLst>
              <a:gd name="adj" fmla="val 14782"/>
            </a:avLst>
          </a:prstGeom>
          <a:gradFill rotWithShape="1">
            <a:gsLst>
              <a:gs pos="0">
                <a:srgbClr val="D3EDFD"/>
              </a:gs>
              <a:gs pos="22000">
                <a:srgbClr val="8ACCF3"/>
              </a:gs>
              <a:gs pos="100000">
                <a:srgbClr val="B2DBF7"/>
              </a:gs>
            </a:gsLst>
            <a:lin ang="0" scaled="1"/>
          </a:gradFill>
          <a:ln w="15087">
            <a:solidFill>
              <a:srgbClr val="0759BD"/>
            </a:solidFill>
          </a:ln>
          <a:effectLst/>
        </p:spPr>
        <p:txBody>
          <a:bodyPr rtlCol="0" anchor="ctr"/>
          <a:lstStyle/>
          <a:p>
            <a:pPr algn="ctr"/>
          </a:p>
        </p:txBody>
      </p:sp>
      <p:sp>
        <p:nvSpPr>
          <p:cNvPr id="96" name="Fused layer depth l4"/>
          <p:cNvSpPr txBox="1"/>
          <p:nvPr/>
        </p:nvSpPr>
        <p:spPr>
          <a:xfrm>
            <a:off x="7973568" y="1408176"/>
            <a:ext cx="347472" cy="329184"/>
          </a:xfrm>
          <a:prstGeom prst="rect">
            <a:avLst/>
          </a:prstGeom>
          <a:noFill/>
        </p:spPr>
        <p:txBody>
          <a:bodyPr wrap="none" lIns="0" rIns="0" tIns="0" bIns="0" anchor="ctr">
            <a:noAutofit/>
          </a:bodyPr>
          <a:lstStyle/>
          <a:p>
            <a:pPr algn="ctr">
              <a:lnSpc>
                <a:spcPts val="2255"/>
              </a:lnSpc>
              <a:spcBef>
                <a:spcPts val="0"/>
              </a:spcBef>
              <a:spcAft>
                <a:spcPts val="0"/>
              </a:spcAft>
            </a:pPr>
            <a:r>
              <a:rPr sz="2088" b="0" i="1">
                <a:solidFill>
                  <a:srgbClr val="090909"/>
                </a:solidFill>
                <a:latin typeface="Times New Roman"/>
              </a:rPr>
              <a:t>ℓ</a:t>
            </a:r>
            <a:r>
              <a:rPr sz="2004" b="0" i="0" baseline="-24000">
                <a:solidFill>
                  <a:srgbClr val="090909"/>
                </a:solidFill>
                <a:latin typeface="Times New Roman"/>
              </a:rPr>
              <a:t>4</a:t>
            </a:r>
          </a:p>
        </p:txBody>
      </p:sp>
      <p:cxnSp>
        <p:nvCxnSpPr>
          <p:cNvPr id="97" name="Fused depth pointer 4"/>
          <p:cNvCxnSpPr/>
          <p:nvPr/>
        </p:nvCxnSpPr>
        <p:spPr>
          <a:xfrm>
            <a:off x="8138160" y="1746504"/>
            <a:ext cx="0" cy="228600"/>
          </a:xfrm>
          <a:prstGeom prst="line">
            <a:avLst/>
          </a:prstGeom>
          <a:ln w="16459">
            <a:solidFill>
              <a:srgbClr val="090909"/>
            </a:solidFill>
            <a:prstDash val="dash"/>
            <a:tailEnd type="triangle" w="med" len="med"/>
          </a:ln>
          <a:effectLst/>
        </p:spPr>
      </p:cxnSp>
      <p:cxnSp>
        <p:nvCxnSpPr>
          <p:cNvPr id="98" name="Fused layer to readout 4"/>
          <p:cNvCxnSpPr/>
          <p:nvPr/>
        </p:nvCxnSpPr>
        <p:spPr>
          <a:xfrm>
            <a:off x="8138160" y="2450592"/>
            <a:ext cx="0" cy="192024"/>
          </a:xfrm>
          <a:prstGeom prst="line">
            <a:avLst/>
          </a:prstGeom>
          <a:ln w="15544">
            <a:solidFill>
              <a:srgbClr val="090909"/>
            </a:solidFill>
            <a:prstDash val="dash"/>
            <a:tailEnd type="triangle" w="med" len="med"/>
          </a:ln>
          <a:effectLst/>
        </p:spPr>
      </p:cxnSp>
      <p:sp>
        <p:nvSpPr>
          <p:cNvPr id="99" name="Readout 4 background"/>
          <p:cNvSpPr/>
          <p:nvPr/>
        </p:nvSpPr>
        <p:spPr>
          <a:xfrm>
            <a:off x="7735824" y="2660904"/>
            <a:ext cx="804672" cy="365760"/>
          </a:xfrm>
          <a:prstGeom prst="roundRect">
            <a:avLst>
              <a:gd name="adj" fmla="val 22500"/>
            </a:avLst>
          </a:prstGeom>
          <a:gradFill rotWithShape="1">
            <a:gsLst>
              <a:gs pos="0">
                <a:srgbClr val="FFF7DE"/>
              </a:gs>
              <a:gs pos="55000">
                <a:srgbClr val="FFEFC0"/>
              </a:gs>
              <a:gs pos="100000">
                <a:srgbClr val="FFF7DF"/>
              </a:gs>
            </a:gsLst>
            <a:lin ang="5400000" scaled="1"/>
          </a:gradFill>
          <a:ln w="11887">
            <a:solidFill>
              <a:srgbClr val="E6B523"/>
            </a:solidFill>
          </a:ln>
          <a:effectLst/>
        </p:spPr>
        <p:txBody>
          <a:bodyPr rtlCol="0" anchor="ctr"/>
          <a:lstStyle/>
          <a:p>
            <a:pPr algn="ctr"/>
          </a:p>
        </p:txBody>
      </p:sp>
      <p:sp>
        <p:nvSpPr>
          <p:cNvPr id="100" name="Readout 4 label"/>
          <p:cNvSpPr txBox="1"/>
          <p:nvPr/>
        </p:nvSpPr>
        <p:spPr>
          <a:xfrm>
            <a:off x="7763256" y="2679192"/>
            <a:ext cx="749808" cy="329184"/>
          </a:xfrm>
          <a:prstGeom prst="rect">
            <a:avLst/>
          </a:prstGeom>
          <a:noFill/>
        </p:spPr>
        <p:txBody>
          <a:bodyPr wrap="none" lIns="0" rIns="0" tIns="0" bIns="0" anchor="ctr">
            <a:noAutofit/>
          </a:bodyPr>
          <a:lstStyle/>
          <a:p>
            <a:pPr algn="ctr">
              <a:lnSpc>
                <a:spcPts val="1477"/>
              </a:lnSpc>
              <a:spcBef>
                <a:spcPts val="0"/>
              </a:spcBef>
              <a:spcAft>
                <a:spcPts val="0"/>
              </a:spcAft>
            </a:pPr>
            <a:r>
              <a:rPr sz="1368" b="1" i="0">
                <a:solidFill>
                  <a:srgbClr val="090909"/>
                </a:solidFill>
                <a:latin typeface="Arial"/>
              </a:rPr>
              <a:t>Readout</a:t>
            </a:r>
          </a:p>
        </p:txBody>
      </p:sp>
      <p:cxnSp>
        <p:nvCxnSpPr>
          <p:cNvPr id="101" name="Readout to fused slot 4"/>
          <p:cNvCxnSpPr/>
          <p:nvPr/>
        </p:nvCxnSpPr>
        <p:spPr>
          <a:xfrm>
            <a:off x="8138160" y="3044952"/>
            <a:ext cx="0" cy="146304"/>
          </a:xfrm>
          <a:prstGeom prst="line">
            <a:avLst/>
          </a:prstGeom>
          <a:ln w="15544">
            <a:solidFill>
              <a:srgbClr val="090909"/>
            </a:solidFill>
            <a:tailEnd type="triangle" w="med" len="med"/>
          </a:ln>
          <a:effectLst/>
        </p:spPr>
      </p:cxnSp>
      <p:sp>
        <p:nvSpPr>
          <p:cNvPr id="102" name="Fused slot 4"/>
          <p:cNvSpPr/>
          <p:nvPr/>
        </p:nvSpPr>
        <p:spPr>
          <a:xfrm>
            <a:off x="8037576" y="3218688"/>
            <a:ext cx="210312" cy="347472"/>
          </a:xfrm>
          <a:prstGeom prst="roundRect">
            <a:avLst>
              <a:gd name="adj" fmla="val 14782"/>
            </a:avLst>
          </a:prstGeom>
          <a:gradFill rotWithShape="1">
            <a:gsLst>
              <a:gs pos="0">
                <a:srgbClr val="F8E6F2"/>
              </a:gs>
              <a:gs pos="22000">
                <a:srgbClr val="E8BCD7"/>
              </a:gs>
              <a:gs pos="100000">
                <a:srgbClr val="F0CDE3"/>
              </a:gs>
            </a:gsLst>
            <a:lin ang="0" scaled="1"/>
          </a:gradFill>
          <a:ln w="15087">
            <a:solidFill>
              <a:srgbClr val="B21777"/>
            </a:solidFill>
          </a:ln>
          <a:effectLst/>
        </p:spPr>
        <p:txBody>
          <a:bodyPr rtlCol="0" anchor="ctr"/>
          <a:lstStyle/>
          <a:p>
            <a:pPr algn="ctr"/>
          </a:p>
        </p:txBody>
      </p:sp>
      <p:sp>
        <p:nvSpPr>
          <p:cNvPr id="103" name="Visual layer depth k4"/>
          <p:cNvSpPr txBox="1"/>
          <p:nvPr/>
        </p:nvSpPr>
        <p:spPr>
          <a:xfrm>
            <a:off x="7973568" y="3776472"/>
            <a:ext cx="347472" cy="301752"/>
          </a:xfrm>
          <a:prstGeom prst="rect">
            <a:avLst/>
          </a:prstGeom>
          <a:noFill/>
        </p:spPr>
        <p:txBody>
          <a:bodyPr wrap="none" lIns="0" rIns="0" tIns="0" bIns="0" anchor="ctr">
            <a:noAutofit/>
          </a:bodyPr>
          <a:lstStyle/>
          <a:p>
            <a:pPr algn="ctr">
              <a:lnSpc>
                <a:spcPts val="2177"/>
              </a:lnSpc>
              <a:spcBef>
                <a:spcPts val="0"/>
              </a:spcBef>
              <a:spcAft>
                <a:spcPts val="0"/>
              </a:spcAft>
            </a:pPr>
            <a:r>
              <a:rPr sz="2016" b="0" i="1">
                <a:solidFill>
                  <a:srgbClr val="090909"/>
                </a:solidFill>
                <a:latin typeface="Times New Roman"/>
              </a:rPr>
              <a:t>k</a:t>
            </a:r>
            <a:r>
              <a:rPr sz="1935" b="0" i="0" baseline="-24000">
                <a:solidFill>
                  <a:srgbClr val="090909"/>
                </a:solidFill>
                <a:latin typeface="Times New Roman"/>
              </a:rPr>
              <a:t>4</a:t>
            </a:r>
          </a:p>
        </p:txBody>
      </p:sp>
      <p:cxnSp>
        <p:nvCxnSpPr>
          <p:cNvPr id="104" name="Visual depth pointer 4"/>
          <p:cNvCxnSpPr/>
          <p:nvPr/>
        </p:nvCxnSpPr>
        <p:spPr>
          <a:xfrm>
            <a:off x="8138160" y="4105656"/>
            <a:ext cx="0" cy="182880"/>
          </a:xfrm>
          <a:prstGeom prst="line">
            <a:avLst/>
          </a:prstGeom>
          <a:ln w="15544">
            <a:solidFill>
              <a:srgbClr val="090909"/>
            </a:solidFill>
            <a:prstDash val="dash"/>
            <a:tailEnd type="triangle" w="med" len="med"/>
          </a:ln>
          <a:effectLst/>
        </p:spPr>
      </p:cxnSp>
      <p:cxnSp>
        <p:nvCxnSpPr>
          <p:cNvPr id="105" name="Visual layer to pooling 4"/>
          <p:cNvCxnSpPr/>
          <p:nvPr/>
        </p:nvCxnSpPr>
        <p:spPr>
          <a:xfrm>
            <a:off x="8138160" y="4709160"/>
            <a:ext cx="0" cy="128016"/>
          </a:xfrm>
          <a:prstGeom prst="line">
            <a:avLst/>
          </a:prstGeom>
          <a:ln w="15544">
            <a:solidFill>
              <a:srgbClr val="090909"/>
            </a:solidFill>
            <a:prstDash val="dash"/>
            <a:tailEnd type="triangle" w="med" len="med"/>
          </a:ln>
          <a:effectLst/>
        </p:spPr>
      </p:cxnSp>
      <p:sp>
        <p:nvSpPr>
          <p:cNvPr id="106" name="Query pooling 4 background"/>
          <p:cNvSpPr/>
          <p:nvPr/>
        </p:nvSpPr>
        <p:spPr>
          <a:xfrm>
            <a:off x="7735824" y="4864608"/>
            <a:ext cx="804672" cy="457200"/>
          </a:xfrm>
          <a:prstGeom prst="roundRect">
            <a:avLst>
              <a:gd name="adj" fmla="val 18000"/>
            </a:avLst>
          </a:prstGeom>
          <a:gradFill rotWithShape="1">
            <a:gsLst>
              <a:gs pos="0">
                <a:srgbClr val="FFF7DE"/>
              </a:gs>
              <a:gs pos="55000">
                <a:srgbClr val="FFEFC0"/>
              </a:gs>
              <a:gs pos="100000">
                <a:srgbClr val="FFF7DF"/>
              </a:gs>
            </a:gsLst>
            <a:lin ang="5400000" scaled="1"/>
          </a:gradFill>
          <a:ln w="11887">
            <a:solidFill>
              <a:srgbClr val="E6B523"/>
            </a:solidFill>
          </a:ln>
          <a:effectLst/>
        </p:spPr>
        <p:txBody>
          <a:bodyPr rtlCol="0" anchor="ctr"/>
          <a:lstStyle/>
          <a:p>
            <a:pPr algn="ctr"/>
          </a:p>
        </p:txBody>
      </p:sp>
      <p:sp>
        <p:nvSpPr>
          <p:cNvPr id="107" name="Query pooling 4 label"/>
          <p:cNvSpPr txBox="1"/>
          <p:nvPr/>
        </p:nvSpPr>
        <p:spPr>
          <a:xfrm>
            <a:off x="7763256" y="4882896"/>
            <a:ext cx="749808" cy="420624"/>
          </a:xfrm>
          <a:prstGeom prst="rect">
            <a:avLst/>
          </a:prstGeom>
          <a:noFill/>
        </p:spPr>
        <p:txBody>
          <a:bodyPr wrap="none" lIns="0" rIns="0" tIns="0" bIns="0" anchor="ctr">
            <a:noAutofit/>
          </a:bodyPr>
          <a:lstStyle/>
          <a:p>
            <a:pPr algn="ctr">
              <a:lnSpc>
                <a:spcPts val="1438"/>
              </a:lnSpc>
              <a:spcBef>
                <a:spcPts val="0"/>
              </a:spcBef>
              <a:spcAft>
                <a:spcPts val="0"/>
              </a:spcAft>
            </a:pPr>
            <a:r>
              <a:rPr sz="1332" b="1" i="0">
                <a:solidFill>
                  <a:srgbClr val="090909"/>
                </a:solidFill>
                <a:latin typeface="Arial"/>
              </a:rPr>
              <a:t>Query</a:t>
            </a:r>
          </a:p>
          <a:p>
            <a:pPr algn="ctr">
              <a:lnSpc>
                <a:spcPts val="1438"/>
              </a:lnSpc>
              <a:spcBef>
                <a:spcPts val="0"/>
              </a:spcBef>
              <a:spcAft>
                <a:spcPts val="0"/>
              </a:spcAft>
            </a:pPr>
            <a:r>
              <a:rPr sz="1332" b="1" i="0">
                <a:solidFill>
                  <a:srgbClr val="090909"/>
                </a:solidFill>
                <a:latin typeface="Arial"/>
              </a:rPr>
              <a:t>pooling</a:t>
            </a:r>
          </a:p>
        </p:txBody>
      </p:sp>
      <p:cxnSp>
        <p:nvCxnSpPr>
          <p:cNvPr id="108" name="Pooling to visual slot 4"/>
          <p:cNvCxnSpPr/>
          <p:nvPr/>
        </p:nvCxnSpPr>
        <p:spPr>
          <a:xfrm>
            <a:off x="8138160" y="5349240"/>
            <a:ext cx="0" cy="173736"/>
          </a:xfrm>
          <a:prstGeom prst="line">
            <a:avLst/>
          </a:prstGeom>
          <a:ln w="15544">
            <a:solidFill>
              <a:srgbClr val="090909"/>
            </a:solidFill>
            <a:prstDash val="dash"/>
            <a:tailEnd type="triangle" w="med" len="med"/>
          </a:ln>
          <a:effectLst/>
        </p:spPr>
      </p:cxnSp>
      <p:sp>
        <p:nvSpPr>
          <p:cNvPr id="109" name="Visual slot 4"/>
          <p:cNvSpPr/>
          <p:nvPr/>
        </p:nvSpPr>
        <p:spPr>
          <a:xfrm>
            <a:off x="8037576" y="5550408"/>
            <a:ext cx="210312" cy="347472"/>
          </a:xfrm>
          <a:prstGeom prst="roundRect">
            <a:avLst>
              <a:gd name="adj" fmla="val 14782"/>
            </a:avLst>
          </a:prstGeom>
          <a:gradFill rotWithShape="1">
            <a:gsLst>
              <a:gs pos="0">
                <a:srgbClr val="D3EDFD"/>
              </a:gs>
              <a:gs pos="22000">
                <a:srgbClr val="8ACCF3"/>
              </a:gs>
              <a:gs pos="100000">
                <a:srgbClr val="B2DBF7"/>
              </a:gs>
            </a:gsLst>
            <a:lin ang="0" scaled="1"/>
          </a:gradFill>
          <a:ln w="15087">
            <a:solidFill>
              <a:srgbClr val="0759BD"/>
            </a:solidFill>
          </a:ln>
          <a:effectLst/>
        </p:spPr>
        <p:txBody>
          <a:bodyPr rtlCol="0" anchor="ctr"/>
          <a:lstStyle/>
          <a:p>
            <a:pPr algn="ctr"/>
          </a:p>
        </p:txBody>
      </p:sp>
      <p:sp>
        <p:nvSpPr>
          <p:cNvPr id="110" name="State assembly bracket"/>
          <p:cNvSpPr/>
          <p:nvPr/>
        </p:nvSpPr>
        <p:spPr>
          <a:xfrm>
            <a:off x="8650224" y="2240280"/>
            <a:ext cx="192024" cy="2898648"/>
          </a:xfrm>
          <a:custGeom>
            <a:avLst/>
            <a:gdLst/>
            <a:ahLst/>
            <a:cxnLst/>
            <a:rect l="0" t="0" r="r" b="b"/>
            <a:pathLst>
              <a:path w="21000" h="317000">
                <a:moveTo>
                  <a:pt x="0" y="0"/>
                </a:moveTo>
                <a:lnTo>
                  <a:pt x="21000" y="0"/>
                </a:lnTo>
                <a:lnTo>
                  <a:pt x="21000" y="317000"/>
                </a:lnTo>
                <a:lnTo>
                  <a:pt x="0" y="317000"/>
                </a:lnTo>
              </a:path>
            </a:pathLst>
          </a:custGeom>
          <a:noFill/>
          <a:ln w="18288">
            <a:solidFill>
              <a:srgbClr val="090909"/>
            </a:solidFill>
          </a:ln>
          <a:effectLst/>
        </p:spPr>
        <p:txBody>
          <a:bodyPr rtlCol="0" anchor="ctr"/>
          <a:lstStyle/>
          <a:p>
            <a:pPr algn="ctr"/>
          </a:p>
        </p:txBody>
      </p:sp>
      <p:cxnSp>
        <p:nvCxnSpPr>
          <p:cNvPr id="111" name="Assembled slots to state"/>
          <p:cNvCxnSpPr/>
          <p:nvPr/>
        </p:nvCxnSpPr>
        <p:spPr>
          <a:xfrm>
            <a:off x="8842248" y="3566160"/>
            <a:ext cx="402336" cy="0"/>
          </a:xfrm>
          <a:prstGeom prst="line">
            <a:avLst/>
          </a:prstGeom>
          <a:ln w="27432">
            <a:solidFill>
              <a:srgbClr val="090909"/>
            </a:solidFill>
            <a:tailEnd type="triangle" w="med" len="med"/>
          </a:ln>
          <a:effectLst/>
        </p:spPr>
      </p:cxnSp>
      <p:sp>
        <p:nvSpPr>
          <p:cNvPr id="112" name="State card background"/>
          <p:cNvSpPr/>
          <p:nvPr/>
        </p:nvSpPr>
        <p:spPr>
          <a:xfrm>
            <a:off x="9317736" y="1874520"/>
            <a:ext cx="1280160" cy="3502152"/>
          </a:xfrm>
          <a:prstGeom prst="roundRect">
            <a:avLst>
              <a:gd name="adj" fmla="val 9285"/>
            </a:avLst>
          </a:prstGeom>
          <a:solidFill>
            <a:srgbClr val="FEFEFF"/>
          </a:solidFill>
          <a:ln w="14630">
            <a:solidFill>
              <a:srgbClr val="BEC8D8"/>
            </a:solidFill>
          </a:ln>
          <a:effectLst/>
        </p:spPr>
        <p:txBody>
          <a:bodyPr rtlCol="0" anchor="ctr"/>
          <a:lstStyle/>
          <a:p>
            <a:pPr algn="ctr"/>
          </a:p>
        </p:txBody>
      </p:sp>
      <p:sp>
        <p:nvSpPr>
          <p:cNvPr id="113" name="State title"/>
          <p:cNvSpPr txBox="1"/>
          <p:nvPr/>
        </p:nvSpPr>
        <p:spPr>
          <a:xfrm>
            <a:off x="9436608" y="1938528"/>
            <a:ext cx="1033272" cy="301752"/>
          </a:xfrm>
          <a:prstGeom prst="rect">
            <a:avLst/>
          </a:prstGeom>
          <a:noFill/>
        </p:spPr>
        <p:txBody>
          <a:bodyPr wrap="none" lIns="0" rIns="0" tIns="0" bIns="0" anchor="ctr">
            <a:noAutofit/>
          </a:bodyPr>
          <a:lstStyle/>
          <a:p>
            <a:pPr algn="ctr">
              <a:lnSpc>
                <a:spcPts val="2021"/>
              </a:lnSpc>
              <a:spcBef>
                <a:spcPts val="0"/>
              </a:spcBef>
              <a:spcAft>
                <a:spcPts val="0"/>
              </a:spcAft>
            </a:pPr>
            <a:r>
              <a:rPr sz="1872" b="1" i="0">
                <a:solidFill>
                  <a:srgbClr val="090909"/>
                </a:solidFill>
                <a:latin typeface="Arial"/>
              </a:rPr>
              <a:t>State </a:t>
            </a:r>
            <a:r>
              <a:rPr sz="2232" b="0" i="1">
                <a:solidFill>
                  <a:srgbClr val="090909"/>
                </a:solidFill>
                <a:latin typeface="Times New Roman"/>
              </a:rPr>
              <a:t>S</a:t>
            </a:r>
          </a:p>
        </p:txBody>
      </p:sp>
      <p:sp>
        <p:nvSpPr>
          <p:cNvPr id="114" name="State dimensions"/>
          <p:cNvSpPr txBox="1"/>
          <p:nvPr/>
        </p:nvSpPr>
        <p:spPr>
          <a:xfrm>
            <a:off x="9464040" y="2240280"/>
            <a:ext cx="941832" cy="256032"/>
          </a:xfrm>
          <a:prstGeom prst="rect">
            <a:avLst/>
          </a:prstGeom>
          <a:noFill/>
        </p:spPr>
        <p:txBody>
          <a:bodyPr wrap="none" lIns="0" rIns="0" tIns="0" bIns="0" anchor="ctr">
            <a:noAutofit/>
          </a:bodyPr>
          <a:lstStyle/>
          <a:p>
            <a:pPr algn="ctr">
              <a:lnSpc>
                <a:spcPts val="1788"/>
              </a:lnSpc>
              <a:spcBef>
                <a:spcPts val="0"/>
              </a:spcBef>
              <a:spcAft>
                <a:spcPts val="0"/>
              </a:spcAft>
            </a:pPr>
            <a:r>
              <a:rPr sz="1655" b="0" i="0">
                <a:solidFill>
                  <a:srgbClr val="090909"/>
                </a:solidFill>
                <a:latin typeface="Times New Roman"/>
              </a:rPr>
              <a:t>8 × </a:t>
            </a:r>
            <a:r>
              <a:rPr sz="1655" b="0" i="1">
                <a:solidFill>
                  <a:srgbClr val="090909"/>
                </a:solidFill>
                <a:latin typeface="Times New Roman"/>
              </a:rPr>
              <a:t>d</a:t>
            </a:r>
          </a:p>
        </p:txBody>
      </p:sp>
      <p:sp>
        <p:nvSpPr>
          <p:cNvPr id="115" name="State fused slot 1"/>
          <p:cNvSpPr/>
          <p:nvPr/>
        </p:nvSpPr>
        <p:spPr>
          <a:xfrm>
            <a:off x="9491472" y="2633472"/>
            <a:ext cx="338328" cy="219456"/>
          </a:xfrm>
          <a:prstGeom prst="roundRect">
            <a:avLst>
              <a:gd name="adj" fmla="val 14166"/>
            </a:avLst>
          </a:prstGeom>
          <a:gradFill rotWithShape="1">
            <a:gsLst>
              <a:gs pos="0">
                <a:srgbClr val="F8E6F2"/>
              </a:gs>
              <a:gs pos="22000">
                <a:srgbClr val="E8BCD7"/>
              </a:gs>
              <a:gs pos="100000">
                <a:srgbClr val="F0CDE3"/>
              </a:gs>
            </a:gsLst>
            <a:lin ang="0" scaled="1"/>
          </a:gradFill>
          <a:ln w="15087">
            <a:solidFill>
              <a:srgbClr val="B21777"/>
            </a:solidFill>
          </a:ln>
          <a:effectLst/>
        </p:spPr>
        <p:txBody>
          <a:bodyPr rtlCol="0" anchor="ctr"/>
          <a:lstStyle/>
          <a:p>
            <a:pPr algn="ctr"/>
          </a:p>
        </p:txBody>
      </p:sp>
      <p:sp>
        <p:nvSpPr>
          <p:cNvPr id="116" name="State visual slot 1"/>
          <p:cNvSpPr/>
          <p:nvPr/>
        </p:nvSpPr>
        <p:spPr>
          <a:xfrm>
            <a:off x="9491472" y="4059936"/>
            <a:ext cx="338328" cy="219456"/>
          </a:xfrm>
          <a:prstGeom prst="roundRect">
            <a:avLst>
              <a:gd name="adj" fmla="val 14166"/>
            </a:avLst>
          </a:prstGeom>
          <a:gradFill rotWithShape="1">
            <a:gsLst>
              <a:gs pos="0">
                <a:srgbClr val="D3EDFD"/>
              </a:gs>
              <a:gs pos="22000">
                <a:srgbClr val="8ACCF3"/>
              </a:gs>
              <a:gs pos="100000">
                <a:srgbClr val="B2DBF7"/>
              </a:gs>
            </a:gsLst>
            <a:lin ang="0" scaled="1"/>
          </a:gradFill>
          <a:ln w="15087">
            <a:solidFill>
              <a:srgbClr val="0759BD"/>
            </a:solidFill>
          </a:ln>
          <a:effectLst/>
        </p:spPr>
        <p:txBody>
          <a:bodyPr rtlCol="0" anchor="ctr"/>
          <a:lstStyle/>
          <a:p>
            <a:pPr algn="ctr"/>
          </a:p>
        </p:txBody>
      </p:sp>
      <p:sp>
        <p:nvSpPr>
          <p:cNvPr id="117" name="State fused slot 2"/>
          <p:cNvSpPr/>
          <p:nvPr/>
        </p:nvSpPr>
        <p:spPr>
          <a:xfrm>
            <a:off x="9491472" y="2958084"/>
            <a:ext cx="338328" cy="219456"/>
          </a:xfrm>
          <a:prstGeom prst="roundRect">
            <a:avLst>
              <a:gd name="adj" fmla="val 14166"/>
            </a:avLst>
          </a:prstGeom>
          <a:gradFill rotWithShape="1">
            <a:gsLst>
              <a:gs pos="0">
                <a:srgbClr val="F8E6F2"/>
              </a:gs>
              <a:gs pos="22000">
                <a:srgbClr val="E8BCD7"/>
              </a:gs>
              <a:gs pos="100000">
                <a:srgbClr val="F0CDE3"/>
              </a:gs>
            </a:gsLst>
            <a:lin ang="0" scaled="1"/>
          </a:gradFill>
          <a:ln w="15087">
            <a:solidFill>
              <a:srgbClr val="B21777"/>
            </a:solidFill>
          </a:ln>
          <a:effectLst/>
        </p:spPr>
        <p:txBody>
          <a:bodyPr rtlCol="0" anchor="ctr"/>
          <a:lstStyle/>
          <a:p>
            <a:pPr algn="ctr"/>
          </a:p>
        </p:txBody>
      </p:sp>
      <p:sp>
        <p:nvSpPr>
          <p:cNvPr id="118" name="State visual slot 2"/>
          <p:cNvSpPr/>
          <p:nvPr/>
        </p:nvSpPr>
        <p:spPr>
          <a:xfrm>
            <a:off x="9491472" y="4379976"/>
            <a:ext cx="338328" cy="219456"/>
          </a:xfrm>
          <a:prstGeom prst="roundRect">
            <a:avLst>
              <a:gd name="adj" fmla="val 14166"/>
            </a:avLst>
          </a:prstGeom>
          <a:gradFill rotWithShape="1">
            <a:gsLst>
              <a:gs pos="0">
                <a:srgbClr val="D3EDFD"/>
              </a:gs>
              <a:gs pos="22000">
                <a:srgbClr val="8ACCF3"/>
              </a:gs>
              <a:gs pos="100000">
                <a:srgbClr val="B2DBF7"/>
              </a:gs>
            </a:gsLst>
            <a:lin ang="0" scaled="1"/>
          </a:gradFill>
          <a:ln w="15087">
            <a:solidFill>
              <a:srgbClr val="0759BD"/>
            </a:solidFill>
          </a:ln>
          <a:effectLst/>
        </p:spPr>
        <p:txBody>
          <a:bodyPr rtlCol="0" anchor="ctr"/>
          <a:lstStyle/>
          <a:p>
            <a:pPr algn="ctr"/>
          </a:p>
        </p:txBody>
      </p:sp>
      <p:sp>
        <p:nvSpPr>
          <p:cNvPr id="119" name="State fused slot 3"/>
          <p:cNvSpPr/>
          <p:nvPr/>
        </p:nvSpPr>
        <p:spPr>
          <a:xfrm>
            <a:off x="9491472" y="3282696"/>
            <a:ext cx="338328" cy="219456"/>
          </a:xfrm>
          <a:prstGeom prst="roundRect">
            <a:avLst>
              <a:gd name="adj" fmla="val 14166"/>
            </a:avLst>
          </a:prstGeom>
          <a:gradFill rotWithShape="1">
            <a:gsLst>
              <a:gs pos="0">
                <a:srgbClr val="F8E6F2"/>
              </a:gs>
              <a:gs pos="22000">
                <a:srgbClr val="E8BCD7"/>
              </a:gs>
              <a:gs pos="100000">
                <a:srgbClr val="F0CDE3"/>
              </a:gs>
            </a:gsLst>
            <a:lin ang="0" scaled="1"/>
          </a:gradFill>
          <a:ln w="15087">
            <a:solidFill>
              <a:srgbClr val="B21777"/>
            </a:solidFill>
          </a:ln>
          <a:effectLst/>
        </p:spPr>
        <p:txBody>
          <a:bodyPr rtlCol="0" anchor="ctr"/>
          <a:lstStyle/>
          <a:p>
            <a:pPr algn="ctr"/>
          </a:p>
        </p:txBody>
      </p:sp>
      <p:sp>
        <p:nvSpPr>
          <p:cNvPr id="120" name="State visual slot 3"/>
          <p:cNvSpPr/>
          <p:nvPr/>
        </p:nvSpPr>
        <p:spPr>
          <a:xfrm>
            <a:off x="9491472" y="4700016"/>
            <a:ext cx="338328" cy="219456"/>
          </a:xfrm>
          <a:prstGeom prst="roundRect">
            <a:avLst>
              <a:gd name="adj" fmla="val 14166"/>
            </a:avLst>
          </a:prstGeom>
          <a:gradFill rotWithShape="1">
            <a:gsLst>
              <a:gs pos="0">
                <a:srgbClr val="D3EDFD"/>
              </a:gs>
              <a:gs pos="22000">
                <a:srgbClr val="8ACCF3"/>
              </a:gs>
              <a:gs pos="100000">
                <a:srgbClr val="B2DBF7"/>
              </a:gs>
            </a:gsLst>
            <a:lin ang="0" scaled="1"/>
          </a:gradFill>
          <a:ln w="15087">
            <a:solidFill>
              <a:srgbClr val="0759BD"/>
            </a:solidFill>
          </a:ln>
          <a:effectLst/>
        </p:spPr>
        <p:txBody>
          <a:bodyPr rtlCol="0" anchor="ctr"/>
          <a:lstStyle/>
          <a:p>
            <a:pPr algn="ctr"/>
          </a:p>
        </p:txBody>
      </p:sp>
      <p:sp>
        <p:nvSpPr>
          <p:cNvPr id="121" name="State fused slot 4"/>
          <p:cNvSpPr/>
          <p:nvPr/>
        </p:nvSpPr>
        <p:spPr>
          <a:xfrm>
            <a:off x="9491472" y="3607308"/>
            <a:ext cx="338328" cy="219456"/>
          </a:xfrm>
          <a:prstGeom prst="roundRect">
            <a:avLst>
              <a:gd name="adj" fmla="val 14166"/>
            </a:avLst>
          </a:prstGeom>
          <a:gradFill rotWithShape="1">
            <a:gsLst>
              <a:gs pos="0">
                <a:srgbClr val="F8E6F2"/>
              </a:gs>
              <a:gs pos="22000">
                <a:srgbClr val="E8BCD7"/>
              </a:gs>
              <a:gs pos="100000">
                <a:srgbClr val="F0CDE3"/>
              </a:gs>
            </a:gsLst>
            <a:lin ang="0" scaled="1"/>
          </a:gradFill>
          <a:ln w="15087">
            <a:solidFill>
              <a:srgbClr val="B21777"/>
            </a:solidFill>
          </a:ln>
          <a:effectLst/>
        </p:spPr>
        <p:txBody>
          <a:bodyPr rtlCol="0" anchor="ctr"/>
          <a:lstStyle/>
          <a:p>
            <a:pPr algn="ctr"/>
          </a:p>
        </p:txBody>
      </p:sp>
      <p:sp>
        <p:nvSpPr>
          <p:cNvPr id="122" name="State visual slot 4"/>
          <p:cNvSpPr/>
          <p:nvPr/>
        </p:nvSpPr>
        <p:spPr>
          <a:xfrm>
            <a:off x="9491472" y="5020056"/>
            <a:ext cx="338328" cy="219456"/>
          </a:xfrm>
          <a:prstGeom prst="roundRect">
            <a:avLst>
              <a:gd name="adj" fmla="val 14166"/>
            </a:avLst>
          </a:prstGeom>
          <a:gradFill rotWithShape="1">
            <a:gsLst>
              <a:gs pos="0">
                <a:srgbClr val="D3EDFD"/>
              </a:gs>
              <a:gs pos="22000">
                <a:srgbClr val="8ACCF3"/>
              </a:gs>
              <a:gs pos="100000">
                <a:srgbClr val="B2DBF7"/>
              </a:gs>
            </a:gsLst>
            <a:lin ang="0" scaled="1"/>
          </a:gradFill>
          <a:ln w="15087">
            <a:solidFill>
              <a:srgbClr val="0759BD"/>
            </a:solidFill>
          </a:ln>
          <a:effectLst/>
        </p:spPr>
        <p:txBody>
          <a:bodyPr rtlCol="0" anchor="ctr"/>
          <a:lstStyle/>
          <a:p>
            <a:pPr algn="ctr"/>
          </a:p>
        </p:txBody>
      </p:sp>
      <p:sp>
        <p:nvSpPr>
          <p:cNvPr id="123" name="Fused state brace"/>
          <p:cNvSpPr/>
          <p:nvPr/>
        </p:nvSpPr>
        <p:spPr>
          <a:xfrm>
            <a:off x="9948672" y="2642616"/>
            <a:ext cx="128016" cy="1188720"/>
          </a:xfrm>
          <a:prstGeom prst="rightBrace">
            <a:avLst/>
          </a:prstGeom>
          <a:noFill/>
          <a:ln w="21945">
            <a:solidFill>
              <a:srgbClr val="090909"/>
            </a:solidFill>
          </a:ln>
          <a:effectLst/>
        </p:spPr>
        <p:txBody>
          <a:bodyPr rtlCol="0" anchor="ctr"/>
          <a:lstStyle/>
          <a:p>
            <a:pPr algn="ctr"/>
          </a:p>
        </p:txBody>
      </p:sp>
      <p:sp>
        <p:nvSpPr>
          <p:cNvPr id="124" name="Visual state brace"/>
          <p:cNvSpPr/>
          <p:nvPr/>
        </p:nvSpPr>
        <p:spPr>
          <a:xfrm>
            <a:off x="9948672" y="4069080"/>
            <a:ext cx="128016" cy="1179576"/>
          </a:xfrm>
          <a:prstGeom prst="rightBrace">
            <a:avLst/>
          </a:prstGeom>
          <a:noFill/>
          <a:ln w="21945">
            <a:solidFill>
              <a:srgbClr val="090909"/>
            </a:solidFill>
          </a:ln>
          <a:effectLst/>
        </p:spPr>
        <p:txBody>
          <a:bodyPr rtlCol="0" anchor="ctr"/>
          <a:lstStyle/>
          <a:p>
            <a:pPr algn="ctr"/>
          </a:p>
        </p:txBody>
      </p:sp>
      <p:sp>
        <p:nvSpPr>
          <p:cNvPr id="125" name="Fused state symbol"/>
          <p:cNvSpPr txBox="1"/>
          <p:nvPr/>
        </p:nvSpPr>
        <p:spPr>
          <a:xfrm>
            <a:off x="10131552" y="3044952"/>
            <a:ext cx="365760" cy="411480"/>
          </a:xfrm>
          <a:prstGeom prst="rect">
            <a:avLst/>
          </a:prstGeom>
          <a:noFill/>
        </p:spPr>
        <p:txBody>
          <a:bodyPr wrap="none" lIns="0" rIns="0" tIns="0" bIns="0" anchor="ctr">
            <a:noAutofit/>
          </a:bodyPr>
          <a:lstStyle/>
          <a:p>
            <a:pPr algn="ctr">
              <a:lnSpc>
                <a:spcPts val="2643"/>
              </a:lnSpc>
              <a:spcBef>
                <a:spcPts val="0"/>
              </a:spcBef>
              <a:spcAft>
                <a:spcPts val="0"/>
              </a:spcAft>
            </a:pPr>
            <a:r>
              <a:rPr sz="2448" b="0" i="1">
                <a:solidFill>
                  <a:srgbClr val="090909"/>
                </a:solidFill>
                <a:latin typeface="Times New Roman"/>
              </a:rPr>
              <a:t>S</a:t>
            </a:r>
            <a:r>
              <a:rPr sz="2350" b="0" i="1" baseline="33000">
                <a:solidFill>
                  <a:srgbClr val="090909"/>
                </a:solidFill>
                <a:latin typeface="Times New Roman"/>
              </a:rPr>
              <a:t>f</a:t>
            </a:r>
          </a:p>
        </p:txBody>
      </p:sp>
      <p:sp>
        <p:nvSpPr>
          <p:cNvPr id="126" name="Visual state symbol"/>
          <p:cNvSpPr txBox="1"/>
          <p:nvPr/>
        </p:nvSpPr>
        <p:spPr>
          <a:xfrm>
            <a:off x="10131552" y="4462272"/>
            <a:ext cx="365760" cy="411480"/>
          </a:xfrm>
          <a:prstGeom prst="rect">
            <a:avLst/>
          </a:prstGeom>
          <a:noFill/>
        </p:spPr>
        <p:txBody>
          <a:bodyPr wrap="none" lIns="0" rIns="0" tIns="0" bIns="0" anchor="ctr">
            <a:noAutofit/>
          </a:bodyPr>
          <a:lstStyle/>
          <a:p>
            <a:pPr algn="ctr">
              <a:lnSpc>
                <a:spcPts val="2643"/>
              </a:lnSpc>
              <a:spcBef>
                <a:spcPts val="0"/>
              </a:spcBef>
              <a:spcAft>
                <a:spcPts val="0"/>
              </a:spcAft>
            </a:pPr>
            <a:r>
              <a:rPr sz="2448" b="0" i="1">
                <a:solidFill>
                  <a:srgbClr val="090909"/>
                </a:solidFill>
                <a:latin typeface="Times New Roman"/>
              </a:rPr>
              <a:t>S</a:t>
            </a:r>
            <a:r>
              <a:rPr sz="2350" b="0" i="1" baseline="33000">
                <a:solidFill>
                  <a:srgbClr val="090909"/>
                </a:solidFill>
                <a:latin typeface="Times New Roman"/>
              </a:rPr>
              <a:t>v</a:t>
            </a:r>
          </a:p>
        </p:txBody>
      </p:sp>
      <p:sp>
        <p:nvSpPr>
          <p:cNvPr id="127" name="Panel transition arrow"/>
          <p:cNvSpPr/>
          <p:nvPr/>
        </p:nvSpPr>
        <p:spPr>
          <a:xfrm>
            <a:off x="10671048" y="3566160"/>
            <a:ext cx="429768" cy="246888"/>
          </a:xfrm>
          <a:prstGeom prst="rightArrow">
            <a:avLst/>
          </a:prstGeom>
          <a:solidFill>
            <a:srgbClr val="4E698A"/>
          </a:solidFill>
          <a:ln>
            <a:noFill/>
          </a:ln>
          <a:effectLst/>
        </p:spPr>
        <p:txBody>
          <a:bodyPr rtlCol="0" anchor="ctr"/>
          <a:lstStyle/>
          <a:p>
            <a:pPr algn="ctr"/>
          </a:p>
        </p:txBody>
      </p:sp>
      <p:sp>
        <p:nvSpPr>
          <p:cNvPr id="128" name="Visual slots heading"/>
          <p:cNvSpPr txBox="1"/>
          <p:nvPr/>
        </p:nvSpPr>
        <p:spPr>
          <a:xfrm>
            <a:off x="11137392" y="2194560"/>
            <a:ext cx="1060704" cy="283464"/>
          </a:xfrm>
          <a:prstGeom prst="rect">
            <a:avLst/>
          </a:prstGeom>
          <a:noFill/>
        </p:spPr>
        <p:txBody>
          <a:bodyPr wrap="none" lIns="0" rIns="0" tIns="0" bIns="0" anchor="ctr">
            <a:noAutofit/>
          </a:bodyPr>
          <a:lstStyle/>
          <a:p>
            <a:pPr algn="l">
              <a:lnSpc>
                <a:spcPts val="1555"/>
              </a:lnSpc>
              <a:spcBef>
                <a:spcPts val="0"/>
              </a:spcBef>
              <a:spcAft>
                <a:spcPts val="0"/>
              </a:spcAft>
            </a:pPr>
            <a:r>
              <a:rPr sz="1439" b="1" i="0">
                <a:solidFill>
                  <a:srgbClr val="090909"/>
                </a:solidFill>
                <a:latin typeface="Arial"/>
              </a:rPr>
              <a:t>Visual slots</a:t>
            </a:r>
          </a:p>
        </p:txBody>
      </p:sp>
      <p:sp>
        <p:nvSpPr>
          <p:cNvPr id="129" name="Spatial visual state symbol"/>
          <p:cNvSpPr txBox="1"/>
          <p:nvPr/>
        </p:nvSpPr>
        <p:spPr>
          <a:xfrm>
            <a:off x="12188952" y="2157984"/>
            <a:ext cx="310896" cy="310896"/>
          </a:xfrm>
          <a:prstGeom prst="rect">
            <a:avLst/>
          </a:prstGeom>
          <a:noFill/>
        </p:spPr>
        <p:txBody>
          <a:bodyPr wrap="none" lIns="0" rIns="0" tIns="0" bIns="0" anchor="ctr">
            <a:noAutofit/>
          </a:bodyPr>
          <a:lstStyle/>
          <a:p>
            <a:pPr algn="ctr">
              <a:lnSpc>
                <a:spcPts val="2177"/>
              </a:lnSpc>
              <a:spcBef>
                <a:spcPts val="0"/>
              </a:spcBef>
              <a:spcAft>
                <a:spcPts val="0"/>
              </a:spcAft>
            </a:pPr>
            <a:r>
              <a:rPr sz="2016" b="0" i="1">
                <a:solidFill>
                  <a:srgbClr val="090909"/>
                </a:solidFill>
                <a:latin typeface="Times New Roman"/>
              </a:rPr>
              <a:t>S</a:t>
            </a:r>
            <a:r>
              <a:rPr sz="1935" b="0" i="1" baseline="33000">
                <a:solidFill>
                  <a:srgbClr val="090909"/>
                </a:solidFill>
                <a:latin typeface="Times New Roman"/>
              </a:rPr>
              <a:t>v</a:t>
            </a:r>
          </a:p>
        </p:txBody>
      </p:sp>
      <p:sp>
        <p:nvSpPr>
          <p:cNvPr id="130" name="Visual slots container"/>
          <p:cNvSpPr/>
          <p:nvPr/>
        </p:nvSpPr>
        <p:spPr>
          <a:xfrm>
            <a:off x="11466576" y="2505456"/>
            <a:ext cx="521208" cy="1389888"/>
          </a:xfrm>
          <a:prstGeom prst="roundRect">
            <a:avLst>
              <a:gd name="adj" fmla="val 17543"/>
            </a:avLst>
          </a:prstGeom>
          <a:solidFill>
            <a:srgbClr val="FFFFFF"/>
          </a:solidFill>
          <a:ln w="14630">
            <a:solidFill>
              <a:srgbClr val="ACC6E2"/>
            </a:solidFill>
          </a:ln>
          <a:effectLst/>
        </p:spPr>
        <p:txBody>
          <a:bodyPr rtlCol="0" anchor="ctr"/>
          <a:lstStyle/>
          <a:p>
            <a:pPr algn="ctr"/>
          </a:p>
        </p:txBody>
      </p:sp>
      <p:sp>
        <p:nvSpPr>
          <p:cNvPr id="131" name="Spatial input visual slot 1"/>
          <p:cNvSpPr/>
          <p:nvPr/>
        </p:nvSpPr>
        <p:spPr>
          <a:xfrm>
            <a:off x="11558016" y="2606040"/>
            <a:ext cx="329184" cy="219456"/>
          </a:xfrm>
          <a:prstGeom prst="roundRect">
            <a:avLst>
              <a:gd name="adj" fmla="val 14166"/>
            </a:avLst>
          </a:prstGeom>
          <a:gradFill rotWithShape="1">
            <a:gsLst>
              <a:gs pos="0">
                <a:srgbClr val="D3EDFD"/>
              </a:gs>
              <a:gs pos="22000">
                <a:srgbClr val="8ACCF3"/>
              </a:gs>
              <a:gs pos="100000">
                <a:srgbClr val="B2DBF7"/>
              </a:gs>
            </a:gsLst>
            <a:lin ang="0" scaled="1"/>
          </a:gradFill>
          <a:ln w="15087">
            <a:solidFill>
              <a:srgbClr val="0759BD"/>
            </a:solidFill>
          </a:ln>
          <a:effectLst/>
        </p:spPr>
        <p:txBody>
          <a:bodyPr rtlCol="0" anchor="ctr"/>
          <a:lstStyle/>
          <a:p>
            <a:pPr algn="ctr"/>
          </a:p>
        </p:txBody>
      </p:sp>
      <p:sp>
        <p:nvSpPr>
          <p:cNvPr id="132" name="Spatial input visual slot 2"/>
          <p:cNvSpPr/>
          <p:nvPr/>
        </p:nvSpPr>
        <p:spPr>
          <a:xfrm>
            <a:off x="11558016" y="2927908"/>
            <a:ext cx="329184" cy="219456"/>
          </a:xfrm>
          <a:prstGeom prst="roundRect">
            <a:avLst>
              <a:gd name="adj" fmla="val 14166"/>
            </a:avLst>
          </a:prstGeom>
          <a:gradFill rotWithShape="1">
            <a:gsLst>
              <a:gs pos="0">
                <a:srgbClr val="D3EDFD"/>
              </a:gs>
              <a:gs pos="22000">
                <a:srgbClr val="8ACCF3"/>
              </a:gs>
              <a:gs pos="100000">
                <a:srgbClr val="B2DBF7"/>
              </a:gs>
            </a:gsLst>
            <a:lin ang="0" scaled="1"/>
          </a:gradFill>
          <a:ln w="15087">
            <a:solidFill>
              <a:srgbClr val="0759BD"/>
            </a:solidFill>
          </a:ln>
          <a:effectLst/>
        </p:spPr>
        <p:txBody>
          <a:bodyPr rtlCol="0" anchor="ctr"/>
          <a:lstStyle/>
          <a:p>
            <a:pPr algn="ctr"/>
          </a:p>
        </p:txBody>
      </p:sp>
      <p:sp>
        <p:nvSpPr>
          <p:cNvPr id="133" name="Spatial input visual slot 3"/>
          <p:cNvSpPr/>
          <p:nvPr/>
        </p:nvSpPr>
        <p:spPr>
          <a:xfrm>
            <a:off x="11558016" y="3249777"/>
            <a:ext cx="329184" cy="219456"/>
          </a:xfrm>
          <a:prstGeom prst="roundRect">
            <a:avLst>
              <a:gd name="adj" fmla="val 14166"/>
            </a:avLst>
          </a:prstGeom>
          <a:gradFill rotWithShape="1">
            <a:gsLst>
              <a:gs pos="0">
                <a:srgbClr val="D3EDFD"/>
              </a:gs>
              <a:gs pos="22000">
                <a:srgbClr val="8ACCF3"/>
              </a:gs>
              <a:gs pos="100000">
                <a:srgbClr val="B2DBF7"/>
              </a:gs>
            </a:gsLst>
            <a:lin ang="0" scaled="1"/>
          </a:gradFill>
          <a:ln w="15087">
            <a:solidFill>
              <a:srgbClr val="0759BD"/>
            </a:solidFill>
          </a:ln>
          <a:effectLst/>
        </p:spPr>
        <p:txBody>
          <a:bodyPr rtlCol="0" anchor="ctr"/>
          <a:lstStyle/>
          <a:p>
            <a:pPr algn="ctr"/>
          </a:p>
        </p:txBody>
      </p:sp>
      <p:sp>
        <p:nvSpPr>
          <p:cNvPr id="134" name="Spatial input visual slot 4"/>
          <p:cNvSpPr/>
          <p:nvPr/>
        </p:nvSpPr>
        <p:spPr>
          <a:xfrm>
            <a:off x="11558016" y="3571646"/>
            <a:ext cx="329184" cy="219456"/>
          </a:xfrm>
          <a:prstGeom prst="roundRect">
            <a:avLst>
              <a:gd name="adj" fmla="val 14166"/>
            </a:avLst>
          </a:prstGeom>
          <a:gradFill rotWithShape="1">
            <a:gsLst>
              <a:gs pos="0">
                <a:srgbClr val="D3EDFD"/>
              </a:gs>
              <a:gs pos="22000">
                <a:srgbClr val="8ACCF3"/>
              </a:gs>
              <a:gs pos="100000">
                <a:srgbClr val="B2DBF7"/>
              </a:gs>
            </a:gsLst>
            <a:lin ang="0" scaled="1"/>
          </a:gradFill>
          <a:ln w="15087">
            <a:solidFill>
              <a:srgbClr val="0759BD"/>
            </a:solidFill>
          </a:ln>
          <a:effectLst/>
        </p:spPr>
        <p:txBody>
          <a:bodyPr rtlCol="0" anchor="ctr"/>
          <a:lstStyle/>
          <a:p>
            <a:pPr algn="ctr"/>
          </a:p>
        </p:txBody>
      </p:sp>
      <p:cxnSp>
        <p:nvCxnSpPr>
          <p:cNvPr id="135" name="Slots to spatial reconstruction"/>
          <p:cNvCxnSpPr/>
          <p:nvPr/>
        </p:nvCxnSpPr>
        <p:spPr>
          <a:xfrm>
            <a:off x="12070080" y="3218688"/>
            <a:ext cx="758952" cy="0"/>
          </a:xfrm>
          <a:prstGeom prst="line">
            <a:avLst/>
          </a:prstGeom>
          <a:ln w="18288">
            <a:solidFill>
              <a:srgbClr val="090909"/>
            </a:solidFill>
            <a:tailEnd type="triangle" w="med" len="med"/>
          </a:ln>
          <a:effectLst/>
        </p:spPr>
      </p:cxnSp>
      <p:sp>
        <p:nvSpPr>
          <p:cNvPr id="136" name="Coordinate queries heading"/>
          <p:cNvSpPr txBox="1"/>
          <p:nvPr/>
        </p:nvSpPr>
        <p:spPr>
          <a:xfrm>
            <a:off x="13030200" y="1673352"/>
            <a:ext cx="1892808" cy="274320"/>
          </a:xfrm>
          <a:prstGeom prst="rect">
            <a:avLst/>
          </a:prstGeom>
          <a:noFill/>
        </p:spPr>
        <p:txBody>
          <a:bodyPr wrap="none" lIns="0" rIns="0" tIns="0" bIns="0" anchor="ctr">
            <a:noAutofit/>
          </a:bodyPr>
          <a:lstStyle/>
          <a:p>
            <a:pPr algn="ctr">
              <a:lnSpc>
                <a:spcPts val="1555"/>
              </a:lnSpc>
              <a:spcBef>
                <a:spcPts val="0"/>
              </a:spcBef>
              <a:spcAft>
                <a:spcPts val="0"/>
              </a:spcAft>
            </a:pPr>
            <a:r>
              <a:rPr sz="1439" b="0" i="0">
                <a:solidFill>
                  <a:srgbClr val="090909"/>
                </a:solidFill>
                <a:latin typeface="Arial"/>
              </a:rPr>
              <a:t>Coordinate queries</a:t>
            </a:r>
          </a:p>
        </p:txBody>
      </p:sp>
      <p:grpSp>
        <p:nvGrpSpPr>
          <p:cNvPr id="137" name="Coordinate query grid"/>
          <p:cNvGrpSpPr/>
          <p:nvPr/>
        </p:nvGrpSpPr>
        <p:grpSpPr>
          <a:xfrm>
            <a:off x="13414248" y="1965960"/>
            <a:ext cx="484632" cy="448056"/>
            <a:chOff x="13414248" y="1965960"/>
            <a:chExt cx="484632" cy="448056"/>
          </a:xfrm>
        </p:grpSpPr>
        <p:cxnSp>
          <p:nvCxnSpPr>
            <p:cNvPr id="138" name="Grid column 1"/>
            <p:cNvCxnSpPr/>
            <p:nvPr/>
          </p:nvCxnSpPr>
          <p:spPr>
            <a:xfrm flipH="1">
              <a:off x="13414248" y="1975104"/>
              <a:ext cx="36576" cy="438912"/>
            </a:xfrm>
            <a:prstGeom prst="line">
              <a:avLst/>
            </a:prstGeom>
            <a:ln w="10515">
              <a:solidFill>
                <a:srgbClr val="77BAF4"/>
              </a:solidFill>
            </a:ln>
            <a:effectLst/>
          </p:spPr>
        </p:cxnSp>
        <p:cxnSp>
          <p:nvCxnSpPr>
            <p:cNvPr id="139" name="Grid row 1"/>
            <p:cNvCxnSpPr/>
            <p:nvPr/>
          </p:nvCxnSpPr>
          <p:spPr>
            <a:xfrm flipV="1">
              <a:off x="13414248" y="1975104"/>
              <a:ext cx="484632" cy="64008"/>
            </a:xfrm>
            <a:prstGeom prst="line">
              <a:avLst/>
            </a:prstGeom>
            <a:ln w="10515">
              <a:solidFill>
                <a:srgbClr val="77BAF4"/>
              </a:solidFill>
            </a:ln>
            <a:effectLst/>
          </p:spPr>
        </p:cxnSp>
        <p:cxnSp>
          <p:nvCxnSpPr>
            <p:cNvPr id="140" name="Grid column 2"/>
            <p:cNvCxnSpPr/>
            <p:nvPr/>
          </p:nvCxnSpPr>
          <p:spPr>
            <a:xfrm flipH="1">
              <a:off x="13478256" y="1975104"/>
              <a:ext cx="36576" cy="438912"/>
            </a:xfrm>
            <a:prstGeom prst="line">
              <a:avLst/>
            </a:prstGeom>
            <a:ln w="10515">
              <a:solidFill>
                <a:srgbClr val="77BAF4"/>
              </a:solidFill>
            </a:ln>
            <a:effectLst/>
          </p:spPr>
        </p:cxnSp>
        <p:cxnSp>
          <p:nvCxnSpPr>
            <p:cNvPr id="141" name="Grid row 2"/>
            <p:cNvCxnSpPr/>
            <p:nvPr/>
          </p:nvCxnSpPr>
          <p:spPr>
            <a:xfrm flipV="1">
              <a:off x="13414248" y="2028662"/>
              <a:ext cx="484632" cy="64008"/>
            </a:xfrm>
            <a:prstGeom prst="line">
              <a:avLst/>
            </a:prstGeom>
            <a:ln w="10515">
              <a:solidFill>
                <a:srgbClr val="77BAF4"/>
              </a:solidFill>
            </a:ln>
            <a:effectLst/>
          </p:spPr>
        </p:cxnSp>
        <p:cxnSp>
          <p:nvCxnSpPr>
            <p:cNvPr id="142" name="Grid column 3"/>
            <p:cNvCxnSpPr/>
            <p:nvPr/>
          </p:nvCxnSpPr>
          <p:spPr>
            <a:xfrm flipH="1">
              <a:off x="13542264" y="1975104"/>
              <a:ext cx="36576" cy="438912"/>
            </a:xfrm>
            <a:prstGeom prst="line">
              <a:avLst/>
            </a:prstGeom>
            <a:ln w="10515">
              <a:solidFill>
                <a:srgbClr val="77BAF4"/>
              </a:solidFill>
            </a:ln>
            <a:effectLst/>
          </p:spPr>
        </p:cxnSp>
        <p:cxnSp>
          <p:nvCxnSpPr>
            <p:cNvPr id="143" name="Grid row 3"/>
            <p:cNvCxnSpPr/>
            <p:nvPr/>
          </p:nvCxnSpPr>
          <p:spPr>
            <a:xfrm flipV="1">
              <a:off x="13414248" y="2082219"/>
              <a:ext cx="484632" cy="64008"/>
            </a:xfrm>
            <a:prstGeom prst="line">
              <a:avLst/>
            </a:prstGeom>
            <a:ln w="10515">
              <a:solidFill>
                <a:srgbClr val="77BAF4"/>
              </a:solidFill>
            </a:ln>
            <a:effectLst/>
          </p:spPr>
        </p:cxnSp>
        <p:cxnSp>
          <p:nvCxnSpPr>
            <p:cNvPr id="144" name="Grid column 4"/>
            <p:cNvCxnSpPr/>
            <p:nvPr/>
          </p:nvCxnSpPr>
          <p:spPr>
            <a:xfrm flipH="1">
              <a:off x="13606272" y="1975104"/>
              <a:ext cx="36576" cy="438912"/>
            </a:xfrm>
            <a:prstGeom prst="line">
              <a:avLst/>
            </a:prstGeom>
            <a:ln w="10515">
              <a:solidFill>
                <a:srgbClr val="77BAF4"/>
              </a:solidFill>
            </a:ln>
            <a:effectLst/>
          </p:spPr>
        </p:cxnSp>
        <p:cxnSp>
          <p:nvCxnSpPr>
            <p:cNvPr id="145" name="Grid row 4"/>
            <p:cNvCxnSpPr/>
            <p:nvPr/>
          </p:nvCxnSpPr>
          <p:spPr>
            <a:xfrm flipV="1">
              <a:off x="13414248" y="2135777"/>
              <a:ext cx="484632" cy="64008"/>
            </a:xfrm>
            <a:prstGeom prst="line">
              <a:avLst/>
            </a:prstGeom>
            <a:ln w="10515">
              <a:solidFill>
                <a:srgbClr val="77BAF4"/>
              </a:solidFill>
            </a:ln>
            <a:effectLst/>
          </p:spPr>
        </p:cxnSp>
        <p:cxnSp>
          <p:nvCxnSpPr>
            <p:cNvPr id="146" name="Grid column 5"/>
            <p:cNvCxnSpPr/>
            <p:nvPr/>
          </p:nvCxnSpPr>
          <p:spPr>
            <a:xfrm flipH="1">
              <a:off x="13670280" y="1975104"/>
              <a:ext cx="36576" cy="438912"/>
            </a:xfrm>
            <a:prstGeom prst="line">
              <a:avLst/>
            </a:prstGeom>
            <a:ln w="10515">
              <a:solidFill>
                <a:srgbClr val="77BAF4"/>
              </a:solidFill>
            </a:ln>
            <a:effectLst/>
          </p:spPr>
        </p:cxnSp>
        <p:cxnSp>
          <p:nvCxnSpPr>
            <p:cNvPr id="147" name="Grid row 5"/>
            <p:cNvCxnSpPr/>
            <p:nvPr/>
          </p:nvCxnSpPr>
          <p:spPr>
            <a:xfrm flipV="1">
              <a:off x="13414248" y="2189335"/>
              <a:ext cx="484632" cy="64008"/>
            </a:xfrm>
            <a:prstGeom prst="line">
              <a:avLst/>
            </a:prstGeom>
            <a:ln w="10515">
              <a:solidFill>
                <a:srgbClr val="77BAF4"/>
              </a:solidFill>
            </a:ln>
            <a:effectLst/>
          </p:spPr>
        </p:cxnSp>
        <p:cxnSp>
          <p:nvCxnSpPr>
            <p:cNvPr id="148" name="Grid column 6"/>
            <p:cNvCxnSpPr/>
            <p:nvPr/>
          </p:nvCxnSpPr>
          <p:spPr>
            <a:xfrm flipH="1">
              <a:off x="13734288" y="1975104"/>
              <a:ext cx="36576" cy="438912"/>
            </a:xfrm>
            <a:prstGeom prst="line">
              <a:avLst/>
            </a:prstGeom>
            <a:ln w="10515">
              <a:solidFill>
                <a:srgbClr val="77BAF4"/>
              </a:solidFill>
            </a:ln>
            <a:effectLst/>
          </p:spPr>
        </p:cxnSp>
        <p:cxnSp>
          <p:nvCxnSpPr>
            <p:cNvPr id="149" name="Grid row 6"/>
            <p:cNvCxnSpPr/>
            <p:nvPr/>
          </p:nvCxnSpPr>
          <p:spPr>
            <a:xfrm flipV="1">
              <a:off x="13414248" y="2242893"/>
              <a:ext cx="484632" cy="64008"/>
            </a:xfrm>
            <a:prstGeom prst="line">
              <a:avLst/>
            </a:prstGeom>
            <a:ln w="10515">
              <a:solidFill>
                <a:srgbClr val="77BAF4"/>
              </a:solidFill>
            </a:ln>
            <a:effectLst/>
          </p:spPr>
        </p:cxnSp>
        <p:cxnSp>
          <p:nvCxnSpPr>
            <p:cNvPr id="150" name="Grid column 7"/>
            <p:cNvCxnSpPr/>
            <p:nvPr/>
          </p:nvCxnSpPr>
          <p:spPr>
            <a:xfrm flipH="1">
              <a:off x="13798296" y="1975104"/>
              <a:ext cx="36576" cy="438912"/>
            </a:xfrm>
            <a:prstGeom prst="line">
              <a:avLst/>
            </a:prstGeom>
            <a:ln w="10515">
              <a:solidFill>
                <a:srgbClr val="77BAF4"/>
              </a:solidFill>
            </a:ln>
            <a:effectLst/>
          </p:spPr>
        </p:cxnSp>
        <p:cxnSp>
          <p:nvCxnSpPr>
            <p:cNvPr id="151" name="Grid row 7"/>
            <p:cNvCxnSpPr/>
            <p:nvPr/>
          </p:nvCxnSpPr>
          <p:spPr>
            <a:xfrm flipV="1">
              <a:off x="13414248" y="2296450"/>
              <a:ext cx="484632" cy="64008"/>
            </a:xfrm>
            <a:prstGeom prst="line">
              <a:avLst/>
            </a:prstGeom>
            <a:ln w="10515">
              <a:solidFill>
                <a:srgbClr val="77BAF4"/>
              </a:solidFill>
            </a:ln>
            <a:effectLst/>
          </p:spPr>
        </p:cxnSp>
        <p:cxnSp>
          <p:nvCxnSpPr>
            <p:cNvPr id="152" name="Grid column 8"/>
            <p:cNvCxnSpPr/>
            <p:nvPr/>
          </p:nvCxnSpPr>
          <p:spPr>
            <a:xfrm flipH="1">
              <a:off x="13862304" y="1975104"/>
              <a:ext cx="36576" cy="438912"/>
            </a:xfrm>
            <a:prstGeom prst="line">
              <a:avLst/>
            </a:prstGeom>
            <a:ln w="10515">
              <a:solidFill>
                <a:srgbClr val="77BAF4"/>
              </a:solidFill>
            </a:ln>
            <a:effectLst/>
          </p:spPr>
        </p:cxnSp>
        <p:cxnSp>
          <p:nvCxnSpPr>
            <p:cNvPr id="153" name="Grid row 8"/>
            <p:cNvCxnSpPr/>
            <p:nvPr/>
          </p:nvCxnSpPr>
          <p:spPr>
            <a:xfrm flipV="1">
              <a:off x="13414248" y="2350008"/>
              <a:ext cx="484632" cy="64008"/>
            </a:xfrm>
            <a:prstGeom prst="line">
              <a:avLst/>
            </a:prstGeom>
            <a:ln w="10515">
              <a:solidFill>
                <a:srgbClr val="77BAF4"/>
              </a:solidFill>
            </a:ln>
            <a:effectLst/>
          </p:spPr>
        </p:cxnSp>
        <p:cxnSp>
          <p:nvCxnSpPr>
            <p:cNvPr id="154" name="Grid top tick 1"/>
            <p:cNvCxnSpPr/>
            <p:nvPr/>
          </p:nvCxnSpPr>
          <p:spPr>
            <a:xfrm flipV="1">
              <a:off x="13450824" y="1965960"/>
              <a:ext cx="45720" cy="54864"/>
            </a:xfrm>
            <a:prstGeom prst="line">
              <a:avLst/>
            </a:prstGeom>
            <a:ln w="9144">
              <a:solidFill>
                <a:srgbClr val="77BAF4"/>
              </a:solidFill>
            </a:ln>
            <a:effectLst/>
          </p:spPr>
        </p:cxnSp>
        <p:cxnSp>
          <p:nvCxnSpPr>
            <p:cNvPr id="155" name="Grid top tick 2"/>
            <p:cNvCxnSpPr/>
            <p:nvPr/>
          </p:nvCxnSpPr>
          <p:spPr>
            <a:xfrm flipV="1">
              <a:off x="13514832" y="1965960"/>
              <a:ext cx="45720" cy="54864"/>
            </a:xfrm>
            <a:prstGeom prst="line">
              <a:avLst/>
            </a:prstGeom>
            <a:ln w="9144">
              <a:solidFill>
                <a:srgbClr val="77BAF4"/>
              </a:solidFill>
            </a:ln>
            <a:effectLst/>
          </p:spPr>
        </p:cxnSp>
        <p:cxnSp>
          <p:nvCxnSpPr>
            <p:cNvPr id="156" name="Grid top tick 3"/>
            <p:cNvCxnSpPr/>
            <p:nvPr/>
          </p:nvCxnSpPr>
          <p:spPr>
            <a:xfrm flipV="1">
              <a:off x="13578840" y="1965960"/>
              <a:ext cx="45720" cy="54864"/>
            </a:xfrm>
            <a:prstGeom prst="line">
              <a:avLst/>
            </a:prstGeom>
            <a:ln w="9144">
              <a:solidFill>
                <a:srgbClr val="77BAF4"/>
              </a:solidFill>
            </a:ln>
            <a:effectLst/>
          </p:spPr>
        </p:cxnSp>
        <p:cxnSp>
          <p:nvCxnSpPr>
            <p:cNvPr id="157" name="Grid top tick 4"/>
            <p:cNvCxnSpPr/>
            <p:nvPr/>
          </p:nvCxnSpPr>
          <p:spPr>
            <a:xfrm flipV="1">
              <a:off x="13642848" y="1965960"/>
              <a:ext cx="45720" cy="54864"/>
            </a:xfrm>
            <a:prstGeom prst="line">
              <a:avLst/>
            </a:prstGeom>
            <a:ln w="9144">
              <a:solidFill>
                <a:srgbClr val="77BAF4"/>
              </a:solidFill>
            </a:ln>
            <a:effectLst/>
          </p:spPr>
        </p:cxnSp>
        <p:cxnSp>
          <p:nvCxnSpPr>
            <p:cNvPr id="158" name="Grid top tick 5"/>
            <p:cNvCxnSpPr/>
            <p:nvPr/>
          </p:nvCxnSpPr>
          <p:spPr>
            <a:xfrm flipV="1">
              <a:off x="13706856" y="1965960"/>
              <a:ext cx="45720" cy="54864"/>
            </a:xfrm>
            <a:prstGeom prst="line">
              <a:avLst/>
            </a:prstGeom>
            <a:ln w="9144">
              <a:solidFill>
                <a:srgbClr val="77BAF4"/>
              </a:solidFill>
            </a:ln>
            <a:effectLst/>
          </p:spPr>
        </p:cxnSp>
        <p:cxnSp>
          <p:nvCxnSpPr>
            <p:cNvPr id="159" name="Grid top tick 6"/>
            <p:cNvCxnSpPr/>
            <p:nvPr/>
          </p:nvCxnSpPr>
          <p:spPr>
            <a:xfrm flipV="1">
              <a:off x="13770864" y="1965960"/>
              <a:ext cx="45720" cy="54864"/>
            </a:xfrm>
            <a:prstGeom prst="line">
              <a:avLst/>
            </a:prstGeom>
            <a:ln w="9144">
              <a:solidFill>
                <a:srgbClr val="77BAF4"/>
              </a:solidFill>
            </a:ln>
            <a:effectLst/>
          </p:spPr>
        </p:cxnSp>
        <p:cxnSp>
          <p:nvCxnSpPr>
            <p:cNvPr id="160" name="Grid top tick 7"/>
            <p:cNvCxnSpPr/>
            <p:nvPr/>
          </p:nvCxnSpPr>
          <p:spPr>
            <a:xfrm flipV="1">
              <a:off x="13834872" y="1965960"/>
              <a:ext cx="45720" cy="54864"/>
            </a:xfrm>
            <a:prstGeom prst="line">
              <a:avLst/>
            </a:prstGeom>
            <a:ln w="9144">
              <a:solidFill>
                <a:srgbClr val="77BAF4"/>
              </a:solidFill>
            </a:ln>
            <a:effectLst/>
          </p:spPr>
        </p:cxnSp>
      </p:grpSp>
      <p:sp>
        <p:nvSpPr>
          <p:cNvPr id="161" name="Coordinate pair"/>
          <p:cNvSpPr txBox="1"/>
          <p:nvPr/>
        </p:nvSpPr>
        <p:spPr>
          <a:xfrm>
            <a:off x="14045184" y="1965960"/>
            <a:ext cx="585216" cy="320040"/>
          </a:xfrm>
          <a:prstGeom prst="rect">
            <a:avLst/>
          </a:prstGeom>
          <a:noFill/>
        </p:spPr>
        <p:txBody>
          <a:bodyPr wrap="none" lIns="0" rIns="0" tIns="0" bIns="0" anchor="ctr">
            <a:noAutofit/>
          </a:bodyPr>
          <a:lstStyle/>
          <a:p>
            <a:pPr algn="ctr">
              <a:lnSpc>
                <a:spcPts val="1788"/>
              </a:lnSpc>
              <a:spcBef>
                <a:spcPts val="0"/>
              </a:spcBef>
              <a:spcAft>
                <a:spcPts val="0"/>
              </a:spcAft>
            </a:pPr>
            <a:r>
              <a:rPr sz="1655" b="0" i="1">
                <a:solidFill>
                  <a:srgbClr val="090909"/>
                </a:solidFill>
                <a:latin typeface="Times New Roman"/>
              </a:rPr>
              <a:t>(x, y)</a:t>
            </a:r>
          </a:p>
        </p:txBody>
      </p:sp>
      <p:cxnSp>
        <p:nvCxnSpPr>
          <p:cNvPr id="162" name="Coordinates to spatial reconstruction"/>
          <p:cNvCxnSpPr/>
          <p:nvPr/>
        </p:nvCxnSpPr>
        <p:spPr>
          <a:xfrm>
            <a:off x="13670280" y="2505456"/>
            <a:ext cx="0" cy="329184"/>
          </a:xfrm>
          <a:prstGeom prst="line">
            <a:avLst/>
          </a:prstGeom>
          <a:ln w="18288">
            <a:solidFill>
              <a:srgbClr val="090909"/>
            </a:solidFill>
            <a:tailEnd type="triangle" w="med" len="med"/>
          </a:ln>
          <a:effectLst/>
        </p:spPr>
      </p:cxnSp>
      <p:sp>
        <p:nvSpPr>
          <p:cNvPr id="163" name="Spatial reconstruction background"/>
          <p:cNvSpPr/>
          <p:nvPr/>
        </p:nvSpPr>
        <p:spPr>
          <a:xfrm>
            <a:off x="12865608" y="2889504"/>
            <a:ext cx="1636776" cy="649224"/>
          </a:xfrm>
          <a:prstGeom prst="roundRect">
            <a:avLst>
              <a:gd name="adj" fmla="val 12676"/>
            </a:avLst>
          </a:prstGeom>
          <a:gradFill rotWithShape="1">
            <a:gsLst>
              <a:gs pos="0">
                <a:srgbClr val="FFF7DE"/>
              </a:gs>
              <a:gs pos="55000">
                <a:srgbClr val="FFEFC0"/>
              </a:gs>
              <a:gs pos="100000">
                <a:srgbClr val="FFF7DF"/>
              </a:gs>
            </a:gsLst>
            <a:lin ang="5400000" scaled="1"/>
          </a:gradFill>
          <a:ln w="11887">
            <a:solidFill>
              <a:srgbClr val="E6B523"/>
            </a:solidFill>
          </a:ln>
          <a:effectLst/>
        </p:spPr>
        <p:txBody>
          <a:bodyPr rtlCol="0" anchor="ctr"/>
          <a:lstStyle/>
          <a:p>
            <a:pPr algn="ctr"/>
          </a:p>
        </p:txBody>
      </p:sp>
      <p:sp>
        <p:nvSpPr>
          <p:cNvPr id="164" name="Spatial reconstruction label"/>
          <p:cNvSpPr txBox="1"/>
          <p:nvPr/>
        </p:nvSpPr>
        <p:spPr>
          <a:xfrm>
            <a:off x="12893040" y="2907792"/>
            <a:ext cx="1581912" cy="612648"/>
          </a:xfrm>
          <a:prstGeom prst="rect">
            <a:avLst/>
          </a:prstGeom>
          <a:noFill/>
        </p:spPr>
        <p:txBody>
          <a:bodyPr wrap="none" lIns="0" rIns="0" tIns="0" bIns="0" anchor="ctr">
            <a:noAutofit/>
          </a:bodyPr>
          <a:lstStyle/>
          <a:p>
            <a:pPr algn="ctr">
              <a:lnSpc>
                <a:spcPts val="1632"/>
              </a:lnSpc>
              <a:spcBef>
                <a:spcPts val="0"/>
              </a:spcBef>
              <a:spcAft>
                <a:spcPts val="0"/>
              </a:spcAft>
            </a:pPr>
            <a:r>
              <a:rPr sz="1512" b="1" i="0">
                <a:solidFill>
                  <a:srgbClr val="090909"/>
                </a:solidFill>
                <a:latin typeface="Arial"/>
              </a:rPr>
              <a:t>Spatial</a:t>
            </a:r>
          </a:p>
          <a:p>
            <a:pPr algn="ctr">
              <a:lnSpc>
                <a:spcPts val="1632"/>
              </a:lnSpc>
              <a:spcBef>
                <a:spcPts val="0"/>
              </a:spcBef>
              <a:spcAft>
                <a:spcPts val="0"/>
              </a:spcAft>
            </a:pPr>
            <a:r>
              <a:rPr sz="1512" b="1" i="0">
                <a:solidFill>
                  <a:srgbClr val="090909"/>
                </a:solidFill>
                <a:latin typeface="Arial"/>
              </a:rPr>
              <a:t>reconstruction</a:t>
            </a:r>
          </a:p>
        </p:txBody>
      </p:sp>
      <p:cxnSp>
        <p:nvCxnSpPr>
          <p:cNvPr id="165" name="Reconstruction to feature field"/>
          <p:cNvCxnSpPr/>
          <p:nvPr/>
        </p:nvCxnSpPr>
        <p:spPr>
          <a:xfrm>
            <a:off x="14557248" y="3218688"/>
            <a:ext cx="649224" cy="0"/>
          </a:xfrm>
          <a:prstGeom prst="line">
            <a:avLst/>
          </a:prstGeom>
          <a:ln w="18288">
            <a:solidFill>
              <a:srgbClr val="090909"/>
            </a:solidFill>
            <a:tailEnd type="triangle" w="med" len="med"/>
          </a:ln>
          <a:effectLst/>
        </p:spPr>
      </p:cxnSp>
      <p:sp>
        <p:nvSpPr>
          <p:cNvPr id="166" name="Reconstructed feature field heading"/>
          <p:cNvSpPr txBox="1"/>
          <p:nvPr/>
        </p:nvSpPr>
        <p:spPr>
          <a:xfrm>
            <a:off x="14968728" y="2194560"/>
            <a:ext cx="1700784" cy="484632"/>
          </a:xfrm>
          <a:prstGeom prst="rect">
            <a:avLst/>
          </a:prstGeom>
          <a:noFill/>
        </p:spPr>
        <p:txBody>
          <a:bodyPr wrap="none" lIns="0" rIns="0" tIns="0" bIns="0" anchor="ctr">
            <a:noAutofit/>
          </a:bodyPr>
          <a:lstStyle/>
          <a:p>
            <a:pPr algn="ctr">
              <a:lnSpc>
                <a:spcPts val="1632"/>
              </a:lnSpc>
              <a:spcBef>
                <a:spcPts val="0"/>
              </a:spcBef>
              <a:spcAft>
                <a:spcPts val="0"/>
              </a:spcAft>
            </a:pPr>
            <a:r>
              <a:rPr sz="1512" b="1" i="0">
                <a:solidFill>
                  <a:srgbClr val="090909"/>
                </a:solidFill>
                <a:latin typeface="Arial"/>
              </a:rPr>
              <a:t>Reconstructed</a:t>
            </a:r>
          </a:p>
          <a:p>
            <a:pPr algn="ctr">
              <a:lnSpc>
                <a:spcPts val="1632"/>
              </a:lnSpc>
              <a:spcBef>
                <a:spcPts val="0"/>
              </a:spcBef>
              <a:spcAft>
                <a:spcPts val="0"/>
              </a:spcAft>
            </a:pPr>
            <a:r>
              <a:rPr sz="1512" b="1" i="0">
                <a:solidFill>
                  <a:srgbClr val="090909"/>
                </a:solidFill>
                <a:latin typeface="Arial"/>
              </a:rPr>
              <a:t>feature field</a:t>
            </a:r>
          </a:p>
        </p:txBody>
      </p:sp>
      <p:grpSp>
        <p:nvGrpSpPr>
          <p:cNvPr id="167" name="Reconstructed plane 1"/>
          <p:cNvGrpSpPr/>
          <p:nvPr/>
        </p:nvGrpSpPr>
        <p:grpSpPr>
          <a:xfrm>
            <a:off x="15261336" y="2761488"/>
            <a:ext cx="384048" cy="832104"/>
            <a:chOff x="15261336" y="2761488"/>
            <a:chExt cx="384048" cy="832104"/>
          </a:xfrm>
        </p:grpSpPr>
        <p:sp>
          <p:nvSpPr>
            <p:cNvPr id="168" name="Reconstructed plane 1 thickness"/>
            <p:cNvSpPr/>
            <p:nvPr/>
          </p:nvSpPr>
          <p:spPr>
            <a:xfrm>
              <a:off x="15261336" y="3008376"/>
              <a:ext cx="45720" cy="585216"/>
            </a:xfrm>
            <a:custGeom>
              <a:avLst/>
              <a:gdLst/>
              <a:ahLst/>
              <a:cxnLst/>
              <a:rect l="0" t="0" r="r" b="b"/>
              <a:pathLst>
                <a:path w="5000" h="64000">
                  <a:moveTo>
                    <a:pt x="0" y="2000"/>
                  </a:moveTo>
                  <a:lnTo>
                    <a:pt x="5000" y="0"/>
                  </a:lnTo>
                  <a:lnTo>
                    <a:pt x="5000" y="64000"/>
                  </a:lnTo>
                  <a:lnTo>
                    <a:pt x="0" y="62000"/>
                  </a:lnTo>
                  <a:close/>
                </a:path>
              </a:pathLst>
            </a:custGeom>
            <a:solidFill>
              <a:srgbClr val="9DA6B5"/>
            </a:solidFill>
            <a:ln w="6400">
              <a:solidFill>
                <a:srgbClr val="83718D"/>
              </a:solidFill>
            </a:ln>
            <a:effectLst/>
          </p:spPr>
          <p:txBody>
            <a:bodyPr rtlCol="0" anchor="ctr"/>
            <a:lstStyle/>
            <a:p>
              <a:pPr algn="ctr"/>
            </a:p>
          </p:txBody>
        </p:sp>
        <p:pic>
          <p:nvPicPr>
            <p:cNvPr id="169" name="Reconstructed plane 1 illustrative field" descr="image.png"/>
            <p:cNvPicPr>
              <a:picLocks noChangeAspect="1"/>
            </p:cNvPicPr>
            <p:nvPr/>
          </p:nvPicPr>
          <p:blipFill>
            <a:blip r:embed="rId3"/>
            <a:stretch>
              <a:fillRect/>
            </a:stretch>
          </p:blipFill>
          <p:spPr>
            <a:xfrm>
              <a:off x="15307056" y="2761488"/>
              <a:ext cx="338328" cy="832104"/>
            </a:xfrm>
            <a:prstGeom prst="rect">
              <a:avLst/>
            </a:prstGeom>
          </p:spPr>
        </p:pic>
        <p:sp>
          <p:nvSpPr>
            <p:cNvPr id="170" name="Reconstructed plane 1 outline"/>
            <p:cNvSpPr/>
            <p:nvPr/>
          </p:nvSpPr>
          <p:spPr>
            <a:xfrm>
              <a:off x="15307056" y="2761488"/>
              <a:ext cx="338328" cy="832104"/>
            </a:xfrm>
            <a:custGeom>
              <a:avLst/>
              <a:gdLst/>
              <a:ahLst/>
              <a:cxnLst/>
              <a:rect l="0" t="0" r="r" b="b"/>
              <a:pathLst>
                <a:path w="37000" h="91000">
                  <a:moveTo>
                    <a:pt x="0" y="27000"/>
                  </a:moveTo>
                  <a:lnTo>
                    <a:pt x="37000" y="0"/>
                  </a:lnTo>
                  <a:lnTo>
                    <a:pt x="37000" y="64000"/>
                  </a:lnTo>
                  <a:lnTo>
                    <a:pt x="0" y="91000"/>
                  </a:lnTo>
                  <a:close/>
                </a:path>
              </a:pathLst>
            </a:custGeom>
            <a:noFill/>
            <a:ln w="5943">
              <a:solidFill>
                <a:srgbClr val="56718B"/>
              </a:solidFill>
            </a:ln>
            <a:effectLst/>
          </p:spPr>
          <p:txBody>
            <a:bodyPr rtlCol="0" anchor="ctr"/>
            <a:lstStyle/>
            <a:p>
              <a:pPr algn="ctr"/>
            </a:p>
          </p:txBody>
        </p:sp>
      </p:grpSp>
      <p:grpSp>
        <p:nvGrpSpPr>
          <p:cNvPr id="171" name="Reconstructed plane 2"/>
          <p:cNvGrpSpPr/>
          <p:nvPr/>
        </p:nvGrpSpPr>
        <p:grpSpPr>
          <a:xfrm>
            <a:off x="15462504" y="2779776"/>
            <a:ext cx="384048" cy="832104"/>
            <a:chOff x="15462504" y="2779776"/>
            <a:chExt cx="384048" cy="832104"/>
          </a:xfrm>
        </p:grpSpPr>
        <p:sp>
          <p:nvSpPr>
            <p:cNvPr id="172" name="Reconstructed plane 2 thickness"/>
            <p:cNvSpPr/>
            <p:nvPr/>
          </p:nvSpPr>
          <p:spPr>
            <a:xfrm>
              <a:off x="15462504" y="3026664"/>
              <a:ext cx="45720" cy="585216"/>
            </a:xfrm>
            <a:custGeom>
              <a:avLst/>
              <a:gdLst/>
              <a:ahLst/>
              <a:cxnLst/>
              <a:rect l="0" t="0" r="r" b="b"/>
              <a:pathLst>
                <a:path w="5000" h="64000">
                  <a:moveTo>
                    <a:pt x="0" y="2000"/>
                  </a:moveTo>
                  <a:lnTo>
                    <a:pt x="5000" y="0"/>
                  </a:lnTo>
                  <a:lnTo>
                    <a:pt x="5000" y="64000"/>
                  </a:lnTo>
                  <a:lnTo>
                    <a:pt x="0" y="62000"/>
                  </a:lnTo>
                  <a:close/>
                </a:path>
              </a:pathLst>
            </a:custGeom>
            <a:solidFill>
              <a:srgbClr val="9DA6B5"/>
            </a:solidFill>
            <a:ln w="6400">
              <a:solidFill>
                <a:srgbClr val="83718D"/>
              </a:solidFill>
            </a:ln>
            <a:effectLst/>
          </p:spPr>
          <p:txBody>
            <a:bodyPr rtlCol="0" anchor="ctr"/>
            <a:lstStyle/>
            <a:p>
              <a:pPr algn="ctr"/>
            </a:p>
          </p:txBody>
        </p:sp>
        <p:pic>
          <p:nvPicPr>
            <p:cNvPr id="173" name="Reconstructed plane 2 illustrative field" descr="image.png"/>
            <p:cNvPicPr>
              <a:picLocks noChangeAspect="1"/>
            </p:cNvPicPr>
            <p:nvPr/>
          </p:nvPicPr>
          <p:blipFill>
            <a:blip r:embed="rId4"/>
            <a:stretch>
              <a:fillRect/>
            </a:stretch>
          </p:blipFill>
          <p:spPr>
            <a:xfrm>
              <a:off x="15508224" y="2779776"/>
              <a:ext cx="338328" cy="832104"/>
            </a:xfrm>
            <a:prstGeom prst="rect">
              <a:avLst/>
            </a:prstGeom>
          </p:spPr>
        </p:pic>
        <p:sp>
          <p:nvSpPr>
            <p:cNvPr id="174" name="Reconstructed plane 2 outline"/>
            <p:cNvSpPr/>
            <p:nvPr/>
          </p:nvSpPr>
          <p:spPr>
            <a:xfrm>
              <a:off x="15508224" y="2779776"/>
              <a:ext cx="338328" cy="832104"/>
            </a:xfrm>
            <a:custGeom>
              <a:avLst/>
              <a:gdLst/>
              <a:ahLst/>
              <a:cxnLst/>
              <a:rect l="0" t="0" r="r" b="b"/>
              <a:pathLst>
                <a:path w="37000" h="91000">
                  <a:moveTo>
                    <a:pt x="0" y="27000"/>
                  </a:moveTo>
                  <a:lnTo>
                    <a:pt x="37000" y="0"/>
                  </a:lnTo>
                  <a:lnTo>
                    <a:pt x="37000" y="64000"/>
                  </a:lnTo>
                  <a:lnTo>
                    <a:pt x="0" y="91000"/>
                  </a:lnTo>
                  <a:close/>
                </a:path>
              </a:pathLst>
            </a:custGeom>
            <a:noFill/>
            <a:ln w="5943">
              <a:solidFill>
                <a:srgbClr val="56718B"/>
              </a:solidFill>
            </a:ln>
            <a:effectLst/>
          </p:spPr>
          <p:txBody>
            <a:bodyPr rtlCol="0" anchor="ctr"/>
            <a:lstStyle/>
            <a:p>
              <a:pPr algn="ctr"/>
            </a:p>
          </p:txBody>
        </p:sp>
      </p:grpSp>
      <p:grpSp>
        <p:nvGrpSpPr>
          <p:cNvPr id="175" name="Reconstructed plane 3"/>
          <p:cNvGrpSpPr/>
          <p:nvPr/>
        </p:nvGrpSpPr>
        <p:grpSpPr>
          <a:xfrm>
            <a:off x="15663672" y="2798064"/>
            <a:ext cx="384048" cy="832104"/>
            <a:chOff x="15663672" y="2798064"/>
            <a:chExt cx="384048" cy="832104"/>
          </a:xfrm>
        </p:grpSpPr>
        <p:sp>
          <p:nvSpPr>
            <p:cNvPr id="176" name="Reconstructed plane 3 thickness"/>
            <p:cNvSpPr/>
            <p:nvPr/>
          </p:nvSpPr>
          <p:spPr>
            <a:xfrm>
              <a:off x="15663672" y="3044952"/>
              <a:ext cx="45720" cy="585216"/>
            </a:xfrm>
            <a:custGeom>
              <a:avLst/>
              <a:gdLst/>
              <a:ahLst/>
              <a:cxnLst/>
              <a:rect l="0" t="0" r="r" b="b"/>
              <a:pathLst>
                <a:path w="5000" h="64000">
                  <a:moveTo>
                    <a:pt x="0" y="2000"/>
                  </a:moveTo>
                  <a:lnTo>
                    <a:pt x="5000" y="0"/>
                  </a:lnTo>
                  <a:lnTo>
                    <a:pt x="5000" y="64000"/>
                  </a:lnTo>
                  <a:lnTo>
                    <a:pt x="0" y="62000"/>
                  </a:lnTo>
                  <a:close/>
                </a:path>
              </a:pathLst>
            </a:custGeom>
            <a:solidFill>
              <a:srgbClr val="9DA6B5"/>
            </a:solidFill>
            <a:ln w="6400">
              <a:solidFill>
                <a:srgbClr val="83718D"/>
              </a:solidFill>
            </a:ln>
            <a:effectLst/>
          </p:spPr>
          <p:txBody>
            <a:bodyPr rtlCol="0" anchor="ctr"/>
            <a:lstStyle/>
            <a:p>
              <a:pPr algn="ctr"/>
            </a:p>
          </p:txBody>
        </p:sp>
        <p:pic>
          <p:nvPicPr>
            <p:cNvPr id="177" name="Reconstructed plane 3 illustrative field" descr="image.png"/>
            <p:cNvPicPr>
              <a:picLocks noChangeAspect="1"/>
            </p:cNvPicPr>
            <p:nvPr/>
          </p:nvPicPr>
          <p:blipFill>
            <a:blip r:embed="rId5"/>
            <a:stretch>
              <a:fillRect/>
            </a:stretch>
          </p:blipFill>
          <p:spPr>
            <a:xfrm>
              <a:off x="15709392" y="2798064"/>
              <a:ext cx="338328" cy="832104"/>
            </a:xfrm>
            <a:prstGeom prst="rect">
              <a:avLst/>
            </a:prstGeom>
          </p:spPr>
        </p:pic>
        <p:sp>
          <p:nvSpPr>
            <p:cNvPr id="178" name="Reconstructed plane 3 outline"/>
            <p:cNvSpPr/>
            <p:nvPr/>
          </p:nvSpPr>
          <p:spPr>
            <a:xfrm>
              <a:off x="15709392" y="2798064"/>
              <a:ext cx="338328" cy="832104"/>
            </a:xfrm>
            <a:custGeom>
              <a:avLst/>
              <a:gdLst/>
              <a:ahLst/>
              <a:cxnLst/>
              <a:rect l="0" t="0" r="r" b="b"/>
              <a:pathLst>
                <a:path w="37000" h="91000">
                  <a:moveTo>
                    <a:pt x="0" y="27000"/>
                  </a:moveTo>
                  <a:lnTo>
                    <a:pt x="37000" y="0"/>
                  </a:lnTo>
                  <a:lnTo>
                    <a:pt x="37000" y="64000"/>
                  </a:lnTo>
                  <a:lnTo>
                    <a:pt x="0" y="91000"/>
                  </a:lnTo>
                  <a:close/>
                </a:path>
              </a:pathLst>
            </a:custGeom>
            <a:noFill/>
            <a:ln w="5943">
              <a:solidFill>
                <a:srgbClr val="56718B"/>
              </a:solidFill>
            </a:ln>
            <a:effectLst/>
          </p:spPr>
          <p:txBody>
            <a:bodyPr rtlCol="0" anchor="ctr"/>
            <a:lstStyle/>
            <a:p>
              <a:pPr algn="ctr"/>
            </a:p>
          </p:txBody>
        </p:sp>
      </p:grpSp>
      <p:cxnSp>
        <p:nvCxnSpPr>
          <p:cNvPr id="179" name="Reconstructed features to alignment"/>
          <p:cNvCxnSpPr/>
          <p:nvPr/>
        </p:nvCxnSpPr>
        <p:spPr>
          <a:xfrm>
            <a:off x="15736824" y="3694176"/>
            <a:ext cx="0" cy="612648"/>
          </a:xfrm>
          <a:prstGeom prst="line">
            <a:avLst/>
          </a:prstGeom>
          <a:ln w="18288">
            <a:solidFill>
              <a:srgbClr val="090909"/>
            </a:solidFill>
            <a:tailEnd type="triangle" w="med" len="med"/>
          </a:ln>
          <a:effectLst/>
        </p:spPr>
      </p:cxnSp>
      <p:sp>
        <p:nvSpPr>
          <p:cNvPr id="180" name="Image and crops heading"/>
          <p:cNvSpPr txBox="1"/>
          <p:nvPr/>
        </p:nvSpPr>
        <p:spPr>
          <a:xfrm>
            <a:off x="11073384" y="4389120"/>
            <a:ext cx="1289304" cy="292608"/>
          </a:xfrm>
          <a:prstGeom prst="rect">
            <a:avLst/>
          </a:prstGeom>
          <a:noFill/>
        </p:spPr>
        <p:txBody>
          <a:bodyPr wrap="none" lIns="0" rIns="0" tIns="0" bIns="0" anchor="ctr">
            <a:noAutofit/>
          </a:bodyPr>
          <a:lstStyle/>
          <a:p>
            <a:pPr algn="l">
              <a:lnSpc>
                <a:spcPts val="1555"/>
              </a:lnSpc>
              <a:spcBef>
                <a:spcPts val="0"/>
              </a:spcBef>
              <a:spcAft>
                <a:spcPts val="0"/>
              </a:spcAft>
            </a:pPr>
            <a:r>
              <a:rPr sz="1439" b="1" i="0">
                <a:solidFill>
                  <a:srgbClr val="090909"/>
                </a:solidFill>
                <a:latin typeface="Arial"/>
              </a:rPr>
              <a:t>Image + crops</a:t>
            </a:r>
          </a:p>
        </p:txBody>
      </p:sp>
      <p:pic>
        <p:nvPicPr>
          <p:cNvPr id="181" name="Teacher input CXR" descr="image.png"/>
          <p:cNvPicPr>
            <a:picLocks noChangeAspect="1"/>
          </p:cNvPicPr>
          <p:nvPr/>
        </p:nvPicPr>
        <p:blipFill>
          <a:blip r:embed="rId6"/>
          <a:stretch>
            <a:fillRect/>
          </a:stretch>
        </p:blipFill>
        <p:spPr>
          <a:xfrm>
            <a:off x="11082528" y="4745736"/>
            <a:ext cx="694944" cy="877824"/>
          </a:xfrm>
          <a:prstGeom prst="rect">
            <a:avLst/>
          </a:prstGeom>
        </p:spPr>
      </p:pic>
      <p:pic>
        <p:nvPicPr>
          <p:cNvPr id="182" name="CXR crop 1" descr="image.png"/>
          <p:cNvPicPr>
            <a:picLocks noChangeAspect="1"/>
          </p:cNvPicPr>
          <p:nvPr/>
        </p:nvPicPr>
        <p:blipFill>
          <a:blip r:embed="rId7"/>
          <a:stretch>
            <a:fillRect/>
          </a:stretch>
        </p:blipFill>
        <p:spPr>
          <a:xfrm>
            <a:off x="11878056" y="4754880"/>
            <a:ext cx="347472" cy="393192"/>
          </a:xfrm>
          <a:prstGeom prst="rect">
            <a:avLst/>
          </a:prstGeom>
        </p:spPr>
      </p:pic>
      <p:pic>
        <p:nvPicPr>
          <p:cNvPr id="183" name="CXR crop 2" descr="image.png"/>
          <p:cNvPicPr>
            <a:picLocks noChangeAspect="1"/>
          </p:cNvPicPr>
          <p:nvPr/>
        </p:nvPicPr>
        <p:blipFill>
          <a:blip r:embed="rId8"/>
          <a:stretch>
            <a:fillRect/>
          </a:stretch>
        </p:blipFill>
        <p:spPr>
          <a:xfrm>
            <a:off x="11878056" y="5248656"/>
            <a:ext cx="347472" cy="393192"/>
          </a:xfrm>
          <a:prstGeom prst="rect">
            <a:avLst/>
          </a:prstGeom>
        </p:spPr>
      </p:pic>
      <p:cxnSp>
        <p:nvCxnSpPr>
          <p:cNvPr id="184" name="CXR crops to teacher"/>
          <p:cNvCxnSpPr/>
          <p:nvPr/>
        </p:nvCxnSpPr>
        <p:spPr>
          <a:xfrm>
            <a:off x="12289536" y="5148072"/>
            <a:ext cx="246888" cy="0"/>
          </a:xfrm>
          <a:prstGeom prst="line">
            <a:avLst/>
          </a:prstGeom>
          <a:ln w="17373">
            <a:solidFill>
              <a:srgbClr val="090909"/>
            </a:solidFill>
            <a:tailEnd type="triangle" w="med" len="med"/>
          </a:ln>
          <a:effectLst/>
        </p:spPr>
      </p:cxnSp>
      <p:sp>
        <p:nvSpPr>
          <p:cNvPr id="185" name="Frozen teacher trapezoid"/>
          <p:cNvSpPr/>
          <p:nvPr/>
        </p:nvSpPr>
        <p:spPr>
          <a:xfrm>
            <a:off x="12582144" y="4645152"/>
            <a:ext cx="969264" cy="1042416"/>
          </a:xfrm>
          <a:custGeom>
            <a:avLst/>
            <a:gdLst/>
            <a:ahLst/>
            <a:cxnLst/>
            <a:rect l="0" t="0" r="r" b="b"/>
            <a:pathLst>
              <a:path w="106000" h="114000">
                <a:moveTo>
                  <a:pt x="0" y="0"/>
                </a:moveTo>
                <a:lnTo>
                  <a:pt x="106000" y="26000"/>
                </a:lnTo>
                <a:lnTo>
                  <a:pt x="106000" y="91000"/>
                </a:lnTo>
                <a:lnTo>
                  <a:pt x="0" y="114000"/>
                </a:lnTo>
                <a:close/>
              </a:path>
            </a:pathLst>
          </a:custGeom>
          <a:gradFill rotWithShape="1">
            <a:gsLst>
              <a:gs pos="0">
                <a:srgbClr val="E3F2FD"/>
              </a:gs>
              <a:gs pos="100000">
                <a:srgbClr val="ACD9F5"/>
              </a:gs>
            </a:gsLst>
            <a:lin ang="5400000" scaled="1"/>
          </a:gradFill>
          <a:ln w="14630">
            <a:solidFill>
              <a:srgbClr val="3B8BDD"/>
            </a:solidFill>
          </a:ln>
          <a:effectLst/>
        </p:spPr>
        <p:txBody>
          <a:bodyPr rtlCol="0" anchor="ctr"/>
          <a:lstStyle/>
          <a:p>
            <a:pPr algn="ctr"/>
          </a:p>
        </p:txBody>
      </p:sp>
      <p:sp>
        <p:nvSpPr>
          <p:cNvPr id="186" name="Frozen teacher label"/>
          <p:cNvSpPr txBox="1"/>
          <p:nvPr/>
        </p:nvSpPr>
        <p:spPr>
          <a:xfrm>
            <a:off x="12637008" y="4864608"/>
            <a:ext cx="694944" cy="594360"/>
          </a:xfrm>
          <a:prstGeom prst="rect">
            <a:avLst/>
          </a:prstGeom>
          <a:noFill/>
        </p:spPr>
        <p:txBody>
          <a:bodyPr wrap="none" lIns="0" rIns="0" tIns="0" bIns="0" anchor="ctr">
            <a:noAutofit/>
          </a:bodyPr>
          <a:lstStyle/>
          <a:p>
            <a:pPr algn="ctr">
              <a:lnSpc>
                <a:spcPts val="1425"/>
              </a:lnSpc>
              <a:spcBef>
                <a:spcPts val="0"/>
              </a:spcBef>
              <a:spcAft>
                <a:spcPts val="0"/>
              </a:spcAft>
            </a:pPr>
            <a:r>
              <a:rPr sz="1296" b="0" i="0">
                <a:solidFill>
                  <a:srgbClr val="090909"/>
                </a:solidFill>
                <a:latin typeface="Arial"/>
              </a:rPr>
              <a:t>Frozen</a:t>
            </a:r>
          </a:p>
          <a:p>
            <a:pPr algn="ctr">
              <a:lnSpc>
                <a:spcPts val="1425"/>
              </a:lnSpc>
              <a:spcBef>
                <a:spcPts val="0"/>
              </a:spcBef>
              <a:spcAft>
                <a:spcPts val="0"/>
              </a:spcAft>
            </a:pPr>
            <a:r>
              <a:rPr sz="1296" b="0" i="0">
                <a:solidFill>
                  <a:srgbClr val="090909"/>
                </a:solidFill>
                <a:latin typeface="Arial"/>
              </a:rPr>
              <a:t>vision</a:t>
            </a:r>
          </a:p>
          <a:p>
            <a:pPr algn="ctr">
              <a:lnSpc>
                <a:spcPts val="1425"/>
              </a:lnSpc>
              <a:spcBef>
                <a:spcPts val="0"/>
              </a:spcBef>
              <a:spcAft>
                <a:spcPts val="0"/>
              </a:spcAft>
            </a:pPr>
            <a:r>
              <a:rPr sz="1296" b="0" i="0">
                <a:solidFill>
                  <a:srgbClr val="090909"/>
                </a:solidFill>
                <a:latin typeface="Arial"/>
              </a:rPr>
              <a:t>teacher</a:t>
            </a:r>
          </a:p>
        </p:txBody>
      </p:sp>
      <p:grpSp>
        <p:nvGrpSpPr>
          <p:cNvPr id="187" name="Frozen teacher snowflake"/>
          <p:cNvGrpSpPr/>
          <p:nvPr/>
        </p:nvGrpSpPr>
        <p:grpSpPr>
          <a:xfrm>
            <a:off x="13267944" y="5251763"/>
            <a:ext cx="182880" cy="158378"/>
            <a:chOff x="13267944" y="5251763"/>
            <a:chExt cx="182880" cy="158378"/>
          </a:xfrm>
        </p:grpSpPr>
        <p:cxnSp>
          <p:nvCxnSpPr>
            <p:cNvPr id="188" name="Snowflake spoke 1"/>
            <p:cNvCxnSpPr/>
            <p:nvPr/>
          </p:nvCxnSpPr>
          <p:spPr>
            <a:xfrm>
              <a:off x="13359384" y="5330952"/>
              <a:ext cx="91440" cy="0"/>
            </a:xfrm>
            <a:prstGeom prst="line">
              <a:avLst/>
            </a:prstGeom>
            <a:ln w="14630">
              <a:solidFill>
                <a:srgbClr val="0876C7"/>
              </a:solidFill>
            </a:ln>
            <a:effectLst/>
          </p:spPr>
        </p:cxnSp>
        <p:cxnSp>
          <p:nvCxnSpPr>
            <p:cNvPr id="189" name="Snowflake branch 1 -1"/>
            <p:cNvCxnSpPr/>
            <p:nvPr/>
          </p:nvCxnSpPr>
          <p:spPr>
            <a:xfrm flipV="1">
              <a:off x="13414248" y="5303520"/>
              <a:ext cx="13716" cy="27432"/>
            </a:xfrm>
            <a:prstGeom prst="line">
              <a:avLst/>
            </a:prstGeom>
            <a:ln w="12801">
              <a:solidFill>
                <a:srgbClr val="0876C7"/>
              </a:solidFill>
            </a:ln>
            <a:effectLst/>
          </p:spPr>
        </p:cxnSp>
        <p:cxnSp>
          <p:nvCxnSpPr>
            <p:cNvPr id="190" name="Snowflake branch 1 1"/>
            <p:cNvCxnSpPr/>
            <p:nvPr/>
          </p:nvCxnSpPr>
          <p:spPr>
            <a:xfrm>
              <a:off x="13414248" y="5330952"/>
              <a:ext cx="13716" cy="27432"/>
            </a:xfrm>
            <a:prstGeom prst="line">
              <a:avLst/>
            </a:prstGeom>
            <a:ln w="12801">
              <a:solidFill>
                <a:srgbClr val="0876C7"/>
              </a:solidFill>
            </a:ln>
            <a:effectLst/>
          </p:spPr>
        </p:cxnSp>
        <p:cxnSp>
          <p:nvCxnSpPr>
            <p:cNvPr id="191" name="Snowflake spoke 2"/>
            <p:cNvCxnSpPr/>
            <p:nvPr/>
          </p:nvCxnSpPr>
          <p:spPr>
            <a:xfrm>
              <a:off x="13359384" y="5330952"/>
              <a:ext cx="45720" cy="79189"/>
            </a:xfrm>
            <a:prstGeom prst="line">
              <a:avLst/>
            </a:prstGeom>
            <a:ln w="14630">
              <a:solidFill>
                <a:srgbClr val="0876C7"/>
              </a:solidFill>
            </a:ln>
            <a:effectLst/>
          </p:spPr>
        </p:cxnSp>
        <p:cxnSp>
          <p:nvCxnSpPr>
            <p:cNvPr id="192" name="Snowflake branch 2 -1"/>
            <p:cNvCxnSpPr/>
            <p:nvPr/>
          </p:nvCxnSpPr>
          <p:spPr>
            <a:xfrm flipV="1">
              <a:off x="13386816" y="5376628"/>
              <a:ext cx="30615" cy="1838"/>
            </a:xfrm>
            <a:prstGeom prst="line">
              <a:avLst/>
            </a:prstGeom>
            <a:ln w="12801">
              <a:solidFill>
                <a:srgbClr val="0876C7"/>
              </a:solidFill>
            </a:ln>
            <a:effectLst/>
          </p:spPr>
        </p:cxnSp>
        <p:cxnSp>
          <p:nvCxnSpPr>
            <p:cNvPr id="193" name="Snowflake branch 2 1"/>
            <p:cNvCxnSpPr/>
            <p:nvPr/>
          </p:nvCxnSpPr>
          <p:spPr>
            <a:xfrm flipH="1">
              <a:off x="13369917" y="5378466"/>
              <a:ext cx="16899" cy="25594"/>
            </a:xfrm>
            <a:prstGeom prst="line">
              <a:avLst/>
            </a:prstGeom>
            <a:ln w="12801">
              <a:solidFill>
                <a:srgbClr val="0876C7"/>
              </a:solidFill>
            </a:ln>
            <a:effectLst/>
          </p:spPr>
        </p:cxnSp>
        <p:cxnSp>
          <p:nvCxnSpPr>
            <p:cNvPr id="194" name="Snowflake spoke 3"/>
            <p:cNvCxnSpPr/>
            <p:nvPr/>
          </p:nvCxnSpPr>
          <p:spPr>
            <a:xfrm flipH="1">
              <a:off x="13313664" y="5330952"/>
              <a:ext cx="45720" cy="79189"/>
            </a:xfrm>
            <a:prstGeom prst="line">
              <a:avLst/>
            </a:prstGeom>
            <a:ln w="14630">
              <a:solidFill>
                <a:srgbClr val="0876C7"/>
              </a:solidFill>
            </a:ln>
            <a:effectLst/>
          </p:spPr>
        </p:cxnSp>
        <p:cxnSp>
          <p:nvCxnSpPr>
            <p:cNvPr id="195" name="Snowflake branch 3 -1"/>
            <p:cNvCxnSpPr/>
            <p:nvPr/>
          </p:nvCxnSpPr>
          <p:spPr>
            <a:xfrm>
              <a:off x="13331952" y="5378466"/>
              <a:ext cx="16899" cy="25594"/>
            </a:xfrm>
            <a:prstGeom prst="line">
              <a:avLst/>
            </a:prstGeom>
            <a:ln w="12801">
              <a:solidFill>
                <a:srgbClr val="0876C7"/>
              </a:solidFill>
            </a:ln>
            <a:effectLst/>
          </p:spPr>
        </p:cxnSp>
        <p:cxnSp>
          <p:nvCxnSpPr>
            <p:cNvPr id="196" name="Snowflake branch 3 1"/>
            <p:cNvCxnSpPr/>
            <p:nvPr/>
          </p:nvCxnSpPr>
          <p:spPr>
            <a:xfrm flipH="1" flipV="1">
              <a:off x="13301337" y="5376628"/>
              <a:ext cx="30615" cy="1838"/>
            </a:xfrm>
            <a:prstGeom prst="line">
              <a:avLst/>
            </a:prstGeom>
            <a:ln w="12801">
              <a:solidFill>
                <a:srgbClr val="0876C7"/>
              </a:solidFill>
            </a:ln>
            <a:effectLst/>
          </p:spPr>
        </p:cxnSp>
        <p:cxnSp>
          <p:nvCxnSpPr>
            <p:cNvPr id="197" name="Snowflake spoke 4"/>
            <p:cNvCxnSpPr/>
            <p:nvPr/>
          </p:nvCxnSpPr>
          <p:spPr>
            <a:xfrm flipH="1">
              <a:off x="13267944" y="5330952"/>
              <a:ext cx="91440" cy="0"/>
            </a:xfrm>
            <a:prstGeom prst="line">
              <a:avLst/>
            </a:prstGeom>
            <a:ln w="14630">
              <a:solidFill>
                <a:srgbClr val="0876C7"/>
              </a:solidFill>
            </a:ln>
            <a:effectLst/>
          </p:spPr>
        </p:cxnSp>
        <p:cxnSp>
          <p:nvCxnSpPr>
            <p:cNvPr id="198" name="Snowflake branch 4 -1"/>
            <p:cNvCxnSpPr/>
            <p:nvPr/>
          </p:nvCxnSpPr>
          <p:spPr>
            <a:xfrm flipH="1">
              <a:off x="13290804" y="5330952"/>
              <a:ext cx="13716" cy="27432"/>
            </a:xfrm>
            <a:prstGeom prst="line">
              <a:avLst/>
            </a:prstGeom>
            <a:ln w="12801">
              <a:solidFill>
                <a:srgbClr val="0876C7"/>
              </a:solidFill>
            </a:ln>
            <a:effectLst/>
          </p:spPr>
        </p:cxnSp>
        <p:cxnSp>
          <p:nvCxnSpPr>
            <p:cNvPr id="199" name="Snowflake branch 4 1"/>
            <p:cNvCxnSpPr/>
            <p:nvPr/>
          </p:nvCxnSpPr>
          <p:spPr>
            <a:xfrm flipH="1" flipV="1">
              <a:off x="13290804" y="5303520"/>
              <a:ext cx="13716" cy="27432"/>
            </a:xfrm>
            <a:prstGeom prst="line">
              <a:avLst/>
            </a:prstGeom>
            <a:ln w="12801">
              <a:solidFill>
                <a:srgbClr val="0876C7"/>
              </a:solidFill>
            </a:ln>
            <a:effectLst/>
          </p:spPr>
        </p:cxnSp>
        <p:cxnSp>
          <p:nvCxnSpPr>
            <p:cNvPr id="200" name="Snowflake spoke 5"/>
            <p:cNvCxnSpPr/>
            <p:nvPr/>
          </p:nvCxnSpPr>
          <p:spPr>
            <a:xfrm flipH="1" flipV="1">
              <a:off x="13313664" y="5251763"/>
              <a:ext cx="45720" cy="79189"/>
            </a:xfrm>
            <a:prstGeom prst="line">
              <a:avLst/>
            </a:prstGeom>
            <a:ln w="14630">
              <a:solidFill>
                <a:srgbClr val="0876C7"/>
              </a:solidFill>
            </a:ln>
            <a:effectLst/>
          </p:spPr>
        </p:cxnSp>
        <p:cxnSp>
          <p:nvCxnSpPr>
            <p:cNvPr id="201" name="Snowflake branch 5 -1"/>
            <p:cNvCxnSpPr/>
            <p:nvPr/>
          </p:nvCxnSpPr>
          <p:spPr>
            <a:xfrm flipH="1">
              <a:off x="13301337" y="5283438"/>
              <a:ext cx="30615" cy="1838"/>
            </a:xfrm>
            <a:prstGeom prst="line">
              <a:avLst/>
            </a:prstGeom>
            <a:ln w="12801">
              <a:solidFill>
                <a:srgbClr val="0876C7"/>
              </a:solidFill>
            </a:ln>
            <a:effectLst/>
          </p:spPr>
        </p:cxnSp>
        <p:cxnSp>
          <p:nvCxnSpPr>
            <p:cNvPr id="202" name="Snowflake branch 5 1"/>
            <p:cNvCxnSpPr/>
            <p:nvPr/>
          </p:nvCxnSpPr>
          <p:spPr>
            <a:xfrm flipV="1">
              <a:off x="13331952" y="5257844"/>
              <a:ext cx="16899" cy="25594"/>
            </a:xfrm>
            <a:prstGeom prst="line">
              <a:avLst/>
            </a:prstGeom>
            <a:ln w="12801">
              <a:solidFill>
                <a:srgbClr val="0876C7"/>
              </a:solidFill>
            </a:ln>
            <a:effectLst/>
          </p:spPr>
        </p:cxnSp>
        <p:cxnSp>
          <p:nvCxnSpPr>
            <p:cNvPr id="203" name="Snowflake spoke 6"/>
            <p:cNvCxnSpPr/>
            <p:nvPr/>
          </p:nvCxnSpPr>
          <p:spPr>
            <a:xfrm flipV="1">
              <a:off x="13359384" y="5251763"/>
              <a:ext cx="45720" cy="79189"/>
            </a:xfrm>
            <a:prstGeom prst="line">
              <a:avLst/>
            </a:prstGeom>
            <a:ln w="14630">
              <a:solidFill>
                <a:srgbClr val="0876C7"/>
              </a:solidFill>
            </a:ln>
            <a:effectLst/>
          </p:spPr>
        </p:cxnSp>
        <p:cxnSp>
          <p:nvCxnSpPr>
            <p:cNvPr id="204" name="Snowflake branch 6 -1"/>
            <p:cNvCxnSpPr/>
            <p:nvPr/>
          </p:nvCxnSpPr>
          <p:spPr>
            <a:xfrm flipH="1" flipV="1">
              <a:off x="13369917" y="5257844"/>
              <a:ext cx="16899" cy="25594"/>
            </a:xfrm>
            <a:prstGeom prst="line">
              <a:avLst/>
            </a:prstGeom>
            <a:ln w="12801">
              <a:solidFill>
                <a:srgbClr val="0876C7"/>
              </a:solidFill>
            </a:ln>
            <a:effectLst/>
          </p:spPr>
        </p:cxnSp>
        <p:cxnSp>
          <p:nvCxnSpPr>
            <p:cNvPr id="205" name="Snowflake branch 6 1"/>
            <p:cNvCxnSpPr/>
            <p:nvPr/>
          </p:nvCxnSpPr>
          <p:spPr>
            <a:xfrm>
              <a:off x="13386816" y="5283438"/>
              <a:ext cx="30615" cy="1838"/>
            </a:xfrm>
            <a:prstGeom prst="line">
              <a:avLst/>
            </a:prstGeom>
            <a:ln w="12801">
              <a:solidFill>
                <a:srgbClr val="0876C7"/>
              </a:solidFill>
            </a:ln>
            <a:effectLst/>
          </p:spPr>
        </p:cxnSp>
      </p:grpSp>
      <p:cxnSp>
        <p:nvCxnSpPr>
          <p:cNvPr id="206" name="Teacher to target features"/>
          <p:cNvCxnSpPr/>
          <p:nvPr/>
        </p:nvCxnSpPr>
        <p:spPr>
          <a:xfrm>
            <a:off x="13606272" y="5148072"/>
            <a:ext cx="228600" cy="0"/>
          </a:xfrm>
          <a:prstGeom prst="line">
            <a:avLst/>
          </a:prstGeom>
          <a:ln w="17373">
            <a:solidFill>
              <a:srgbClr val="090909"/>
            </a:solidFill>
            <a:tailEnd type="triangle" w="med" len="med"/>
          </a:ln>
          <a:effectLst/>
        </p:spPr>
      </p:cxnSp>
      <p:sp>
        <p:nvSpPr>
          <p:cNvPr id="207" name="Target features heading"/>
          <p:cNvSpPr txBox="1"/>
          <p:nvPr/>
        </p:nvSpPr>
        <p:spPr>
          <a:xfrm>
            <a:off x="13716000" y="4352544"/>
            <a:ext cx="1362456" cy="265176"/>
          </a:xfrm>
          <a:prstGeom prst="rect">
            <a:avLst/>
          </a:prstGeom>
          <a:noFill/>
        </p:spPr>
        <p:txBody>
          <a:bodyPr wrap="none" lIns="0" rIns="0" tIns="0" bIns="0" anchor="ctr">
            <a:noAutofit/>
          </a:bodyPr>
          <a:lstStyle/>
          <a:p>
            <a:pPr algn="ctr">
              <a:lnSpc>
                <a:spcPts val="1555"/>
              </a:lnSpc>
              <a:spcBef>
                <a:spcPts val="0"/>
              </a:spcBef>
              <a:spcAft>
                <a:spcPts val="0"/>
              </a:spcAft>
            </a:pPr>
            <a:r>
              <a:rPr sz="1439" b="1" i="0">
                <a:solidFill>
                  <a:srgbClr val="090909"/>
                </a:solidFill>
                <a:latin typeface="Arial"/>
              </a:rPr>
              <a:t>Target features</a:t>
            </a:r>
          </a:p>
        </p:txBody>
      </p:sp>
      <p:grpSp>
        <p:nvGrpSpPr>
          <p:cNvPr id="208" name="Target plane 1"/>
          <p:cNvGrpSpPr/>
          <p:nvPr/>
        </p:nvGrpSpPr>
        <p:grpSpPr>
          <a:xfrm>
            <a:off x="13926312" y="4718304"/>
            <a:ext cx="384048" cy="832104"/>
            <a:chOff x="13926312" y="4718304"/>
            <a:chExt cx="384048" cy="832104"/>
          </a:xfrm>
        </p:grpSpPr>
        <p:sp>
          <p:nvSpPr>
            <p:cNvPr id="209" name="Target plane 1 thickness"/>
            <p:cNvSpPr/>
            <p:nvPr/>
          </p:nvSpPr>
          <p:spPr>
            <a:xfrm>
              <a:off x="13926312" y="4965192"/>
              <a:ext cx="45720" cy="585216"/>
            </a:xfrm>
            <a:custGeom>
              <a:avLst/>
              <a:gdLst/>
              <a:ahLst/>
              <a:cxnLst/>
              <a:rect l="0" t="0" r="r" b="b"/>
              <a:pathLst>
                <a:path w="5000" h="64000">
                  <a:moveTo>
                    <a:pt x="0" y="2000"/>
                  </a:moveTo>
                  <a:lnTo>
                    <a:pt x="5000" y="0"/>
                  </a:lnTo>
                  <a:lnTo>
                    <a:pt x="5000" y="64000"/>
                  </a:lnTo>
                  <a:lnTo>
                    <a:pt x="0" y="62000"/>
                  </a:lnTo>
                  <a:close/>
                </a:path>
              </a:pathLst>
            </a:custGeom>
            <a:solidFill>
              <a:srgbClr val="9DA6B5"/>
            </a:solidFill>
            <a:ln w="6400">
              <a:solidFill>
                <a:srgbClr val="83718D"/>
              </a:solidFill>
            </a:ln>
            <a:effectLst/>
          </p:spPr>
          <p:txBody>
            <a:bodyPr rtlCol="0" anchor="ctr"/>
            <a:lstStyle/>
            <a:p>
              <a:pPr algn="ctr"/>
            </a:p>
          </p:txBody>
        </p:sp>
        <p:pic>
          <p:nvPicPr>
            <p:cNvPr id="210" name="Target plane 1 illustrative field" descr="image.png"/>
            <p:cNvPicPr>
              <a:picLocks noChangeAspect="1"/>
            </p:cNvPicPr>
            <p:nvPr/>
          </p:nvPicPr>
          <p:blipFill>
            <a:blip r:embed="rId9"/>
            <a:stretch>
              <a:fillRect/>
            </a:stretch>
          </p:blipFill>
          <p:spPr>
            <a:xfrm>
              <a:off x="13972032" y="4718304"/>
              <a:ext cx="338328" cy="832104"/>
            </a:xfrm>
            <a:prstGeom prst="rect">
              <a:avLst/>
            </a:prstGeom>
          </p:spPr>
        </p:pic>
        <p:sp>
          <p:nvSpPr>
            <p:cNvPr id="211" name="Target plane 1 outline"/>
            <p:cNvSpPr/>
            <p:nvPr/>
          </p:nvSpPr>
          <p:spPr>
            <a:xfrm>
              <a:off x="13972032" y="4718304"/>
              <a:ext cx="338328" cy="832104"/>
            </a:xfrm>
            <a:custGeom>
              <a:avLst/>
              <a:gdLst/>
              <a:ahLst/>
              <a:cxnLst/>
              <a:rect l="0" t="0" r="r" b="b"/>
              <a:pathLst>
                <a:path w="37000" h="91000">
                  <a:moveTo>
                    <a:pt x="0" y="27000"/>
                  </a:moveTo>
                  <a:lnTo>
                    <a:pt x="37000" y="0"/>
                  </a:lnTo>
                  <a:lnTo>
                    <a:pt x="37000" y="64000"/>
                  </a:lnTo>
                  <a:lnTo>
                    <a:pt x="0" y="91000"/>
                  </a:lnTo>
                  <a:close/>
                </a:path>
              </a:pathLst>
            </a:custGeom>
            <a:noFill/>
            <a:ln w="5943">
              <a:solidFill>
                <a:srgbClr val="56718B"/>
              </a:solidFill>
            </a:ln>
            <a:effectLst/>
          </p:spPr>
          <p:txBody>
            <a:bodyPr rtlCol="0" anchor="ctr"/>
            <a:lstStyle/>
            <a:p>
              <a:pPr algn="ctr"/>
            </a:p>
          </p:txBody>
        </p:sp>
      </p:grpSp>
      <p:grpSp>
        <p:nvGrpSpPr>
          <p:cNvPr id="212" name="Target plane 2"/>
          <p:cNvGrpSpPr/>
          <p:nvPr/>
        </p:nvGrpSpPr>
        <p:grpSpPr>
          <a:xfrm>
            <a:off x="14127480" y="4736592"/>
            <a:ext cx="384048" cy="832104"/>
            <a:chOff x="14127480" y="4736592"/>
            <a:chExt cx="384048" cy="832104"/>
          </a:xfrm>
        </p:grpSpPr>
        <p:sp>
          <p:nvSpPr>
            <p:cNvPr id="213" name="Target plane 2 thickness"/>
            <p:cNvSpPr/>
            <p:nvPr/>
          </p:nvSpPr>
          <p:spPr>
            <a:xfrm>
              <a:off x="14127480" y="4983480"/>
              <a:ext cx="45720" cy="585216"/>
            </a:xfrm>
            <a:custGeom>
              <a:avLst/>
              <a:gdLst/>
              <a:ahLst/>
              <a:cxnLst/>
              <a:rect l="0" t="0" r="r" b="b"/>
              <a:pathLst>
                <a:path w="5000" h="64000">
                  <a:moveTo>
                    <a:pt x="0" y="2000"/>
                  </a:moveTo>
                  <a:lnTo>
                    <a:pt x="5000" y="0"/>
                  </a:lnTo>
                  <a:lnTo>
                    <a:pt x="5000" y="64000"/>
                  </a:lnTo>
                  <a:lnTo>
                    <a:pt x="0" y="62000"/>
                  </a:lnTo>
                  <a:close/>
                </a:path>
              </a:pathLst>
            </a:custGeom>
            <a:solidFill>
              <a:srgbClr val="9DA6B5"/>
            </a:solidFill>
            <a:ln w="6400">
              <a:solidFill>
                <a:srgbClr val="83718D"/>
              </a:solidFill>
            </a:ln>
            <a:effectLst/>
          </p:spPr>
          <p:txBody>
            <a:bodyPr rtlCol="0" anchor="ctr"/>
            <a:lstStyle/>
            <a:p>
              <a:pPr algn="ctr"/>
            </a:p>
          </p:txBody>
        </p:sp>
        <p:pic>
          <p:nvPicPr>
            <p:cNvPr id="214" name="Target plane 2 illustrative field" descr="image.png"/>
            <p:cNvPicPr>
              <a:picLocks noChangeAspect="1"/>
            </p:cNvPicPr>
            <p:nvPr/>
          </p:nvPicPr>
          <p:blipFill>
            <a:blip r:embed="rId10"/>
            <a:stretch>
              <a:fillRect/>
            </a:stretch>
          </p:blipFill>
          <p:spPr>
            <a:xfrm>
              <a:off x="14173200" y="4736592"/>
              <a:ext cx="338328" cy="832104"/>
            </a:xfrm>
            <a:prstGeom prst="rect">
              <a:avLst/>
            </a:prstGeom>
          </p:spPr>
        </p:pic>
        <p:sp>
          <p:nvSpPr>
            <p:cNvPr id="215" name="Target plane 2 outline"/>
            <p:cNvSpPr/>
            <p:nvPr/>
          </p:nvSpPr>
          <p:spPr>
            <a:xfrm>
              <a:off x="14173200" y="4736592"/>
              <a:ext cx="338328" cy="832104"/>
            </a:xfrm>
            <a:custGeom>
              <a:avLst/>
              <a:gdLst/>
              <a:ahLst/>
              <a:cxnLst/>
              <a:rect l="0" t="0" r="r" b="b"/>
              <a:pathLst>
                <a:path w="37000" h="91000">
                  <a:moveTo>
                    <a:pt x="0" y="27000"/>
                  </a:moveTo>
                  <a:lnTo>
                    <a:pt x="37000" y="0"/>
                  </a:lnTo>
                  <a:lnTo>
                    <a:pt x="37000" y="64000"/>
                  </a:lnTo>
                  <a:lnTo>
                    <a:pt x="0" y="91000"/>
                  </a:lnTo>
                  <a:close/>
                </a:path>
              </a:pathLst>
            </a:custGeom>
            <a:noFill/>
            <a:ln w="5943">
              <a:solidFill>
                <a:srgbClr val="56718B"/>
              </a:solidFill>
            </a:ln>
            <a:effectLst/>
          </p:spPr>
          <p:txBody>
            <a:bodyPr rtlCol="0" anchor="ctr"/>
            <a:lstStyle/>
            <a:p>
              <a:pPr algn="ctr"/>
            </a:p>
          </p:txBody>
        </p:sp>
      </p:grpSp>
      <p:grpSp>
        <p:nvGrpSpPr>
          <p:cNvPr id="216" name="Target plane 3"/>
          <p:cNvGrpSpPr/>
          <p:nvPr/>
        </p:nvGrpSpPr>
        <p:grpSpPr>
          <a:xfrm>
            <a:off x="14328648" y="4754880"/>
            <a:ext cx="384048" cy="832104"/>
            <a:chOff x="14328648" y="4754880"/>
            <a:chExt cx="384048" cy="832104"/>
          </a:xfrm>
        </p:grpSpPr>
        <p:sp>
          <p:nvSpPr>
            <p:cNvPr id="217" name="Target plane 3 thickness"/>
            <p:cNvSpPr/>
            <p:nvPr/>
          </p:nvSpPr>
          <p:spPr>
            <a:xfrm>
              <a:off x="14328648" y="5001768"/>
              <a:ext cx="45720" cy="585216"/>
            </a:xfrm>
            <a:custGeom>
              <a:avLst/>
              <a:gdLst/>
              <a:ahLst/>
              <a:cxnLst/>
              <a:rect l="0" t="0" r="r" b="b"/>
              <a:pathLst>
                <a:path w="5000" h="64000">
                  <a:moveTo>
                    <a:pt x="0" y="2000"/>
                  </a:moveTo>
                  <a:lnTo>
                    <a:pt x="5000" y="0"/>
                  </a:lnTo>
                  <a:lnTo>
                    <a:pt x="5000" y="64000"/>
                  </a:lnTo>
                  <a:lnTo>
                    <a:pt x="0" y="62000"/>
                  </a:lnTo>
                  <a:close/>
                </a:path>
              </a:pathLst>
            </a:custGeom>
            <a:solidFill>
              <a:srgbClr val="9DA6B5"/>
            </a:solidFill>
            <a:ln w="6400">
              <a:solidFill>
                <a:srgbClr val="83718D"/>
              </a:solidFill>
            </a:ln>
            <a:effectLst/>
          </p:spPr>
          <p:txBody>
            <a:bodyPr rtlCol="0" anchor="ctr"/>
            <a:lstStyle/>
            <a:p>
              <a:pPr algn="ctr"/>
            </a:p>
          </p:txBody>
        </p:sp>
        <p:pic>
          <p:nvPicPr>
            <p:cNvPr id="218" name="Target plane 3 illustrative field" descr="image.png"/>
            <p:cNvPicPr>
              <a:picLocks noChangeAspect="1"/>
            </p:cNvPicPr>
            <p:nvPr/>
          </p:nvPicPr>
          <p:blipFill>
            <a:blip r:embed="rId11"/>
            <a:stretch>
              <a:fillRect/>
            </a:stretch>
          </p:blipFill>
          <p:spPr>
            <a:xfrm>
              <a:off x="14374368" y="4754880"/>
              <a:ext cx="338328" cy="832104"/>
            </a:xfrm>
            <a:prstGeom prst="rect">
              <a:avLst/>
            </a:prstGeom>
          </p:spPr>
        </p:pic>
        <p:sp>
          <p:nvSpPr>
            <p:cNvPr id="219" name="Target plane 3 outline"/>
            <p:cNvSpPr/>
            <p:nvPr/>
          </p:nvSpPr>
          <p:spPr>
            <a:xfrm>
              <a:off x="14374368" y="4754880"/>
              <a:ext cx="338328" cy="832104"/>
            </a:xfrm>
            <a:custGeom>
              <a:avLst/>
              <a:gdLst/>
              <a:ahLst/>
              <a:cxnLst/>
              <a:rect l="0" t="0" r="r" b="b"/>
              <a:pathLst>
                <a:path w="37000" h="91000">
                  <a:moveTo>
                    <a:pt x="0" y="27000"/>
                  </a:moveTo>
                  <a:lnTo>
                    <a:pt x="37000" y="0"/>
                  </a:lnTo>
                  <a:lnTo>
                    <a:pt x="37000" y="64000"/>
                  </a:lnTo>
                  <a:lnTo>
                    <a:pt x="0" y="91000"/>
                  </a:lnTo>
                  <a:close/>
                </a:path>
              </a:pathLst>
            </a:custGeom>
            <a:noFill/>
            <a:ln w="5943">
              <a:solidFill>
                <a:srgbClr val="56718B"/>
              </a:solidFill>
            </a:ln>
            <a:effectLst/>
          </p:spPr>
          <p:txBody>
            <a:bodyPr rtlCol="0" anchor="ctr"/>
            <a:lstStyle/>
            <a:p>
              <a:pPr algn="ctr"/>
            </a:p>
          </p:txBody>
        </p:sp>
      </p:grpSp>
      <p:sp>
        <p:nvSpPr>
          <p:cNvPr id="220" name="Omitted target features"/>
          <p:cNvSpPr txBox="1"/>
          <p:nvPr/>
        </p:nvSpPr>
        <p:spPr>
          <a:xfrm>
            <a:off x="14730984" y="4946904"/>
            <a:ext cx="256032" cy="292608"/>
          </a:xfrm>
          <a:prstGeom prst="rect">
            <a:avLst/>
          </a:prstGeom>
          <a:noFill/>
        </p:spPr>
        <p:txBody>
          <a:bodyPr wrap="none" lIns="0" rIns="0" tIns="0" bIns="0" anchor="ctr">
            <a:noAutofit/>
          </a:bodyPr>
          <a:lstStyle/>
          <a:p>
            <a:pPr algn="ctr">
              <a:lnSpc>
                <a:spcPts val="2021"/>
              </a:lnSpc>
              <a:spcBef>
                <a:spcPts val="0"/>
              </a:spcBef>
              <a:spcAft>
                <a:spcPts val="0"/>
              </a:spcAft>
            </a:pPr>
            <a:r>
              <a:rPr sz="1872" b="0" i="0">
                <a:solidFill>
                  <a:srgbClr val="090909"/>
                </a:solidFill>
                <a:latin typeface="Times New Roman"/>
              </a:rPr>
              <a:t>…</a:t>
            </a:r>
          </a:p>
        </p:txBody>
      </p:sp>
      <p:sp>
        <p:nvSpPr>
          <p:cNvPr id="221" name="Target features to alignment"/>
          <p:cNvSpPr/>
          <p:nvPr/>
        </p:nvSpPr>
        <p:spPr>
          <a:xfrm>
            <a:off x="15023592" y="4846320"/>
            <a:ext cx="713232" cy="301752"/>
          </a:xfrm>
          <a:custGeom>
            <a:avLst/>
            <a:gdLst/>
            <a:ahLst/>
            <a:cxnLst/>
            <a:rect l="0" t="0" r="r" b="b"/>
            <a:pathLst>
              <a:path w="78000" h="33000">
                <a:moveTo>
                  <a:pt x="0" y="33000"/>
                </a:moveTo>
                <a:lnTo>
                  <a:pt x="78000" y="33000"/>
                </a:lnTo>
                <a:lnTo>
                  <a:pt x="78000" y="0"/>
                </a:lnTo>
              </a:path>
            </a:pathLst>
          </a:custGeom>
          <a:noFill/>
          <a:ln w="16459">
            <a:solidFill>
              <a:srgbClr val="090909"/>
            </a:solidFill>
            <a:tailEnd type="triangle" w="med" len="med"/>
          </a:ln>
          <a:effectLst/>
        </p:spPr>
        <p:txBody>
          <a:bodyPr rtlCol="0" anchor="ctr"/>
          <a:lstStyle/>
          <a:p>
            <a:pPr algn="ctr"/>
          </a:p>
        </p:txBody>
      </p:sp>
      <p:sp>
        <p:nvSpPr>
          <p:cNvPr id="222" name="Alignment background"/>
          <p:cNvSpPr/>
          <p:nvPr/>
        </p:nvSpPr>
        <p:spPr>
          <a:xfrm>
            <a:off x="15206472" y="4343400"/>
            <a:ext cx="1078992" cy="466344"/>
          </a:xfrm>
          <a:prstGeom prst="roundRect">
            <a:avLst>
              <a:gd name="adj" fmla="val 15686"/>
            </a:avLst>
          </a:prstGeom>
          <a:gradFill rotWithShape="1">
            <a:gsLst>
              <a:gs pos="0">
                <a:srgbClr val="FFFFFF"/>
              </a:gs>
              <a:gs pos="100000">
                <a:srgbClr val="F2F5F9"/>
              </a:gs>
            </a:gsLst>
            <a:lin ang="5400000" scaled="1"/>
          </a:gradFill>
          <a:ln w="14630">
            <a:solidFill>
              <a:srgbClr val="535A67"/>
            </a:solidFill>
          </a:ln>
          <a:effectLst/>
        </p:spPr>
        <p:txBody>
          <a:bodyPr rtlCol="0" anchor="ctr"/>
          <a:lstStyle/>
          <a:p>
            <a:pPr algn="ctr"/>
          </a:p>
        </p:txBody>
      </p:sp>
      <p:sp>
        <p:nvSpPr>
          <p:cNvPr id="223" name="Alignment label"/>
          <p:cNvSpPr txBox="1"/>
          <p:nvPr/>
        </p:nvSpPr>
        <p:spPr>
          <a:xfrm>
            <a:off x="15252192" y="4416552"/>
            <a:ext cx="987552" cy="310896"/>
          </a:xfrm>
          <a:prstGeom prst="rect">
            <a:avLst/>
          </a:prstGeom>
          <a:noFill/>
        </p:spPr>
        <p:txBody>
          <a:bodyPr wrap="none" lIns="0" rIns="0" tIns="0" bIns="0" anchor="ctr">
            <a:noAutofit/>
          </a:bodyPr>
          <a:lstStyle/>
          <a:p>
            <a:pPr algn="ctr">
              <a:lnSpc>
                <a:spcPts val="1244"/>
              </a:lnSpc>
              <a:spcBef>
                <a:spcPts val="0"/>
              </a:spcBef>
              <a:spcAft>
                <a:spcPts val="0"/>
              </a:spcAft>
            </a:pPr>
            <a:r>
              <a:rPr sz="1152" b="0" i="0">
                <a:solidFill>
                  <a:srgbClr val="090909"/>
                </a:solidFill>
                <a:latin typeface="Arial"/>
              </a:rPr>
              <a:t>Align &amp; match</a:t>
            </a:r>
          </a:p>
        </p:txBody>
      </p:sp>
      <p:cxnSp>
        <p:nvCxnSpPr>
          <p:cNvPr id="224" name="Alignment to consistency loss"/>
          <p:cNvCxnSpPr/>
          <p:nvPr/>
        </p:nvCxnSpPr>
        <p:spPr>
          <a:xfrm>
            <a:off x="16340328" y="4581144"/>
            <a:ext cx="256032" cy="0"/>
          </a:xfrm>
          <a:prstGeom prst="line">
            <a:avLst/>
          </a:prstGeom>
          <a:ln w="16459">
            <a:solidFill>
              <a:srgbClr val="090909"/>
            </a:solidFill>
            <a:tailEnd type="triangle" w="med" len="med"/>
          </a:ln>
          <a:effectLst/>
        </p:spPr>
      </p:cxnSp>
      <p:sp>
        <p:nvSpPr>
          <p:cNvPr id="225" name="Consistency loss background"/>
          <p:cNvSpPr/>
          <p:nvPr/>
        </p:nvSpPr>
        <p:spPr>
          <a:xfrm>
            <a:off x="16632936" y="4315968"/>
            <a:ext cx="713232" cy="594360"/>
          </a:xfrm>
          <a:prstGeom prst="roundRect">
            <a:avLst>
              <a:gd name="adj" fmla="val 15384"/>
            </a:avLst>
          </a:prstGeom>
          <a:solidFill>
            <a:srgbClr val="FFF3F9"/>
          </a:solidFill>
          <a:ln w="13716">
            <a:solidFill>
              <a:srgbClr val="D95599"/>
            </a:solidFill>
            <a:prstDash val="dash"/>
          </a:ln>
          <a:effectLst/>
        </p:spPr>
        <p:txBody>
          <a:bodyPr rtlCol="0" anchor="ctr"/>
          <a:lstStyle/>
          <a:p>
            <a:pPr algn="ctr"/>
          </a:p>
        </p:txBody>
      </p:sp>
      <p:sp>
        <p:nvSpPr>
          <p:cNvPr id="226" name="Spatial consistency loss formula"/>
          <p:cNvSpPr txBox="1"/>
          <p:nvPr/>
        </p:nvSpPr>
        <p:spPr>
          <a:xfrm>
            <a:off x="16687800" y="4425696"/>
            <a:ext cx="603504" cy="356616"/>
          </a:xfrm>
          <a:prstGeom prst="rect">
            <a:avLst/>
          </a:prstGeom>
          <a:noFill/>
        </p:spPr>
        <p:txBody>
          <a:bodyPr wrap="none" lIns="0" rIns="0" tIns="0" bIns="0" anchor="ctr">
            <a:noAutofit/>
          </a:bodyPr>
          <a:lstStyle/>
          <a:p>
            <a:pPr algn="ctr">
              <a:lnSpc>
                <a:spcPts val="2332"/>
              </a:lnSpc>
              <a:spcBef>
                <a:spcPts val="0"/>
              </a:spcBef>
              <a:spcAft>
                <a:spcPts val="0"/>
              </a:spcAft>
            </a:pPr>
            <a:r>
              <a:rPr sz="2160" b="0" i="0">
                <a:solidFill>
                  <a:srgbClr val="090909"/>
                </a:solidFill>
                <a:latin typeface="Latin Modern Math"/>
              </a:rPr>
              <a:t>ℒ</a:t>
            </a:r>
            <a:r>
              <a:rPr sz="1872" b="0" i="0" baseline="-24000">
                <a:solidFill>
                  <a:srgbClr val="090909"/>
                </a:solidFill>
                <a:latin typeface="Times New Roman"/>
              </a:rPr>
              <a:t>VSSC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Multi-depth slot construction and visual slot spatial consistency</dc:title>
  <dc:subject>Editable reconstruction of Figure 3, with CXR images</dc:subject>
  <dc:creator/>
  <cp:keywords/>
  <dc:description>Feature fields are Python-generated illustrations, not model results.</dc:description>
  <cp:lastModifiedBy>Steve Canny</cp:lastModifiedBy>
  <cp:revision>1</cp:revision>
  <dcterms:created xsi:type="dcterms:W3CDTF">2013-01-27T09:14:16Z</dcterms:created>
  <dcterms:modified xsi:type="dcterms:W3CDTF">2013-01-27T09:15:58Z</dcterms:modified>
  <cp:category/>
</cp:coreProperties>
</file>